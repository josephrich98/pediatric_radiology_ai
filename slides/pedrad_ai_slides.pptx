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 / 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6130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Academic output.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PubMed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(E-utilities) yearly counts per query and per modality/task term group;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OpenAlex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citation counts (union of modality/task searches, deduped), ranked separately for 2008-2022 and 2023-present because citations favor older papers;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DBLP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for ML venues;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PatentsView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for granted patents.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Clinical problems.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The pediatric radiology-AI query AND a term group per problem (bone age, fracture, pneumonia, appendicitis, brain tumor, …), counted per era; a paper can name several problems.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Datasets.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Public pediatric imaging datasets, sizes verified against the primary papers or hosting pages.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Commercial players.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The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(public spreadsheet: decision date, device, company, lead panel), filtered to the Radiology panel; cross-checked against a curated list of products with pediatric indications.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Trade press.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Newsletter archives (The Imaging Wire, RSNA News, TLDR, Signify Research, Radiology Business) split into stories; a story is radiology-AI when AI terms co-occur with imaging terms, pediatric when pediatric terms also co-occur.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Pediatric filter.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PubMed: the radiology-AI query AND (pediatric* OR paediatric* OR child* OR infant* OR neonat* OR adolescen* OR “children's hospital”). Most-cited lists: the title must also carry a pediatric term (bone age, fetal, newborn, …), otherwise highly cited adult papers float in. Newsletters: pediatric term inside the same story.</a:t>
            </a:r>
          </a:p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Representative PubMed query (radiology ∩ AI):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564001"/>
            <a:ext cx="11368735" cy="405765"/>
          </a:xfrm>
          <a:prstGeom prst="rect">
            <a:avLst/>
          </a:prstGeom>
          <a:solidFill>
            <a:srgbClr val="E8EAF6"/>
          </a:solidFill>
        </p:spPr>
        <p:txBody>
          <a:bodyPr wrap="square" lIns="109728" rIns="109728" tIns="73152" bIns="7315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(radiology OR radiograph* OR “medical imaging” OR MRI OR “computed tomography” OR CT[tiab] OR ultrasound[tiab] … NOT (“optical coherence” OR fundus OR dental OR histopatholog* …))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AND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(“artificial intelligence” OR “deep learning” OR “convolutional neural network” OR radiomics …)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 counts</a:t>
            </a:r>
          </a:p>
        </p:txBody>
      </p:sp>
      <p:pic>
        <p:nvPicPr>
          <p:cNvPr id="3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publications, stratified by modality and task</a:t>
            </a:r>
          </a:p>
        </p:txBody>
      </p:sp>
      <p:pic>
        <p:nvPicPr>
          <p:cNvPr id="3" name="modality_by_task" descr="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Bar = percentage of radiology-AI papers (98,842, 2008–present) whose title/abstract names the modality; segments = which task terms those papers use (overlapping). What each task means, by what the model produces: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publications, stratified by modality and task</a:t>
            </a:r>
          </a:p>
        </p:txBody>
      </p:sp>
      <p:pic>
        <p:nvPicPr>
          <p:cNvPr id="3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Same construction, restricted to the pediatric subset (10,141 papers). Top pediatric modalities: MRI 43%, CT 17%, ultrasound 14%, x-ray / radiography 13%. Mammography is omitted: its 76 pediatric-query hits (of 10,141) are adult breast-imaging papers whose abstracts mention children.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Cross-check: an independent 2025 scoping review of pediatric radiology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radiography 38%, MRI 33%, ultrasound 14%, CT 11%, nuclear 2%. Our pediatric query ranks MRI first (MRI 43%, CT 17%, ultrasound 14%, x-ray / radiography 13%)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biggest public pediatric radiology AI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19581"/>
          <a:ext cx="11368731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564"/>
                <a:gridCol w="645950"/>
                <a:gridCol w="2196232"/>
                <a:gridCol w="2971373"/>
                <a:gridCol w="1033521"/>
                <a:gridCol w="1421091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&lt; 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462397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911694"/>
                <a:gridCol w="577124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15,130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survey on deep learning in medical image analysis (Medical Image Analysis,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9,402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nnU-Net: a self-configuring method for deep learning-based biomedical image segmentation (Nature Methods, 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6,720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Computational Radiomics System to Decode the Radiographic Phenotype (Cancer Research,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in Medical Image Analysis (Annual Review of Biomedical Engin…,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4,873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Identifying Medical Diagnoses and Treatable Diseases by Image-Based Deep Learning (Cell,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transfer learning diagnose pediatric pneumonia on chest X-ray and retinal disease on OCT?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Convolutional neural networks: an overview and application in radiology (Insights into Imaging,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3,768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radiology (Nature reviews. Cancer,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3,187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COVID-Net: a tailored deep convolutional neural network design for detection of COVID-19 cases from ches… (Scientific Reports, 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CheXpert: A Large Chest Radiograph Dataset with Uncertainty Labels and Expert Comparison (AAAI Publications (The Associatio…, 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dataset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A 224k chest-radiograph dataset with uncertainty labels for training and benchmarking (CheXpert)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2,432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Covid-19: automatic detection from X-ray images utilizing transfer learning with convolutional neural ne… (Physical and Engineering Sciences…, 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transfer learning detect COVID-19 on X-ray with small data?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2023-present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911694"/>
                <a:gridCol w="577124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1,435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TotalSegmentator: Robust Segmentation of 104 Anatomic Structures in CT Images (Radiology Artificial Intelligence,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open tool segment 100+ anatomic structures on any CT? (TotalSegmentator)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776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Redefining Radiology: A Review of Artificial Intelligence Integration in Medical Imaging (Diagnostics,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 models in medical imaging: A comprehensive survey (Medical Image Analysis,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brain tumor detection using convolutional deep learning methods and chosen machine learning te… (BMC Medical Informatics and Decis…,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Study of CNN and Transfer Learning in Medical Imaging: Advantages, Challenges, Future Scope (Sustainability,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Artificial Intelligence Is Shaping Medical Imaging Technology: A Survey of Innovations and Applicati… (Bioengineering,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 using deep learning algorithms (Frontiers in Public Health,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Detection Based on Deep Learning Approaches and Magnetic Resonance Imaging (Cancers,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DCSAU-Net: A deeper and more compact split-attention U-Net for medical image segmentation (Computers in Biology and Medicine,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data augmentation: techniques, comparisons and interpretations (Artificial Intelligence Review,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73659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Recent citations accrue to surveys first; the clinical landmarks of this era (TotalSegmentator, pancreatic cancer detection on non-contrast CT, Sybil lung-cancer risk) sit among many review articles.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2008-2022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648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911694"/>
                <a:gridCol w="577124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RSNA Pediatric Bone Age Machine Learning Challenge (Radiology,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Skeletal Maturity on Pediatric Hand Rad… (Radiology,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 (Journal of Imaging Informatics in…,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images (Medical Image Analysis, 2016)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Improving Image Quality and Reducing Radiation Dose for Pediatric CT by Using Deep Learning Reconstructi… (Radiology, 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deep-learning reconstruction cut pediatric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Evaluation of the Accuracy and Effic… (American Journal of Roentgenology, 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Regression Convolutional Neural Network for Automated Pediatric Bone Age Assessment From Hand Radiograph (IEEE Journal of Biomedical and He…,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Regression CNN for pediatric 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intelligence-assisted interpretation of bone age radiographs improves accuracy and decreases… (Skeletal Radiology, 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AI assistance make radiologists' bone-age reads more accurate and consistent?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Based Attenuation Correction of PET/MRI in Pediatric Brain Tumor Patients: Evaluation in a… (Frontiers in Neuroscience, 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replace CT for PET/MRI attenuation correction in children?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Using a Dual-Input Convolutional Neural Network for Automated Detection of Pediatric Supracondylar Fract… (Investigative Radiology, 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fracture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supracondylar fractures on pediatric elbow radiographs?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2023-present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911694"/>
                <a:gridCol w="5771240"/>
              </a:tblGrid>
              <a:tr h="219456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tissue annotation and segmentation challenge results (Medical Image Analysis,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do algorithms segment fetal brain tissue? (FeTA challenge)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tumor segmentation and brain tissue extraction from multiparametric MRI of pediatric brain tum… (Neuro-Oncology Advances,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Review on deep learning fetal brain segmentation from Magnetic Resonance images (Artificial Intelligence in Medici…,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dysplasias (Pediatric Radiology,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to segment fetal brain tissue from noisy annotations (Medical Image Analysis,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End-To-End Pediatric Low-Grade Glioma Segmentation and Classification (Canadian Association of Radiologi…,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Dempster-Shafer Approach to Trustworthy AI With Application to Fetal Brain MRI Segmentation (IEEE Transactions on Pattern Anal…, 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Multiclass Brain Tissue Segmentation in Fetal MRIs (Sensors,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Population: A Comparison of Deep-L… (Korean Journal of Radiology,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biometry of fetal brain MRIs using deep and machine learning techniques (Scientific Reports, 2023)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736592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Fetal brain MRI segmentation, pediatric brain tumor segmentation, and bone age lead the recent era; citation counts are two orders of magnitude below the adult list.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medical problems pediatric radiology AI addresses</a:t>
            </a:r>
          </a:p>
        </p:txBody>
      </p:sp>
      <p:pic>
        <p:nvPicPr>
          <p:cNvPr id="3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RSNA Pediatric Bone Age Machine Learning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Halabi et al., Radiology 2019 (2008–2022 era, most-cited pediatric paper)</a:t>
            </a:r>
          </a:p>
        </p:txBody>
      </p:sp>
      <p:pic>
        <p:nvPicPr>
          <p:cNvPr id="4" name="spot_bone_age_challenge" descr="spot_bone_age_challen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9" cy="208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2150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Halabi et al., Radiology 2019, figure 4: hand radiograph, cropped and contrast-normalized, with the patches one team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0042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from a left-hand radiograph: a tedious, subjective read that every children's hospital does daily.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14,236 hand radiographs from two children's hospitals (Stanford, Colorado) with Greulich–Pyle bone age by pediatric radiologists; 200 test cases read by six reviewers.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open competition (260 teams); entries were convolutional networks that regress bone age from the image plus sex.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winning model's mean absolute difference from the reviewers was 4.2 months; 48 teams were within 5 months, i.e. at reviewer-to-reviewer variability.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public pediatric imaging benchmark; it made bone age the one pediatric task with many models and cleared products.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Deep-learning reconstruction for pediatric CT: image quality at lower dose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Nagayama et al., Korean J Radiol 2022 (open-access companion to Brady et al., Radiology 2021, the most-cited paper on this topic)</a:t>
            </a:r>
          </a:p>
        </p:txBody>
      </p:sp>
      <p:pic>
        <p:nvPicPr>
          <p:cNvPr id="4" name="spot_dl_recon_ct" descr="spot_dl_recon_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93" y="1258951"/>
            <a:ext cx="4550631" cy="308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2003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Nagayama et al., Korean J Radiol 2022, figure 6: the same pediatric abdominal CT reconstructed six ways (FBP, hybrid iterative, deep learning)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9894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CT dose is limited by noise; the standard fixes (filtered back projection, hybrid iterative reconstruction) trade noise for a blotchy texture and lost detail.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120 pediatric abdominopelvic CT scans (median age 5 years) reconstructed with FBP, two iterative settings, and three deep-learning-reconstruction strengths.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vendor's deep-learning reconstruction (a network trained to map low-dose to high-dose raw data); noise, texture, edge sharpness, and reader scores compared across reconstructions.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deep-learning reconstruction cut noise the most while keeping texture and sharpness, giving the highest reader scores; Brady et al. reported the same in 2021 with a 52% dose reduction at equal or better image quality.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this is the pediatric AI benefit available on today's scanners: lower dose or shorter scans without an interpretive model in the loop.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 learning for pediatric posterior fossa tumor detection and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Quon et al., AJNR 2020, multi-institutional</a:t>
            </a:r>
          </a:p>
        </p:txBody>
      </p:sp>
      <p:pic>
        <p:nvPicPr>
          <p:cNvPr id="4" name="spot_posterior_fossa" descr="spot_posterior_fos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9" cy="2283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616046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Quon et al., AJNR 2020, figure 1: T2 MRI examples of the four posterior fossa tumor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94963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four common posterior fossa tumors of childhood (medulloblastoma, pilocytic astrocytoma, ependymoma, diffuse midline glioma) need different surgery and prognosis, and preoperative MRI reads disagree.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617 children from five institutions: T2-weighted MRI of 199 tumors and 418 controls.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2D convolutional network (ResNeXt-50) trained on axial T2 slices to detect a tumor and assign its type; performance compared with four radiologists.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tumor detection accuracy 92% (AUC 0.99); four-class tumor typing accuracy 72%, similar to the radiologists, whose own accuracy ranged widely.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multi-site pediatric neuro-oncology model that matched human readers; the next step, prospective use, has not been shown.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FeTA: the fetal brain tissue annotation and segmentation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Payette et al., Sci Data 2021 (dataset) and Med Image Anal 2023 (challenge results; most-cited pediatric paper of 2023–present)</a:t>
            </a:r>
          </a:p>
        </p:txBody>
      </p:sp>
      <p:pic>
        <p:nvPicPr>
          <p:cNvPr id="4" name="spot_feta" descr="spot_fe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8054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3758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Payette et al., Sci Data 2021, figure 2: fetal brain MRI with the seven tissue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1649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fetal brain MRI volumes of cortex, white matter, ventricles, and cerebellum track abnormal development, but manual segmentation takes hours per case and moves with the fetus.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80 (later 120) reconstructed fetal brain MRI volumes, 20–35 weeks, normal and pathological (spina bifida), each with seven tissue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MICCAI challenge: 21 teams submitted segmentation networks (most nnU-Net variants) evaluated on held-out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best entries reached a mean Dice of about 0.79 across tissues; performance dropped on the youngest and most abnormal brains.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shared benchmark for fetal MRI; a template for the multi-center datasets pediatric radiology lacks.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Deeplasia: deep learning for bone age assessment validated on skeletal dysplasias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Rassmann et al., Pediatr Radiol 2023</a:t>
            </a:r>
          </a:p>
        </p:txBody>
      </p:sp>
      <p:pic>
        <p:nvPicPr>
          <p:cNvPr id="4" name="spot_deeplasia" descr="spot_deeplas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8" cy="26762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008396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Rassmann et al., Pediatr Radiol 2023, graphical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50153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bone-age models are trained on ordinary children, but the patients who most need the read (achondroplasia, Turner, Noonan, Silver–Russell, SHOX) have abnormal hands.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RSNA challenge set for training; testing on the RSNA test set, the Digital Hand Atlas, and 568 radiographs from children with molecularly confirmed dysplasias.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ensemble of three convolutional networks with no hand-crafted priors, released as open source.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absolute difference 3.9 months on the RSNA test set and about 5–6 months on dysplasia cohorts, comparable to inter-rater variation.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shows how to test a pediatric model on the rare phenotypes a children's hospital actually sees, not only on the benchmark.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Real-life benefit of AI fracture detection in a pediatric emergency department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Ziegner et al., Eur Radiol 2025</a:t>
            </a:r>
          </a:p>
        </p:txBody>
      </p:sp>
      <p:pic>
        <p:nvPicPr>
          <p:cNvPr id="4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fractures are subtle and often first read by inexperienced physicians; cleared fracture tools were validated on adults.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1,672 real-life radiographic studies (1,657 trauma patients, upper and lower extremity) from one children's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commercial fracture-detection tool (pediatric indication) run stand-alone, then three inexperienced readers with and without the AI output.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stand-alone sensitivity about 90% with region-dependent specificity; readers with AI gained only a few percentage points of accuracy (about 2% of wrong reads corrected, 4% of correct reads reversed).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good stand-alone model translated into a limited reader benefit: the gap between retrospective accuracy and clinical value that most pediatric AI has not yet crossed.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radiology AI stories, all ages</a:t>
            </a:r>
          </a:p>
        </p:txBody>
      </p:sp>
      <p:pic>
        <p:nvPicPr>
          <p:cNvPr id="3" name="newsletter_radiology_ai" descr="newsletter_radiology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pediatric radiology AI stories</a:t>
            </a:r>
          </a:p>
        </p:txBody>
      </p:sp>
      <p:pic>
        <p:nvPicPr>
          <p:cNvPr id="3" name="newsletter_watch" descr="newsletter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2023 (22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5" cy="5579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9997135"/>
              </a:tblGrid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ChatGPT Authoring Research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2024 (21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5" cy="5409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9997135"/>
              </a:tblGrid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</a:tr>
              <a:tr h="170078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</a:tr>
              <a:tr h="257860"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576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2025 (20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5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9997135"/>
              </a:tblGrid>
              <a:tr h="178308"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</a:tr>
              <a:tr h="178308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</a:tr>
              <a:tr h="178308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</a:tr>
              <a:tr h="178308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2026 (year to date) (12 stories)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5" cy="516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9997135"/>
              </a:tblGrid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2026-04-05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Imaging Growth Slows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</a:tr>
              <a:tr h="397459"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034" b="0" i="0">
                          <a:solidFill>
                            <a:srgbClr val="1A1A1A"/>
                          </a:solidFill>
                          <a:latin typeface="Calibri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Commercial software with a pediatric angle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3" cy="3099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6078"/>
                <a:gridCol w="1532863"/>
                <a:gridCol w="3321203"/>
                <a:gridCol w="3065726"/>
                <a:gridCol w="1532863"/>
              </a:tblGrid>
              <a:tr h="219456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050791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MONAI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Detection / diagnosis is the bulk of the literature (47%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Segmentation (24%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Reconstruction / imputation is 15% of radiology AI and 10%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4.5% of radiology-AI papers (3.5%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3.1%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0.5% of radiology-AI papers (33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3896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Which diseases?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Since 2023 the pediatric corpus (6,430 papers) leans to autism / ADHD / neurodevelopment (670); fetal anomalies / prenatal (513); brain tumors (284); congenital heart disease / cardiac (283). Barely studied: testicular / ovarian torsion (8); inflammatory bowel disease (22); lines and tubes / NICU support devices (54); neonatal jaundice / biliary atresia / liver (56); craniosynostosis / craniofacial (69); appendicitis / intussusception / NEC (69). Which of these deserve a model first is an open question for this group.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Dataset curation.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Validation.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Beyond interpretation.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Regulation and liability.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
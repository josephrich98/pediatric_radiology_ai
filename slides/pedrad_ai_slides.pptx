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2194560"/>
            <a:ext cx="9997135" cy="1188720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>
                <a:solidFill>
                  <a:srgbClr val="FFFFFF"/>
                </a:solidFill>
                <a:latin typeface="Helvetica Neue"/>
              </a:rPr>
              <a:t>Artificial Intelligence in Pediatric Radiology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566160"/>
            <a:ext cx="99971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>
                <a:solidFill>
                  <a:srgbClr val="1A1A1A"/>
                </a:solidFill>
                <a:latin typeface="Helvetica Neue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480560"/>
            <a:ext cx="99971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1A1A1A"/>
                </a:solidFill>
                <a:latin typeface="Helvetica Neue"/>
              </a:rPr>
              <a:t>Joseph Rich, Dr. Amit Sura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983480"/>
            <a:ext cx="99971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B6B6B"/>
                </a:solidFill>
                <a:latin typeface="Helvetica Neue"/>
              </a:rPr>
              <a:t>September 23, 2026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 / 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721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Describe the big players in radiology AI, both general and pediatric, since 2023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Summarize what radiology AI does well and what remains unresolved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 / 60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Methods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877824"/>
          <a:ext cx="11368734" cy="23042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4243"/>
                <a:gridCol w="5565943"/>
                <a:gridCol w="4618548"/>
              </a:tblGrid>
              <a:tr h="186537">
                <a:tc>
                  <a:txBody>
                    <a:bodyPr wrap="square"/>
                    <a:lstStyle/>
                    <a:p>
                      <a:r>
                        <a:rPr sz="864" b="1" i="0">
                          <a:solidFill>
                            <a:srgbClr val="FFFFFF"/>
                          </a:solidFill>
                          <a:latin typeface="Helvetica Neue"/>
                        </a:rPr>
                        <a:t>Source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1" i="0">
                          <a:solidFill>
                            <a:srgbClr val="FFFFFF"/>
                          </a:solidFill>
                          <a:latin typeface="Helvetica Neue"/>
                        </a:rPr>
                        <a:t>How the data were collected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1" i="0">
                          <a:solidFill>
                            <a:srgbClr val="FFFFFF"/>
                          </a:solidFill>
                          <a:latin typeface="Helvetica Neue"/>
                        </a:rPr>
                        <a:t>How pediatric was subset</a:t>
                      </a:r>
                    </a:p>
                  </a:txBody>
                  <a:tcPr marL="45720" marR="45720" marT="18288" marB="18288" anchor="t"/>
                </a:tc>
              </a:tr>
              <a:tr h="449884">
                <a:tc>
                  <a:txBody>
                    <a:bodyPr wrap="square"/>
                    <a:lstStyle/>
                    <a:p>
                      <a:r>
                        <a:rPr sz="864" b="1" i="0">
                          <a:solidFill>
                            <a:srgbClr val="1A1A1A"/>
                          </a:solidFill>
                          <a:latin typeface="Helvetica Neue"/>
                        </a:rPr>
                        <a:t>Journals, preprints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PubMed yearly counts, plus arXiv and medRxiv (Europe PMC) with the same query. Most-cited papers: Semantic Scholar, ranked by citations. Systematic review: PubMed + Embase, 2005–present, every record screened and read (3,496 primary studies).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Counts: radiology AND AI, then AND pediatric (query below). Review: pediatric query, then screened for a pediatric population. Most-cited lists: the title must also contain a pediatric term (as for conferences).</a:t>
                      </a:r>
                    </a:p>
                  </a:txBody>
                  <a:tcPr marL="45720" marR="45720" marT="18288" marB="18288" anchor="t"/>
                </a:tc>
              </a:tr>
              <a:tr h="581558">
                <a:tc>
                  <a:txBody>
                    <a:bodyPr wrap="square"/>
                    <a:lstStyle/>
                    <a:p>
                      <a:r>
                        <a:rPr sz="864" b="1" i="0">
                          <a:solidFill>
                            <a:srgbClr val="1A1A1A"/>
                          </a:solidFill>
                          <a:latin typeface="Helvetica Neue"/>
                        </a:rPr>
                        <a:t>Conferences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Semantic Scholar venue search, 2023–present: NeurIPS, ICLR, ICML, CVPR, MICCAI, MIDL (radiology terms, then a title filter); RSNA and SPR through their journals (AI terms), since meeting abstracts are not indexed.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Title contains a pediatric term (pediatric, paediatric, child, infant, neonat, adolescent, fetal, foetal, newborn, bone age, pediatrics, paediatrics, kawasaki, scoliosis, preterm, premature, congenital, young adult); marked with a star.</a:t>
                      </a:r>
                    </a:p>
                  </a:txBody>
                  <a:tcPr marL="45720" marR="45720" marT="18288" marB="18288" anchor="t"/>
                </a:tc>
              </a:tr>
              <a:tr h="318211">
                <a:tc>
                  <a:txBody>
                    <a:bodyPr wrap="square"/>
                    <a:lstStyle/>
                    <a:p>
                      <a:r>
                        <a:rPr sz="864" b="1" i="0">
                          <a:solidFill>
                            <a:srgbClr val="1A1A1A"/>
                          </a:solidFill>
                          <a:latin typeface="Helvetica Neue"/>
                        </a:rPr>
                        <a:t>Datasets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Hand-curated list of public imaging datasets; sizes checked against the primary paper or hosting page.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by selection: only datasets of children or fetuses are listed.</a:t>
                      </a:r>
                    </a:p>
                  </a:txBody>
                  <a:tcPr marL="45720" marR="45720" marT="18288" marB="18288" anchor="t"/>
                </a:tc>
              </a:tr>
              <a:tr h="449884">
                <a:tc>
                  <a:txBody>
                    <a:bodyPr wrap="square"/>
                    <a:lstStyle/>
                    <a:p>
                      <a:r>
                        <a:rPr sz="864" b="1" i="0">
                          <a:solidFill>
                            <a:srgbClr val="1A1A1A"/>
                          </a:solidFill>
                          <a:latin typeface="Helvetica Neue"/>
                        </a:rPr>
                        <a:t>Newsletters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Full archives of The Imaging Wire, RSNA News, TLDR AI, TLDR Tech, Signify Research, ESR / ECR, Radiology Business, split into individual stories. Radiology AI = an AI term and an imaging term in the same story.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A pediatric term (pediatric, child, infant, neonat, newborn, adolescen, fetal, bone age, preterm, NICU, prenatal, ...) also in the same story.</a:t>
                      </a:r>
                    </a:p>
                  </a:txBody>
                  <a:tcPr marL="45720" marR="45720" marT="18288" marB="18288" anchor="t"/>
                </a:tc>
              </a:tr>
              <a:tr h="318211">
                <a:tc>
                  <a:txBody>
                    <a:bodyPr wrap="square"/>
                    <a:lstStyle/>
                    <a:p>
                      <a:r>
                        <a:rPr sz="864" b="1" i="0">
                          <a:solidFill>
                            <a:srgbClr val="1A1A1A"/>
                          </a:solidFill>
                          <a:latin typeface="Helvetica Neue"/>
                        </a:rPr>
                        <a:t>Commercial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FDA list of AI-enabled devices, Radiology panel (all ages).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Curated products with a stated pediatric indication or pediatric-by-design use, cross-checked against the FDA list.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3255264"/>
            <a:ext cx="11368735" cy="303215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02"/>
              </a:spcAft>
            </a:pPr>
            <a:r>
              <a:rPr sz="864" b="1" i="0">
                <a:solidFill>
                  <a:srgbClr val="1A1A1A"/>
                </a:solidFill>
                <a:latin typeface="Helvetica Neue"/>
              </a:rPr>
              <a:t>PubMed query = radiology AND AI AND pediatric</a:t>
            </a:r>
            <a:r>
              <a:rPr sz="864" b="0" i="0">
                <a:solidFill>
                  <a:srgbClr val="1A1A1A"/>
                </a:solidFill>
                <a:latin typeface="Helvetica Neue"/>
              </a:rPr>
              <a:t> (systematic review corpus, 2005–present; translated term for term for Embase; [tiab] = title/abstract)</a:t>
            </a:r>
          </a:p>
          <a:p>
            <a:pPr algn="l">
              <a:spcAft>
                <a:spcPts val="302"/>
              </a:spcAft>
            </a:pPr>
            <a:r>
              <a:rPr sz="864" b="1" i="0">
                <a:solidFill>
                  <a:srgbClr val="1A1A1A"/>
                </a:solidFill>
                <a:latin typeface="Helvetica Neue"/>
              </a:rPr>
              <a:t>radiology</a:t>
            </a:r>
            <a:r>
              <a:rPr sz="864" b="0" i="0">
                <a:solidFill>
                  <a:srgbClr val="1A1A1A"/>
                </a:solidFill>
                <a:latin typeface="Helvetica Neue"/>
              </a:rPr>
              <a:t>: (radiology[tiab] OR radiological[tiab] OR radiograph*[tiab] OR "medical imaging"[tiab] OR "diagnostic imaging"[tiab] OR tomography[tiab] OR "magnetic resonance"[tiab] OR MRI[tiab] OR "MR imaging"[tiab] OR "MR images"[tiab] OR MRIs[tiab] OR "MR image"[tiab] OR "MR scan"[tiab] OR "MR scans"[tiab] OR "computed tomography"[tiab] OR CT[tiab] OR ultrasound[tiab] OR ultrasonograph*[tiab] OR sonograph*[tiab] OR echocardiograph*[tiab] OR mammograph*[tiab] OR "chest x-ray"[tiab] OR "x-ray"[tiab] OR fluoroscop*[tiab] OR scintigraph*[tiab] OR "positron emission"[tiab] OR PET[tiab] OR SPECT[tiab] OR angiograph*[tiab] OR neuroimaging[tiab] OR tractograph*[tiab] OR elastograph*[tiab] OR "fMRI"[tiab] OR "functional MRI"[tiab] OR "functional magnetic resonance"[tiab] OR connectome*[tiab] OR "diffusion tensor"[tiab] OR DTI[tiab] OR "bone age"[tiab] OR "skeletal age"[tiab] OR "skeletal maturity"[tiab] OR "barium enema"[tiab])</a:t>
            </a:r>
          </a:p>
          <a:p>
            <a:pPr algn="l">
              <a:spcAft>
                <a:spcPts val="302"/>
              </a:spcAft>
            </a:pPr>
            <a:r>
              <a:rPr sz="864" b="1" i="0">
                <a:solidFill>
                  <a:srgbClr val="1A1A1A"/>
                </a:solidFill>
                <a:latin typeface="Helvetica Neue"/>
              </a:rPr>
              <a:t>AI</a:t>
            </a:r>
            <a:r>
              <a:rPr sz="864" b="0" i="0">
                <a:solidFill>
                  <a:srgbClr val="1A1A1A"/>
                </a:solidFill>
                <a:latin typeface="Helvetica Neue"/>
              </a:rPr>
              <a:t>: ("artificial intelligence"[tiab] OR "machine learning"[tiab] OR "deep learning"[tiab] OR "convolutional neural network"[tiab] OR "convolutional neural networks"[tiab] OR "neural network"[tiab] OR "neural networks"[tiab] OR "computer-aided diagnosis"[tiab] OR "computer aided diagnosis"[tiab] OR "computer-aided detection"[tiab] OR radiomic*[tiab] OR "computer vision"[tiab] OR "large language model"[tiab] OR "large language models"[tiab] OR "foundation model"[tiab] OR "foundation models"[tiab] OR "transfer learning"[tiab] OR "vision transformer"[tiab] OR "self-supervised"[tiab] OR "random forest"[tiab] OR "support vector machine"[tiab] OR "gradient boosting"[tiab] OR "natural language processing"[tiab])</a:t>
            </a:r>
          </a:p>
          <a:p>
            <a:pPr algn="l">
              <a:spcAft>
                <a:spcPts val="302"/>
              </a:spcAft>
            </a:pPr>
            <a:r>
              <a:rPr sz="864" b="1" i="0">
                <a:solidFill>
                  <a:srgbClr val="1A1A1A"/>
                </a:solidFill>
                <a:latin typeface="Helvetica Neue"/>
              </a:rPr>
              <a:t>pediatric</a:t>
            </a:r>
            <a:r>
              <a:rPr sz="864" b="0" i="0">
                <a:solidFill>
                  <a:srgbClr val="1A1A1A"/>
                </a:solidFill>
                <a:latin typeface="Helvetica Neue"/>
              </a:rPr>
              <a:t>: (pediatric*[tiab] OR paediatric*[tiab] OR child*[tiab] OR infant*[tiab] OR neonat*[tiab] OR adolescen*[tiab] OR fetal[tiab] OR foetal[tiab] OR fetus*[tiab] OR foetus*[tiab] OR newborn*[tiab] OR preterm[tiab] OR "premature infant"[tiab] OR "premature infants"[tiab] OR "premature birth"[tiab] OR "premature neonate"[tiab] OR "premature neonates"[tiab] OR prenatal[tiab] OR antenatal[tiab] OR perinatal[tiab] OR youth[tiab] OR juvenile[tiab] OR "children's hospital"[tiab] OR schoolchild*[tiab] OR toddler*[tiab])</a:t>
            </a:r>
          </a:p>
          <a:p>
            <a:pPr algn="l">
              <a:spcAft>
                <a:spcPts val="302"/>
              </a:spcAft>
            </a:pPr>
            <a:r>
              <a:rPr sz="864" b="1" i="0">
                <a:solidFill>
                  <a:srgbClr val="1A1A1A"/>
                </a:solidFill>
                <a:latin typeface="Helvetica Neue"/>
              </a:rPr>
              <a:t>Publication-count charts</a:t>
            </a:r>
            <a:r>
              <a:rPr sz="864" b="0" i="0">
                <a:solidFill>
                  <a:srgbClr val="1A1A1A"/>
                </a:solidFill>
                <a:latin typeface="Helvetica Neue"/>
              </a:rPr>
              <a:t> (radiology AI = radiology AND AI; pediatric = AND pediatric):</a:t>
            </a:r>
          </a:p>
          <a:p>
            <a:pPr algn="l">
              <a:spcAft>
                <a:spcPts val="302"/>
              </a:spcAft>
            </a:pPr>
            <a:r>
              <a:rPr sz="864" b="1" i="0">
                <a:solidFill>
                  <a:srgbClr val="1A1A1A"/>
                </a:solidFill>
                <a:latin typeface="Helvetica Neue"/>
              </a:rPr>
              <a:t>radiology</a:t>
            </a:r>
            <a:r>
              <a:rPr sz="864" b="0" i="0">
                <a:solidFill>
                  <a:srgbClr val="1A1A1A"/>
                </a:solidFill>
                <a:latin typeface="Helvetica Neue"/>
              </a:rPr>
              <a:t>: ((radiology OR radiological OR radiograph* OR "medical imaging" OR "diagnostic imaging"[tiab] OR "tomography, x-ray computed"[MeSH Terms] OR "tomography, emission-computed"[MeSH Terms] OR tomograph*[tiab] OR "magnetic resonance" OR MRI OR "computed tomography" OR CT[tiab] OR ultrasound[tiab] OR ultrasonograph*[tiab] OR sonograph*[tiab] OR echocardiograph*[tiab] OR "ultrasonography"[MeSH Terms] OR mammograph* OR "chest x-ray") NOT ("optical coherence"[tiab] OR fundus[tiab] OR retina*[tiab] OR dental[tiab] OR histopatholog*[tiab] OR "whole slide"[tiab] OR dermoscop*[tiab] OR endoscop*[tiab] OR colonoscop*[tiab] OR microscop*[tiab]))</a:t>
            </a:r>
          </a:p>
          <a:p>
            <a:pPr algn="l">
              <a:spcAft>
                <a:spcPts val="302"/>
              </a:spcAft>
            </a:pPr>
            <a:r>
              <a:rPr sz="864" b="1" i="0">
                <a:solidFill>
                  <a:srgbClr val="1A1A1A"/>
                </a:solidFill>
                <a:latin typeface="Helvetica Neue"/>
              </a:rPr>
              <a:t>AI</a:t>
            </a:r>
            <a:r>
              <a:rPr sz="864" b="0" i="0">
                <a:solidFill>
                  <a:srgbClr val="1A1A1A"/>
                </a:solidFill>
                <a:latin typeface="Helvetica Neue"/>
              </a:rPr>
              <a:t>: ("artificial intelligence" OR "machine learning" OR "deep learning" OR "convolutional neural network" OR "neural network" OR "computer-aided diagnosis" OR radiomics OR "computer vision")</a:t>
            </a:r>
          </a:p>
          <a:p>
            <a:pPr algn="l">
              <a:spcAft>
                <a:spcPts val="302"/>
              </a:spcAft>
            </a:pPr>
            <a:r>
              <a:rPr sz="864" b="1" i="0">
                <a:solidFill>
                  <a:srgbClr val="1A1A1A"/>
                </a:solidFill>
                <a:latin typeface="Helvetica Neue"/>
              </a:rPr>
              <a:t>pediatric</a:t>
            </a:r>
            <a:r>
              <a:rPr sz="864" b="0" i="0">
                <a:solidFill>
                  <a:srgbClr val="1A1A1A"/>
                </a:solidFill>
                <a:latin typeface="Helvetica Neue"/>
              </a:rPr>
              <a:t>: (pediatric* OR paediatric* OR child* OR infant* OR neonat* OR adolescen* OR "children's hospital")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 / 60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Radiology AI publication counts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pic>
        <p:nvPicPr>
          <p:cNvPr id="4" name="radiology_ai_trend" descr="radiology_ai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468" y="877824"/>
            <a:ext cx="8084758" cy="4491532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 / 60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publications, stratified by modality and task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pic>
        <p:nvPicPr>
          <p:cNvPr id="4" name="ped_modality_by_task" descr="ped_modality_by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563" y="877824"/>
            <a:ext cx="5074567" cy="26387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589751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Same construction, restricted to the pediatric subset (10,737 papers incl. 596 preprints). Top pediatric modalities: MRI 41%, CT 16%, ultrasound 13%, x-ray / radiography 12%. Mammography is omitted: its 79 pediatric-query hits (of 10,737) are adult breast-imaging papers whose abstracts mention children.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68668"/>
            <a:ext cx="3630981" cy="103441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detection / diagnosis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is a finding present now, and which one (label or box): fracture, pneumonia, tumor; includes triage and screening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segmentation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outline a structure or lesion (a mask)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measurement / quantification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a number from the image: bone age, Cobb angle, organ volume, fetal biometry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25341" y="4068668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outcome prediction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a future risk, response, or survival estimate from the image (prognosis, radiomics signatures)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reconstruction / imputation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a better or missing image: lower dose, faster scans, denoising, synthetic CT/MR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report generation / LLM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text: draft, summarize, or extract from radiology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39203" y="4068668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foundation model / vision-language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a large pretrained model reused across tasks (segment-anything, self-supervised)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agent / autonomous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multi-step actions taken without a human in the loop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workflow / non-interpretive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protocoling, scheduling, ordering, decision support, education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 / 60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Which journals publish pediatric radiology AI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pic>
        <p:nvPicPr>
          <p:cNvPr id="4" name="journal_impact" descr="journal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830" y="877824"/>
            <a:ext cx="6764033" cy="370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56490"/>
            <a:ext cx="11368735" cy="6800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x = OpenAlex 2-year mean citedness (a free JIF analogue; runs below the published JIF). y = cumulative pediatric radiology-AI papers 2015-2026 (PubMed, strict title/abstract query). The 33 journals with at least 25 of them are shown, carrying 1,807 of 5,099; the rest is a long tail. Largest: Pediatric Radiology (196); median impact 3.7, 1 at 10 or above – this work lands mostly in mid-impact specialty and technical journals. A further 3 conference proceedings and preprint servers clear the threshold (94 papers) but have no impact number of any kind and are not plotted. The same chart animated year by year: figures/journal_impact.gif.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6 / 60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Which journals publish pediatric radiology AI, 2023–present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pic>
        <p:nvPicPr>
          <p:cNvPr id="4" name="journal_impact_2023_2026" descr="journal_impact_2023_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859" y="877824"/>
            <a:ext cx="7173976" cy="39300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81067"/>
            <a:ext cx="11368735" cy="54292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x = OpenAlex 2-year mean citedness (a free JIF analogue; runs below the published JIF). y = cumulative pediatric radiology-AI papers 2023-2026 (PubMed, strict title/abstract query). The 28 journals with at least 20 of them are shown, carrying 1,099 of 3,340; the rest is a long tail. Largest: Pediatric Radiology (136); median impact 3.2, 1 at 10 or above – this work lands mostly in mid-impact specialty and technical journals. medRxiv clears the threshold (31 papers) but has no impact number of any kind, so it is not plotted.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7 / 60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Cross-check: an independent 2025 scoping review of pediatric radiology AI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Kamran et al., </a:t>
            </a:r>
            <a:r>
              <a:rPr sz="1100" b="0" i="1">
                <a:solidFill>
                  <a:srgbClr val="1A1A1A"/>
                </a:solidFill>
                <a:latin typeface="Helvetica Neue"/>
              </a:rPr>
              <a:t>Pediatric Radiology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2025 (doi 10.1007/s00247-025-06462-5): 789 original pediatric-focused articles hand-screened from four databases, 2005 to August 2024. Our PubMed counts are larger because they include any paper that mentions a pediatric term.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26590"/>
            <a:ext cx="5592927" cy="22987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Modality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radiography 38%, MRI 33%, ultrasound 14%, CT 11%, nuclear 2%. Our pediatric query ranks MRI first (MRI 41%, CT 16%, ultrasound 13%, x-ray / radiography 12%) because MRI-heavy neurodevelopment papers mention children.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Subspecialty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musculoskeletal 33%, neuro 29%, chest 17%, body 14%, cardiac 6%.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Top applications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bone age (88 articles), pneumonia (65), brain tumors (54), scoliosis (45), hip dysplasia (28), congenital heart disease (25), autism (18), epilepsy (14), ADHD (9), hydrocephalus (9).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Use of AI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91% image interpretation / diagnosis; 5.6% image quality; under 2% for acquisition, communication, protocoling, education, and policy combined.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7287" y="1426590"/>
            <a:ext cx="5592927" cy="21310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65% used a single local hospital dataset; 7% did not report the dataset; China 28%, USA 25%, Canada 7% of articles.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Growth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23 articles in 2018, 158 in 2022, 171 in 2023, consistent with our PubMed curve.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Recommendations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multi-institutional, age-diverse pediatric datasets; CLAIM-style reporting with subgroup results and calibration; funding for the neglected non-interpretive areas (policy, education, implementation); children and families as stakeholders across the AI lifecycle.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What it adds to this deck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the same three leading tasks (bone age, pneumonia, brain tumor) and the same gap (small local datasets, adult tools applied to children) reached by a manual review.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8 / 60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Reading the whole pediatric literature, not a sample of it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64325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Counting publications says how much is being published; it does not say what was built, for which children, or how well it was tested. So every pediatric radiology-AI record from 2005 onward was retrieved from </a:t>
            </a:r>
            <a:r>
              <a:rPr sz="1100" b="1" i="0">
                <a:solidFill>
                  <a:srgbClr val="1A1A1A"/>
                </a:solidFill>
                <a:latin typeface="Helvetica Neue"/>
              </a:rPr>
              <a:t>PubMed/MEDLINE and Embase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, screened against prespecified criteria, and read into a structured row — model, modality, body region, age group, task, dataset size, data source, validation, availability — under one fixed schema.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594230"/>
            <a:ext cx="11368735" cy="184467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6,995 records retrieved, 393 conference proceedings set aside, 6,602 screened, 2,650 off-topic and 456 non-primary removed, 3,496 primary studies included (PubMed 3,122, Embase 365, OpenAlex 9).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Embase earns its place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365 of the included studies are not in PubMed at all. They have no PMID, so no NIH relative citation ratio; ranking them at all is why the impact column below is OpenAlex's field-weighted score.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Conference proceedings are retrieved and reported but not screened: an abstract cannot support a judgement about study design, and it carries no DOI linking it to the later full paper.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Screening and extraction were done by a constrained model under a fixed schema, with a blinded second-model re-screen of 150 records (94.7% agreement, kappa = 0.885). Dual-human validation is outstanding.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The same corpus is the paper database (reports/04_paper_database.md) and the systematic review manuscript, so the three never disagree.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9 / 60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Study selection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pic>
        <p:nvPicPr>
          <p:cNvPr id="4" name="review_prisma" descr="review_pris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4135" y="877824"/>
            <a:ext cx="4943425" cy="4266956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10 / 60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Included studies per publication year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pic>
        <p:nvPicPr>
          <p:cNvPr id="4" name="review_by_year" descr="review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726" y="877824"/>
            <a:ext cx="8662241" cy="40423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993355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Blue = the 3,496 included primary studies; gray = records read and then excluded as off-topic or non-primary. 2025+ is year to date and still being indexed.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11 / 60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What the pediatric literature is made of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pic>
        <p:nvPicPr>
          <p:cNvPr id="4" name="review_modality_year" descr="review_modalit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18" y="877824"/>
            <a:ext cx="6431056" cy="31440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095048"/>
            <a:ext cx="11368735" cy="6800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Modality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MRI 46%, ultrasound 24%, x-ray / radiography 19%, CT 9%. </a:t>
            </a:r>
            <a:r>
              <a:rPr sz="900" b="1" i="0">
                <a:solidFill>
                  <a:srgbClr val="1A1A1A"/>
                </a:solidFill>
                <a:latin typeface="Helvetica Neue"/>
              </a:rPr>
              <a:t>Task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detection / diagnosis 38%, measurement / quantification 24%, outcome prediction 20%, segmentation 19%. </a:t>
            </a:r>
            <a:r>
              <a:rPr sz="900" b="1" i="0">
                <a:solidFill>
                  <a:srgbClr val="1A1A1A"/>
                </a:solidFill>
                <a:latin typeface="Helvetica Neue"/>
              </a:rPr>
              <a:t>Age group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child 37%, adolescent 25%, fetal 22%, infant 15%. Categories are multilabel, so an axis can exceed 100%. MRI leads on the strength of the fetal and developmental-neuroscience literature: remove the MRI studies that use cognitive-neuroscience methods or report cognitive and behavioral outcomes and MRI falls level with ultrasound (30% each), which is why reviews built on narrower vocabulary rank radiography or ultrasound first.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12 / 60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What the models produce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pic>
        <p:nvPicPr>
          <p:cNvPr id="4" name="review_task_year" descr="review_task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1915" y="877824"/>
            <a:ext cx="8727865" cy="4266956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13 / 60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How well is it tested?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pic>
        <p:nvPicPr>
          <p:cNvPr id="4" name="review_validation_era" descr="review_validation_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0028" y="877824"/>
            <a:ext cx="7931637" cy="41546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105643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Of 3,496 included studies, external or multi-center validation was reported by 18.7%, a reader study by 6.2%, prospective evaluation by 3.3%, and a working code or model URL by 92 studies. External validation rose across eras; reader studies did not.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14 / 60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From published study to a tool a child benefits from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pic>
        <p:nvPicPr>
          <p:cNvPr id="4" name="review_funnel" descr="review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036" y="877824"/>
            <a:ext cx="7807622" cy="4266956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15 / 60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Which of these studies is the field actually reading?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pic>
        <p:nvPicPr>
          <p:cNvPr id="4" name="review_impact_distribution" descr="review_impac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8330" y="877824"/>
            <a:ext cx="5695032" cy="25826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533607"/>
            <a:ext cx="11368735" cy="1838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The median included study is cited 3.38 times the world average for its field and year: this is a well-cited literature, not a neglected one.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1,669 of 3,496 studies (47.7%) have enough citations to be ranked; the rest are too recent.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The top decile is the 167 studies at 14x average and up (PubMed 158, Embase 6, OpenAlex 3).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Selecting on citations does not select for rigor: external or multi-center validation is 22.8% in that decile against 18.7% across the corpus, and two thirds of it is still internal validation only.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16 / 60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Does citation impact pick out the better-validated work?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pic>
        <p:nvPicPr>
          <p:cNvPr id="4" name="review_impact_subset" descr="review_impact_sub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0999" y="877824"/>
            <a:ext cx="8449696" cy="39300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81067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The most-cited decile is somewhat more likely to report external validation and a reader study, but the difference is small: citations track topic and audience more than evidence.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17 / 60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Highest-impact pediatric radiology AI studies, 2005–2026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468"/>
                <a:gridCol w="480060"/>
                <a:gridCol w="409651"/>
                <a:gridCol w="4751440"/>
                <a:gridCol w="2013322"/>
                <a:gridCol w="316379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Impact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does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329x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Performance of a Deep-Learning Neural Network Model in Assessing Skeletal Maturity on Pediatric Hand Radiographs.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skeletal maturity (bone age) assessment in the workup of endocrine and metabolic disorders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325x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Fully Automated Deep Learning System for Bone Age Assessment.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Journal of digital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skeletal maturity (bone age) assessment in endocrine and metabolic workup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293x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1,757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Identifying Medical Diagnoses and Treatable Diseases by Image-Based Deep Learning.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Cell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pneumonia on chest radiographs, and bacterial vs viral origin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221x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for automated skeletal bone age assessment in X-ray images.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analysis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skeletal maturity (bone age) assessment in endocrine, genetic and growth disorders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200x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Automatic Segmentation of MR Brain Images With a Convolutional Neural Network.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transactions on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automatic brain tissue segmentation for quantitative MRI analysis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93x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269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CA-Net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transactions on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segmenting the placenta and fetal brain on 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83x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Attention Gate (Attention U-Net)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analysis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identifying the correct standard views during fetal ultrasound screening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73x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Computerized Bone Age Estimation Using Deep Learning Based Program: Evaluation of the Accuracy and Efficiency.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AJR. American journal of roentgenology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estimation, and whether software assistance makes radiologists faster without making them worse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71x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intelligence-assisted interpretation of bone age radiographs improves accuracy and decreases variability.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Skeletal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whether AI assistance makes pediatric radiologists better at bone age, not whether AI alone beats them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379975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Impact = citations relative to the average paper of the same field and year (OpenAlex FWCI; iCite RCR where OpenAlex has none), shown once a study has 5 citations. dagger Embase-only; ast preprint.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18 / 60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Highest-impact pediatric radiology AI studies, 2023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41147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468"/>
                <a:gridCol w="480060"/>
                <a:gridCol w="4944359"/>
                <a:gridCol w="2097607"/>
                <a:gridCol w="329623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Impact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does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69x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iBEAT V2.0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protocols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measuring cortical development in infants, whose brain MRI defeats adult-designed processing tools</a:t>
                      </a:r>
                    </a:p>
                  </a:txBody>
                  <a:tcPr marL="45720" marR="45720" marT="18288" marB="18288" anchor="t"/>
                </a:tc>
              </a:tr>
              <a:tr h="603503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37x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Assessment Using Artificial Intelligence in Korean Pediatric Population: A Comparison of Deep-Learning Models Trained With Healthy Chronological and Greulich-Pyle Ages as Labels.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Korean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whether bone age in a given population should be predicted against the Greulich-Pyle atlas or learned directly from the chronological ages of healthy children in that population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assessment based on deep neural networks with annotation-free cascaded critical bone region extraction.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artificial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bone age assessment from hand radiographs without manual region annotation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30x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analysis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segmenting the developing fetal brain into tissues, the step every quantitative prenatal neurodevelopment study depends on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28x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focus approach for accurate bone age estimation from lateral cephalogram.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Journal of dental sciences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estimating skeletal maturity from the lateral cephalogram a growing child already has, so that a separate hand-wrist radiograph is not required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Estimation and Prediction of Final Adult Height Using Deep Learning.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Yonsei medical journal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automatically estimating bone age and predicting final adult height in children using hand radiographs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26x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Detection of ASD Children through Deep-Learning Application of fMRI.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Children (Basel, Switzerland)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early detection of autism spectrum disorder in children, where prompt diagnosis enables targeted intervention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26x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High performance for bone age estimation with an artificial intelligence solution.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Diagnostic and interventional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How does an AI solution for bone age assessment compare in accuracy to a general (non-pediatric-specialized) radiologist?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classification of common maternal fetal ultrasound planes using multi-layer perceptron with deep feature integration dagger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Biomedical Signal Processing and Control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identification of standard fetal ultrasound planes during obstetric examination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065775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410 studies included from 2023; 289 have enough citations to be ranked. Impact = citations relative to the average paper of the same field and year (OpenAlex FWCI; iCite RCR where OpenAlex has none), shown once a study has 5 citations. dagger Embase-only; ast preprint.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19 / 60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Highest-impact pediatric radiology AI studies, 2024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4251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468"/>
                <a:gridCol w="480060"/>
                <a:gridCol w="4944359"/>
                <a:gridCol w="2097607"/>
                <a:gridCol w="329623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Impact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does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29x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bone age assessment in a German pediatric cohort: agreement between an artificial intelligence software and the manual Greulich and Pyle method.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European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whether a bone age product can be swapped in for an expert reader, not merely correlate with one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29x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Dempster-Shafer Approach to Trustworthy AI With Application to Fetal Brain MRI Segmentation.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transactions on pattern analysis and machine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detecting and correcting failures in automated fetal brain MRI segmentation so results are safe to use clinically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26x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HFSCCD: A Hybrid Neural Network for Fetal Standard Cardiac Cycle Detection in Ultrasound Videos.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journal of biomedical and health informatics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Automatically detecting standard cardiac cycle frames in fetal echocardiography to support congenital heart disease diagnosis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Assessment of Bone Age Based on Hand Radiographs Using Regression-Based Multi-Modal Deep Learning.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Life (Basel, Switzerland)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estimating bone age from hand radiographs</a:t>
                      </a:r>
                    </a:p>
                  </a:txBody>
                  <a:tcPr marL="45720" marR="45720" marT="18288" marB="18288" anchor="t"/>
                </a:tc>
              </a:tr>
              <a:tr h="603503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FetalBrainAwareNet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Computerized medical imaging and graphics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Synthesizing anatomically accurate fetal head standard-plane ultrasound images to augment training data for automated fetal head standard-plane classification.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On the use of contrastive learning for standard-plane classification in fetal ultrasound imaging.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Computers in biology and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identification of standard imaging planes in fetal ultrasound examinations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Transformer based multi-modal MRI fusion for prediction of post-menstrual age and neonatal brain development analysis.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analysis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Estimating post-menstrual age and assessing brain maturity from neonatal brain MRI to help identify preterm-related developmental risk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TW3 AI bone age assessment system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Quantitative imaging in medicine and surgery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validating an AI system for Tanner-Whitehouse 3 bone age assessment across multiple children's hospitals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assisted common maternal fetal planes prediction from ultrasound images based on information fusion of customized convolutional neural networks.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automatically classifying standard maternal-fetal ultrasound planes/organs to aid interpretation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02936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555 studies included from 2024; 264 have enough citations to be ranked.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20 / 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Highest-impact pediatric radiology AI studies, 2025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4251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468"/>
                <a:gridCol w="480060"/>
                <a:gridCol w="4944359"/>
                <a:gridCol w="2097607"/>
                <a:gridCol w="329623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Impact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does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54x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ChatGPT-o4-mini-high, ChatGPT-4.5, Gemini 2.5 Pro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Academic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whether a general-purpose chatbot can substitute for dedicated bone age software, which is expensive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52x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Prediction of mental health risk in adolescents.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predicting future risk of general psychiatric illness in adolescents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32x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BoneXpert, PANDA, BoneView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European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which of the bone age products approved for the European market a department should buy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29x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Whole examination AI estimation of fetal biometrics from 20-week ultrasound scans.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NPJ digital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biometry currently rests on a handful of frames a sonographer chose, and the choice is a source of error</a:t>
                      </a:r>
                    </a:p>
                  </a:txBody>
                  <a:tcPr marL="45720" marR="45720" marT="18288" marB="18288" anchor="t"/>
                </a:tc>
              </a:tr>
              <a:tr h="603503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29x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Uncovering ethical biases in publicly available fetal ultrasound datasets.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NPJ digital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whether publicly available fetal ultrasound image datasets used to train deep-learning prenatal-diagnosis algorithms are demographically and clinically representative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28x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Scanner-based real-time three-dimensional brain + body slice-to-volume reconstruction for T2-weighted 0.55-T low-field fetal magnetic resonance imaging.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motion-corrected 3D fetal MRI has stayed a research technique because reconstruction happens offline, after the patient has gone home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26x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Predicting pediatric patient rehabilitation outcomes after spinal deformity surgery with artificial intelligence.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Communications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telling an adolescent before scoliosis surgery how they are likely to feel afterwards, which radiographic correction alone does not predict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Three-dimensional markerless surface topography approach with convolutional neural networks for adolescent idiopathic scoliosis screening.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screening adolescents for scoliosis without the unnecessary referrals and radiographs that current screening generates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Advancing prenatal healthcare by explainable AI enhanced fetal ultrasound image segmentation using U-Net++ with attention mechanisms.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automated, explainable segmentation of fetal ultrasound images to standardize evaluation of fetal development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02936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685 studies included from 2025; 118 have enough citations to be ranked.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21 / 60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Highest-impact pediatric radiology AI studies, 2026 (year to date)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47621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3570"/>
                <a:gridCol w="465978"/>
                <a:gridCol w="4959176"/>
                <a:gridCol w="2103892"/>
                <a:gridCol w="3306117"/>
              </a:tblGrid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1" i="0">
                          <a:solidFill>
                            <a:srgbClr val="FFFFFF"/>
                          </a:solidFill>
                          <a:latin typeface="Helvetica Neue"/>
                        </a:rPr>
                        <a:t>Impact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1" i="0">
                          <a:solidFill>
                            <a:srgbClr val="FFFFFF"/>
                          </a:solidFill>
                          <a:latin typeface="Helvetica Neue"/>
                        </a:rPr>
                        <a:t>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does</a:t>
                      </a:r>
                    </a:p>
                  </a:txBody>
                  <a:tcPr marL="45720" marR="45720" marT="18288" marB="18288" anchor="t"/>
                </a:tc>
              </a:tr>
              <a:tr h="581558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46x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Infants have rich visual categories in ventrotemporal cortex at 2 months of age.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neuroscience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characterizing the development of visual category representations in the infant brain using functional MRI, compared against a deep neural network model of vision</a:t>
                      </a:r>
                    </a:p>
                  </a:txBody>
                  <a:tcPr marL="45720" marR="45720" marT="18288" marB="18288" anchor="t"/>
                </a:tc>
              </a:tr>
              <a:tr h="581558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14x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Perceived Racism, Brain Development, and Internalizing and Externalizing Symptoms: Findings From the ABCD Study.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Journal of the American Academy of Child and Adolescent Psychiatry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assessing effects of perceived racial discrimination on longitudinal subcortical functional connectivity changes and internalizing/externalizing symptoms in adolescents</a:t>
                      </a:r>
                    </a:p>
                  </a:txBody>
                  <a:tcPr marL="45720" marR="45720" marT="18288" marB="18288" anchor="t"/>
                </a:tc>
              </a:tr>
              <a:tr h="581558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6x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Use of Artificial Intelligence-Based Software to Aid in the Identification of Ultrasound Findings Associated With Fetal Congenital Heart Defects.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Obstetrics and gynecology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evaluating whether AI-based software improves ob-gyn and maternal-fetal medicine specialists' identification of second-trimester fetal ultrasound findings suspicious for congenital heart defects</a:t>
                      </a:r>
                    </a:p>
                  </a:txBody>
                  <a:tcPr marL="45720" marR="45720" marT="18288" marB="18288" anchor="t"/>
                </a:tc>
              </a:tr>
              <a:tr h="581558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5x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for the Detection of Fetal Ultrasound Findings Concerning for Major Congenital Heart Defects.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Obstetrics and gynecology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identifying second-trimester fetal ultrasound findings suspicious for major congenital heart defects using AI-based software, to improve antenatal CHD detection</a:t>
                      </a:r>
                    </a:p>
                  </a:txBody>
                  <a:tcPr marL="45720" marR="45720" marT="18288" marB="18288" anchor="t"/>
                </a:tc>
              </a:tr>
              <a:tr h="318211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4x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G-YOLOv11 dagger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Biomedical Signal Processing and Control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detection on pediatric wrist radiographs</a:t>
                      </a:r>
                    </a:p>
                  </a:txBody>
                  <a:tcPr marL="45720" marR="45720" marT="18288" marB="18288" anchor="t"/>
                </a:tc>
              </a:tr>
              <a:tr h="581558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4x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Machine Learning Algorithms for Predicting Cobb Angle Beyond 25° in Female Adolescent Idiopathic Scoliosis Patients.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Spine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predicting which female adolescents with idiopathic scoliosis will progress to a Cobb angle beyond 25°, using minimal radiographic and questionnaire data collected at the first visit</a:t>
                      </a:r>
                    </a:p>
                  </a:txBody>
                  <a:tcPr marL="45720" marR="45720" marT="18288" marB="18288" anchor="t"/>
                </a:tc>
              </a:tr>
              <a:tr h="449884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3x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Motion-Echo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European heart journal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automating myocardial strain analysis from pediatric echocardiograms to standardize measurement and enable earlier detection of cardiac dysfunction</a:t>
                      </a:r>
                    </a:p>
                  </a:txBody>
                  <a:tcPr marL="45720" marR="45720" marT="18288" marB="18288" anchor="t"/>
                </a:tc>
              </a:tr>
              <a:tr h="449884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3x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Safe for kids? AI medical devices in radiology overlook paediatric suitability.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European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whether the AI devices a European radiology department can buy say anything about being safe for children</a:t>
                      </a:r>
                    </a:p>
                  </a:txBody>
                  <a:tcPr marL="45720" marR="45720" marT="18288" marB="18288" anchor="t"/>
                </a:tc>
              </a:tr>
              <a:tr h="449884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3x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GPT-4.1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European archives of oto-rhino-laryngology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detecting and lateralizing pediatric airway foreign body aspiration from clinical data and chest radiographs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713171"/>
            <a:ext cx="11368735" cy="3931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02"/>
              </a:spcAft>
            </a:pPr>
            <a:r>
              <a:rPr sz="864" b="0" i="0">
                <a:solidFill>
                  <a:srgbClr val="1A1A1A"/>
                </a:solidFill>
                <a:latin typeface="Helvetica Neue"/>
              </a:rPr>
              <a:t>686 studies included from 2026; 12 have enough citations to be ranked. Few studies from this year have enough citations for a normalized value yet, so this table is thin by construction rather than because the year was quiet.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22 / 60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The biggest public pediatric radiology AI datasets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DATASETS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2" cy="3922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1816"/>
                <a:gridCol w="832104"/>
                <a:gridCol w="2017652"/>
                <a:gridCol w="3031816"/>
                <a:gridCol w="1014164"/>
                <a:gridCol w="1441180"/>
              </a:tblGrid>
              <a:tr h="192024"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Dataset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Modality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Size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Access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CBTN clinical MRI (Children's Brain Tumor Network)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/ spine tumor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23,101 exams (1,526 patients); tumor masks for 370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application (NCI CCDI)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GRAZPEDWRI-DX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wrist radiographs (trauma)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20,327 images (6,091 patients)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0.2–19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Pediatric Bone Age Challenge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hand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14,236 images (bone age + sex)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mean 10.6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 (RSNA terms)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FETAL_PLANES_DB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ultrasound (standard planes)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12,400 images (1,792 pregnancies)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ABCD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2018–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MRI, longitudinal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11,878 participants, up to 7 follow-ups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9–10 y at baseline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application (NBDC)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PediCXR / VinDr-PCXR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9,125 studies; 36 findings, 15 diagnoses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credentialed (PhysioNet)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Guangzhou pediatric chest X-ray (Kermany)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5,856 images (normal / bacterial / viral pneumonia)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1–5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ABIDE I + II (autism)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2012 / 2016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MRI (structural, resting fMRI)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2,156 subjects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5–64 y (mostly children)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Regensburg Pediatric Appendicitis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abdominal ultrasound + labs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1,709 images (579 patients)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0–18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dHCP (Developing Human Connectome Project)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2022–24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neonatal + fetal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886 neonatal + 297 fetal datasets, with segmentations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20–45 weeks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 (NDA)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Pediatric-CT-SEG (TCIA)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/ abdomen / pelvis 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718 series (359 patients); 29 organ contours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 days – 16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BraTS-PEDs (pediatric brain tumor challenge)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2023–25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tumor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464 patients (2024 challenge); 1,649 series on TCIA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registration / TCIA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 (fetal brain tissue annotation)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2021–24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280 volumes (120 train + 160 test); 7 tissue labels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18–35 weeks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registration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873751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Sizes verified against the primary paper or hosting page (2026-09). Only two pediatric radiograph sets exceed 10,000 images; the largest public pediatric-only CT set has 359 patients; no RSNA pediatric challenge has run since bone age in 2017. Adult benchmarks (CheXpert 224k, MIMIC-CXR 377k) exclude children.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23 / 60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2008-2022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"/>
                <a:gridCol w="512064"/>
                <a:gridCol w="4748174"/>
                <a:gridCol w="2099955"/>
                <a:gridCol w="3496477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14,326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1023.0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survey on deep learning in medical image analysis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can deep learning do across medical imaging? (the field's reference survey)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5,658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Swin-Unet: Unet-like Pure Transformer for Medical Image Segmentation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ECCV Workshops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2,990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340.4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in Medical Image Analysis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Annual Review of Biomedical Engineering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does deep learning apply to medical image analysis? (review)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2,553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290.0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Swin UNETR: Swin Transformers for Semantic Segmentation of Brain Tumors in MRI Images (2022)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BrainLes@MICCAI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2,769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272.4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COVID-Net: a tailored deep convolutional neural network design for detection of COVID-19 cases from chest X-ray images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classification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CNN detect COVID-19 on chest X-ray? (COVID-Net)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3,634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236.9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ChestX-Ray8: Hospital-Scale Chest X-Ray Database and Benchmarks on Weakly-Supervised Classification and Localization of Common Thorax Diseases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Computer Vision and Pattern Recognition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classification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10,044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226.3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nnU-Net: a self-configuring method for deep learning-based biomedical image segmentation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Methods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one self-configuring method segment any organ or lesion without hand tuning? (nnU-Net)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4,100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170.2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Convolutional neural networks: an overview and application in radiology (2018)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tutorial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is a convolutional neural network, explained for radiologists?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5,587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158.4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Computational Radiomics System to Decode the Radiographic Phenotype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Cancer Research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radiomics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standardized image features (radiomics) be extracted reproducibly? (PyRadiomics)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3,322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149.0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in radiology (2018)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Reviews. Cancer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review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will AI change radiology practice? (Hosny et al.)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571999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Rows are the most-cited papers of the period, ordered by FWCI = field-weighted citation impact (OpenAlex): citations relative to the world average for papers of the same field and year (1 = average), so a recent paper can be compared with an older one. Preprints (arXiv, medRxiv) are included; the venue column names the server.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24 / 60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2023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758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7041"/>
                <a:gridCol w="2116341"/>
                <a:gridCol w="3527236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1,608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615.8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Segment anything in medical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prompt-based 'segment anything' model work on medical images? (MedSAM)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2,099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Foundation models for generalist medical artificial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would a single generalist medical AI model that handles images, text and records look like? (perspective)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118.5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Redefining Radiology: A Review of Artificial Intelligence Integration in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Diagnostics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Where does AI fit in radiology workflow, from acquisition to reporting? (review)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509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analysis using deep learning algorithms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Public Health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Study of CNN and Transfer Learning in Medical Imaging: Advantages, Challenges, Future Scope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Sustainability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861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69.6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Segment Anything Model for medical image analysis: an experimental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well does the unmodified Segment Anything Model work on medical images? (it needs prompts and adaptation)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MRI-based brain tumor detection using convolutional deep learning methods and chosen machine learning techniques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BMC Medical Informatics and Decision Making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460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Tumor Detection Based on Deep Learning Approaches and Magnetic Resonance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Cancers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391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42.2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SAM-Adapter: Adapting Segment Anything in Underperformed Scenes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 IEEE/CVF International Conference on Computer Vision Workshops (ICCVW)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37.4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generalist vision–language foundation model for diverse biomedical tasks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709159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Rows are the most-cited papers of the period, ordered by FWCI = field-weighted citation impact (OpenAlex): citations relative to the world average for papers of the same field and year (1 = average), so a recent paper can be compared with an older one. Preprints (arXiv, medRxiv) are included; the venue column names the server. 1 of the 10 rows are preprints.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25 / 60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2024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758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7041"/>
                <a:gridCol w="2116341"/>
                <a:gridCol w="3527236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1,074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VM-UNet: Vision Mamba UNet for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ACM Transactions on Multimedia Computing, Communications, and Applications (TOMCCAP)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a state-space (Mamba) backbone beat convolutions and transformers for medical segmentation?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110.3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Generalist foundation models from a multimodal dataset for 3D computed tomography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Biomedical Engineering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282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in neuro-oncology: advances and challenges in brain tumor diagnosis, prognosis, and precision treatment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npj Precision 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72.6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METhodological RadiomICs Score (METRICS): a quality scoring tool for radiomics research endorsed by EuSoMII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radiomics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should the quality of a radiomics study be scored? (METRICS checklist)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47.6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for medical image segmentation: State-of-the-art advancements and challenges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Informatics in Medicine Unlocked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Advances in Medical Image Segmentation: A Comprehensive Review of Traditional, Deep Learning and Hybrid Approaches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Bioengineering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Employing deep learning and transfer learning for accurate brain tumor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36.0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semi-supervised learning for medical image segmentation: A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Expert systems with applications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review of deep learning-based information fusion techniques for multimodal medical image classification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Comput. Biol.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298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Vision-language models for medical report generation and visual question answering: a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Artif. Intell.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report generation / LLM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can vision-language models do for report generation and visual question answering? (review)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26 / 60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2025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483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2244"/>
                <a:gridCol w="2119445"/>
                <a:gridCol w="352892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Convolutional Neural Networks in Medical Image Analysis: A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Inf.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158.8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Multi-model assurance analysis showing large language models are highly vulnerable to adversarial hallucination attacks during clinical decision support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Communications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108.2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Multimodal generative AI for medical image interpretation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94.9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Towards generalist foundation model for radiology by leveraging web-scale 2D&amp;3D medical data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radiology foundation model trained on web-scale 2D and 3D scans generalize across modalities and tasks? (RadFM)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87.2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Development and validation of an autonomous artificial intelligence agent for clinical decision-making in 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Cancer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agent / autonomous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an autonomous LLM agent that calls imaging and other tools support oncology decisions? (validation study)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65.9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review of deep learning for brain tumor analysis 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npj Precision 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Med-R1: Reinforcement Learning for Generalizable Medical Reasoning in Vision-Language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Transactions on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in healthcare and medicine: clinical applications, therapeutic advances, and future perspectives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European Journal of Medical Research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54.0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Segmentation: A Comprehensive Review of Deep Learning-Based Methods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Tomography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39.5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Advanced Brain Tumor Classification in MR Images Using Transfer Learning and Pre-Trained Deep CNN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Cancers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434840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1 of the 10 rows are preprints.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27 / 60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2026 (year to date)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2244"/>
                <a:gridCol w="2119445"/>
                <a:gridCol w="352892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102.6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generalizable foundation model for analysis of human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Neuroscience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90.5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Reporting checklist for foundation and large language models in medical research (REFINE): an international consensus guideline.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Diagnostic and Interventional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76.1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Scaling medical AI across clinical contexts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can medical AI be scaled across hospitals, populations and tasks without breaking? (perspective)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Applications and limitations of large language models to integrate medical context: a comprehensive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Iran Journal of Computer 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62.7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hybrid deep learning framework based on VGG19 and U-Net for accurate brain tumor segmentation in MRI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Magnetic Resonance Letters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58.8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Explainable artificial intelligence (XAI) in medical imaging: a systematic review of techniques, applications, and challenges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BMC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Which explainability methods are used in medical imaging AI and do they help? (review)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45.3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Explainable AI-driven MRI-based brain tumor classification: a novel deep learning approach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Artif. Intell.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Agentic AI in Radiology: Evolution from Large Language Models to Future Clinical Integration.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Radiology: Artificial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agent / autonomous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are agentic AI systems in radiology and what stands between them and clinical use? (review)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28.4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Leveraging multi-modal foundation models for analysing spatial multi-omic and histopathology data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Biomedical Engineering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BIBSNet: A deep learning baby image brain segmentation network for MRI scans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Developmental Cognitive Neuroscience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one network segment infant brain MRI across the first years of life? (BIBSNet)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571999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Citations for the current year are still accumulating; the FWCI column is the more stable signal here. 1 of the 10 rows are preprints.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28 / 60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2008-2022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483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2244"/>
                <a:gridCol w="2119445"/>
                <a:gridCol w="352892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328.6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Performance of a Deep-Learning Neural Network Model in Assessing Skeletal Maturity on Pediatric Hand Radiographs.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CNN assess skeletal maturity as accurately as radiologists?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321.5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Fully Automated Deep Learning System for Bone Age Assessment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Journal of digital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Fully automated bone age from hand radiographs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221.2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for automated skeletal bone age assessment in X-ray images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Deep learning for automated bone age (BoNet)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73.0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Computerized Bone Age Estimation Using Deep Learning Based Program: Evaluation of the Accuracy and Efficiency.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AJR. American journal of roentgenology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Is a commercial deep-learning bone-age program accurate and faster in practice?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57.8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Review on Deep-Learning Algorithms for Fetal Ultrasound-Image Analysis (2022)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352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57.4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Standard Plane Localization in Fetal Ultrasound via Domain Transferred Deep Neural Networks (2015)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journal of biomedical and health informatics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Automatic Fetal Ultrasound Standard Plane Recognition Based on Deep Learning and IIoT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Transactions on Industrial Informatics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30.3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Evaluation of deep convolutional neural networks for automatic classification of common maternal fetal ultrasound planes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RSNA Pediatric Bone Age Machine Learning Challenge. (2019)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well can crowdsourced AI estimate bone age? (RSNA challenge, 260 teams)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An ensemble of neural networks provides expert-level prenatal detection of complex congenital heart disease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detection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434840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A different corpus from the systematic-review tables earlier in the deck: this is a citation search of Semantic Scholar over radiology AI with a pediatric title filter, so it includes conference papers and is not screened for eligibility. The review tables rank the screened corpus. Both are shown because neither contains the other.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29 / 60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2023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4032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09651"/>
                <a:gridCol w="4814686"/>
                <a:gridCol w="2124126"/>
                <a:gridCol w="3540210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Assessment Using Artificial Intelligence in Korean Pediatric Population: A Comparison of Deep-Learning Models Trained With Healthy Chronological and Greulich-Pyle Ages as Labels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Korean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33.6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Standard fetal ultrasound plane classification based on stacked ensemble of deep learning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Expert systems with applications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an ensemble of networks classify the standard fetal ultrasound planes?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33.5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assessment based on deep neural networks with annotation-free cascaded critical bone region extraction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Artificial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Review on deep learning fetal brain segmentation from Magnetic Resonance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Artif. Intell.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Transfer learning for accurate fetal organ classification from ultrasound images: a potential tool for maternal healthcare providers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Learning-Based Multiclass Brain Tissue Segmentation in Fetal MRIs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Italian National Conference on Sensors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Deeplasia: deep learning for bone age assessment validated on skeletal dysplasias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for estimation of fetal weight throughout the pregnancy from fetal abdominal ultrasound.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American Journal of Obstetrics &amp; Gynecology MFM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model for prenatal congenital heart disease (CHD) screening can be applied to retrospective imaging from the community setting, outperforming initial clinical detection in a well-annotated cohort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in Obstetrics and Gynecology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a prenatal congenital heart disease screening model work on retrospective real-world scans?</a:t>
                      </a:r>
                    </a:p>
                  </a:txBody>
                  <a:tcPr marL="45720" marR="45720" marT="18288" marB="18288" anchor="t"/>
                </a:tc>
              </a:tr>
              <a:tr h="603503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MRI-Based End-To-End Pediatric Low-Grade Glioma Segmentation and Classification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Canadian Association of Radiologists journal = Journal l'Association canadienne des radiologistes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83479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Rows are the most-cited papers of the period, ordered by FWCI = field-weighted citation impact (OpenAlex): citations relative to the world average for papers of the same field and year (1 = average), so a recent paper can be compared with an older one. Preprints (arXiv, medRxiv) are included; the venue column names the server. 1 of the 10 rows are preprints.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30 / 60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2024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09651"/>
                <a:gridCol w="4819178"/>
                <a:gridCol w="2121220"/>
                <a:gridCol w="3538625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Intrapartum Ultrasound Image Segmentation of Pubic Symphysis and Fetal Head Using Dual Student-Teacher Framework with CNN-ViT Collaborative Learning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International Conference on Medical Image Computing and Computer-Assisted Intervention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FetalBrainAwareNet: Bridging GANs with anatomical insight for fetal ultrasound brain plane synthesis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Comput. Medical Imaging Graph.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assisted common maternal fetal planes prediction from ultrasound images based on information fusion of customized convolutional neural networks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denoising reconstruction for improved image quality in fetal cardiac cine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Cardiovascular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deep-learning denoising improve fetal cardiac cine MRI?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RTSeg-net: A lightweight network for real-time segmentation of fetal head and pubic symphysis from intrapartum ultrasound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Comput. Biol.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FetSAM: Advanced Segmentation Techniques for Fetal Head Biometrics in Ultrasound Imagery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Open Journal of Engineering in Medicine and Biology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learning-based automated lesion segmentation on pediatric focal cortical dysplasia II preoperative MRI: a reliable approach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epilepsy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focal cortical dysplasia lesions be found automatically on preoperative pediatric MRI?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Integration of a Deep Convolutional Neural Network With Adaptive Channel Weight Technique for Automated Identification of Standard Fetal Biometry Planes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Transactions on Instrumentation and Measurement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Explainable AI in Deep Learning Based Classification of Fetal Ultrasound Image Planes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Procedia Computer 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deep learning framework for identifying and segmenting three vessels in fetal heart ultrasound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BioMedical Engineering OnLine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31 / 60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2025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7581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801516"/>
                <a:gridCol w="2113446"/>
                <a:gridCol w="3525656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171.3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comprehensive review of artificial intelligence - based algorithm towards fetal facial anomalies detection (2013–2024)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survey / review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85.1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M-CNN-RF: A hybrid deep learning model for accurate pediatric skeletal age estimation using hand bone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Alexandria Engineering Journal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Assessment Using Various Medical Imaging Techniques Enhanced by Artificial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Diagnostics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Advancing prenatal healthcare by explainable AI enhanced fetal ultrasound image segmentation using U-Net++ with attention mechanisms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FetalMovNet: A Novel Deep Learning Model Based on Attention Mechanism for Fetal Movement Classification in US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Access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Effectiveness and clinical impact of using deep learning for first-trimester fetal ultrasound image quality auditing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BMC Pregnancy and Childbirth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Association between deep learning radiomics based on placental MRI and preeclampsia with fetal growth restriction: A multicenter study.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European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radiomics</a:t>
                      </a:r>
                    </a:p>
                  </a:txBody>
                  <a:tcPr marL="45720" marR="45720" marT="18288" marB="18288" anchor="t"/>
                </a:tc>
              </a:tr>
              <a:tr h="603503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Prenatal detection of congenital heart defects using the deep learning-based image and video analysis: protocol for Clinical Artificial Intelligence in Fetal Echocardiography (CAIFE), an international multicentre multidisciplinary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BMJ Open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deep learning on prenatal ultrasound video detect congenital heart defects?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Multi-view deep learning framework for the detection of chest X-rays compatible with pediatric pulmonary tuberculosis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detection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Evaluation of Image Quality and Scan Time Efficiency in Accelerated 3D T1-Weighted Pediatric Brain MRI Using Deep Learning-Based Reconstruction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Korean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reconstruction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32 / 60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2026 (year to date)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09651"/>
                <a:gridCol w="4814686"/>
                <a:gridCol w="2124126"/>
                <a:gridCol w="3540210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and radiomics for pediatric brain tumor classification and molecular characterization: a systematic review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Neuroradiology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AI and radiomics classify pediatric brain tumors and their molecular subtypes? (review)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assessment of fetal brain maturation on 3D ultrasound volumes in early-onset fetal growth restriction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in Obstetrics and Gynecology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deep learning grade fetal brain maturation on 3D ultrasound in growth restriction?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Foundation models in radiology: a primer for pediatric radiologists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What should a pediatric radiologist know about foundation models? (primer)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Learning-Based Multi-Class Pediatric Wrist Fracture Subtype Classification: A Pilot Study Comparing Convolutional Neural Network Architectures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Journal of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fracture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Current applications and challenges of artificial intelligence applied to diagnostics in pediatric musculoskeletal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classification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Data mining in pediatric radiology in the era of artificial intelligence.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Acquisition time/dose reduction in pediatric PET imaging using patch-based deep learning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EJNMMI Physics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pediatric PET use one fifth of the counts with patch-based deep-learning denoising?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Optimizing pediatric chest CT: superior image quality and lower radiation dose with deep learning reconstruction.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European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deep-learning reconstruction lower pediatric chest CT dose while improving image quality?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Enhancing efficiency in pediatric brain tumor segmentation using a pathologically diverse single-center clinical dataset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Neuro-Oncology Advances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bone age assessment in rare pediatric growth disorders: a comparative study using Deeplasia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Endocrinology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an open bone-age model hold up in rare growth disorders against several experts? (Deeplasia)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572000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Citations for the current year are still accumulating; the FWCI column is the more stable signal here.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33 / 60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Radiology AI works per year, by conference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pic>
        <p:nvPicPr>
          <p:cNvPr id="4" name="venue_works_by_year" descr="venue_work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026" y="877824"/>
            <a:ext cx="9207642" cy="4603821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34 / 60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NeurIPS: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Conference on Neural Information Processing Systems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found, 2023–2026: 45 (2023: 13, 2024: 12, 2025: 20); 0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258951"/>
          <a:ext cx="11368734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3D-RAD: A Comprehensive 3D Radiology Med-VQA Dataset with Multi-Temporal Analysis and Diverse Diagnostic Tasks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Better Tokens for Better 3D: Advancing Vision-Language Modeling in 3D Medical Imaging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Touchstone Benchmark: Are We on the Right Way for Evaluating AI Algorithms for Medical Segmentation?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0.9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Eye-gaze Guided Multi-modal Alignment for Medical Representation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Enhancing vision-language models for medical imaging: bridging the 3D gap with innovative slice selection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DiffusionBlend: Learning 3D Image Prior through Position-aware Diffusion Score Blending for 3D Computed Tomography Reconstruction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SegVol: Universal and Interactive Volumetric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LVM-Med: Learning Large-Scale Self-Supervised Vision Models for Medical Imaging via Second-order Graph Matching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EHRXQA: A Multi-Modal Question Answering Dataset for Electronic Health Records with Chest X-ray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SwiFT: Swin 4D fMRI Transformer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NeuroGraph: Benchmarks for Graph Machine Learning in Brain Connectomics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Knowledge-based in silico models and dataset for the comparative evaluation of mammography AI for a range of breast characteristics, lesion conspicuities and doses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965575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Semantic Scholar venue search, citations and FWCI from OpenAlex; title-level relevance filter; the 12 most-cited of 45 works, newest year first.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35 / 60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ICLR: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International Conference on Learning Representations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found, 2023–2026: 17 (2023: 4, 2024: 5, 2025: 8); 0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258951"/>
          <a:ext cx="11368734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Large-scale and Fine-grained Vision-language Pre-training for Enhanced CT Image Understanding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SimXRD-4M: Big Simulated X-ray Diffraction Data and Crystal Symmetry Classification Benchmark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Self-Supervised Diffusion MRI Denoising via Iterative and Stable Refinement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Score-based Self-supervised MRI Denoising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MMed-RAG: Versatile Multimodal RAG System for Medical Vision Language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MediConfusion: Can you trust your AI radiologist? Probing the reliability of multimodal medical foundation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Effect of Intrinsic Dataset Properties on Generalization: Unraveling Learning Differences Between Natural and Medical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LeFusion: Controllable Pathology Synthesis via Lesion-Focused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Advancing Radiograph Representation Learning with Masked Record Modeling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DDM2: Self-Supervised Diffusion MRI Denoising with Generative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AE-FLOW: Autoencoders with Normalizing Flows for Medical Images Anomaly Detection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Improved Training of Physics-Informed Neural Networks Using Energy-Based Priors: a Study on Electrical Impedance Tomography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828415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Semantic Scholar venue search, citations and FWCI from OpenAlex; title-level relevance filter; the 12 most-cited of 17 works, newest year first.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36 / 60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ICML: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International Conference on Machine Learning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found, 2023–2026: 12 (2023: 4, 2024: 2, 2025: 6); 0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258951"/>
          <a:ext cx="11368734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CLIMB: Data Foundations for Large Scale Multimodal Clinical Foundation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MindLLM: A Subject-Agnostic and Versatile Model for fMRI-to-Text Decoding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Raptor: Scalable Train-Free Embeddings for 3D Medical Volumes Leveraging Pretrained 2D Foundation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Efficient Noise Calculation in Deep Learning-based MRI Reconstructions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LangDAug: Langevin Data Augmentation for Multi-Source Domain Generalization in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Staged and Physics-Grounded Learning Framework with Hyperintensity Prior for Pre-Contrast MRI Synthesis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Unsupervised Domain Adaptation for Anatomical Structure Detection in Ultrasound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Adaptive Sampling of k-Space in Magnetic Resonance for Rapid Pathology Prediction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ACAT: Adversarial Counterfactual Attention for Classification and Detection in Medical Imaging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Robustness of Deep Learning for Accelerated MRI: Benefits of Diverse Training Data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Learning High-Order Relationships of Brain Regions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Contextualized Policy Recovery: Modeling and Interpreting Medical Decisions with Adaptive Imitation Learning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828415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Semantic Scholar venue search, citations and FWCI from OpenAlex; title-level relevance filter; the 12 most-cited of 12 works, newest year first.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37 / 60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CVPR: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IEEE/CVF Conference on Computer Vision and Pattern Recognition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found, 2023–2026: 57 (2023: 15, 2024: 24, 2025: 18); 1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258951"/>
          <a:ext cx="11368734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48056"/>
                <a:gridCol w="10030967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265.4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Enhanced Contrastive Learning with Multi-view Longitudinal Data for Chest X-ray Report Generation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47.9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Towards Generalizable Tumor Synthesis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Rethinking Diffusion Model for Multi-Contrast MRI Super-Resolution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MemSAM: Taming Segment Anything Model for Echocardiography Video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Dynamic Graph Enhanced Contrastive Learning for Chest X-Ray Report Generation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75.5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Ambiguous Medical Image Segmentation Using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METransformer: Radiology Report Generation by Transformer with Multiple Learnable Expert Tokens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MCF: Mutual Correction Framework for Semi-Supervised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KiUT: Knowledge-injected U-Transformer for Radiology Report Generation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67.2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Structure-Aware Sparse-View X-Ray 3D Reconstruction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Label-Free Liver Tumor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Learning Federated Visual Prompt in Null Space for MRI Reconstruction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828415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Semantic Scholar venue search, citations and FWCI from OpenAlex; title-level relevance filter; the 12 most-cited of 57 works, newest year first.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38 / 60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MICCAI: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Medical Image Computing and Computer-Assisted Intervention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found, 2023–2026: 521 (2023: 139, 2024: 195, 2025: 187); 25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258951"/>
          <a:ext cx="11368734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MedVLM-R1: Incentivizing Medical Reasoning Capability of Vision-Language Models (VLMs) via Reinforcement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CT2Rep: Automated Radiology Report Generation for 3D Medical Imaging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Anatomically-Controllable Medical Image Generation with Segmentation-Guided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MedCLIP-SAM: Bridging Text and Image Towards Universal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MedNeXt: Transformer-driven Scaling of ConvNets for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CoLa-Diff: Conditional Latent Diffusion Model for Multi-Modal MRI Synthesis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DiffMIC: Dual-Guidance Diffusion Network for Medical Image Classification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Beyond Adapting SAM: Towards End-to-End Ultrasound Image Segmentation via Auto Prompting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Self-Supervised MRI Reconstruction with Unrolled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Make-A-Volume: Leveraging Latent Diffusion Models for Cross-Modality 3D Brain MRI Synthesis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BerDiff: Conditional Bernoulli Diffusion Model for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Ariadne's Thread: Using Text Prompts to Improve Segmentation of Infected Areas from Chest X-ray images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828415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Semantic Scholar venue search, citations and FWCI from OpenAlex; title-level relevance filter; the 12 most-cited of 521 works, newest year first.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39 / 60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MIDL: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Medical Imaging with Deep Learning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found, 2023–2026: 62 (2023: 33, 2024: 29); 2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258951"/>
          <a:ext cx="11368734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Imbalance-aware loss functions improve medical image classification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Patched Diffusion Models for Unsupervised Anomaly Detection in Brain MRI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MMCFormer: Missing Modality Compensation Transformer for Brain Tumor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diffusion on a budget: textual inversion for medical image generation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MProtoNet: A Case-Based Interpretable Model for Brain Tumor Classification with 3D Multi-parametric Magnetic Resonance Imaging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Diffusion Models for Contrast Harmonization of Magnetic Resonance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Exploring Image Augmentations for Siamese Representation Learning with Chest X-Rays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3D Medical Axial Transformer: A Lightweight Transformer Model for 3D Brain Tumor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Vision-Language Modelling For Radiological Imaging and Reports In The Low Data Regime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E(3) x SO(3)-Equivariant Networks for Spherical Deconvolution in Diffusion MRI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Amortized Normalizing Flows for Transcranial Ultrasound with Uncertainty Quantification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Selective experience replay compression using coresets for lifelong deep reinforcement learning in medical imaging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828415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Semantic Scholar venue search, citations and FWCI from OpenAlex; title-level relevance filter; the 12 most-cited of 62 works, newest year first.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40 / 60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RSNA: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Radiological Society of North America: Radiology, Radiology: AI, RadioGraphics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found, 2023–2026: 616 (2023: 151, 2024: 174, 2025: 185, 2026: 106); 13 pediatric (marked ★). RSNA annual-meeting abstracts are not indexed; the society's journals stand in.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5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48056"/>
                <a:gridCol w="10030968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452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113.7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Checklist for Artificial Intelligence in Medical Imaging (CLAIM): 2024 Update.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26.4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Chatbots and Large Language Models in Radiology: A Practical Primer for Clinical and Research Applications.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58.7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Image Biomarker Standardization Initiative: Standardized Convolutional Filters for Reproducible Radiomics and Enhanced Clinical Insights.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29.4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ChatGPT and Other Large Language Models Are Double-edged Swords.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Performance of ChatGPT on a Radiology Board-style Examination: Insights into Current Strengths and Limitations.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392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33.2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Image Reconstruction for CT: Technical Principles and Clinical Prospects.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282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Automation Bias in Mammography: The Impact of Artificial Intelligence BI-RADS Suggestions on Reader Performance.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Potential of ChatGPT and GPT-4 for Data Mining of Free-Text CT Reports on Lung Cancer.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265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37.0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MRI-based Quantification of Intratumoral Heterogeneity for Predicting Treatment Response to Neoadjuvant Chemotherapy in Breast Cancer.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47.2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How AI Responds to Common Lung Cancer Questions: ChatGPT vs Google Bard.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35.5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Guide to Cross-Validation for Artificial Intelligence in Medical Imaging.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36.2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Predicting Microvascular Invasion in Hepatocellular Carcinoma Using CT-based Radiomics Model.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996054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Semantic Scholar venue search, citations and FWCI from OpenAlex; title-level relevance filter; the 12 most-cited of 616 works, newest year first.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41 / 60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SPR: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Society for Pediatric Radiology: Pediatric Radiology (journal)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found, 2023–2026: 120 (2023: 27, 2024: 17, 2025: 37, 2026: 39); 70 pediatric (marked ★). SPR meeting abstracts are not indexed; the society's journal stands in.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770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implementation in pediatric radiology for patient safety: a multi-society statement from the ACR, ESPR, SPR, SLARP, AOSPR, SPIN ★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Scanner-based real-time three-dimensional brain + body slice-to-volume reconstruction for T2-weighted 0.55-T low-field fetal magnetic resonance imaging ★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Capability of multimodal large language models to interpret pediatric radiological images ★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vs. Doctors: Diagnosing Necrotizing Enterocolitis on Abdominal Radiographs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Detecting pediatric wrist fractures using deep-learning-based object detection ★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to identify fractures on pediatric and young adult upper extremity radiographs ★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Deeplasia: deep learning for bone age assessment validated on skeletal dysplasias ★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Comparison of diagnostic performance of a deep learning algorithm, emergency physicians, junior radiologists and senior radiologists in the detection of appendicular fractures in children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intelligence-based detection of paediatric appendicular skeletal fractures: performance and limitations for common fracture types and locations ★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unintended consequences of artificial intelligence in paediatric radiology ★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in Paediatric Tuberculosis ★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Innovative advances in pediatric radiology: computed tomography reconstruction techniques, photon-counting detector computed tomography, and beyond ★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4270375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Semantic Scholar venue search, citations and FWCI from OpenAlex; title-level relevance filter; the 12 most-cited of 120 works, newest year first.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42 / 60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Which medical problems pediatric radiology AI addresses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pic>
        <p:nvPicPr>
          <p:cNvPr id="4" name="ped_problems" descr="ped_probl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9112" y="877824"/>
            <a:ext cx="7193470" cy="4603821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43 / 60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AI fracture detection in a real pediatric emergency department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Ziegner et al., European Radiology 2025 (second most-cited pediatric paper of 2025)</a:t>
            </a:r>
          </a:p>
        </p:txBody>
      </p:sp>
      <p:pic>
        <p:nvPicPr>
          <p:cNvPr id="5" name="spot_fracture_ed" descr="spot_fracture_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58951"/>
            <a:ext cx="4698057" cy="17977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129893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Ziegner et al., Eur Radiol 2025, figure 4: pediatric fractures the software found, with its per-region sensitivity and specificity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08810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fractures in children are missed most often by the least experienced readers, at night, in the emergency department.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1,672 consecutive radiographs of children under 18 from one tertiary pediatric emergency department, plus a selected medicolegal set (proximal tibia, radial condyle); three pediatric residents read each before and after seeing the AI.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 commercially available, CE-marked deep-learning fracture detector (adult-derived, pediatric extension) run stand-alone and as a second reader.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stand-alone sensitivity 92%, specificity 83%; 100% for proximal tibia but 68% for radial condyle fractures; residents' accuracy rose from 88% to 90%, and in 2% of cases they dropped a correct diagnosis after seeing the AI.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the first real-life pediatric ED evaluation: the gain from a cleared adult tool is real but modest, and the elbow remains the weak spot.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44 / 60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pTBLightNet: pediatric tuberculosis on frontal and lateral chest radiographs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Capellán-Martín et al., Nature Communications 2025 (open access)</a:t>
            </a:r>
          </a:p>
        </p:txBody>
      </p:sp>
      <p:pic>
        <p:nvPicPr>
          <p:cNvPr id="5" name="spot_ped_tb" descr="spot_ped_t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160" y="1258951"/>
            <a:ext cx="2376698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Capellan-Martin et al., Nat Commun 2025, figure 1: the multi-view pTBLightNet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pediatric pulmonary TB has vaguer symptoms and subtler radiographs than adult TB; most affected children in high-burden settings are never diagnosed.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pre-trained on 114,173 adult chest radiographs, then fine-tuned and tested on 918 radiographs from three pediatric TB cohorts, with lateral views.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 multi-view network that scores frontal and lateral films for TB-compatible findings; separate models for under-5 and 5-18 years.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AUC 0.90 on internal and 0.68 on external testing; lateral views helped most in the youngest children; age-specific models matched larger undifferentiated ones.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shows both the value of adult pre-training for a rare pediatric target and the internal-to-external drop that every pediatric deployment should expect.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45 / 60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Deep-learning reconstruction shortens pediatric brain MRI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Yoo et al., Korean Journal of Radiology 2025 (open access)</a:t>
            </a:r>
          </a:p>
        </p:txBody>
      </p:sp>
      <p:pic>
        <p:nvPicPr>
          <p:cNvPr id="5" name="spot_dl_recon_mri" descr="spot_dl_recon_mr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70" y="1258951"/>
            <a:ext cx="3911277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54292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Yoo et al., Korean J Radiol 2025, figure 2: conventional (A, D) vs accelerated 3D T1 pediatric brain MRI without (B, E) and with (C, F) deep-learning reconstruction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538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long 3D T1 sequences are where children move, sedation is prescribed, and scanner time is lost.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46 children scanned with both the conventional and an accelerated 3D T1 protocol (pre- and post-contrast) on one 3T scanner.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vendor deep-learning reconstruction applied to the accelerated acquisition; noise, contrast, signal-to-noise and radiologist ratings compared with the conventional scan.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acquisition time cut by 29% (pre-contrast) and 41% (post-contrast); the deep-learning images had lower noise, higher SNR and CNR, better overall quality and fewer artifacts than the conventional scan.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reconstruction AI is on the scanner today and gives children a shorter, better exam without any diagnostic model in the loop.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46 / 60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Deeplasia bone age in rare growth disorders, against multiple experts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Skaf et al., Frontiers in Endocrinology 2026 (open access); external validation of Rassmann et al., Pediatr Radiol 2023</a:t>
            </a:r>
          </a:p>
        </p:txBody>
      </p:sp>
      <p:pic>
        <p:nvPicPr>
          <p:cNvPr id="5" name="spot_deeplasia_rare" descr="spot_deeplasia_ra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5795" y="1258951"/>
            <a:ext cx="2889426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Skaf et al., Front Endocrinol 2026, figure 1: Deeplasia bone age vs the expert mean in the endocrine cohort (scatter and Bland-Altman)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51523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bone-age models are trained on ordinary hands; the children who need bone age most have syndromes, endocrine disease or lysosomal storage disorders that distort the skeleton.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1,138 hand radiographs from several centers: SHOX deficiency, Noonan, Silver-Russell, Turner, CAH, precocious puberty (cohort 1) and mucopolysaccharidoses and other storage disorders (cohort 2); two to five expert Greulich-Pyle readings each.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the open-source Deeplasia system run unchanged; each human rater and the model scored against the remaining experts.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mean absolute error 6.0 months (cohort 1) and 7.1 months (storage disorders), 1-year accuracy 90% and 81%; the model beat every individual human rater.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an open pediatric model validated on the hardest cases, by an outside group, on external data: the template for how a children's hospital should test any tool.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47 / 60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PET at one fifth of the counts with patch-based deep learning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Han et al., EJNMMI Physics 2026 (open access; Cincinnati Children's)</a:t>
            </a:r>
          </a:p>
        </p:txBody>
      </p:sp>
      <p:pic>
        <p:nvPicPr>
          <p:cNvPr id="5" name="spot_pet_dose" descr="spot_pet_do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167" y="1258951"/>
            <a:ext cx="2432685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Han et al., EJNMMI Phys 2026, figure 5: pediatric whole-body FDG PET, standard 90 s vs 20 s per bed, with and without patch-based deep-learning denoising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17995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PET dose and scan time in children are set by noise; conventional denoising networks need large training sets that pediatric PET does not have.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one high-quality pediatric exam for training; a NEMA phantom and 88 clinical whole-body FDG exams (under 12 years) with list-mode data truncated from 90 s to 20 s per bed.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 patch-based network that learns local structure from a single exam and denoises the reduced-count images; blinded observer study and SUV analysis.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20-second images rated equal or better than the standard 90-second images in more than 85% of cases, with resolution, contrast and SUV preserved.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either a 4.5x shorter scan or about 22% of today's injected activity, from a method trainable on a single local exam.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48 / 60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Children are not small adults: an adult CT segmentation model in children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JOURNALS/PREPRINTS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Chatterjee et al., Journal of Imaging Informatics in Medicine 2025</a:t>
            </a:r>
          </a:p>
        </p:txBody>
      </p:sp>
      <p:pic>
        <p:nvPicPr>
          <p:cNvPr id="5" name="spot_not_small_adults" descr="spot_not_small_adul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0448" y="1258951"/>
            <a:ext cx="3200122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Chatterjee et al., J Imaging Inform Med 2025, figure 7: pediatric CT organ labels, ground truth vs adult-trained TotalSegmentator vs pediatric-trained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17995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the most-used open CT organ segmentation model (TotalSegmentator) was trained on adults; nobody had measured how it behaves in children.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external adult (n = 300) and pediatric (n = 359) abdominal CT sets with expert organ labels.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TotalSegmentator scored on both sets; then a pediatric-only nnU-Net and an adult model fine-tuned on pediatric cases.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mean Dice fell from 0.81 in adults to 0.73 in children, worst for the adrenals (0.69 to 0.41 and 0.35), duodenum and pancreas; pediatric training or fine-tuning recovered the loss.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the clearest quantitative case for local pediatric validation and fine-tuning of adult-derived tools before clinical use.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49 / 60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Newsletters — radiology AI stories per year, by source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pic>
        <p:nvPicPr>
          <p:cNvPr id="4" name="newsletter_by_source" descr="newsletter_by_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026" y="877824"/>
            <a:ext cx="9207642" cy="4603821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50 / 60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in the trade press, 2023 (23 stories)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5020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"/>
                <a:gridCol w="1152144"/>
                <a:gridCol w="6450735"/>
                <a:gridCol w="299775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Gestational Age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2023-03-01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Ultrasound AI Generalizability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Sendra-Balcells et al., 2023 (Scientific Reports)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2023-03-08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ECR 2023 – A true celebration of the cycle of life.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2023-03-17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When Sao Paolo's Diagnosticos da America (DASA, the world's fourth largest diagn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2023-04-07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Spots Breech Pregnancies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Knights et al., 2023 (PLOS Medicine)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2023-04-07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When Sao Paolo's Diagnosticos da America SA (DASA, the world's fourth largest di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2023-04-12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Signify Research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Where do opportunities exist?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2023-04-12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Webinar to Examine Impact of Large Language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2023-05-07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New C-Arm Launched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2023-06-07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BrightHeart's Fetal Heart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2023-06-12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Understanding the Imaging Spectrum of non-Hodgkin Lymphoma in Children, Adolescents and Young Adults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2023-06-19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Better Together at SIIM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2023-06-25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Detects Child Abuse on 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2023-07-07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Survivors of Childhood Cancer: Risk of Future Disease, Screening Needs and the Role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2023-08-02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MRI Radiomics Hones in on Crohn's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Liu et al., 2024 (American Journal of Roentgenology)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2023-08-02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Sonio Gets FDA Nod for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2023-09-20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 Lands $44M AI Ultrasound Grant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2023-10-08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ChatGPT Reports for Patients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Jeblick et al., 2023 (European Radiology)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Philips to Expand AI-Powered POCUS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Stories of Success in Cloud and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2023-11-12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Uneven Success Against Breast Cancer | Pediatric Radiation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2023-11-26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of MRI Diagnoses Autism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2023-12-11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Revolutionising paediatric radiology: the future impact of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51 / 60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in the trade press, 2024 (25 stories)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5266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"/>
                <a:gridCol w="1152144"/>
                <a:gridCol w="6448972"/>
                <a:gridCol w="299952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2024-01-10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Models Go Head-to-Head in Project AIR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van Leeuwen et al., 2024 (Radiology)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2024-01-15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Hidden health risks of endocrine disruptors?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2024-01-17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Echo AI's RHD Impact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Brown et al., 2024 (Journal of the American Heart Association)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2024-01-20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Us2.ai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2024-02-07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Meet Gleamer at ECR 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2024-03-20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Helps Residents Detect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2024-04-22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 Launches US Scanners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2024-05-19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Early Preeclampsia Risk Screening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Guerby et al., 2024 (Hypertension)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2024-06-29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FDA Clears New Clarius Prenatal App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2024-07-01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applications in musculoskeletal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2024-07-10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Experts Outline Considerations to Deploy AI in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2024-08-14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Cardiac Ultrasound Scanner Cleared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When Follow-Up Falls Short | Pediatric CT Use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MAUI Emerges from Stealth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2024-09-04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Samsung Finalizes Sonio Acquisition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2024-09-08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AZmed AI Extended to Kids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On Artificial Intelligence: An interview with Susan Shelmerdine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2024-10-06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AI Improves Over Time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Low-Dose CT in Kids | Hinton Nabs Nobel, Cancels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Low-Dose CT Confounds CAD in Kids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Hardie et al., 2025 (American Journal of Roentgenology)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On Artificial Intelligence: An interview with Brendan Kelly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2024-11-19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Incorrect AI Advice Influences Diagnostic Decisions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2024-11-25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Ultrasound AI Cleared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2024-12-02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Milvue Joins deepc AI Platform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2024-12-15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Researchers Study AI for Pediatric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52 / 60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in the trade press, 2025 (22 stories)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4553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"/>
                <a:gridCol w="1152144"/>
                <a:gridCol w="6450735"/>
                <a:gridCol w="299775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for Pediatric Fracture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Children's National taps Microsoft to prototype AI tools 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2025-01-29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Samsung Launches OB/GYN Ultrasound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2025-02-02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AI Detects Fetal Defects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2025-02-06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Philips at #ECR2025: New AI-enabled systems, intelligent software, and imaging cloud services streamline radiology workflows, advance clinical insights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2025-02-14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Learn more about FUJIFILM's latest innovations at ECR!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Iwan et al., 2020 (European Radiology)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2025-02-27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Detects Pediatric Epilepsy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2025-03-04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TLDR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to diagnose invisible brain abnormalities in children with epilepsy (4 minute read)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2025-04-02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AZmed Gets New Chest AI Clearances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2025-04-13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GE's Cincinnati Pediatric Partnership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2025-05-14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Philips Partners with NVIDIA on AI for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2025-05-18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New GE Clearances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2025-05-20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Radiologists Share Tips to Prevent AI Bias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2025-06-01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BrightHeart's 3rd FDA Clearance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2025-07-03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DeepEcho Gets FDA Nod for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2025-07-10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How Is AI Being Used in Daily Neuroradiology Practice?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2025-08-03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Radiologist Pay Jumps Nearly 8% in New Survey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2025-08-13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AI-Assisted Fracture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2025-08-27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Sonio Launches New Maternal-Fetal AI Options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2025-10-01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Carebot Expands AI Portfolio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2025-10-08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Reducing CT Radiation Dose System-Wide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2025-11-09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Detects Pediatric Elbow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53 / 60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in the trade press, 2026 (year to date) (13 stories)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617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0336"/>
                <a:gridCol w="1379728"/>
                <a:gridCol w="6196553"/>
                <a:gridCol w="2882117"/>
              </a:tblGrid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Helvetica Neue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Helvetica Neue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2026-01-07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 Raises EUR 11M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2026-01-28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AHA Publishes New Stroke Guidelines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Prabhakaran et al., 2026 (Stroke)</a:t>
                      </a:r>
                    </a:p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2026-01-28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Guerbet: Innovation and French Cooperation in the Spotlight at ECR 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2026-02-01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DL-Based CT Reduces Radiation Dose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2026-02-08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GE Bolsters Ultrasound with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2026-02-26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MRI Unveiling at the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2026-03-29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AI Gets Breakthrough Nod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2026-05-10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MRI Safety, RTs and Remote Radiology, and PSMA-PET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2026-06-22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Researchers Use AI to Establish Body Charts for CT Imaging Across the Adult Lifespan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2026-06-28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BrightHeart's Bright Future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Zelop et al., 2025 (Obstetrics &amp; Gynecology)</a:t>
                      </a:r>
                    </a:p>
                  </a:txBody>
                  <a:tcPr marL="45720" marR="45720" marT="18288" marB="18288" anchor="t"/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2026-07-12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AI's Rise in Pediatric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Shah et al., 2026 (European Radiology)</a:t>
                      </a:r>
                    </a:p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2026-08-16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CT vs. MRI for Pediatric TBI, Helium Vulnerability, and Ditching the Disk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Challenges Fuel Innovation Beyond the Leaderboard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54 / 60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Commercial software with a pediatric angle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2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4789"/>
                <a:gridCol w="1488762"/>
                <a:gridCol w="3383552"/>
                <a:gridCol w="3112867"/>
                <a:gridCol w="1488762"/>
              </a:tblGrid>
              <a:tr h="192024"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Vendor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Product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Task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Pediatric status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FDA list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Gleamer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detection on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indication (age 2+) cleared 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 (2022–2025)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AZmed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Rayvolve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(and chest) findings on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fracture indication cleared 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 (2022–2025)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Visiana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BoneXpert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bone age (GP / TW)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by design; CE-marked since 2009 (not on the FDA AI list)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not listed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 Bit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Rho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bone 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by design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 (2024)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Ever Fortune.AI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EFAI Bonesuite Bone Age Pro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bone 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by design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 (2022–2026)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EchoScan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echocardiography view / anomaly assist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prenatal (fetal) by design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 (2024–2025)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 HealthCare / Canon / Siemens / Philips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TrueFidelity, AiCE, Deep Resolve, Precise Image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deep-learning CT / MR reconstruction (lower dose, faster scans)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adult-cleared scanner software, widely used for pediatric dose reduction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307 (2014–2026)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Subtle Medical / AIRS Medical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SubtleMR, SwiftMR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accelerated MRI via deep-learning denoising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adult-cleared; pediatric scan-time studies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 (2018–2026)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Qure.ai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qXR / qER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radiograph and head CT triage / quantification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adult indications; pediatric TB-screening evidence only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 (2020–2026)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Aidoc / Viz.ai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BriefCase, Viz LVO / ICH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worklist triage (hemorrhage, LVO, PE, pneumothorax)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adult-only indications; the largest deployed category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 (2018–2026)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023360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“FDA list” = number of radiology AI-enabled devices the company has on the FDA list (years). Pediatric status is the publicly stated indication; confirm the age range in the 510(k) summary before purchase.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55 / 60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Worth knowing as a radiologist —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0949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TotalSegmentator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(open tool): free, one-command segmentation of 100+ structures on any CT (and MR); the basis for opportunistic measurements (bone density, muscle, organ volumes)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nnU-Net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(open tool): if a vendor claims a segmentation result, this is the baseline they had to beat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MONAI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(open framework): what your data scientists will build with; knowing the name lets you read a methods section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RSNA Pediatric Bone Age Challenge (2017)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(paper / dataset): the one pediatric task with a public benchmark, many models, and cleared products (BoneXpert, Rho)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"Variable generalization performance of a deep learning model to detect pneumonia in chest radiographs" (Zech et al., PLoS Med 2018)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(paper): the cleanest demonstration that a model can learn the hospital instead of the disease; the reason to demand local validation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CLAIM checklist (Radiology: AI 2020)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(guideline): how to tell a well-reported AI study from a weak one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"Improving Image Quality and Reducing Radiation Dose for Pediatric CT by Using Deep Learning Reconstruction" (Brady et al., Radiology 2021)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(paper): the most-cited non-bone-age pediatric paper: deep-learning reconstruction lowers pediatric CT dose with better image quality; the most immediately usable pediatric benefit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FDA AI-enabled device list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(registry): the authoritative list of what is cleared; check the indication's age range before buying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Gleamer BoneView / AZmed Rayvolve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(products): the first fracture-detection tools with pediatric indications; realistic first pediatric AI purchases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MedSAM / segment-anything models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(foundation models): where annotation and segmentation tooling is heading: click, don't draw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56 / 60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What the field does well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260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Finding what is there.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Detection / diagnosis is the bulk of the literature (44% of radiology-AI papers, 46% of pediatric); in adults it has become deployed worklist triage, the largest block of the 1,164 FDA-listed radiology AI devices.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Outlining and measuring.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Segmentation (26% of papers) has open, strong defaults (nnU-Net, TotalSegmentator); in children the mature measurement task is bone age (RSNA challenge: 4.2-month error, several cleared products), and measurement / quantification is 22% of pediatric papers.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Better images from less dose.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Reconstruction / imputation is 22% of radiology AI and 12% of pediatric work; deep-learning reconstruction is on today's scanners and cut pediatric CT dose by about half at equal or better image quality.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Shared benchmarks where they exist.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Fetal and neonatal brain MRI (FeTA, dHCP) and pediatric brain tumors (BraTS-PEDs) now have challenge datasets, and multi-site pediatric neuro-oncology models match radiologists retrospectively.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57 / 60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Bleeding 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53618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Foundation and vision-language models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7.2% of radiology-AI papers (4.0% pediatric); segment-anything style tools (MedSAM) and generalist radiology models are replacing task-specific training.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Report generation and LLMs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3.8% of papers; drafting and extracting from reports, with fluency ahead of reliability.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Agents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1.0% of radiology-AI papers (42 pediatric papers in total); LLMs that call imaging tools and take multi-step actions.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Pediatric-specific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bone age robust to skeletal dysplasias (Deeplasia); fetal ultrasound AI is the most active commercial pediatric area in the trade press (BrightHeart, Sonio, DeepEcho clearances, 2023–2026); adult fracture tools extended to children (Gleamer 2023, AZmed 2024) and now tested in a real pediatric emergency department.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Generalization studies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adult-trained CT organ segmentation degrades in small children, and the first pediatric prospective-style reader studies show smaller gains than stand-alone accuracy implies.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58 / 60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Open problems — where a children's hospital could contribute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5527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19"/>
              </a:spcAft>
              <a:buChar char="•"/>
            </a:pPr>
            <a:r>
              <a:rPr sz="1200" b="1" i="0">
                <a:solidFill>
                  <a:srgbClr val="1A1A1A"/>
                </a:solidFill>
                <a:latin typeface="Helvetica Neue"/>
              </a:rPr>
              <a:t>Which diseases?</a:t>
            </a:r>
            <a:r>
              <a:rPr sz="1200" b="0" i="0">
                <a:solidFill>
                  <a:srgbClr val="1A1A1A"/>
                </a:solidFill>
                <a:latin typeface="Helvetica Neue"/>
              </a:rPr>
              <a:t> Since 2023 the pediatric corpus (6,812 papers) leans to autism / ADHD / neurodevelopment (710); fetal anomalies / prenatal (541); brain tumors (337); congenital heart disease / cardiac (302). Barely studied: testicular / ovarian torsion (8); inflammatory bowel disease (23); lines and tubes / NICU support devices (54); neonatal jaundice / biliary atresia / liver (56); craniosynostosis / craniofacial (72); chronic lung disease of prematurity / neonatal lung (74). Which of these deserve a model first is an open question for this group.</a:t>
            </a:r>
          </a:p>
          <a:p>
            <a:pPr algn="l" marL="256032" indent="-256032">
              <a:spcAft>
                <a:spcPts val="419"/>
              </a:spcAft>
              <a:buChar char="•"/>
            </a:pPr>
            <a:r>
              <a:rPr sz="1200" b="1" i="0">
                <a:solidFill>
                  <a:srgbClr val="1A1A1A"/>
                </a:solidFill>
                <a:latin typeface="Helvetica Neue"/>
              </a:rPr>
              <a:t>Dataset curation.</a:t>
            </a:r>
            <a:r>
              <a:rPr sz="1200" b="0" i="0">
                <a:solidFill>
                  <a:srgbClr val="1A1A1A"/>
                </a:solidFill>
                <a:latin typeface="Helvetica Neue"/>
              </a:rPr>
              <a:t> What would a multi-center pediatric dataset look like: age-stratified, consented, protocol-diverse, with rare phenotypes? Which of our own archives (CT, ultrasound, NICU radiographs) could become the pediatric benchmark that does not yet exist?</a:t>
            </a:r>
          </a:p>
          <a:p>
            <a:pPr algn="l" marL="256032" indent="-256032">
              <a:spcAft>
                <a:spcPts val="419"/>
              </a:spcAft>
              <a:buChar char="•"/>
            </a:pPr>
            <a:r>
              <a:rPr sz="1200" b="1" i="0">
                <a:solidFill>
                  <a:srgbClr val="1A1A1A"/>
                </a:solidFill>
                <a:latin typeface="Helvetica Neue"/>
              </a:rPr>
              <a:t>Validation.</a:t>
            </a:r>
            <a:r>
              <a:rPr sz="1200" b="0" i="0">
                <a:solidFill>
                  <a:srgbClr val="1A1A1A"/>
                </a:solidFill>
                <a:latin typeface="Helvetica Neue"/>
              </a:rPr>
              <a:t> Local, age-stratified testing of adult-cleared tools; prospective reader studies rather than retrospective accuracy; monitoring for drift as children grow and protocols change.</a:t>
            </a:r>
          </a:p>
          <a:p>
            <a:pPr algn="l" marL="256032" indent="-256032">
              <a:spcAft>
                <a:spcPts val="419"/>
              </a:spcAft>
              <a:buChar char="•"/>
            </a:pPr>
            <a:r>
              <a:rPr sz="1200" b="1" i="0">
                <a:solidFill>
                  <a:srgbClr val="1A1A1A"/>
                </a:solidFill>
                <a:latin typeface="Helvetica Neue"/>
              </a:rPr>
              <a:t>Beyond interpretation.</a:t>
            </a:r>
            <a:r>
              <a:rPr sz="1200" b="0" i="0">
                <a:solidFill>
                  <a:srgbClr val="1A1A1A"/>
                </a:solidFill>
                <a:latin typeface="Helvetica Neue"/>
              </a:rPr>
              <a:t> Workflow / non-interpretive work is 13% of papers, but communication with families, education, protocoling and policy are almost absent; these are cheaper to build and evaluate than diagnostic models.</a:t>
            </a:r>
          </a:p>
          <a:p>
            <a:pPr algn="l" marL="256032" indent="-256032">
              <a:spcAft>
                <a:spcPts val="419"/>
              </a:spcAft>
              <a:buChar char="•"/>
            </a:pPr>
            <a:r>
              <a:rPr sz="1200" b="1" i="0">
                <a:solidFill>
                  <a:srgbClr val="1A1A1A"/>
                </a:solidFill>
                <a:latin typeface="Helvetica Neue"/>
              </a:rPr>
              <a:t>Regulation and liability.</a:t>
            </a:r>
            <a:r>
              <a:rPr sz="1200" b="0" i="0">
                <a:solidFill>
                  <a:srgbClr val="1A1A1A"/>
                </a:solidFill>
                <a:latin typeface="Helvetica Neue"/>
              </a:rPr>
              <a:t> Few of the 1,164 radiology clearances carry a pediatric indication; which adult clearances are acceptable to use off-label in children, and under what local validation?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59 / 60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Implications for a children's hospital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620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AutoNum type="arabicPeriod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Buy maturity, build for the gaps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adopt cleared adult-derived tools that transfer (reconstruction, bone age, fracture with a pediatric indication); treat the under-studied pediatric problems as local validation and research.</a:t>
            </a:r>
          </a:p>
          <a:p>
            <a:pPr algn="l" marL="256032" indent="-256032">
              <a:spcAft>
                <a:spcPts val="489"/>
              </a:spcAft>
              <a:buAutoNum type="arabicPeriod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Demand local pediatric validation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before clinical use, by age group, and check the age range in the clearance.</a:t>
            </a:r>
          </a:p>
          <a:p>
            <a:pPr algn="l" marL="256032" indent="-256032">
              <a:spcAft>
                <a:spcPts val="489"/>
              </a:spcAft>
              <a:buAutoNum type="arabicPeriod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Prioritize dose and throughput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deep-learning reconstruction gives the clearest pediatric benefit today.</a:t>
            </a:r>
          </a:p>
          <a:p>
            <a:pPr algn="l" marL="256032" indent="-256032">
              <a:spcAft>
                <a:spcPts val="489"/>
              </a:spcAft>
              <a:buAutoNum type="arabicPeriod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Invest in data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a curated, shareable pediatric dataset is the scarcest resource in the field and the contribution a children's hospital is uniquely placed to make.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60 / 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
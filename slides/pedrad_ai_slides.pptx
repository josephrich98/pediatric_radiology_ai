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2194560"/>
            <a:ext cx="9997135" cy="1188720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>
                <a:solidFill>
                  <a:srgbClr val="FFFFFF"/>
                </a:solidFill>
                <a:latin typeface="Calibri"/>
              </a:rPr>
              <a:t>Artificial Intelligence in Pediatric Radiology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66160"/>
            <a:ext cx="99971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48056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Calibri"/>
              </a:rPr>
              <a:t>Joseph Rich, Dr. Amit Sura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98348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B6B6B"/>
                </a:solidFill>
                <a:latin typeface="Calibri"/>
              </a:rPr>
              <a:t>September 23, 2026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 / 45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721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Calibri"/>
              </a:rPr>
              <a:t>Describe the big players in radiology AI, both general and pediatric, since 2023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Calibri"/>
              </a:rPr>
              <a:t>Summarize what radiology AI does well and what remains unresolved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 / 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1545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Academic output.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PubMed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(E-utilities) yearly counts per query and per modality/task term group, plus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preprints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(OpenAlex type:preprint: arXiv, medRxiv, bioRxiv, …) counted with the same queries, because PubMed does not index arXiv (4,426 radiology-AI preprints in 2025).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Most-cited papers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from OpenAlex (union of modality/task searches, deduped, articles and preprints): one list for 2008-2022, then one per year from 2023, each showing raw citations and the field-weighted citation impact (FWCI, 1 = world average for that field and year), so recent papers are not buried under 2023 ones.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Venues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Semantic Scholar venue search (NeurIPS, ICLR, ICML, CVPR, MICCAI, MIDL) and OpenAlex journal filters (RSNA, SPR), 2023–present;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PatentsView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for granted patents.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Clinical problems.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The pediatric radiology-AI query AND a term group per problem (bone age, fracture, pneumonia, appendicitis, brain tumor, …), counted per era; a paper can name several problems.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Datasets.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Public pediatric imaging datasets, sizes verified against the primary papers or hosting pages.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Commercial players.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The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FDA AI-enabled device list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(public spreadsheet: decision date, device, company, lead panel), filtered to the Radiology panel; cross-checked against a curated list of products with pediatric indications.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Trade press.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Newsletter archives (The Imaging Wire, RSNA News, ESR/ECR, TLDR, Signify Research, Radiology Business) split into stories; a story is radiology-AI when AI terms co-occur with imaging terms, pediatric when pediatric terms also co-occur; a story's outbound publisher link is resolved to a DOI and cited (OpenAlex).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Pediatric filter.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PubMed: the radiology-AI query AND (pediatric* OR paediatric* OR child* OR infant* OR neonat* OR adolescen* OR “children's hospital”). Most-cited lists: the title must also carry a pediatric term (bone age, fetal, newborn, …), otherwise highly cited adult papers float in. Newsletters: pediatric term inside the same story.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Representative PubMed query (radiology ∩ AI):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105531"/>
            <a:ext cx="11368735" cy="405765"/>
          </a:xfrm>
          <a:prstGeom prst="rect">
            <a:avLst/>
          </a:prstGeom>
          <a:solidFill>
            <a:srgbClr val="E8EAF6"/>
          </a:solidFill>
        </p:spPr>
        <p:txBody>
          <a:bodyPr wrap="square" lIns="109728" rIns="109728" tIns="73152" bIns="7315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(radiology OR radiograph* OR “medical imaging” OR MRI OR “computed tomography” OR CT[tiab] OR ultrasound[tiab] … NOT (“optical coherence” OR fundus OR dental OR histopatholog* …))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AND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(“artificial intelligence” OR “deep learning” OR “convolutional neural network” OR radiomics …)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 / 45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Radiology AI publication counts</a:t>
            </a:r>
          </a:p>
        </p:txBody>
      </p:sp>
      <p:pic>
        <p:nvPicPr>
          <p:cNvPr id="3" name="radiology_ai_trend" descr="radiology_ai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468" y="877824"/>
            <a:ext cx="8084758" cy="4491532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 / 45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Radiology AI publications, stratified by modality and task</a:t>
            </a:r>
          </a:p>
        </p:txBody>
      </p:sp>
      <p:pic>
        <p:nvPicPr>
          <p:cNvPr id="3" name="modality_by_task" descr="modality_by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563" y="877824"/>
            <a:ext cx="5074567" cy="26387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3589751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Bar = percentage of radiology-AI papers (123,413 = 98,842 PubMed + 24,571 preprints, 2008–present) whose title/abstract names the modality; segments = which task terms those papers use (overlapping). What each task means, by what the model produces: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068668"/>
            <a:ext cx="3630981" cy="103441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detection / diagnosis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is a finding present now, and which one (label or box): fracture, pneumonia, tumor; includes triage and screening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segmentation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outline a structure or lesion (a mask)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measurement / quantification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number from the image: bone age, Cobb angle, organ volume, fetal biometry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341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outcome prediction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future risk, response, or survival estimate from the image (prognosis, radiomics signatures)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reconstruction / imputation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better or missing image: lower dose, faster scans, denoising, synthetic CT/MR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report generation / LLM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text: draft, summarize, or extract from radiology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9203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foundation model / vision-language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large pretrained model reused across tasks (segment-anything, self-supervised)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agent / autonomous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multi-step actions taken without a human in the loop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workflow / non-interpretive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protocoling, scheduling, ordering, decision support, education</a:t>
            </a:r>
          </a:p>
        </p:txBody>
      </p:sp>
      <p:sp>
        <p:nvSpPr>
          <p:cNvPr id="8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 / 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publications, stratified by modality and task</a:t>
            </a:r>
          </a:p>
        </p:txBody>
      </p:sp>
      <p:pic>
        <p:nvPicPr>
          <p:cNvPr id="3" name="ped_modality_by_task" descr="ped_modality_by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563" y="877824"/>
            <a:ext cx="5074567" cy="26387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3589751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Same construction, restricted to the pediatric subset (10,620 papers incl. 479 preprints). Top pediatric modalities: MRI 41%, CT 16%, ultrasound 13%, x-ray / radiography 13%. Mammography is omitted: its 79 pediatric-query hits (of 10,620) are adult breast-imaging papers whose abstracts mention children.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068668"/>
            <a:ext cx="3630981" cy="103441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detection / diagnosis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is a finding present now, and which one (label or box): fracture, pneumonia, tumor; includes triage and screening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segmentation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outline a structure or lesion (a mask)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measurement / quantification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number from the image: bone age, Cobb angle, organ volume, fetal biometry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341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outcome prediction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future risk, response, or survival estimate from the image (prognosis, radiomics signatures)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reconstruction / imputation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better or missing image: lower dose, faster scans, denoising, synthetic CT/MR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report generation / LLM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text: draft, summarize, or extract from radiology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9203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foundation model / vision-language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large pretrained model reused across tasks (segment-anything, self-supervised)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agent / autonomous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multi-step actions taken without a human in the loop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workflow / non-interpretive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protocoling, scheduling, ordering, decision support, education</a:t>
            </a:r>
          </a:p>
        </p:txBody>
      </p:sp>
      <p:sp>
        <p:nvSpPr>
          <p:cNvPr id="8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6 / 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Cross-check: an independent 2025 scoping review of pediatric radiology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Kamran et al., </a:t>
            </a:r>
            <a:r>
              <a:rPr sz="1100" b="0" i="1">
                <a:solidFill>
                  <a:srgbClr val="1A1A1A"/>
                </a:solidFill>
                <a:latin typeface="Calibri"/>
              </a:rPr>
              <a:t>Pediatric Radiology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2025 (doi 10.1007/s00247-025-06462-5): 789 original pediatric-focused articles hand-screened from four databases, 2005 to August 2024. Our PubMed counts are larger because they include any paper that mentions a pediatric term.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26590"/>
            <a:ext cx="5592927" cy="22987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Modality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radiography 38%, MRI 33%, ultrasound 14%, CT 11%, nuclear 2%. Our pediatric query ranks MRI first (MRI 41%, CT 16%, ultrasound 13%, x-ray / radiography 13%) because MRI-heavy neurodevelopment papers mention children.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Subspecialty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musculoskeletal 33%, neuro 29%, chest 17%, body 14%, cardiac 6%.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Top applications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bone age (88 articles), pneumonia (65), brain tumors (54), scoliosis (45), hip dysplasia (28), congenital heart disease (25), autism (18), epilepsy (14), ADHD (9), hydrocephalus (9).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Use of AI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91% image interpretation / diagnosis; 5.6% image quality; under 2% for acquisition, communication, protocoling, education, and policy combined.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87287" y="1426590"/>
            <a:ext cx="5592927" cy="21310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65% used a single local hospital dataset; 7% did not report the dataset; China 28%, USA 25%, Canada 7% of articles.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Growth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23 articles in 2018, 158 in 2022, 171 in 2023, consistent with our PubMed curve.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Recommendations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multi-institutional, age-diverse pediatric datasets; CLAIM-style reporting with subgroup results and calibration; funding for the neglected non-interpretive areas (policy, education, implementation); children and families as stakeholders across the AI lifecycle.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What it adds to this deck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same three leading tasks (bone age, pneumonia, brain tumor) and the same gap (small local datasets, adult tools applied to children) reached by a manual review.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7 / 45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The biggest public pediatric radiology AI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182"/>
              </a:spcAft>
            </a:pPr>
            <a:r>
              <a:rPr sz="522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22174198" cy="46524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263046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175364"/>
                <a:gridCol w="685800"/>
                <a:gridCol w="685800"/>
                <a:gridCol w="685800"/>
                <a:gridCol w="685800"/>
                <a:gridCol w="685800"/>
                <a:gridCol w="685800"/>
                <a:gridCol w="263046"/>
                <a:gridCol w="685800"/>
                <a:gridCol w="685800"/>
                <a:gridCol w="685800"/>
                <a:gridCol w="685800"/>
                <a:gridCol w="685800"/>
                <a:gridCol w="685800"/>
                <a:gridCol w="87682"/>
                <a:gridCol w="685800"/>
                <a:gridCol w="685800"/>
                <a:gridCol w="685800"/>
                <a:gridCol w="685800"/>
                <a:gridCol w="685800"/>
                <a:gridCol w="685800"/>
                <a:gridCol w="125260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Modality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Access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CBTN clinical MRI (Children's Brain Tumor Network)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brain / spine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23,101 exams (1,526 patients); tumor masks for 370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application (NCI CCDI)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GRAZPEDWRI-DX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wrist radiographs (trauma)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20,327 images (6,091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0.2–19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RSNA Pediatric Bone Age Challenge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hand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14,236 images (bone age + sex)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mean 10.6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open (RSNA terms)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FETAL_PLANES_DB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fetal ultrasound (standard planes)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12,400 images (1,792 pregnancies)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ABCD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2018–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brain MRI, longitudinal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11,878 participants, up to 7 follow-ups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9–10 y at baseline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application (NBDC)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PediCXR / VinDr-PCXR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9,125 studies; 36 findings, 15 diagnoses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10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credentialed (PhysioNet)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Guangzhou pediatric chest X-ray (Kermany)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5,856 images (normal / bacterial / viral pneumonia)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1–5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ABIDE I + II (autism)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2012 / 2016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brain MRI (structural, resting fMRI)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2,156 subjects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5–64 y (mostly children)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Regensburg Pediatric Appendicitis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abdominal ultrasound + labs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1,709 images (579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0–18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dHCP (Developing Human Connectome Project)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2022–24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neonatal + 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886 neonatal + 297 fetal datasets, with segmentations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20–45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open (NDA)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Pediatric-CT-SEG (TCIA)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chest / abdomen / pelvis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718 series (359 patients); 29 organ contours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5 days – 16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BraTS-PEDs (pediatric brain tumor challenge)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2023–25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brain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464 patients (2024 challenge); 1,649 series on TCIA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registration / TCIA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FeTA (fetal brain tissue annotation)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2021–24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280 volumes (120 train + 160 test); 7 tissue labels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18–35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registration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870790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182"/>
              </a:spcAft>
            </a:pPr>
            <a:r>
              <a:rPr sz="522" b="0" i="0">
                <a:solidFill>
                  <a:srgbClr val="1A1A1A"/>
                </a:solidFill>
                <a:latin typeface="Calibri"/>
              </a:rPr>
              <a:t>Sizes verified against the primary paper or hosting page (2026-09). Only two pediatric radiograph sets exceed 10,000 images; the largest public pediatric-only CT set has 359 patients; no RSNA pediatric challenge has run since bone age in 2017. Adult benchmarks (CheXpert 224k, MIMIC-CXR 377k) exclude children.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8 / 45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2008-2022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4630398" cy="53602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420129"/>
                <a:gridCol w="685800"/>
                <a:gridCol w="685800"/>
                <a:gridCol w="685800"/>
                <a:gridCol w="685800"/>
                <a:gridCol w="685800"/>
                <a:gridCol w="685800"/>
                <a:gridCol w="185351"/>
                <a:gridCol w="685800"/>
                <a:gridCol w="685800"/>
                <a:gridCol w="685800"/>
                <a:gridCol w="685800"/>
                <a:gridCol w="685800"/>
                <a:gridCol w="685800"/>
                <a:gridCol w="308918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14,326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1023.0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survey on deep learning in medical image analysis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can deep learning do across medical imaging? (the field's reference surv...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5,658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Swin-Unet: Unet-like Pure Transformer for Medical Image Segmentation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ECCV Workshops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2,990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340.4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in Medical Image Analysis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Annual Review of Biomedical...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does deep learning apply to medical image analysis? (review)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2,553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290.0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Swin UNETR: Swin Transformers for Semantic Segmentation of Brain Tumors in MR... (2022)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BrainLes@MICCAI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2,769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272.4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COVID-Net: a tailored deep convolutional neural network design for detection...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classification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 CNN detect COVID-19 on chest X-ray? (COVID-Net)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3,634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236.9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ChestX-Ray8: Hospital-Scale Chest X-Ray Database and Benchmarks on Weakly-Sup...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Computer Vision and Pattern...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10,044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226.3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nnU-Net: a self-configuring method for deep learning-based biomedical image s...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Methods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one self-configuring method segment any organ or lesion without hand tuni...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4,100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Convolutional neural networks: an overview and application in radiology (2018)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tutorial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is a convolutional neural network, explained for radiologists?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5,587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158.4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Computational Radiomics System to Decode the Radiographic Phenotype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Cancer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radiomics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standardized image features (radiomics) be extracted reproducibly? (PyRad...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3,322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in radiology (2018)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Reviews.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will AI change radiology practice? (Hosny et al.)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578536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Rows are the most-cited papers of the period, ordered by FWCI = field-weighted citation impact (OpenAlex): citations relative to the world average for papers of the same field and year (1 = average), so a recent paper can be compared with an older one. Preprints (arXiv, medRxiv) are included; the venue column names the server.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9 / 45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4630398" cy="5280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420129"/>
                <a:gridCol w="685800"/>
                <a:gridCol w="685800"/>
                <a:gridCol w="685800"/>
                <a:gridCol w="685800"/>
                <a:gridCol w="685800"/>
                <a:gridCol w="685800"/>
                <a:gridCol w="185351"/>
                <a:gridCol w="685800"/>
                <a:gridCol w="685800"/>
                <a:gridCol w="685800"/>
                <a:gridCol w="685800"/>
                <a:gridCol w="685800"/>
                <a:gridCol w="685800"/>
                <a:gridCol w="308918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1,608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615.8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Segment anything in medical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foundation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 prompt-based 'segment anything' model work on medical images? (MedSAM)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2,099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Foundation models for generalist medical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would a single generalist medical AI model that handles images, text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Redefining Radiology: A Review of Artificial Intelligence Integration in Medi...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Diagnostics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Where does AI fit in radiology workflow, from acquisition to reporting? (revi...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509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analysis using deep learning algorithms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Public Health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Study of CNN and Transfer Learning in Medical Imaging: Advantages, Challeng...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Sustainability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861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69.6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Segment Anything Model for medical image analysis: an experimental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well does the unmodified Segment Anything Model work on medical images? (...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MRI-based brain tumor detection using convolutional deep learning methods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BMC Medical Informatics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460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Brain Tumor Detection Based on Deep Learning Approaches and Magnetic Resonanc...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391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42.2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SAM-Adapter: Adapting Segment Anything in Underperformed Scenes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 IEEE/CVF International...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37.4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generalist vision–language foundation model for diverse biomedical tasks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498983"/>
            <a:ext cx="11368735" cy="2737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Rows are the most-cited papers of the period, ordered by FWCI = field-weighted citation impact (OpenAlex): citations relative to the world average for papers of the same field and year (1 = average), so a recent paper can be compared with an older one. Preprints (arXiv, medRxiv) are included; the venue column names the server. 1 of the 10 rows are preprints.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10 / 45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182"/>
              </a:spcAft>
            </a:pPr>
            <a:r>
              <a:rPr sz="522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4630398" cy="5280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420129"/>
                <a:gridCol w="685800"/>
                <a:gridCol w="685800"/>
                <a:gridCol w="685800"/>
                <a:gridCol w="685800"/>
                <a:gridCol w="685800"/>
                <a:gridCol w="685800"/>
                <a:gridCol w="185351"/>
                <a:gridCol w="685800"/>
                <a:gridCol w="685800"/>
                <a:gridCol w="685800"/>
                <a:gridCol w="685800"/>
                <a:gridCol w="685800"/>
                <a:gridCol w="685800"/>
                <a:gridCol w="308918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1,074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225.2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VM-UNet: Vision Mamba UNet for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ACM Transactions on Multime...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: Does a state-space (Mamba) backbone beat convolutions and transformers for me...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110.3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Generalist foundation models from a multimodal dataset for 3D computed tomogr...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Nature Biomedical Engineeri...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282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74.6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in neuro-oncology: advances and challenges in brain 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npj Precision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279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72.6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METhodological RadiomICs Score (METRICS): a quality scoring tool for radiomic...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radiomics</a:t>
                      </a:r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: How should the quality of a radiomics study be scored? (METRICS checklist)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349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47.6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for medical image segmentation: State-of-the-art advancements 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Informatics in Medicine Unl...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317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43.4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Advances in Medical Image Segmentation: A Comprehensive Review of Traditional...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Bioengineering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37.0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Employing deep learning and transfer learning for accurate brain tumor detect...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36.0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Deep semi-supervised learning for medical image segmentation: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Expert systems with applica...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241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34.5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 review of deep learning-based information fusion techniques for multimodal...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Comput. Biol.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298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31.8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Vision-language models for medical report generation and visual question answ...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Frontiers Artif. Intell.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report generation / LLM</a:t>
                      </a:r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: What can vision-language models do for report generation and visual question...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11 / 45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4630398" cy="51215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420129"/>
                <a:gridCol w="685800"/>
                <a:gridCol w="685800"/>
                <a:gridCol w="685800"/>
                <a:gridCol w="685800"/>
                <a:gridCol w="685800"/>
                <a:gridCol w="685800"/>
                <a:gridCol w="185351"/>
                <a:gridCol w="685800"/>
                <a:gridCol w="685800"/>
                <a:gridCol w="685800"/>
                <a:gridCol w="685800"/>
                <a:gridCol w="685800"/>
                <a:gridCol w="685800"/>
                <a:gridCol w="308918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Convolutional Neural Networks in Medical Image Analysis: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Inf.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Multi-model assurance analysis showing large language models are highly vulne...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Communications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108.2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Multimodal generative AI for medical image interpretation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94.9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Towards generalist foundation model for radiology by leveraging web-scale 2D&amp;...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 radiology foundation model trained on web-scale 2D and 3D scans general...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Development and validation of an autonomous artificial intelligence agent for...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agent / autonomous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an autonomous LLM agent that calls imaging and other tools support oncolo...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65.9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review of deep learning for brain tumor analysis 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npj Precision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Med-R1: Reinforcement Learning for Generalizable Medical Reasoning in Vision-...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Transactions on Medica...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in healthcare and medicine: clinical applications, th...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European Journal of Medical...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54.0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Segmentation: A Comprehensive Review of Deep Learning-Based Met...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Tomography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39.5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Advanced Brain Tumor Classification in MR Images Using Transfer Learning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339878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1 of the 10 rows are preprints.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12 / 45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2026 (year to date)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4630398" cy="54397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420129"/>
                <a:gridCol w="685800"/>
                <a:gridCol w="685800"/>
                <a:gridCol w="685800"/>
                <a:gridCol w="685800"/>
                <a:gridCol w="685800"/>
                <a:gridCol w="685800"/>
                <a:gridCol w="185351"/>
                <a:gridCol w="685800"/>
                <a:gridCol w="685800"/>
                <a:gridCol w="685800"/>
                <a:gridCol w="685800"/>
                <a:gridCol w="685800"/>
                <a:gridCol w="685800"/>
                <a:gridCol w="308918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generalizable foundation model for analysis of human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90.5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Reporting checklist for foundation and large language models in medical resea...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Diagnostic and Intervention...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76.1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Scaling medical AI across clinical contexts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can medical AI be scaled across hospitals, populations and tasks without...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Applications and limitations of large language models to integrate medical co...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Iran Journal of Computer Sc...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62.7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hybrid deep learning framework based on VGG19 and U-Net for accurate brain...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Magnetic Resonance Letters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Explainable artificial intelligence (XAI) in medical imaging: a systematic re...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BMC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Which explainability methods are used in medical imaging AI and do they help?...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Explainable AI-driven MRI-based brain tumor classification: a novel deep lear...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Artif. Intell.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Agentic AI in Radiology: Evolution from Large Language Models to Future Clini...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Radiology: Artificial Intel...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agent / autonomous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are agentic AI systems in radiology and what stands between them and cli...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28.4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Leveraging multi-modal foundation models for analysing spatial multi-omic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Biomedical Engineeri...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BIBSNet: A deep learning baby image brain segmentation network for MRI scans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Developmental Cognitive Neu...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one network segment infant brain MRI across the first years of life? (BIB...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658089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Citations for the current year are still accumulating; the FWCI column is the more stable signal here. 1 of the 10 rows are preprints.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13 / 45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2008-2022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4630398" cy="5519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420129"/>
                <a:gridCol w="685800"/>
                <a:gridCol w="685800"/>
                <a:gridCol w="685800"/>
                <a:gridCol w="685800"/>
                <a:gridCol w="685800"/>
                <a:gridCol w="685800"/>
                <a:gridCol w="185351"/>
                <a:gridCol w="685800"/>
                <a:gridCol w="685800"/>
                <a:gridCol w="685800"/>
                <a:gridCol w="685800"/>
                <a:gridCol w="685800"/>
                <a:gridCol w="685800"/>
                <a:gridCol w="308918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328.6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Performance of a Deep-Learning Neural Network Model in Assessing Skeletal Mat...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 CNN assess skeletal maturity as accurately as radiologists?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321.5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Fully Automated Deep Learning System for Bone Age Assessment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Journal of digital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Fully automated bone age from hand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for automated skeletal bone age assessment in X-ray images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Deep learning for automated bone age (BoNet)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73.0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Computerized Bone Age Estimation Using Deep Learning Based Program: Evaluatio...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AJR. American journal of ro...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Is a commercial deep-learning bone-age program accurate and faster in practic...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57.8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Review on Deep-Learning Algorithms for Fetal Ultrasound-Image Analysis (2022)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352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57.4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Standard Plane Localization in Fetal Ultrasound via Domain Transferred Deep N... (2015)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journal of biomedical...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Automatic Fetal Ultrasound Standard Plane Recognition Based on Deep Learning...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Transactions on Indust...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30.3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Evaluation of deep convolutional neural networks for automatic classification...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RSNA Pediatric Bone Age Machine Learning Challenge. (2019)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well can crowdsourced AI estimate bone age? (RSNA challenge, 260 teams)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An ensemble of neural networks provides expert-level prenatal detection of co...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14 / 45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4630398" cy="52010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420129"/>
                <a:gridCol w="685800"/>
                <a:gridCol w="685800"/>
                <a:gridCol w="685800"/>
                <a:gridCol w="685800"/>
                <a:gridCol w="685800"/>
                <a:gridCol w="685800"/>
                <a:gridCol w="185351"/>
                <a:gridCol w="685800"/>
                <a:gridCol w="685800"/>
                <a:gridCol w="685800"/>
                <a:gridCol w="685800"/>
                <a:gridCol w="685800"/>
                <a:gridCol w="685800"/>
                <a:gridCol w="308918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 Age Assessment Using Artificial Intelligence in Korean Pediatric Populat...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33.6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Standard fetal ultrasound plane classification based on stacked ensemble of 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Expert systems with applica...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an ensemble of networks classify the standard fetal ultrasound planes?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33.5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 age assessment based on deep neural networks with annotation-free cascad...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Artificial Int...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Review on deep learning fetal brain segmentation from Magnetic Resonance imag...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Artif. Intell.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Transfer learning for accurate fetal organ classification from ultrasound ima...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Learning-Based Multiclass Brain Tissue Segmentation in Fetal MRIs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Italian National Conference...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Deeplasia: deep learning for bone age assessment validated on skeletal dyspla...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for estimation of fetal weight throughout the pregnancy from fe...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American Journal of Obstetr...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model for prenatal congenital heart disease (CHD) screening can...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Ultrasound in Obstetrics an...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Does a prenatal congenital heart disease screening model work on retrospectiv...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MRI-Based End-To-End Pediatric Low-Grade Glioma Segmentation and Classificati...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Canadian Association of Rad...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419430"/>
            <a:ext cx="11368735" cy="2737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Rows are the most-cited papers of the period, ordered by FWCI = field-weighted citation impact (OpenAlex): citations relative to the world average for papers of the same field and year (1 = average), so a recent paper can be compared with an older one. Preprints (arXiv, medRxiv) are included; the venue column names the server. 1 of the 10 rows are preprints.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15 / 45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182"/>
              </a:spcAft>
            </a:pPr>
            <a:r>
              <a:rPr sz="522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4630398" cy="504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420129"/>
                <a:gridCol w="685800"/>
                <a:gridCol w="685800"/>
                <a:gridCol w="685800"/>
                <a:gridCol w="685800"/>
                <a:gridCol w="685800"/>
                <a:gridCol w="685800"/>
                <a:gridCol w="185351"/>
                <a:gridCol w="685800"/>
                <a:gridCol w="685800"/>
                <a:gridCol w="685800"/>
                <a:gridCol w="685800"/>
                <a:gridCol w="685800"/>
                <a:gridCol w="685800"/>
                <a:gridCol w="308918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34.8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Intrapartum Ultrasound Image Segmentation of Pubic Symphysis and Fetal Head U...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International Conference on...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FetalBrainAwareNet: Bridging GANs with anatomical insight for fetal ultrasoun...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Comput. Medical Imaging Gra...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19.5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assisted common maternal fetal planes prediction from...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denoising reconstruction for improved image quality in fetal ca...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Cardiovascular...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reconstruction</a:t>
                      </a:r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: Does deep-learning denoising improve fetal cardiac cine MRI?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RTSeg-net: A lightweight network for real-time segmentation of fetal head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Comput. Biol.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FetSAM: Advanced Segmentation Techniques for Fetal Head Biometrics in Ultraso...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IEEE Open Journal of Engine...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learning-based automated lesion segmentation on pediatric focal cortical...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epilepsy</a:t>
                      </a:r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: Can focal cortical dysplasia lesions be found automatically on preoperative p...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Integration of a Deep Convolutional Neural Network With Adaptive Channel Weig...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IEEE Transactions on Instru...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Explainable AI in Deep Learning Based Classification of Fetal Ultrasound Imag...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Procedia Computer 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4.8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 deep learning framework for identifying and segmenting three vessels in fet...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BioMedical Engineering OnLi...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16 / 45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182"/>
              </a:spcAft>
            </a:pPr>
            <a:r>
              <a:rPr sz="522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4630398" cy="5121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420129"/>
                <a:gridCol w="685800"/>
                <a:gridCol w="685800"/>
                <a:gridCol w="685800"/>
                <a:gridCol w="685800"/>
                <a:gridCol w="685800"/>
                <a:gridCol w="685800"/>
                <a:gridCol w="185351"/>
                <a:gridCol w="685800"/>
                <a:gridCol w="685800"/>
                <a:gridCol w="685800"/>
                <a:gridCol w="685800"/>
                <a:gridCol w="685800"/>
                <a:gridCol w="685800"/>
                <a:gridCol w="308918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171.3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 comprehensive review of artificial intelligence - based algorithm towards f...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Rev...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85.1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M-CNN-RF: A hybrid deep learning model for accurate pediatric skeletal age es...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Alexandria Engineering Jour...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77.0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Bone Age Assessment Using Various Medical Imaging Techniques Enhanced by Arti...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Diagnostics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24.9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Advancing prenatal healthcare by explainable AI enhanced fetal ultrasound ima...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21.8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FetalMovNet: A Novel Deep Learning Model Based on Attention Mechanism for Fet...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IEEE Access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Effectiveness and clinical impact of using deep learning for first-trimester...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BMC Pregnancy and Childbirth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Association between deep learning radiomics based on placental MRI and preecl...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European Journal of Radiolo...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radiomics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Prenatal detection of congenital heart defects using the deep learning-based...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BMJ 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fetal ultrasound</a:t>
                      </a:r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: Can deep learning on prenatal ultrasound video detect congenital heart defect...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8.6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Multi-view deep learning framework for the detection of chest X-rays compatib...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Evaluation of Image Quality and Scan Time Efficiency in Accelerated 3D T1-Wei...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reconstruction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17 / 45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2026 (year to date)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4630398" cy="5519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420129"/>
                <a:gridCol w="685800"/>
                <a:gridCol w="685800"/>
                <a:gridCol w="685800"/>
                <a:gridCol w="685800"/>
                <a:gridCol w="685800"/>
                <a:gridCol w="685800"/>
                <a:gridCol w="185351"/>
                <a:gridCol w="685800"/>
                <a:gridCol w="685800"/>
                <a:gridCol w="685800"/>
                <a:gridCol w="685800"/>
                <a:gridCol w="685800"/>
                <a:gridCol w="685800"/>
                <a:gridCol w="308918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and radiomics for pediatric brain tumor classificatio...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Neuroradiology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AI and radiomics classify pediatric brain tumors and their molecular subt...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assessment of fetal brain maturation on 3D ultrasound volumes 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Ultrasound in Obstetrics an...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deep learning grade fetal brain maturation on 3D ultrasound in growth res...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Foundation models in radiology: a primer for pediatric radiologists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should a pediatric radiologist know about foundation models? (primer)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Learning-Based Multi-Class Pediatric Wrist Fracture Subtype Classificati...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Journal of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fracture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Current applications and challenges of artificial intelligence applied to dia...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Data mining in pediatric radiology in the era of artificial intelligence.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Acquisition time/dose reduction in pediatric PET imaging using patch-based de...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EJNMMI Physics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pediatric PET use one fifth of the counts with patch-based deep-learning...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Optimizing pediatric chest CT: superior image quality and lower radiation dos...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European Journal of Radiolo...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deep-learning reconstruction lower pediatric chest CT dose while improvin...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Enhancing efficiency in pediatric brain tumor segmentation using a pathologic...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Neuro-Oncology Advances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 assessment in rare pediatric growth disorders: a comparati...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Endocrinology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Does an open bone-age model hold up in rare growth disorders against several...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37642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Citations for the current year are still accumulating; the FWCI column is the more stable signal here.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18 / 45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NeurIPS: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1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Conference on Neural Information Processing Systems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45 (2023: 13, 2024: 12, 2025: 20); 0 pediatric (marked ★).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68006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1.0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35354"/>
          <a:ext cx="11368735" cy="70362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5196535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3D-RAD: A Comprehensive 3D Radiology Med-VQA Dataset with Multi-Temporal Analysis and Diverse Diagnostic Tasks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Better Tokens for Better 3D: Advancing Vision-Language Modeling in 3D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Touchstone Benchmark: Are We on the Right Way for Evaluating AI Algorithms for Medical Segmentation?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0.9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Eye-gaze Guided Multi-modal Alignment for Medical Representation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Enhancing vision-language models for medical imaging: bridging the 3D gap with innovative slice selection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DiffusionBlend: Learning 3D Image Prior through Position-aware Diffusion Score Blending for 3D Computed Tomography Reco...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SegVol: Universal and Interactive Volumetric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LVM-Med: Learning Large-Scale Self-Supervised Vision Models for Medical Imaging via Second-order Graph Matching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EHRXQA: A Multi-Modal Question Answering Dataset for Electronic Health Records with Chest X-ray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SwiFT: Swin 4D fMRI Transformer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NeuroGraph: Benchmarks for Graph Machine Learning in Brain Connectomics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Knowledge-based in silico models and dataset for the comparative evaluation of mammography AI for a range of breast cha...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8544813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45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19 / 45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ICLR: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1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International Conference on Learning Representations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17 (2023: 4, 2024: 5, 2025: 8); 0 pediatric (marked ★).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68006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1.0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35354"/>
          <a:ext cx="11368735" cy="67180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5196535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Large-scale and Fine-grained Vision-language Pre-training for Enhanced CT Image Understanding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SimXRD-4M: Big Simulated X-ray Diffraction Data and Crystal Symmetry Classification Benchmark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Self-Supervised Diffusion MRI Denoising via Iterative and Stable Refinement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Score-based Self-supervised MRI Denoising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MMed-RAG: Versatile Multimodal RAG System for Medical Vision Language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MediConfusion: Can you trust your AI radiologist? Probing the reliability of multimodal medical foundation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Effect of Intrinsic Dataset Properties on Generalization: Unraveling Learning Differences Between Natural and Medic...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LeFusion: Controllable Pathology Synthesis via Lesion-Focused Diffusion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Advancing Radiograph Representation Learning with Masked Record Modeling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DDM2: Self-Supervised Diffusion MRI Denoising with Generative Diffusion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AE-FLOW: Autoencoders with Normalizing Flows for Medical Images Anomaly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Improved Training of Physics-Informed Neural Networks Using Energy-Based Priors: a Study on Electrical Impedance Tomogr...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8226602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17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20 / 45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ICML: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1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International Conference on Machine Learning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12 (2023: 4, 2024: 2, 2025: 6); 0 pediatric (marked ★).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68006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1.0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35354"/>
          <a:ext cx="11368735" cy="679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5196535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CLIMB: Data Foundations for Large Scale Multimodal Clinical Foundation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MindLLM: A Subject-Agnostic and Versatile Model for fMRI-to-Text Decoding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Raptor: Scalable Train-Free Embeddings for 3D Medical Volumes Leveraging Pretrained 2D Foundation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Efficient Noise Calculation in Deep Learning-based MRI Reconstructions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LangDAug: Langevin Data Augmentation for Multi-Source Domain Generalization in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Staged and Physics-Grounded Learning Framework with Hyperintensity Prior for Pre-Contrast MRI Synthesis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Unsupervised Domain Adaptation for Anatomical Structure Detection in Ultrasound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Adaptive Sampling of k-Space in Magnetic Resonance for Rapid Pathology Prediction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ACAT: Adversarial Counterfactual Attention for Classification and Detection in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Robustness of Deep Learning for Accelerated MRI: Benefits of Diverse Training Data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Learning High-Order Relationships of Brain Regions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Contextualized Policy Recovery: Modeling and Interpreting Medical Decisions with Adaptive Imitation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8306155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12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21 / 45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CVPR: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1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IEEE/CVF Conference on Computer Vision and Pattern Recognition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57 (2023: 15, 2024: 24, 2025: 18); 1 pediatric (marked ★).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68006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1.0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35354"/>
          <a:ext cx="11368735" cy="56839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5196535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265.4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Enhanced Contrastive Learning with Multi-view Longitudinal Data for Chest X-ray Report Generation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Towards Generalizable Tumor Synthesis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Rethinking Diffusion Model for Multi-Contrast MRI Super-Resolution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MemSAM: Taming Segment Anything Model for Echocardiography Video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Dynamic Graph Enhanced Contrastive Learning for Chest X-Ray Report Generation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75.5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Ambiguous Medical Image Segmentation Using Diffusion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METransformer: Radiology Report Generation by Transformer with Multiple Learnable Expert Tokens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MCF: Mutual Correction Framework for Semi-Supervised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KiUT: Knowledge-injected U-Transformer for Radiology Report Generation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Structure-Aware Sparse-View X-Ray 3D Reconstruction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Label-Free Liver Tumor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Learning Federated Visual Prompt in Null Space for MRI Reconstruction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7192416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57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22 / 45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MICCAI: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1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Medical Image Computing and Computer-Assisted Intervention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521 (2023: 139, 2024: 195, 2025: 187); 25 pediatric (marked ★).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68006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1.0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35354"/>
          <a:ext cx="11368735" cy="66385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5196535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MedVLM-R1: Incentivizing Medical Reasoning Capability of Vision-Language Models (VLMs) via Reinforcement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CT2Rep: Automated Radiology Report Generation for 3D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Anatomically-Controllable Medical Image Generation with Segmentation-Guided Diffusion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MedCLIP-SAM: Bridging Text and Image Towards Universal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MedNeXt: Transformer-driven Scaling of ConvNets for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CoLa-Diff: Conditional Latent Diffusion Model for Multi-Modal MRI Synthesis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DiffMIC: Dual-Guidance Diffusion Network for Medical Image 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Beyond Adapting SAM: Towards End-to-End Ultrasound Image Segmentation via Auto Prompting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Self-Supervised MRI Reconstruction with Unrolled Diffusion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Make-A-Volume: Leveraging Latent Diffusion Models for Cross-Modality 3D Brain MRI Synthesis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BerDiff: Conditional Bernoulli Diffusion Model for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Ariadne's Thread: Using Text Prompts to Improve Segmentation of Infected Areas from Chest X-ray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8147049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521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23 / 45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MIDL: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1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Medical Imaging with Deep Learning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62 (2023: 33, 2024: 29); 2 pediatric (marked ★).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68006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1.0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35354"/>
          <a:ext cx="11368735" cy="679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5196535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Imbalance-aware loss functions improve medical image 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Patched Diffusion Models for Unsupervised Anomaly Detection in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MMCFormer: Missing Modality Compensation Transformer for Brain Tumor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diffusion on a budget: textual inversion for medical image generation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MProtoNet: A Case-Based Interpretable Model for Brain Tumor Classification with 3D Multi-parametric Magnetic Resonance...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Diffusion Models for Contrast Harmonization of Magnetic Resonance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Exploring Image Augmentations for Siamese Representation Learning with Chest X-Rays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3D Medical Axial Transformer: A Lightweight Transformer Model for 3D Brain Tumor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Vision-Language Modelling For Radiological Imaging and Reports In The Low Data Regime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E(3) x SO(3)-Equivariant Networks for Spherical Deconvolution in Diffusion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Amortized Normalizing Flows for Transcranial Ultrasound with Uncertainty Quantification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Selective experience replay compression using coresets for lifelong deep reinforcement learning in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8306155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62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24 / 45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RSNA: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1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Radiological Society of North America: Radiology, Radiology: AI, RadioGraphics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616 (2023: 151, 2024: 174, 2025: 185, 2026: 106); 13 pediatric (marked ★). RSNA annual-meeting abstracts are not indexed; the society's journals stand 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68006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1.0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35354"/>
          <a:ext cx="11368735" cy="70362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5196535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452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113.7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Checklist for Artificial Intelligence in Medical Imaging (CLAIM): 2024 Update.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Chatbots and Large Language Models in Radiology: A Practical Primer for Clinical and Research Applications.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Image Biomarker Standardization Initiative: Standardized Convolutional Filters for Reproducible Radiomics and Enhan...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ChatGPT and Other Large Language Models Are Double-edged Swords.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Performance of ChatGPT on a Radiology Board-style Examination: Insights into Current Strengths and Limitations.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392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33.2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Image Reconstruction for CT: Technical Principles and Clinical Prospects.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282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Automation Bias in Mammography: The Impact of Artificial Intelligence BI-RADS Suggestions on Reader Performance.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Potential of ChatGPT and GPT-4 for Data Mining of Free-Text CT Reports on Lung Cancer.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MRI-based Quantification of Intratumoral Heterogeneity for Predicting Treatment Response to Neoadjuvant Chemotherapy in...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How AI Responds to Common Lung Cancer Questions: ChatGPT vs Google Bard.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35.5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Guide to Cross-Validation for Artificial Intelligence in Medical Imaging.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36.2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Predicting Microvascular Invasion in Hepatocellular Carcinoma Using CT-based Radiomics Model.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854481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616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25 / 45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SPR: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1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Society for Pediatric Radiology: Pediatric Radiology (journal)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120 (2023: 27, 2024: 17, 2025: 37, 2026: 39); 70 pediatric (marked ★). SPR meeting abstracts are not indexed; the society's journal stands 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68006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1.0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35354"/>
          <a:ext cx="11368735" cy="7513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5196535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implementation in pediatric radiology for patient safety: a multi-society statement from the ACR, ESPR, SPR, SLARP,... ★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Scanner-based real-time three-dimensional brain + body slice-to-volume reconstruction for T2-weighted 0.55-T low-field... ★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Capability of multimodal large language models to interpret pediatric radiological images ★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vs. Doctors: Diagnosing Necrotizing Enterocolitis on Abdominal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Detecting pediatric wrist fractures using deep-learning-based object detection ★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to identify fractures on pediatric and young adult upper extremity radiographs ★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Deeplasia: deep learning for bone age assessment validated on skeletal dysplasias ★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Comparison of diagnostic performance of a deep learning algorithm, emergency physicians, junior radiologists and senior...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intelligence-based detection of paediatric appendicular skeletal fractures: performance and limitations for... ★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unintended consequences of artificial intelligence in paediatric radiology ★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in Paediatric Tuberculosis ★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Innovative advances in pediatric radiology: computed tomography reconstruction techniques, photon-counting detector com... ★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9022130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120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26 / 45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Which medical problems pediatric radiology AI addresses</a:t>
            </a:r>
          </a:p>
        </p:txBody>
      </p:sp>
      <p:pic>
        <p:nvPicPr>
          <p:cNvPr id="3" name="ped_problems" descr="ped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112" y="877824"/>
            <a:ext cx="7193470" cy="4603821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27 / 45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AI fracture detection in a real pediatric emergency department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Ziegner et al., European Radiology 2025 (second most-cited pediatric paper of 2025)</a:t>
            </a:r>
          </a:p>
        </p:txBody>
      </p:sp>
      <p:pic>
        <p:nvPicPr>
          <p:cNvPr id="4" name="spot_fracture_ed" descr="spot_fracture_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58951"/>
            <a:ext cx="4698057" cy="1797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129893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Ziegner et al., Eur Radiol 2025, figure 4: pediatric fractures the software found, with its per-region sensitivity and specificity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08810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fractures in children are missed most often by the least experienced readers, at night, in the emergency department.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1,672 consecutive radiographs of children under 18 from one tertiary pediatric emergency department, plus a selected medicolegal set (proximal tibia, radial condyle); three pediatric residents read each before and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 commercially available, CE-marked deep-learning fracture detector (adult-derived, pediatric extension) run stand-alone and as a second reader.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stand-alone sensitivity 92%, specificity 83%; 100% for proximal tibia but 68% for radial condyle fractures; residents' accuracy rose from 88% to 90%, and in 2% of cases they dropped a correct diagnosis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first real-life pediatric ED evaluation: the gain from a cleared adult tool is real but modest, and the elbow remains the weak spot.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28 / 45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pTBLightNet: pediatric tuberculosis on frontal and lateral chest radiographs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Capellán-Martín et al., Nature Communications 2025 (open access)</a:t>
            </a:r>
          </a:p>
        </p:txBody>
      </p:sp>
      <p:pic>
        <p:nvPicPr>
          <p:cNvPr id="4" name="spot_ped_tb" descr="spot_ped_t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160" y="1258951"/>
            <a:ext cx="2376698" cy="2807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Capellan-Martin et al., Nat Commun 2025, figure 1: the multi-view pTBLightNet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pediatric pulmonary TB has vaguer symptoms and subtler radiographs than adult TB; most affected children in high-burden settings are never diagnosed.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pre-trained on 114,173 adult chest radiographs, then fine-tuned and tested on 918 radiographs from three pediatric TB cohorts, with lateral views.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 multi-view network that scores frontal and lateral films for TB-compatible findings; separate models for under-5 and 5-18 years.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AUC 0.90 on internal and 0.68 on external testing; lateral views helped most in the youngest children; age-specific models matched larger undifferentiated ones.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shows both the value of adult pre-training for a rare pediatric target and the internal-to-external drop that every pediatric deployment should expect.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29 / 45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Deep-learning reconstruction shortens pediatric brain MRI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Yoo et al., Korean Journal of Radiology 2025 (open access)</a:t>
            </a:r>
          </a:p>
        </p:txBody>
      </p:sp>
      <p:pic>
        <p:nvPicPr>
          <p:cNvPr id="4" name="spot_dl_recon_mri" descr="spot_dl_recon_m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70" y="1258951"/>
            <a:ext cx="3911277" cy="2807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39311"/>
            <a:ext cx="4698059" cy="54292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Yoo et al., Korean J Radiol 2025, figure 2: conventional (A, D) vs accelerated 3D T1 pediatric brain MRI without (B, E) and with (C, F) deep-learning reconstruction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75538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long 3D T1 sequences are where children move, sedation is prescribed, and scanner time is lost.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46 children scanned with both the conventional and an accelerated 3D T1 protocol (pre- and post-contrast) on one 3T scanner.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vendor deep-learning reconstruction applied to the accelerated acquisition; noise, contrast, signal-to-noise and radiologist ratings compared with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acquisition time cut by 29% (pre-contrast) and 41% (post-contrast); the deep-learning images had lower noise, higher SNR and CNR, better overall quality and fewer artifacts than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reconstruction AI is on the scanner today and gives children a shorter, better exam without any diagnostic model in the loop.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30 / 45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Deeplasia bone age in rare growth disorders, against multiple experts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Skaf et al., Frontiers in Endocrinology 2026 (open access); external validation of Rassmann et al., Pediatr Radiol 2023</a:t>
            </a:r>
          </a:p>
        </p:txBody>
      </p:sp>
      <p:pic>
        <p:nvPicPr>
          <p:cNvPr id="4" name="spot_deeplasia_rare" descr="spot_deeplasia_ra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795" y="1258951"/>
            <a:ext cx="2889426" cy="2807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Skaf et al., Front Endocrinol 2026, figure 1: Deeplasia bone age vs the expert mean in the endocrine cohort (scatter and Bland-Altman)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51523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bone-age models are trained on ordinary hands; the children who need bone age most have syndromes, endocrine disease or lysosomal storage disorders that distort the skeleton.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1,138 hand radiographs from several centers: SHOX deficiency, Noonan, Silver-Russell, Turner, CAH, precocious puberty (cohort 1) and mucopolysaccharidoses and other storage disorders (cohort 2); two to five expert Greulich-Pyle readings each.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open-source Deeplasia system run unchanged; each human rater and the model scored against the remaining experts.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mean absolute error 6.0 months (cohort 1) and 7.1 months (storage disorders), 1-year accuracy 90% and 81%; the model beat every individual human rater.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an open pediatric model validated on the hardest cases, by an outside group, on external data: the template for how a children's hospital should test any tool.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31 / 45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PET at one fifth of the counts with patch-based deep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Han et al., EJNMMI Physics 2026 (open access; Cincinnati Children's)</a:t>
            </a:r>
          </a:p>
        </p:txBody>
      </p:sp>
      <p:pic>
        <p:nvPicPr>
          <p:cNvPr id="4" name="spot_pet_dose" descr="spot_pet_d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167" y="1258951"/>
            <a:ext cx="2432685" cy="2807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Han et al., EJNMMI Phys 2026, figure 5: pediatric whole-body FDG PET, standard 90 s vs 20 s per bed, with and without patch-based deep-learning denoising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PET dose and scan time in children are set by noise; conventional denoising networks need large training sets that pediatric PET does not have.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one high-quality pediatric exam for training; a NEMA phantom and 88 clinical whole-body FDG exams (under 12 years) with list-mode data truncated from 90 s to 20 s per bed.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 patch-based network that learns local structure from a single exam and denoises the reduced-count images; blinded observer study and SUV analysis.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20-second images rated equal or better than the standard 90-second images in more than 85% of cases, with resolution, contrast and SUV preserved.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either a 4.5x shorter scan or about 22% of today's injected activity, from a method trainable on a single local exam.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32 / 45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Children are not small adults: an adult CT segmentation model in children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Chatterjee et al., Journal of Imaging Informatics in Medicine 2025</a:t>
            </a:r>
          </a:p>
        </p:txBody>
      </p:sp>
      <p:pic>
        <p:nvPicPr>
          <p:cNvPr id="4" name="spot_not_small_adults" descr="spot_not_small_adul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448" y="1258951"/>
            <a:ext cx="3200122" cy="2807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Chatterjee et al., J Imaging Inform Med 2025, figure 7: pediatric CT organ labels, ground truth vs adult-trained TotalSegmentator vs pediatric-trained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most-used open CT organ segmentation model (TotalSegmentator) was trained on adults; nobody had measured how it behaves in children.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external adult (n = 300) and pediatric (n = 359) abdominal CT sets with expert organ labels.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TotalSegmentator scored on both sets; then a pediatric-only nnU-Net and an adult model fine-tuned on pediatric cases.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mean Dice fell from 0.81 in adults to 0.73 in children, worst for the adrenals (0.69 to 0.41 and 0.35), duodenum and pancreas; pediatric training or fine-tuning recovered the loss.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clearest quantitative case for local pediatric validation and fine-tuning of adult-derived tools before clinical use.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33 / 45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Newsletters — radiology AI stories, all ages</a:t>
            </a:r>
          </a:p>
        </p:txBody>
      </p:sp>
      <p:pic>
        <p:nvPicPr>
          <p:cNvPr id="3" name="newsletter_radiology_ai" descr="newsletter_radiology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408" y="877824"/>
            <a:ext cx="8286878" cy="4603821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34 / 45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Newsletters — pediatric radiology AI stories</a:t>
            </a:r>
          </a:p>
        </p:txBody>
      </p:sp>
      <p:pic>
        <p:nvPicPr>
          <p:cNvPr id="3" name="newsletter_watch" descr="newsletter_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408" y="877824"/>
            <a:ext cx="8286878" cy="4603821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35 / 45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in the trade press, 2023 (23 stories)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0.85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1368734" cy="78619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1206412"/>
                <a:gridCol w="685800"/>
                <a:gridCol w="685800"/>
                <a:gridCol w="685800"/>
                <a:gridCol w="685800"/>
                <a:gridCol w="685800"/>
                <a:gridCol w="685800"/>
                <a:gridCol w="561122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Gestational Age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2023-03-01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 Ultrasound AI Generalizability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Sendra-Balcells et al., 2023 (Scientific Re...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2023-03-08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ECR 2023 – A true celebration of the cycle of life.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2023-03-17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When Sao Paolo's Diagnosticos da America (DASA, the world's fourth larg...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Ultrasound Spots Breech Pregnancies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Knights et al., 2023 (PLOS Medicine)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When Sao Paolo's Diagnosticos da America SA (DASA, the world's fourth 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Signify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Where do opportunities exist?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RSNA Webinar to Examine Impact of Large Language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2023-05-07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New C-Arm Launched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2023-06-07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BrightHeart's Fetal Heart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2023-06-12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Understanding the Imaging Spectrum of non-Hodgkin Lymphoma in Children,...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2023-06-19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Better Together at SIIM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2023-06-25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Detects Child Abuse on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2023-07-07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Survivors of Childhood Cancer: Risk of Future Disease, Screening Needs...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MRI Radiomics Hones in on Crohn's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Liu et al., 2024 (American Journal of Roent...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Sonio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2023-09-20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GE Lands $44M AI Ultrasound Grant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ChatGPT Reports for Patients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Jeblick et al., 2023 (European Radiology)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Philips to Expand AI-Powered POCUS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Stories of Success in Cloud and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2023-11-12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Uneven Success Against Breast Cancer | Pediatric Radiation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2023-11-26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of MRI Diagnoses Autism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2023-12-11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Revolutionising paediatric radiology: the future impact of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36 / 45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in the trade press, 2024 (25 stories)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0.85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1368734" cy="7867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1206412"/>
                <a:gridCol w="685800"/>
                <a:gridCol w="685800"/>
                <a:gridCol w="685800"/>
                <a:gridCol w="685800"/>
                <a:gridCol w="685800"/>
                <a:gridCol w="685800"/>
                <a:gridCol w="561122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2024-01-10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Models Go Head-to-Head in Project AIR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van Leeuwen et al., 2024 (Radiology)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2024-01-15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Hidden health risks of endocrine disruptors?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2024-01-17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Echo AI's RHD 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Brown et al., 2024 (Journal of the American...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2024-01-20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Us2.ai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2024-02-07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Meet Gleamer at ECR 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2024-03-20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Helps Residents Detect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2024-04-22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GE Launches US Scanners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2024-05-19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Early Preeclampsia Risk Screening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Guerby et al., 2024 (Hypertension)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2024-06-29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FDA Clears New Clarius Prenatal App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2024-07-01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applications in musculoskeletal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Experts Outline Considerations to Deploy AI in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2024-08-14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Cardiac Ultrasound Scanner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When Follow-Up Falls Short | Pediatric CT Use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MAUI Emerges from Stealth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2024-09-04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Samsung Finalizes Sonio Acquisition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2024-09-08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AZmed AI Extended to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2024-10-03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On Artificial Intelligence: An interview with Susan Shelmerdine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2024-10-06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Fracture AI Improves Over Time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Low-Dose CT in Kids | Hinton Nabs Nobel, Cancels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Low-Dose CT Confounds CAD in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Hardie et al., 2025 (American Journal of Ro...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2024-10-17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On Artificial Intelligence: An interview with Brendan Kelly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2024-11-19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Incorrect AI Advice Influences Diagnostic Decisions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2024-11-25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 Ultrasound AI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2024-12-02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Milvue Joins deepc AI Platform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2024-12-15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Researchers Study AI for Pediatric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37 / 45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in the trade press, 2025 (22 stories)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0.85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1368734" cy="7381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1206412"/>
                <a:gridCol w="685800"/>
                <a:gridCol w="685800"/>
                <a:gridCol w="685800"/>
                <a:gridCol w="685800"/>
                <a:gridCol w="685800"/>
                <a:gridCol w="685800"/>
                <a:gridCol w="561122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for Pediatric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Children's National taps Microsoft to prototype AI tools 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2025-01-29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Samsung Launches OB/GYN Ultrasound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Ultrasound AI Detects Fetal Defects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2025-02-06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Philips at #ECR2025: New AI-enabled systems, intelligent software,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2025-02-14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Learn more about FUJIFILM's latest innovations at ECR!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Iwan et al., 2020 (European Radiology)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2025-02-27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Detects Pediatric Epilepsy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2025-03-04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TLDR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to diagnose invisible brain abnormalities in children with epilepsy...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2025-04-02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AZmed Gets New Chest AI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2025-04-13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GE's Cincinnati Pediatric Partnership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2025-05-14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Philips Partners with NVIDIA on AI for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2025-05-18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New GE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2025-05-20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Radiologists Share Tips to Prevent AI Bias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2025-06-01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BrightHeart's 3rd FDA Clearance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2025-07-03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DeepEcho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How Is AI Being Used in Daily Neuroradiology Practice?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2025-08-03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Radiologist Pay Jumps Nearly 8% in New Survey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2025-08-13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AI-Assisted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2025-08-27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Sonio Launches New Maternal-Fetal AI Options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2025-10-01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Carebot Expands AI Portfolio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Reducing CT Radiation Dose System-Wide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2025-11-09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Detects Pediatric Elbow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38 / 45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in the trade press, 2026 (year to date) (13 stories)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1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0.90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68006"/>
          <a:ext cx="11368734" cy="6110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1206412"/>
                <a:gridCol w="685800"/>
                <a:gridCol w="685800"/>
                <a:gridCol w="685800"/>
                <a:gridCol w="685800"/>
                <a:gridCol w="685800"/>
                <a:gridCol w="685800"/>
                <a:gridCol w="561122"/>
              </a:tblGrid>
              <a:tr h="179527"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76758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2026-01-07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BrightHeart Raises EUR 11M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73989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AHA Publishes New Stroke Guidelines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Prabhakaran et al., 2026 (Stroke)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65683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Guerbet: Innovation and French Cooperation in the Spotlight at ECR 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73989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2026-02-01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DL-Based CT Reduces Radiation Dose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73989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2026-02-08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GE Bolsters Ultrasound with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76758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2026-02-26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MRI Unveiling at the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73989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2026-03-29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Ultrasound AI Gets Breakthrough Nod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68451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2026-05-10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MRI Safety, RTs and Remote Radiology, and PSMA-PET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65683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2026-06-22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Researchers Use AI to Establish Body Charts for CT Imaging Across the 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71220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2026-06-28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BrightHeart's Bright Future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Zelop et al., 2025 (Obstetrics &amp; Gynecology)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73989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2026-07-12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AI's Rise in Pediatric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Shah et al., 2026 (European Radiology)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65683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2026-08-16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CT vs. MRI for Pediatric TBI, Helium Vulnerability, and Ditching the Di...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71220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AI Challenges Fuel Innovation Beyond the Leaderboard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39 / 45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Commercial software with a pediatric angle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21488397" cy="52257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152400"/>
                <a:gridCol w="685800"/>
                <a:gridCol w="685800"/>
                <a:gridCol w="685800"/>
                <a:gridCol w="685800"/>
                <a:gridCol w="685800"/>
                <a:gridCol w="685800"/>
                <a:gridCol w="119742"/>
                <a:gridCol w="685800"/>
                <a:gridCol w="685800"/>
                <a:gridCol w="685800"/>
                <a:gridCol w="685800"/>
                <a:gridCol w="685800"/>
                <a:gridCol w="685800"/>
                <a:gridCol w="272142"/>
                <a:gridCol w="685800"/>
                <a:gridCol w="685800"/>
                <a:gridCol w="685800"/>
                <a:gridCol w="685800"/>
                <a:gridCol w="685800"/>
                <a:gridCol w="685800"/>
                <a:gridCol w="250371"/>
                <a:gridCol w="685800"/>
                <a:gridCol w="685800"/>
                <a:gridCol w="685800"/>
                <a:gridCol w="685800"/>
                <a:gridCol w="685800"/>
                <a:gridCol w="685800"/>
                <a:gridCol w="119742"/>
              </a:tblGrid>
              <a:tr h="274320">
                <a:tc>
                  <a:txBody>
                    <a:bodyPr wrap="square"/>
                    <a:lstStyle/>
                    <a:p>
                      <a:pPr algn="r"/>
                      <a:r>
                        <a:rPr sz="630" b="1" i="0">
                          <a:solidFill>
                            <a:srgbClr val="FFFFFF"/>
                          </a:solidFill>
                          <a:latin typeface="Calibri"/>
                        </a:rPr>
                        <a:t>Vendor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1" i="0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1" i="0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1" i="0">
                          <a:solidFill>
                            <a:srgbClr val="FFFFFF"/>
                          </a:solidFill>
                          <a:latin typeface="Calibri"/>
                        </a:rPr>
                        <a:t>Pediatric status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1" i="0">
                          <a:solidFill>
                            <a:srgbClr val="FFFFFF"/>
                          </a:solidFill>
                          <a:latin typeface="Calibri"/>
                        </a:rPr>
                        <a:t>FDA list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Gleamer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BoneView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fracture detection on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pediatric indication (age 2+) cleared 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4 (2022–2025)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AZmed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Rayvolve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fracture (and chest) findings on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pediatric fracture indication cleared 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4 (2022–2025)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58367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Visiana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BoneXpert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 (GP / TW)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pediatric by design; CE-marked since 2009 (not on the FDA AI list)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not listed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74320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16 Bit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Rho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pediatric by design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1 (2024)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70331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Ever Fortune.AI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EFAI Bonesuite Bone Age Pro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pediatric by design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11 (2022–2026)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BrightHeart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Fetal EchoScan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fetal echocardiography view / anomaly assist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prenatal (fetal) by design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5 (2024–2025)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58367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GE HealthCare / Canon / Siemens / Philips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TrueFidelity, AiCE, Deep Resolve, Precise Image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deep-learning CT / MR reconstruction (lower dose, faster scans)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adult-cleared scanner software, widely used for pediatric dose reduction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307 (2014–2026)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Subtle Medical / AIRS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SubtleMR, SwiftMR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accelerated MRI via deep-learning denoising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adult-cleared; pediatric scan-time studies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13 (2018–2026)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62355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Qure.ai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qXR / qER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chest radiograph and head CT triage / quantification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adult indications; pediatric TB-screening evidence only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9 (2020–2026)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62355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Aidoc / Viz.ai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BriefCase, Viz LVO / ICH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worklist triage (hemorrhage, LVO, PE, pneumothorax)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adult-only indications; the largest deployed category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43 (2018–2026)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6176772"/>
            <a:ext cx="11368735" cy="2430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269"/>
              </a:spcAft>
            </a:pPr>
            <a:r>
              <a:rPr sz="769" b="0" i="0">
                <a:solidFill>
                  <a:srgbClr val="1A1A1A"/>
                </a:solidFill>
                <a:latin typeface="Calibri"/>
              </a:rPr>
              <a:t>“FDA list” = number of radiology AI-enabled devices the company has on the FDA list (years). Pediatric status is the publicly stated indication; confirm the age range in the 510(k) summary before purchase.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40 / 45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Worth knowing as a radiologist —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949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TotalSegmentator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(open tool): free, one-command segmentation of 100+ structures on any CT (and MR); the basis for opportunistic measurements (bone density, muscle, organ volumes)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nnU-Net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(open tool): if a vendor claims a segmentation result, this is the baseline they had to beat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MONAI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(open framework): what your data scientists will build with; knowing the name lets you read a methods section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RSNA Pediatric Bone Age Challenge (2017)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(paper / dataset): the one pediatric task with a public benchmark, many models, and cleared products (BoneXpert, Rho)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"Variable generalization performance of a deep learning model to detect pneumonia in chest radiographs" (Zech et al., PLoS Med 2018)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(paper): the cleanest demonstration that a model can learn the hospital instead of the disease; the reason to demand local validation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CLAIM checklist (Radiology: AI 2020)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(guideline): how to tell a well-reported AI study from a weak one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"Improving Image Quality and Reducing Radiation Dose for Pediatric CT by Using Deep Learning Reconstruction" (Brady et al., Radiology 2021)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(paper): the most-cited non-bone-age pediatric paper: deep-learning reconstruction lowers pediatric CT dose with better image quality; the most immediately usable pediatric benefit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FDA AI-enabled device list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(registry): the authoritative list of what is cleared; check the indication's age range before buying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Gleamer BoneView / AZmed Rayvolve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(products): the first fracture-detection tools with pediatric indications; realistic first pediatric AI purchases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MedSAM / segment-anything models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(foundation models): where annotation and segmentation tooling is heading: click, don't draw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41 / 45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What the field does well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Finding what is there.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Detection / diagnosis is the bulk of the literature (45% of radiology-AI papers, 46% of pediatric); in adults it has become deployed worklist triage, the largest block of the 1,164 FDA-listed radiology AI devices.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Outlining and measuring.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Segmentation (26% of papers) has open, strong defaults (nnU-Net, TotalSegmentator); in children the mature measurement task is bone age (RSNA challenge: 4.2-month error, several cleared products), and measurement / quantification is 22% of pediatric papers.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Better images from less dose.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Reconstruction / imputation is 23% of radiology AI and 12% of pediatric work; deep-learning reconstruction is on today's scanners and cut pediatric CT dose by about half at equal or better image quality.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Shared benchmarks where they exist.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Fetal and neonatal brain MRI (FeTA, dHCP) and pediatric brain tumors (BraTS-PEDs) now have challenge datasets, and multi-site pediatric neuro-oncology models match radiologists retrospectively.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42 / 45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Bleeding 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53618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Foundation and vision-language models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7.2% of radiology-AI papers (3.9% pediatric); segment-anything style tools (MedSAM) and generalist radiology models are replacing task-specific training.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Report generation and LLMs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3.8% of papers; drafting and extracting from reports, with fluency ahead of reliability.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Agents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1.0% of radiology-AI papers (42 pediatric papers in total); LLMs that call imaging tools and take multi-step actions.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Pediatric-specific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bone age robust to skeletal dysplasias (Deeplasia); fetal ultrasound AI is the most active commercial pediatric area in the trade press (BrightHeart, Sonio, DeepEcho clearances, 2023–2026); adult fracture tools extended to children (Gleamer 2023, AZmed 2024) and now tested in a real pediatric emergency department.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Generalization studies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adult-trained CT organ segmentation degrades in small children, and the first pediatric prospective-style reader studies show smaller gains than stand-alone accuracy implies.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43 / 45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Open problems — where a children's hospital could contribute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5527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Calibri"/>
              </a:rPr>
              <a:t>Which diseases?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Since 2023 the pediatric corpus (6,723 papers) leans to autism / ADHD / neurodevelopment (697); fetal anomalies / prenatal (534); brain tumors (325); congenital heart disease / cardiac (295). Barely studied: testicular / ovarian torsion (8); inflammatory bowel disease (22); lines and tubes / NICU support devices (54); neonatal jaundice / biliary atresia / liver (56); craniosynostosis / craniofacial (72); appendicitis / intussusception / NEC (72). Which of these deserve a model first is an open question for this group.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Calibri"/>
              </a:rPr>
              <a:t>Dataset curation.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What would a multi-center pediatric dataset look like: age-stratified, consented, protocol-diverse, with rare phenotypes? Which of our own archives (CT, ultrasound, NICU radiographs) could become the pediatric benchmark that does not yet exist?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Calibri"/>
              </a:rPr>
              <a:t>Validation.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Local, age-stratified testing of adult-cleared tools; prospective reader studies rather than retrospective accuracy; monitoring for drift as children grow and protocols change.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Calibri"/>
              </a:rPr>
              <a:t>Beyond interpretation.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Workflow / non-interpretive work is 13% of papers, but communication with families, education, protocoling and policy are almost absent; these are cheaper to build and evaluate than diagnostic models.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Calibri"/>
              </a:rPr>
              <a:t>Regulation and liability.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Few of the 1,164 radiology clearances carry a pediatric indication; which adult clearances are acceptable to use off-label in children, and under what local validation?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44 / 45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Implications for a children's hospital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620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Buy maturity, build for the gaps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adopt cleared adult-derived tools that transfer (reconstruction, bone age, fracture with a pediatric indication); treat the under-studied pediatric problems as local validation and research.</a:t>
            </a:r>
          </a:p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Demand local pediatric validation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before clinical use, by age group, and check the age range in the clearance.</a:t>
            </a:r>
          </a:p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Prioritize dose and throughput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deep-learning reconstruction gives the clearest pediatric benefit today.</a:t>
            </a:r>
          </a:p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Invest in data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a curated, shareable pediatric dataset is the scarcest resource in the field and the contribution a children's hospital is uniquely placed to make.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45 / 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
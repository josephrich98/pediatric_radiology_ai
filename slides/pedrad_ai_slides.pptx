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7/s00330-025-11554-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1467-025-64391-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3348/kjr.2024.07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doi.org/10.3389/fendo.2026.174192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doi.org/10.1186/s40658-026-00876-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07/s10278-024-01273-w"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imagingwire.com/newsletter/mammography-use-fall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imagingwire.com/newsletter/interventional-work-changes-heat-wave-melts-mri-and-aidoc-breakthroug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6-12728-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sna.org/news/2026/august/ai-challenges-fuel-innovati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althairegister.com/radiology/produc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onexpert.com/" TargetMode="External"/><Relationship Id="rId3" Type="http://schemas.openxmlformats.org/officeDocument/2006/relationships/hyperlink" Target="https://bonexpert.com/2026/09/30/visiana-receives-fda510k-clearance-for-bonexpert-bone-age-softwar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zmed.co/"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247-025-06462-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acr.2023.06.00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acr.2025.08.01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1975-6" TargetMode="External"/><Relationship Id="rId3" Type="http://schemas.openxmlformats.org/officeDocument/2006/relationships/image" Target="../media/image18.png"/><Relationship Id="rId4" Type="http://schemas.openxmlformats.org/officeDocument/2006/relationships/hyperlink" Target="https://doi.org/10.1007/s00330-026-12354-5"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r.org/Data-Science-and-Informatics/Informatics/pediatric-radiology-ai-resources"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g.2017170077" TargetMode="External"/><Relationship Id="rId3" Type="http://schemas.openxmlformats.org/officeDocument/2006/relationships/hyperlink" Target="https://www.rsna.org/rsnai/ai-image-challenge/rsna-pediatric-bone-age-challenge-2017" TargetMode="External"/><Relationship Id="rId4" Type="http://schemas.openxmlformats.org/officeDocument/2006/relationships/hyperlink" Target="https://www.gleamer.ai/solutions/boneview" TargetMode="External"/><Relationship Id="rId5" Type="http://schemas.openxmlformats.org/officeDocument/2006/relationships/hyperlink" Target="https://www.azmed.co/" TargetMode="External"/><Relationship Id="rId6" Type="http://schemas.openxmlformats.org/officeDocument/2006/relationships/hyperlink" Target="https://www.fda.gov/medical-devices/software-medical-device-samd/artificial-intelligence-enabled-medical-devices" TargetMode="External"/><Relationship Id="rId7" Type="http://schemas.openxmlformats.org/officeDocument/2006/relationships/hyperlink" Target="https://healthairegister.com/radiology/products/" TargetMode="External"/><Relationship Id="rId8" Type="http://schemas.openxmlformats.org/officeDocument/2006/relationships/hyperlink" Target="https://doi.org/10.1148/ryai.240300" TargetMode="External"/><Relationship Id="rId9" Type="http://schemas.openxmlformats.org/officeDocument/2006/relationships/hyperlink" Target="https://github.com/wasserth/TotalSegmentator" TargetMode="External"/><Relationship Id="rId10" Type="http://schemas.openxmlformats.org/officeDocument/2006/relationships/hyperlink" Target="https://github.com/MIC-DKFZ/nnUNet" TargetMode="External"/><Relationship Id="rId11" Type="http://schemas.openxmlformats.org/officeDocument/2006/relationships/hyperlink" Target="https://github.com/bowang-lab/MedSAM" TargetMode="External"/><Relationship Id="rId12" Type="http://schemas.openxmlformats.org/officeDocument/2006/relationships/hyperlink" Target="https://github.com/Project-MONAI/MONAI" TargetMode="External"/><Relationship Id="rId13" Type="http://schemas.openxmlformats.org/officeDocument/2006/relationships/hyperlink" Target="https://huggingface.co/nvidia/NV-Reason-C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 y="2194560"/>
            <a:ext cx="9997135" cy="1188720"/>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400">
                <a:solidFill>
                  <a:srgbClr val="FFFFFF"/>
                </a:solidFill>
                <a:latin typeface="Helvetica Neue"/>
              </a:rPr>
              <a:t>Artificial Intelligence in Pediatric Radiology</a:t>
            </a:r>
          </a:p>
        </p:txBody>
      </p:sp>
      <p:sp>
        <p:nvSpPr>
          <p:cNvPr id="3" name="TextBox 2"/>
          <p:cNvSpPr txBox="1"/>
          <p:nvPr/>
        </p:nvSpPr>
        <p:spPr>
          <a:xfrm>
            <a:off x="1097280" y="3566160"/>
            <a:ext cx="9997135" cy="914400"/>
          </a:xfrm>
          <a:prstGeom prst="rect">
            <a:avLst/>
          </a:prstGeom>
          <a:noFill/>
        </p:spPr>
        <p:txBody>
          <a:bodyPr wrap="square">
            <a:spAutoFit/>
          </a:bodyPr>
          <a:lstStyle/>
          <a:p>
            <a:pPr algn="ctr"/>
            <a:r>
              <a:rPr sz="1800">
                <a:solidFill>
                  <a:srgbClr val="1A1A1A"/>
                </a:solidFill>
                <a:latin typeface="Helvetica Neue"/>
              </a:rPr>
              <a:t/>
            </a:r>
          </a:p>
        </p:txBody>
      </p:sp>
      <p:sp>
        <p:nvSpPr>
          <p:cNvPr id="4" name="TextBox 3"/>
          <p:cNvSpPr txBox="1"/>
          <p:nvPr/>
        </p:nvSpPr>
        <p:spPr>
          <a:xfrm>
            <a:off x="1097280" y="4480560"/>
            <a:ext cx="9997135" cy="457200"/>
          </a:xfrm>
          <a:prstGeom prst="rect">
            <a:avLst/>
          </a:prstGeom>
          <a:noFill/>
        </p:spPr>
        <p:txBody>
          <a:bodyPr wrap="none">
            <a:spAutoFit/>
          </a:bodyPr>
          <a:lstStyle/>
          <a:p>
            <a:pPr algn="ctr"/>
            <a:r>
              <a:rPr sz="1800">
                <a:solidFill>
                  <a:srgbClr val="1A1A1A"/>
                </a:solidFill>
                <a:latin typeface="Helvetica Neue"/>
              </a:rPr>
              <a:t>Joseph Rich; Amit Sura, MD</a:t>
            </a:r>
          </a:p>
        </p:txBody>
      </p:sp>
      <p:sp>
        <p:nvSpPr>
          <p:cNvPr id="5" name="TextBox 4"/>
          <p:cNvSpPr txBox="1"/>
          <p:nvPr/>
        </p:nvSpPr>
        <p:spPr>
          <a:xfrm>
            <a:off x="1097280" y="4983480"/>
            <a:ext cx="9997135" cy="457200"/>
          </a:xfrm>
          <a:prstGeom prst="rect">
            <a:avLst/>
          </a:prstGeom>
          <a:noFill/>
        </p:spPr>
        <p:txBody>
          <a:bodyPr wrap="none">
            <a:spAutoFit/>
          </a:bodyPr>
          <a:lstStyle/>
          <a:p>
            <a:pPr algn="ctr"/>
            <a:r>
              <a:rPr sz="1400">
                <a:solidFill>
                  <a:srgbClr val="6B6B6B"/>
                </a:solidFill>
                <a:latin typeface="Helvetica Neue"/>
              </a:rPr>
              <a:t>October 8, 2026</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Objectives</a:t>
            </a:r>
          </a:p>
        </p:txBody>
      </p:sp>
      <p:sp>
        <p:nvSpPr>
          <p:cNvPr id="3" name="TextBox 2"/>
          <p:cNvSpPr txBox="1"/>
          <p:nvPr/>
        </p:nvSpPr>
        <p:spPr>
          <a:xfrm>
            <a:off x="411480" y="877824"/>
            <a:ext cx="11368735" cy="72136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Describe the big players in radiology AI, both general and pediatric</a:t>
            </a:r>
          </a:p>
          <a:p>
            <a:pPr algn="l" marL="256032" indent="-256032">
              <a:spcAft>
                <a:spcPts val="560"/>
              </a:spcAft>
              <a:buChar char="•"/>
            </a:pPr>
            <a:r>
              <a:rPr sz="1600" b="0" i="0">
                <a:solidFill>
                  <a:srgbClr val="1A1A1A"/>
                </a:solidFill>
                <a:latin typeface="Helvetica Neue"/>
              </a:rPr>
              <a:t>Summarize what radiology AI does well and what remains unresolved</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 / 36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Methods</a:t>
            </a:r>
          </a:p>
        </p:txBody>
      </p:sp>
      <p:sp>
        <p:nvSpPr>
          <p:cNvPr id="3" name="TextBox 2"/>
          <p:cNvSpPr txBox="1"/>
          <p:nvPr/>
        </p:nvSpPr>
        <p:spPr>
          <a:xfrm>
            <a:off x="411480" y="877824"/>
            <a:ext cx="11368735" cy="1469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Journals, Preprints</a:t>
            </a:r>
            <a:r>
              <a:rPr sz="1400" b="0" i="0">
                <a:solidFill>
                  <a:srgbClr val="1A1A1A"/>
                </a:solidFill>
                <a:latin typeface="Helvetica Neue"/>
              </a:rPr>
              <a:t>: PubMed, Embase, arXiv, medRxiv</a:t>
            </a:r>
          </a:p>
          <a:p>
            <a:pPr algn="l">
              <a:spcAft>
                <a:spcPts val="489"/>
              </a:spcAft>
            </a:pPr>
            <a:r>
              <a:rPr sz="1400" b="1" i="0">
                <a:solidFill>
                  <a:srgbClr val="1A1A1A"/>
                </a:solidFill>
                <a:latin typeface="Helvetica Neue"/>
              </a:rPr>
              <a:t>Conferences</a:t>
            </a:r>
            <a:r>
              <a:rPr sz="1400" b="0" i="0">
                <a:solidFill>
                  <a:srgbClr val="1A1A1A"/>
                </a:solidFill>
                <a:latin typeface="Helvetica Neue"/>
              </a:rPr>
              <a:t>: NeurIPS, ICLR, ICML, CVPR, MICCAI, MIDL</a:t>
            </a:r>
          </a:p>
          <a:p>
            <a:pPr algn="l">
              <a:spcAft>
                <a:spcPts val="489"/>
              </a:spcAft>
            </a:pPr>
            <a:r>
              <a:rPr sz="1400" b="1" i="0">
                <a:solidFill>
                  <a:srgbClr val="1A1A1A"/>
                </a:solidFill>
                <a:latin typeface="Helvetica Neue"/>
              </a:rPr>
              <a:t>Datasets</a:t>
            </a:r>
            <a:r>
              <a:rPr sz="1400" b="0" i="0">
                <a:solidFill>
                  <a:srgbClr val="1A1A1A"/>
                </a:solidFill>
                <a:latin typeface="Helvetica Neue"/>
              </a:rPr>
              <a:t>: Hand-curated list</a:t>
            </a:r>
          </a:p>
          <a:p>
            <a:pPr algn="l">
              <a:spcAft>
                <a:spcPts val="489"/>
              </a:spcAft>
            </a:pPr>
            <a:r>
              <a:rPr sz="1400" b="1" i="0">
                <a:solidFill>
                  <a:srgbClr val="1A1A1A"/>
                </a:solidFill>
                <a:latin typeface="Helvetica Neue"/>
              </a:rPr>
              <a:t>Newsletters</a:t>
            </a:r>
            <a:r>
              <a:rPr sz="1400" b="0" i="0">
                <a:solidFill>
                  <a:srgbClr val="1A1A1A"/>
                </a:solidFill>
                <a:latin typeface="Helvetica Neue"/>
              </a:rPr>
              <a:t>: The Imaging Wire, RSNA News, TLDR AI, TLDR Tech, Signify Research, ESR / ECR, Radiology Business</a:t>
            </a:r>
          </a:p>
          <a:p>
            <a:pPr algn="l">
              <a:spcAft>
                <a:spcPts val="489"/>
              </a:spcAft>
            </a:pPr>
            <a:r>
              <a:rPr sz="1400" b="1" i="0">
                <a:solidFill>
                  <a:srgbClr val="1A1A1A"/>
                </a:solidFill>
                <a:latin typeface="Helvetica Neue"/>
              </a:rPr>
              <a:t>Commercial</a:t>
            </a:r>
            <a:r>
              <a:rPr sz="1400" b="0" i="0">
                <a:solidFill>
                  <a:srgbClr val="1A1A1A"/>
                </a:solidFill>
                <a:latin typeface="Helvetica Neue"/>
              </a:rPr>
              <a:t>: FDA list of AI-enabled devices</a:t>
            </a:r>
          </a:p>
        </p:txBody>
      </p:sp>
      <p:sp>
        <p:nvSpPr>
          <p:cNvPr id="4" name="TextBox 3"/>
          <p:cNvSpPr txBox="1"/>
          <p:nvPr/>
        </p:nvSpPr>
        <p:spPr>
          <a:xfrm>
            <a:off x="411480" y="2420366"/>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Date range</a:t>
            </a:r>
            <a:r>
              <a:rPr sz="1400" b="0" i="0">
                <a:solidFill>
                  <a:srgbClr val="1A1A1A"/>
                </a:solidFill>
                <a:latin typeface="Helvetica Neue"/>
              </a:rPr>
              <a:t>: January 1 2008 – September 30 2026</a:t>
            </a:r>
          </a:p>
        </p:txBody>
      </p:sp>
      <p:sp>
        <p:nvSpPr>
          <p:cNvPr id="5" name="TextBox 4"/>
          <p:cNvSpPr txBox="1"/>
          <p:nvPr/>
        </p:nvSpPr>
        <p:spPr>
          <a:xfrm>
            <a:off x="411480" y="2860548"/>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Search strategy</a:t>
            </a:r>
            <a:r>
              <a:rPr sz="1400" b="0" i="0">
                <a:solidFill>
                  <a:srgbClr val="1A1A1A"/>
                </a:solidFill>
                <a:latin typeface="Helvetica Neue"/>
              </a:rPr>
              <a:t>: radiology AND AI [AND pediatric]</a:t>
            </a:r>
          </a:p>
        </p:txBody>
      </p:sp>
      <p:sp>
        <p:nvSpPr>
          <p:cNvPr id="6" name="TextBox 5"/>
          <p:cNvSpPr txBox="1"/>
          <p:nvPr/>
        </p:nvSpPr>
        <p:spPr>
          <a:xfrm>
            <a:off x="411480" y="3300730"/>
            <a:ext cx="11368735" cy="1857375"/>
          </a:xfrm>
          <a:prstGeom prst="rect">
            <a:avLst/>
          </a:prstGeom>
          <a:noFill/>
        </p:spPr>
        <p:txBody>
          <a:bodyPr wrap="square" lIns="45720" rIns="45720" tIns="27432" bIns="27432" anchor="t">
            <a:spAutoFit/>
          </a:bodyPr>
          <a:lstStyle/>
          <a:p>
            <a:pPr algn="l">
              <a:spcAft>
                <a:spcPts val="315"/>
              </a:spcAft>
            </a:pPr>
            <a:r>
              <a:rPr sz="900" b="1" i="0">
                <a:solidFill>
                  <a:srgbClr val="1A1A1A"/>
                </a:solidFill>
                <a:latin typeface="Helvetica Neue"/>
              </a:rPr>
              <a:t>radiology</a:t>
            </a:r>
            <a:r>
              <a:rPr sz="900" b="0" i="0">
                <a:solidFill>
                  <a:srgbClr val="1A1A1A"/>
                </a:solidFill>
                <a:latin typeface="Helvetica Neue"/>
              </a:rPr>
              <a:t>: (radiology[tiab] OR radiological[tiab] OR radiograph*[tiab] OR "medical imaging"[tiab] OR "diagnostic imaging"[tiab] OR tomography[tiab] OR "magnetic resonance"[tiab] OR MRI[tiab] OR "MR imaging"[tiab] OR "MR images"[tiab] OR MRIs[tiab] OR "MR image"[tiab] OR "MR scan"[tiab] OR "MR scans"[tiab] OR "computed tomography"[tiab] OR CT[tiab] OR ultrasound[tiab] OR ultrasonograph*[tiab] OR sonograph*[tiab] OR echocardiograph*[tiab] OR mammograph*[tiab] OR "chest x-ray"[tiab] OR "x-ray"[tiab] OR fluoroscop*[tiab] OR scintigraph*[tiab] OR "positron emission"[tiab] OR PET[tiab] OR SPECT[tiab] OR angiograph*[tiab] OR neuroimaging[tiab] OR tractograph*[tiab] OR elastograph*[tiab] OR "fMRI"[tiab] OR "functional MRI"[tiab] OR "functional magnetic resonance"[tiab] OR connectome*[tiab] OR "diffusion tensor"[tiab] OR DTI[tiab] OR "bone age"[tiab] OR "skeletal age"[tiab] OR "skeletal maturity"[tiab] OR "barium enema"[tiab])</a:t>
            </a:r>
          </a:p>
          <a:p>
            <a:pPr algn="l">
              <a:spcAft>
                <a:spcPts val="315"/>
              </a:spcAft>
            </a:pPr>
            <a:r>
              <a:rPr sz="900" b="1" i="0">
                <a:solidFill>
                  <a:srgbClr val="1A1A1A"/>
                </a:solidFill>
                <a:latin typeface="Helvetica Neue"/>
              </a:rPr>
              <a:t>AI</a:t>
            </a:r>
            <a:r>
              <a:rPr sz="900" b="0" i="0">
                <a:solidFill>
                  <a:srgbClr val="1A1A1A"/>
                </a:solidFill>
                <a:latin typeface="Helvetica Neue"/>
              </a:rPr>
              <a:t>: ("artificial intelligence"[tiab] OR "machine learning"[tiab] OR "deep learning"[tiab] OR "convolutional neural network"[tiab] OR "convolutional neural networks"[tiab] OR "neural network"[tiab] OR "neural networks"[tiab] OR "computer-aided diagnosis"[tiab] OR "computer aided diagnosis"[tiab] OR "computer-aided detection"[tiab] OR radiomic*[tiab] OR "computer vision"[tiab] OR "large language model"[tiab] OR "large language models"[tiab] OR "foundation model"[tiab] OR "foundation models"[tiab] OR "transfer learning"[tiab] OR "vision transformer"[tiab] OR "self-supervised"[tiab] OR "random forest"[tiab] OR "support vector machine"[tiab] OR "gradient boosting"[tiab] OR "natural language processing"[tiab])</a:t>
            </a:r>
          </a:p>
          <a:p>
            <a:pPr algn="l">
              <a:spcAft>
                <a:spcPts val="315"/>
              </a:spcAft>
            </a:pPr>
            <a:r>
              <a:rPr sz="900" b="1" i="0">
                <a:solidFill>
                  <a:srgbClr val="1A1A1A"/>
                </a:solidFill>
                <a:latin typeface="Helvetica Neue"/>
              </a:rPr>
              <a:t>pediatric</a:t>
            </a:r>
            <a:r>
              <a:rPr sz="900" b="0" i="0">
                <a:solidFill>
                  <a:srgbClr val="1A1A1A"/>
                </a:solidFill>
                <a:latin typeface="Helvetica Neue"/>
              </a:rPr>
              <a:t>: (pediatric*[tiab] OR paediatric*[tiab] OR child*[tiab] OR infant*[tiab] OR neonat*[tiab] OR adolescen*[tiab] OR fetal[tiab] OR foetal[tiab] OR fetus*[tiab] OR foetus*[tiab] OR newborn*[tiab] OR preterm[tiab] OR "premature infant"[tiab] OR "premature infants"[tiab] OR "premature birth"[tiab] OR "premature neonate"[tiab] OR "premature neonates"[tiab] OR prenatal[tiab] OR antenatal[tiab] OR perinatal[tiab] OR youth[tiab] OR juvenile[tiab] OR "children's hospital"[tiab] OR schoolchild*[tiab] OR toddler*[tiab] OR baby[tiab] OR babies[tiab])</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Study selection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review_prisma" descr="review_prisma.png"/>
          <p:cNvPicPr>
            <a:picLocks noChangeAspect="1"/>
          </p:cNvPicPr>
          <p:nvPr/>
        </p:nvPicPr>
        <p:blipFill>
          <a:blip r:embed="rId2"/>
          <a:stretch>
            <a:fillRect/>
          </a:stretch>
        </p:blipFill>
        <p:spPr>
          <a:xfrm>
            <a:off x="3622721" y="877824"/>
            <a:ext cx="4946252" cy="4266956"/>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4 / 36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journal publication counts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radiology_ai_trend" descr="radiology_ai_trend.png"/>
          <p:cNvPicPr>
            <a:picLocks noChangeAspect="1"/>
          </p:cNvPicPr>
          <p:nvPr/>
        </p:nvPicPr>
        <p:blipFill>
          <a:blip r:embed="rId2"/>
          <a:stretch>
            <a:fillRect/>
          </a:stretch>
        </p:blipFill>
        <p:spPr>
          <a:xfrm>
            <a:off x="2053468" y="877824"/>
            <a:ext cx="8084758" cy="4491532"/>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5 / 36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Which journals publish pediatric radiology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journal_impact" descr="journal_impact.png"/>
          <p:cNvPicPr>
            <a:picLocks noChangeAspect="1"/>
          </p:cNvPicPr>
          <p:nvPr/>
        </p:nvPicPr>
        <p:blipFill>
          <a:blip r:embed="rId2"/>
          <a:stretch>
            <a:fillRect/>
          </a:stretch>
        </p:blipFill>
        <p:spPr>
          <a:xfrm>
            <a:off x="2713830" y="877824"/>
            <a:ext cx="6764033" cy="3705514"/>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6 / 36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publications, stratified by modality and task</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ped_modality_by_task" descr="ped_modality_by_task.png"/>
          <p:cNvPicPr>
            <a:picLocks noChangeAspect="1"/>
          </p:cNvPicPr>
          <p:nvPr/>
        </p:nvPicPr>
        <p:blipFill>
          <a:blip r:embed="rId2"/>
          <a:stretch>
            <a:fillRect/>
          </a:stretch>
        </p:blipFill>
        <p:spPr>
          <a:xfrm>
            <a:off x="3558563" y="877824"/>
            <a:ext cx="5074567" cy="2638775"/>
          </a:xfrm>
          <a:prstGeom prst="rect">
            <a:avLst/>
          </a:prstGeom>
        </p:spPr>
      </p:pic>
      <p:sp>
        <p:nvSpPr>
          <p:cNvPr id="5" name="TextBox 4"/>
          <p:cNvSpPr txBox="1"/>
          <p:nvPr/>
        </p:nvSpPr>
        <p:spPr>
          <a:xfrm>
            <a:off x="411480" y="3589751"/>
            <a:ext cx="3630981" cy="103441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detection / diagnosis</a:t>
            </a:r>
            <a:r>
              <a:rPr sz="900" b="0" i="0">
                <a:solidFill>
                  <a:srgbClr val="1A1A1A"/>
                </a:solidFill>
                <a:latin typeface="Helvetica Neue"/>
              </a:rPr>
              <a:t>: predict discrete disease labels (e.g., fracture, pneumonia, tumor, triage)</a:t>
            </a:r>
          </a:p>
          <a:p>
            <a:pPr algn="l" marL="256032" indent="-256032">
              <a:spcAft>
                <a:spcPts val="315"/>
              </a:spcAft>
              <a:buChar char="•"/>
            </a:pPr>
            <a:r>
              <a:rPr sz="900" b="1" i="0">
                <a:solidFill>
                  <a:srgbClr val="1A1A1A"/>
                </a:solidFill>
                <a:latin typeface="Helvetica Neue"/>
              </a:rPr>
              <a:t>segmentation</a:t>
            </a:r>
            <a:r>
              <a:rPr sz="900" b="0" i="0">
                <a:solidFill>
                  <a:srgbClr val="1A1A1A"/>
                </a:solidFill>
                <a:latin typeface="Helvetica Neue"/>
              </a:rPr>
              <a:t>: outline a structure or lesion</a:t>
            </a:r>
          </a:p>
          <a:p>
            <a:pPr algn="l" marL="256032" indent="-256032">
              <a:spcAft>
                <a:spcPts val="315"/>
              </a:spcAft>
              <a:buChar char="•"/>
            </a:pPr>
            <a:r>
              <a:rPr sz="900" b="1" i="0">
                <a:solidFill>
                  <a:srgbClr val="1A1A1A"/>
                </a:solidFill>
                <a:latin typeface="Helvetica Neue"/>
              </a:rPr>
              <a:t>measurement / quantification</a:t>
            </a:r>
            <a:r>
              <a:rPr sz="900" b="0" i="0">
                <a:solidFill>
                  <a:srgbClr val="1A1A1A"/>
                </a:solidFill>
                <a:latin typeface="Helvetica Neue"/>
              </a:rPr>
              <a:t>: measure a number from the image (e.g., bone age, Cobb angle, organ volume, fetal biometry)</a:t>
            </a:r>
          </a:p>
        </p:txBody>
      </p:sp>
      <p:sp>
        <p:nvSpPr>
          <p:cNvPr id="6" name="TextBox 5"/>
          <p:cNvSpPr txBox="1"/>
          <p:nvPr/>
        </p:nvSpPr>
        <p:spPr>
          <a:xfrm>
            <a:off x="4225341" y="3589751"/>
            <a:ext cx="3630981" cy="117157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outcome prediction</a:t>
            </a:r>
            <a:r>
              <a:rPr sz="900" b="0" i="0">
                <a:solidFill>
                  <a:srgbClr val="1A1A1A"/>
                </a:solidFill>
                <a:latin typeface="Helvetica Neue"/>
              </a:rPr>
              <a:t>: a future risk, response, or survival estimate from the image (prognosis, radiomics signatures)</a:t>
            </a:r>
          </a:p>
          <a:p>
            <a:pPr algn="l" marL="256032" indent="-256032">
              <a:spcAft>
                <a:spcPts val="315"/>
              </a:spcAft>
              <a:buChar char="•"/>
            </a:pPr>
            <a:r>
              <a:rPr sz="900" b="1" i="0">
                <a:solidFill>
                  <a:srgbClr val="1A1A1A"/>
                </a:solidFill>
                <a:latin typeface="Helvetica Neue"/>
              </a:rPr>
              <a:t>reconstruction / imputation</a:t>
            </a:r>
            <a:r>
              <a:rPr sz="900" b="0" i="0">
                <a:solidFill>
                  <a:srgbClr val="1A1A1A"/>
                </a:solidFill>
                <a:latin typeface="Helvetica Neue"/>
              </a:rPr>
              <a:t>: generate a better or missing image</a:t>
            </a:r>
          </a:p>
          <a:p>
            <a:pPr algn="l" marL="256032" indent="-256032">
              <a:spcAft>
                <a:spcPts val="315"/>
              </a:spcAft>
              <a:buChar char="•"/>
            </a:pPr>
            <a:r>
              <a:rPr sz="900" b="1" i="0">
                <a:solidFill>
                  <a:srgbClr val="1A1A1A"/>
                </a:solidFill>
                <a:latin typeface="Helvetica Neue"/>
              </a:rPr>
              <a:t>report generation / LLM</a:t>
            </a:r>
            <a:r>
              <a:rPr sz="900" b="0" i="0">
                <a:solidFill>
                  <a:srgbClr val="1A1A1A"/>
                </a:solidFill>
                <a:latin typeface="Helvetica Neue"/>
              </a:rPr>
              <a:t>: text: draft, summarize, or extract from radiology reports</a:t>
            </a:r>
          </a:p>
        </p:txBody>
      </p:sp>
      <p:sp>
        <p:nvSpPr>
          <p:cNvPr id="7" name="TextBox 6"/>
          <p:cNvSpPr txBox="1"/>
          <p:nvPr/>
        </p:nvSpPr>
        <p:spPr>
          <a:xfrm>
            <a:off x="8039203" y="3589751"/>
            <a:ext cx="3630981" cy="103441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foundation model / vision-language</a:t>
            </a:r>
            <a:r>
              <a:rPr sz="900" b="0" i="0">
                <a:solidFill>
                  <a:srgbClr val="1A1A1A"/>
                </a:solidFill>
                <a:latin typeface="Helvetica Neue"/>
              </a:rPr>
              <a:t>: a large pretrained model reused across tasks</a:t>
            </a:r>
          </a:p>
          <a:p>
            <a:pPr algn="l" marL="256032" indent="-256032">
              <a:spcAft>
                <a:spcPts val="315"/>
              </a:spcAft>
              <a:buChar char="•"/>
            </a:pPr>
            <a:r>
              <a:rPr sz="900" b="1" i="0">
                <a:solidFill>
                  <a:srgbClr val="1A1A1A"/>
                </a:solidFill>
                <a:latin typeface="Helvetica Neue"/>
              </a:rPr>
              <a:t>agent / autonomous</a:t>
            </a:r>
            <a:r>
              <a:rPr sz="900" b="0" i="0">
                <a:solidFill>
                  <a:srgbClr val="1A1A1A"/>
                </a:solidFill>
                <a:latin typeface="Helvetica Neue"/>
              </a:rPr>
              <a:t>: multi-step actions taken without a human in the loop</a:t>
            </a:r>
          </a:p>
          <a:p>
            <a:pPr algn="l" marL="256032" indent="-256032">
              <a:spcAft>
                <a:spcPts val="315"/>
              </a:spcAft>
              <a:buChar char="•"/>
            </a:pPr>
            <a:r>
              <a:rPr sz="900" b="1" i="0">
                <a:solidFill>
                  <a:srgbClr val="1A1A1A"/>
                </a:solidFill>
                <a:latin typeface="Helvetica Neue"/>
              </a:rPr>
              <a:t>workflow / non-interpretive</a:t>
            </a:r>
            <a:r>
              <a:rPr sz="900" b="0" i="0">
                <a:solidFill>
                  <a:srgbClr val="1A1A1A"/>
                </a:solidFill>
                <a:latin typeface="Helvetica Neue"/>
              </a:rPr>
              <a:t>: protocoling, scheduling, ordering, decision support, education</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7 /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publications, stratified by medical problem</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ped_problems" descr="ped_problems.png"/>
          <p:cNvPicPr>
            <a:picLocks noChangeAspect="1"/>
          </p:cNvPicPr>
          <p:nvPr/>
        </p:nvPicPr>
        <p:blipFill>
          <a:blip r:embed="rId2"/>
          <a:stretch>
            <a:fillRect/>
          </a:stretch>
        </p:blipFill>
        <p:spPr>
          <a:xfrm>
            <a:off x="2259330" y="877824"/>
            <a:ext cx="7673035"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2008-2022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581144"/>
        </p:xfrm>
        <a:graphic>
          <a:graphicData uri="http://schemas.openxmlformats.org/drawingml/2006/table">
            <a:tbl>
              <a:tblPr firstRow="1" bandRow="1">
                <a:tableStyleId>{5C22544A-7EE6-4342-B048-85BDC9FD1C3A}</a:tableStyleId>
              </a:tblPr>
              <a:tblGrid>
                <a:gridCol w="512064"/>
                <a:gridCol w="448056"/>
                <a:gridCol w="3402816"/>
                <a:gridCol w="1501242"/>
                <a:gridCol w="1501242"/>
                <a:gridCol w="4003313"/>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5,797</a:t>
                      </a:r>
                    </a:p>
                  </a:txBody>
                  <a:tcPr marL="45720" marR="45720" marT="18288" marB="18288" anchor="t"/>
                </a:tc>
                <a:tc>
                  <a:txBody>
                    <a:bodyPr wrap="square"/>
                    <a:lstStyle/>
                    <a:p>
                      <a:pPr algn="r"/>
                      <a:r>
                        <a:rPr sz="900" b="0" i="0">
                          <a:solidFill>
                            <a:srgbClr val="1A1A1A"/>
                          </a:solidFill>
                          <a:latin typeface="Helvetica Neue"/>
                        </a:rPr>
                        <a:t>443.4</a:t>
                      </a:r>
                    </a:p>
                  </a:txBody>
                  <a:tcPr marL="45720" marR="45720" marT="18288" marB="18288" anchor="t"/>
                </a:tc>
                <a:tc>
                  <a:txBody>
                    <a:bodyPr wrap="square"/>
                    <a:lstStyle/>
                    <a:p>
                      <a:r>
                        <a:rPr sz="900" b="0" i="0">
                          <a:solidFill>
                            <a:srgbClr val="1A1A1A"/>
                          </a:solidFill>
                          <a:latin typeface="Helvetica Neue"/>
                        </a:rPr>
                        <a:t>Swin-Unet: Unet-like Pure Transformer for Medical Image Segmentation (2021)</a:t>
                      </a:r>
                    </a:p>
                  </a:txBody>
                  <a:tcPr marL="45720" marR="45720" marT="18288" marB="18288" anchor="t"/>
                </a:tc>
                <a:tc>
                  <a:txBody>
                    <a:bodyPr wrap="square"/>
                    <a:lstStyle/>
                    <a:p>
                      <a:r>
                        <a:rPr sz="900" b="0" i="0">
                          <a:solidFill>
                            <a:srgbClr val="1A1A1A"/>
                          </a:solidFill>
                          <a:latin typeface="Helvetica Neue"/>
                        </a:rPr>
                        <a:t>ECCV Workshops</a:t>
                      </a:r>
                    </a:p>
                  </a:txBody>
                  <a:tcPr marL="45720" marR="45720" marT="18288" marB="18288" anchor="t"/>
                </a:tc>
                <a:tc>
                  <a:txBody>
                    <a:bodyPr wrap="square"/>
                    <a:lstStyle/>
                    <a:p>
                      <a:r>
                        <a:rPr sz="900" b="0" i="0">
                          <a:solidFill>
                            <a:srgbClr val="1A1A1A"/>
                          </a:solidFill>
                          <a:latin typeface="Helvetica Neue"/>
                        </a:rPr>
                        <a:t>general (multi-organ CT, cardiac MRI)</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 pure transformer, with no convolutions, outline abdominal organs on CT and heart chambers on MRI as well as a U-Net?</a:t>
                      </a:r>
                    </a:p>
                  </a:txBody>
                  <a:tcPr marL="45720" marR="45720" marT="18288" marB="18288" anchor="t"/>
                </a:tc>
              </a:tr>
              <a:tr h="466344">
                <a:tc>
                  <a:txBody>
                    <a:bodyPr wrap="square"/>
                    <a:lstStyle/>
                    <a:p>
                      <a:pPr algn="r"/>
                      <a:r>
                        <a:rPr sz="900" b="0" i="0">
                          <a:solidFill>
                            <a:srgbClr val="1A1A1A"/>
                          </a:solidFill>
                          <a:latin typeface="Helvetica Neue"/>
                        </a:rPr>
                        <a:t>2,628</a:t>
                      </a:r>
                    </a:p>
                  </a:txBody>
                  <a:tcPr marL="45720" marR="45720" marT="18288" marB="18288" anchor="t"/>
                </a:tc>
                <a:tc>
                  <a:txBody>
                    <a:bodyPr wrap="square"/>
                    <a:lstStyle/>
                    <a:p>
                      <a:pPr algn="r"/>
                      <a:r>
                        <a:rPr sz="900" b="0" i="0">
                          <a:solidFill>
                            <a:srgbClr val="1A1A1A"/>
                          </a:solidFill>
                          <a:latin typeface="Helvetica Neue"/>
                        </a:rPr>
                        <a:t>288.8</a:t>
                      </a:r>
                    </a:p>
                  </a:txBody>
                  <a:tcPr marL="45720" marR="45720" marT="18288" marB="18288" anchor="t"/>
                </a:tc>
                <a:tc>
                  <a:txBody>
                    <a:bodyPr wrap="square"/>
                    <a:lstStyle/>
                    <a:p>
                      <a:r>
                        <a:rPr sz="900" b="0" i="0">
                          <a:solidFill>
                            <a:srgbClr val="1A1A1A"/>
                          </a:solidFill>
                          <a:latin typeface="Helvetica Neue"/>
                        </a:rPr>
                        <a:t>Swin UNETR: Swin Transformers for Semantic Segmentation of Brain Tumors in MRI Images (2022)</a:t>
                      </a:r>
                    </a:p>
                  </a:txBody>
                  <a:tcPr marL="45720" marR="45720" marT="18288" marB="18288" anchor="t"/>
                </a:tc>
                <a:tc>
                  <a:txBody>
                    <a:bodyPr wrap="square"/>
                    <a:lstStyle/>
                    <a:p>
                      <a:r>
                        <a:rPr sz="900" b="0" i="0">
                          <a:solidFill>
                            <a:srgbClr val="1A1A1A"/>
                          </a:solidFill>
                          <a:latin typeface="Helvetica Neue"/>
                        </a:rPr>
                        <a:t>BrainLes@MICCAI</a:t>
                      </a:r>
                    </a:p>
                  </a:txBody>
                  <a:tcPr marL="45720" marR="45720" marT="18288" marB="18288" anchor="t"/>
                </a:tc>
                <a:tc>
                  <a:txBody>
                    <a:bodyPr wrap="square"/>
                    <a:lstStyle/>
                    <a:p>
                      <a:r>
                        <a:rPr sz="900" b="0" i="0">
                          <a:solidFill>
                            <a:srgbClr val="1A1A1A"/>
                          </a:solidFill>
                          <a:latin typeface="Helvetica Neue"/>
                        </a:rPr>
                        <a:t>brain tumors (glioma)</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 transformer encoder outline glioma subregions (enhancing tumor, edema, necrotic core) on multiparametric brain MRI? (BraTS 2021)</a:t>
                      </a:r>
                    </a:p>
                  </a:txBody>
                  <a:tcPr marL="45720" marR="45720" marT="18288" marB="18288" anchor="t"/>
                </a:tc>
              </a:tr>
              <a:tr h="466344">
                <a:tc>
                  <a:txBody>
                    <a:bodyPr wrap="square"/>
                    <a:lstStyle/>
                    <a:p>
                      <a:pPr algn="r"/>
                      <a:r>
                        <a:rPr sz="900" b="0" i="0">
                          <a:solidFill>
                            <a:srgbClr val="1A1A1A"/>
                          </a:solidFill>
                          <a:latin typeface="Helvetica Neue"/>
                        </a:rPr>
                        <a:t>2,782</a:t>
                      </a:r>
                    </a:p>
                  </a:txBody>
                  <a:tcPr marL="45720" marR="45720" marT="18288" marB="18288" anchor="t"/>
                </a:tc>
                <a:tc>
                  <a:txBody>
                    <a:bodyPr wrap="square"/>
                    <a:lstStyle/>
                    <a:p>
                      <a:pPr algn="r"/>
                      <a:r>
                        <a:rPr sz="900" b="0" i="0">
                          <a:solidFill>
                            <a:srgbClr val="1A1A1A"/>
                          </a:solidFill>
                          <a:latin typeface="Helvetica Neue"/>
                        </a:rPr>
                        <a:t>262.1</a:t>
                      </a:r>
                    </a:p>
                  </a:txBody>
                  <a:tcPr marL="45720" marR="45720" marT="18288" marB="18288" anchor="t"/>
                </a:tc>
                <a:tc>
                  <a:txBody>
                    <a:bodyPr wrap="square"/>
                    <a:lstStyle/>
                    <a:p>
                      <a:r>
                        <a:rPr sz="900" b="0" i="0">
                          <a:solidFill>
                            <a:srgbClr val="1A1A1A"/>
                          </a:solidFill>
                          <a:latin typeface="Helvetica Neue"/>
                        </a:rPr>
                        <a:t>COVID-Net: a tailored deep convolutional neural network design for detection of COVID-19 cases from chest X-ray images (2020)</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COVID-19 / pneumonia</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purpose-built CNN tell COVID-19 pneumonia from other pneumonia and normal chest X-rays? (COVID-Net, open source)</a:t>
                      </a:r>
                    </a:p>
                  </a:txBody>
                  <a:tcPr marL="45720" marR="45720" marT="18288" marB="18288" anchor="t"/>
                </a:tc>
              </a:tr>
              <a:tr h="466344">
                <a:tc>
                  <a:txBody>
                    <a:bodyPr wrap="square"/>
                    <a:lstStyle/>
                    <a:p>
                      <a:pPr algn="r"/>
                      <a:r>
                        <a:rPr sz="900" b="0" i="0">
                          <a:solidFill>
                            <a:srgbClr val="1A1A1A"/>
                          </a:solidFill>
                          <a:latin typeface="Helvetica Neue"/>
                        </a:rPr>
                        <a:t>3,710</a:t>
                      </a:r>
                    </a:p>
                  </a:txBody>
                  <a:tcPr marL="45720" marR="45720" marT="18288" marB="18288" anchor="t"/>
                </a:tc>
                <a:tc>
                  <a:txBody>
                    <a:bodyPr wrap="square"/>
                    <a:lstStyle/>
                    <a:p>
                      <a:pPr algn="r"/>
                      <a:r>
                        <a:rPr sz="900" b="0" i="0">
                          <a:solidFill>
                            <a:srgbClr val="1A1A1A"/>
                          </a:solidFill>
                          <a:latin typeface="Helvetica Neue"/>
                        </a:rPr>
                        <a:t>230.9</a:t>
                      </a:r>
                    </a:p>
                  </a:txBody>
                  <a:tcPr marL="45720" marR="45720" marT="18288" marB="18288" anchor="t"/>
                </a:tc>
                <a:tc>
                  <a:txBody>
                    <a:bodyPr wrap="square"/>
                    <a:lstStyle/>
                    <a:p>
                      <a:r>
                        <a:rPr sz="900" b="0" i="0">
                          <a:solidFill>
                            <a:srgbClr val="1A1A1A"/>
                          </a:solidFill>
                          <a:latin typeface="Helvetica Neue"/>
                        </a:rPr>
                        <a:t>ChestX-Ray8: Hospital-Scale Chest X-Ray Database and Benchmarks on Weakly-Supervised Classification and Localization of Common Thorax Diseases (2017)</a:t>
                      </a:r>
                    </a:p>
                  </a:txBody>
                  <a:tcPr marL="45720" marR="45720" marT="18288" marB="18288" anchor="t"/>
                </a:tc>
                <a:tc>
                  <a:txBody>
                    <a:bodyPr wrap="square"/>
                    <a:lstStyle/>
                    <a:p>
                      <a:r>
                        <a:rPr sz="900" b="0" i="0">
                          <a:solidFill>
                            <a:srgbClr val="1A1A1A"/>
                          </a:solidFill>
                          <a:latin typeface="Helvetica Neue"/>
                        </a:rPr>
                        <a:t>Computer Vision and Pattern Recognition</a:t>
                      </a:r>
                    </a:p>
                  </a:txBody>
                  <a:tcPr marL="45720" marR="45720" marT="18288" marB="18288" anchor="t"/>
                </a:tc>
                <a:tc>
                  <a:txBody>
                    <a:bodyPr wrap="square"/>
                    <a:lstStyle/>
                    <a:p>
                      <a:r>
                        <a:rPr sz="900" b="0" i="0">
                          <a:solidFill>
                            <a:srgbClr val="1A1A1A"/>
                          </a:solidFill>
                          <a:latin typeface="Helvetica Neue"/>
                        </a:rPr>
                        <a:t>thoracic disease on chest X-ray</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labels mined automatically from radiology reports train a model to classify and localize eight common thoracic findings? (NIH ChestX-ray dataset, 108,948 images)</a:t>
                      </a:r>
                    </a:p>
                  </a:txBody>
                  <a:tcPr marL="45720" marR="45720" marT="18288" marB="18288" anchor="t"/>
                </a:tc>
              </a:tr>
              <a:tr h="329184">
                <a:tc>
                  <a:txBody>
                    <a:bodyPr wrap="square"/>
                    <a:lstStyle/>
                    <a:p>
                      <a:pPr algn="r"/>
                      <a:r>
                        <a:rPr sz="900" b="0" i="0">
                          <a:solidFill>
                            <a:srgbClr val="1A1A1A"/>
                          </a:solidFill>
                          <a:latin typeface="Helvetica Neue"/>
                        </a:rPr>
                        <a:t>10,389</a:t>
                      </a:r>
                    </a:p>
                  </a:txBody>
                  <a:tcPr marL="45720" marR="45720" marT="18288" marB="18288" anchor="t"/>
                </a:tc>
                <a:tc>
                  <a:txBody>
                    <a:bodyPr wrap="square"/>
                    <a:lstStyle/>
                    <a:p>
                      <a:pPr algn="r"/>
                      <a:r>
                        <a:rPr sz="900" b="0" i="0">
                          <a:solidFill>
                            <a:srgbClr val="1A1A1A"/>
                          </a:solidFill>
                          <a:latin typeface="Helvetica Neue"/>
                        </a:rPr>
                        <a:t>219.2</a:t>
                      </a:r>
                    </a:p>
                  </a:txBody>
                  <a:tcPr marL="45720" marR="45720" marT="18288" marB="18288" anchor="t"/>
                </a:tc>
                <a:tc>
                  <a:txBody>
                    <a:bodyPr wrap="square"/>
                    <a:lstStyle/>
                    <a:p>
                      <a:r>
                        <a:rPr sz="900" b="0" i="0">
                          <a:solidFill>
                            <a:srgbClr val="1A1A1A"/>
                          </a:solidFill>
                          <a:latin typeface="Helvetica Neue"/>
                        </a:rPr>
                        <a:t>nnU-Net: a self-configuring method for deep learning-based biomedical image segmentation (2020)</a:t>
                      </a:r>
                    </a:p>
                  </a:txBody>
                  <a:tcPr marL="45720" marR="45720" marT="18288" marB="18288" anchor="t"/>
                </a:tc>
                <a:tc>
                  <a:txBody>
                    <a:bodyPr wrap="square"/>
                    <a:lstStyle/>
                    <a:p>
                      <a:r>
                        <a:rPr sz="900" b="0" i="0">
                          <a:solidFill>
                            <a:srgbClr val="1A1A1A"/>
                          </a:solidFill>
                          <a:latin typeface="Helvetica Neue"/>
                        </a:rPr>
                        <a:t>Nature Methods</a:t>
                      </a:r>
                    </a:p>
                  </a:txBody>
                  <a:tcPr marL="45720" marR="45720" marT="18288" marB="18288" anchor="t"/>
                </a:tc>
                <a:tc>
                  <a:txBody>
                    <a:bodyPr wrap="square"/>
                    <a:lstStyle/>
                    <a:p>
                      <a:r>
                        <a:rPr sz="900" b="0" i="0">
                          <a:solidFill>
                            <a:srgbClr val="1A1A1A"/>
                          </a:solidFill>
                          <a:latin typeface="Helvetica Neue"/>
                        </a:rPr>
                        <a:t>general (any organ or lesion)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self-configuring method segment any organ or lesion without hand tuning? (nnU-Net)</a:t>
                      </a:r>
                    </a:p>
                  </a:txBody>
                  <a:tcPr marL="45720" marR="45720" marT="18288" marB="18288" anchor="t"/>
                </a:tc>
              </a:tr>
              <a:tr h="466344">
                <a:tc>
                  <a:txBody>
                    <a:bodyPr wrap="square"/>
                    <a:lstStyle/>
                    <a:p>
                      <a:pPr algn="r"/>
                      <a:r>
                        <a:rPr sz="900" b="0" i="0">
                          <a:solidFill>
                            <a:srgbClr val="1A1A1A"/>
                          </a:solidFill>
                          <a:latin typeface="Helvetica Neue"/>
                        </a:rPr>
                        <a:t>2,036</a:t>
                      </a:r>
                    </a:p>
                  </a:txBody>
                  <a:tcPr marL="45720" marR="45720" marT="18288" marB="18288" anchor="t"/>
                </a:tc>
                <a:tc>
                  <a:txBody>
                    <a:bodyPr wrap="square"/>
                    <a:lstStyle/>
                    <a:p>
                      <a:pPr algn="r"/>
                      <a:r>
                        <a:rPr sz="900" b="0" i="0">
                          <a:solidFill>
                            <a:srgbClr val="1A1A1A"/>
                          </a:solidFill>
                          <a:latin typeface="Helvetica Neue"/>
                        </a:rPr>
                        <a:t>206.6</a:t>
                      </a:r>
                    </a:p>
                  </a:txBody>
                  <a:tcPr marL="45720" marR="45720" marT="18288" marB="18288" anchor="t"/>
                </a:tc>
                <a:tc>
                  <a:txBody>
                    <a:bodyPr wrap="square"/>
                    <a:lstStyle/>
                    <a:p>
                      <a:r>
                        <a:rPr sz="900" b="0" i="0">
                          <a:solidFill>
                            <a:srgbClr val="1A1A1A"/>
                          </a:solidFill>
                          <a:latin typeface="Helvetica Neue"/>
                        </a:rPr>
                        <a:t>Covid-19: automatic detection from X-ray images utilizing transfer learning with convolutional neural networks (2020)</a:t>
                      </a:r>
                    </a:p>
                  </a:txBody>
                  <a:tcPr marL="45720" marR="45720" marT="18288" marB="18288" anchor="t"/>
                </a:tc>
                <a:tc>
                  <a:txBody>
                    <a:bodyPr wrap="square"/>
                    <a:lstStyle/>
                    <a:p>
                      <a:r>
                        <a:rPr sz="900" b="0" i="0">
                          <a:solidFill>
                            <a:srgbClr val="1A1A1A"/>
                          </a:solidFill>
                          <a:latin typeface="Helvetica Neue"/>
                        </a:rPr>
                        <a:t>Physical and Engineering Sciences in Medicine</a:t>
                      </a:r>
                    </a:p>
                  </a:txBody>
                  <a:tcPr marL="45720" marR="45720" marT="18288" marB="18288" anchor="t"/>
                </a:tc>
                <a:tc>
                  <a:txBody>
                    <a:bodyPr wrap="square"/>
                    <a:lstStyle/>
                    <a:p>
                      <a:r>
                        <a:rPr sz="900" b="0" i="0">
                          <a:solidFill>
                            <a:srgbClr val="1A1A1A"/>
                          </a:solidFill>
                          <a:latin typeface="Helvetica Neue"/>
                        </a:rPr>
                        <a:t>COVID-19 / pneumonia</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CNNs pretrained on everyday photographs detect COVID-19 on chest X-ray from only a few hundred positive cases?</a:t>
                      </a:r>
                    </a:p>
                  </a:txBody>
                  <a:tcPr marL="45720" marR="45720" marT="18288" marB="18288" anchor="t"/>
                </a:tc>
              </a:tr>
              <a:tr h="466344">
                <a:tc>
                  <a:txBody>
                    <a:bodyPr wrap="square"/>
                    <a:lstStyle/>
                    <a:p>
                      <a:pPr algn="r"/>
                      <a:r>
                        <a:rPr sz="900" b="0" i="0">
                          <a:solidFill>
                            <a:srgbClr val="1A1A1A"/>
                          </a:solidFill>
                          <a:latin typeface="Helvetica Neue"/>
                        </a:rPr>
                        <a:t>5,662</a:t>
                      </a:r>
                    </a:p>
                  </a:txBody>
                  <a:tcPr marL="45720" marR="45720" marT="18288" marB="18288" anchor="t"/>
                </a:tc>
                <a:tc>
                  <a:txBody>
                    <a:bodyPr wrap="square"/>
                    <a:lstStyle/>
                    <a:p>
                      <a:pPr algn="r"/>
                      <a:r>
                        <a:rPr sz="900" b="0" i="0">
                          <a:solidFill>
                            <a:srgbClr val="1A1A1A"/>
                          </a:solidFill>
                          <a:latin typeface="Helvetica Neue"/>
                        </a:rPr>
                        <a:t>156.0</a:t>
                      </a:r>
                    </a:p>
                  </a:txBody>
                  <a:tcPr marL="45720" marR="45720" marT="18288" marB="18288" anchor="t"/>
                </a:tc>
                <a:tc>
                  <a:txBody>
                    <a:bodyPr wrap="square"/>
                    <a:lstStyle/>
                    <a:p>
                      <a:r>
                        <a:rPr sz="900" b="0" i="0">
                          <a:solidFill>
                            <a:srgbClr val="1A1A1A"/>
                          </a:solidFill>
                          <a:latin typeface="Helvetica Neue"/>
                        </a:rPr>
                        <a:t>Computational Radiomics System to Decode the Radiographic Phenotype (2017)</a:t>
                      </a:r>
                    </a:p>
                  </a:txBody>
                  <a:tcPr marL="45720" marR="45720" marT="18288" marB="18288" anchor="t"/>
                </a:tc>
                <a:tc>
                  <a:txBody>
                    <a:bodyPr wrap="square"/>
                    <a:lstStyle/>
                    <a:p>
                      <a:r>
                        <a:rPr sz="900" b="0" i="0">
                          <a:solidFill>
                            <a:srgbClr val="1A1A1A"/>
                          </a:solidFill>
                          <a:latin typeface="Helvetica Neue"/>
                        </a:rPr>
                        <a:t>Cancer Research</a:t>
                      </a:r>
                    </a:p>
                  </a:txBody>
                  <a:tcPr marL="45720" marR="45720" marT="18288" marB="18288" anchor="t"/>
                </a:tc>
                <a:tc>
                  <a:txBody>
                    <a:bodyPr wrap="square"/>
                    <a:lstStyle/>
                    <a:p>
                      <a:r>
                        <a:rPr sz="900" b="0" i="0">
                          <a:solidFill>
                            <a:srgbClr val="1A1A1A"/>
                          </a:solidFill>
                          <a:latin typeface="Helvetica Neue"/>
                        </a:rPr>
                        <a:t>cancer (any site)</a:t>
                      </a:r>
                    </a:p>
                  </a:txBody>
                  <a:tcPr marL="45720" marR="45720" marT="18288" marB="18288" anchor="t"/>
                </a:tc>
                <a:tc>
                  <a:txBody>
                    <a:bodyPr wrap="square"/>
                    <a:lstStyle/>
                    <a:p>
                      <a:r>
                        <a:rPr sz="900" b="0" i="1">
                          <a:solidFill>
                            <a:srgbClr val="1A1A1A"/>
                          </a:solidFill>
                          <a:latin typeface="Helvetica Neue"/>
                        </a:rPr>
                        <a:t>radiomics</a:t>
                      </a:r>
                      <a:r>
                        <a:rPr sz="900" b="0" i="0">
                          <a:solidFill>
                            <a:srgbClr val="1A1A1A"/>
                          </a:solidFill>
                          <a:latin typeface="Helvetica Neue"/>
                        </a:rPr>
                        <a:t>: Can quantitative image features (shape, intensity, texture) be extracted in a standardized, reproducible way across sites? (PyRadiomics, open source)</a:t>
                      </a:r>
                    </a:p>
                  </a:txBody>
                  <a:tcPr marL="45720" marR="45720" marT="18288" marB="18288" anchor="t"/>
                </a:tc>
              </a:tr>
              <a:tr h="329184">
                <a:tc>
                  <a:txBody>
                    <a:bodyPr wrap="square"/>
                    <a:lstStyle/>
                    <a:p>
                      <a:pPr algn="r"/>
                      <a:r>
                        <a:rPr sz="900" b="0" i="0">
                          <a:solidFill>
                            <a:srgbClr val="1A1A1A"/>
                          </a:solidFill>
                          <a:latin typeface="Helvetica Neue"/>
                        </a:rPr>
                        <a:t>2,145</a:t>
                      </a:r>
                    </a:p>
                  </a:txBody>
                  <a:tcPr marL="45720" marR="45720" marT="18288" marB="18288" anchor="t"/>
                </a:tc>
                <a:tc>
                  <a:txBody>
                    <a:bodyPr wrap="square"/>
                    <a:lstStyle/>
                    <a:p>
                      <a:pPr algn="r"/>
                      <a:r>
                        <a:rPr sz="900" b="0" i="0">
                          <a:solidFill>
                            <a:srgbClr val="1A1A1A"/>
                          </a:solidFill>
                          <a:latin typeface="Helvetica Neue"/>
                        </a:rPr>
                        <a:t>135.7</a:t>
                      </a:r>
                    </a:p>
                  </a:txBody>
                  <a:tcPr marL="45720" marR="45720" marT="18288" marB="18288" anchor="t"/>
                </a:tc>
                <a:tc>
                  <a:txBody>
                    <a:bodyPr wrap="square"/>
                    <a:lstStyle/>
                    <a:p>
                      <a:r>
                        <a:rPr sz="900" b="0" i="0">
                          <a:solidFill>
                            <a:srgbClr val="1A1A1A"/>
                          </a:solidFill>
                          <a:latin typeface="Helvetica Neue"/>
                        </a:rPr>
                        <a:t>MultiResUNet : Rethinking the U-Net Architecture for Multimodal Biomedical Image Segmentation (2019)</a:t>
                      </a:r>
                    </a:p>
                  </a:txBody>
                  <a:tcPr marL="45720" marR="45720" marT="18288" marB="18288" anchor="t"/>
                </a:tc>
                <a:tc>
                  <a:txBody>
                    <a:bodyPr wrap="square"/>
                    <a:lstStyle/>
                    <a:p>
                      <a:r>
                        <a:rPr sz="900" b="0" i="0">
                          <a:solidFill>
                            <a:srgbClr val="1A1A1A"/>
                          </a:solidFill>
                          <a:latin typeface="Helvetica Neue"/>
                        </a:rPr>
                        <a:t>Neural Networks</a:t>
                      </a:r>
                    </a:p>
                  </a:txBody>
                  <a:tcPr marL="45720" marR="45720" marT="18288" marB="18288" anchor="t"/>
                </a:tc>
                <a:tc>
                  <a:txBody>
                    <a:bodyPr wrap="square"/>
                    <a:lstStyle/>
                    <a:p>
                      <a:r>
                        <a:rPr sz="900" b="0" i="0">
                          <a:solidFill>
                            <a:srgbClr val="1A1A1A"/>
                          </a:solidFill>
                          <a:latin typeface="Helvetica Neue"/>
                        </a:rPr>
                        <a:t>general (multiple image types)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 redesigned U-Net segment more reliably across five biomedical image types, including brain MRI?</a:t>
                      </a:r>
                    </a:p>
                  </a:txBody>
                  <a:tcPr marL="45720" marR="45720" marT="18288" marB="18288" anchor="t"/>
                </a:tc>
              </a:tr>
              <a:tr h="466344">
                <a:tc>
                  <a:txBody>
                    <a:bodyPr wrap="square"/>
                    <a:lstStyle/>
                    <a:p>
                      <a:pPr algn="r"/>
                      <a:r>
                        <a:rPr sz="900" b="0" i="0">
                          <a:solidFill>
                            <a:srgbClr val="1A1A1A"/>
                          </a:solidFill>
                          <a:latin typeface="Helvetica Neue"/>
                        </a:rPr>
                        <a:t>2,126</a:t>
                      </a:r>
                    </a:p>
                  </a:txBody>
                  <a:tcPr marL="45720" marR="45720" marT="18288" marB="18288" anchor="t"/>
                </a:tc>
                <a:tc>
                  <a:txBody>
                    <a:bodyPr wrap="square"/>
                    <a:lstStyle/>
                    <a:p>
                      <a:pPr algn="r"/>
                      <a:r>
                        <a:rPr sz="900" b="0" i="0">
                          <a:solidFill>
                            <a:srgbClr val="1A1A1A"/>
                          </a:solidFill>
                          <a:latin typeface="Helvetica Neue"/>
                        </a:rPr>
                        <a:t>119.7</a:t>
                      </a:r>
                    </a:p>
                  </a:txBody>
                  <a:tcPr marL="45720" marR="45720" marT="18288" marB="18288" anchor="t"/>
                </a:tc>
                <a:tc>
                  <a:txBody>
                    <a:bodyPr wrap="square"/>
                    <a:lstStyle/>
                    <a:p>
                      <a:r>
                        <a:rPr sz="900" b="0" i="0">
                          <a:solidFill>
                            <a:srgbClr val="1A1A1A"/>
                          </a:solidFill>
                          <a:latin typeface="Helvetica Neue"/>
                        </a:rPr>
                        <a:t>CE-Net: Context Encoder Network for 2D Medical Image Segmentation (2019)</a:t>
                      </a:r>
                    </a:p>
                  </a:txBody>
                  <a:tcPr marL="45720" marR="45720" marT="18288" marB="18288" anchor="t"/>
                </a:tc>
                <a:tc>
                  <a:txBody>
                    <a:bodyPr wrap="square"/>
                    <a:lstStyle/>
                    <a:p>
                      <a:r>
                        <a:rPr sz="900" b="0" i="0">
                          <a:solidFill>
                            <a:srgbClr val="1A1A1A"/>
                          </a:solidFill>
                          <a:latin typeface="Helvetica Neue"/>
                        </a:rPr>
                        <a:t>IEEE Transactions on Medical Imaging</a:t>
                      </a:r>
                    </a:p>
                  </a:txBody>
                  <a:tcPr marL="45720" marR="45720" marT="18288" marB="18288" anchor="t"/>
                </a:tc>
                <a:tc>
                  <a:txBody>
                    <a:bodyPr wrap="square"/>
                    <a:lstStyle/>
                    <a:p>
                      <a:r>
                        <a:rPr sz="900" b="0" i="0">
                          <a:solidFill>
                            <a:srgbClr val="1A1A1A"/>
                          </a:solidFill>
                          <a:latin typeface="Helvetica Neue"/>
                        </a:rPr>
                        <a:t>general (2D images: lung CT, retina)</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adding a context-encoder module to a U-Net improve 2D segmentation of structures such as the lungs on CT and the optic disc and vessels on retinal images?</a:t>
                      </a:r>
                    </a:p>
                  </a:txBody>
                  <a:tcPr marL="45720" marR="45720" marT="18288" marB="18288" anchor="t"/>
                </a:tc>
              </a:tr>
              <a:tr h="466344">
                <a:tc>
                  <a:txBody>
                    <a:bodyPr wrap="square"/>
                    <a:lstStyle/>
                    <a:p>
                      <a:pPr algn="r"/>
                      <a:r>
                        <a:rPr sz="900" b="0" i="0">
                          <a:solidFill>
                            <a:srgbClr val="1A1A1A"/>
                          </a:solidFill>
                          <a:latin typeface="Helvetica Neue"/>
                        </a:rPr>
                        <a:t>9,731</a:t>
                      </a:r>
                    </a:p>
                  </a:txBody>
                  <a:tcPr marL="45720" marR="45720" marT="18288" marB="18288" anchor="t"/>
                </a:tc>
                <a:tc>
                  <a:txBody>
                    <a:bodyPr wrap="square"/>
                    <a:lstStyle/>
                    <a:p>
                      <a:pPr algn="r"/>
                      <a:r>
                        <a:rPr sz="900" b="0" i="0">
                          <a:solidFill>
                            <a:srgbClr val="1A1A1A"/>
                          </a:solidFill>
                          <a:latin typeface="Helvetica Neue"/>
                        </a:rPr>
                        <a:t>86.7</a:t>
                      </a:r>
                    </a:p>
                  </a:txBody>
                  <a:tcPr marL="45720" marR="45720" marT="18288" marB="18288" anchor="t"/>
                </a:tc>
                <a:tc>
                  <a:txBody>
                    <a:bodyPr wrap="square"/>
                    <a:lstStyle/>
                    <a:p>
                      <a:r>
                        <a:rPr sz="900" b="0" i="0">
                          <a:solidFill>
                            <a:srgbClr val="1A1A1A"/>
                          </a:solidFill>
                          <a:latin typeface="Helvetica Neue"/>
                        </a:rPr>
                        <a:t>UNet++: A Nested U-Net Architecture for Medical Image Segmentation (2018)</a:t>
                      </a:r>
                    </a:p>
                  </a:txBody>
                  <a:tcPr marL="45720" marR="45720" marT="18288" marB="18288" anchor="t"/>
                </a:tc>
                <a:tc>
                  <a:txBody>
                    <a:bodyPr wrap="square"/>
                    <a:lstStyle/>
                    <a:p>
                      <a:r>
                        <a:rPr sz="900" b="0" i="0">
                          <a:solidFill>
                            <a:srgbClr val="1A1A1A"/>
                          </a:solidFill>
                          <a:latin typeface="Helvetica Neue"/>
                        </a:rPr>
                        <a:t>DLMIA/ML-CDS@MICCAI</a:t>
                      </a:r>
                    </a:p>
                  </a:txBody>
                  <a:tcPr marL="45720" marR="45720" marT="18288" marB="18288" anchor="t"/>
                </a:tc>
                <a:tc>
                  <a:txBody>
                    <a:bodyPr wrap="square"/>
                    <a:lstStyle/>
                    <a:p>
                      <a:r>
                        <a:rPr sz="900" b="0" i="0">
                          <a:solidFill>
                            <a:srgbClr val="1A1A1A"/>
                          </a:solidFill>
                          <a:latin typeface="Helvetica Neue"/>
                        </a:rPr>
                        <a:t>general (nodule, liver, polyp, nuclei)</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 nested, redesigned skip connections make U-Net more accurate on lung nodules, liver, colon polyps and cell nuclei?</a:t>
                      </a:r>
                    </a:p>
                  </a:txBody>
                  <a:tcPr marL="45720" marR="45720" marT="18288" marB="18288" anchor="t"/>
                </a:tc>
              </a:tr>
            </a:tbl>
          </a:graphicData>
        </a:graphic>
      </p:graphicFrame>
      <p:sp>
        <p:nvSpPr>
          <p:cNvPr id="5" name="TextBox 4"/>
          <p:cNvSpPr txBox="1"/>
          <p:nvPr/>
        </p:nvSpPr>
        <p:spPr>
          <a:xfrm>
            <a:off x="411480" y="5532120"/>
            <a:ext cx="11368735"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FWCI = field-weighted citation impact (OpenAlex): citations relative to the world average for papers of the same field and year (1 = average)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2023</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621024"/>
        </p:xfrm>
        <a:graphic>
          <a:graphicData uri="http://schemas.openxmlformats.org/drawingml/2006/table">
            <a:tbl>
              <a:tblPr firstRow="1" bandRow="1">
                <a:tableStyleId>{5C22544A-7EE6-4342-B048-85BDC9FD1C3A}</a:tableStyleId>
              </a:tblPr>
              <a:tblGrid>
                <a:gridCol w="480060"/>
                <a:gridCol w="448056"/>
                <a:gridCol w="4797041"/>
                <a:gridCol w="2116341"/>
                <a:gridCol w="3527236"/>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1,679</a:t>
                      </a:r>
                    </a:p>
                  </a:txBody>
                  <a:tcPr marL="45720" marR="45720" marT="18288" marB="18288" anchor="t"/>
                </a:tc>
                <a:tc>
                  <a:txBody>
                    <a:bodyPr wrap="square"/>
                    <a:lstStyle/>
                    <a:p>
                      <a:pPr algn="r"/>
                      <a:r>
                        <a:rPr sz="900" b="0" i="0">
                          <a:solidFill>
                            <a:srgbClr val="1A1A1A"/>
                          </a:solidFill>
                          <a:latin typeface="Helvetica Neue"/>
                        </a:rPr>
                        <a:t>607.9</a:t>
                      </a:r>
                    </a:p>
                  </a:txBody>
                  <a:tcPr marL="45720" marR="45720" marT="18288" marB="18288" anchor="t"/>
                </a:tc>
                <a:tc>
                  <a:txBody>
                    <a:bodyPr wrap="square"/>
                    <a:lstStyle/>
                    <a:p>
                      <a:r>
                        <a:rPr sz="900" b="0" i="0">
                          <a:solidFill>
                            <a:srgbClr val="1A1A1A"/>
                          </a:solidFill>
                          <a:latin typeface="Helvetica Neue"/>
                        </a:rPr>
                        <a:t>Segment anything in medical images</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foundation</a:t>
                      </a:r>
                      <a:r>
                        <a:rPr sz="900" b="0" i="0">
                          <a:solidFill>
                            <a:srgbClr val="1A1A1A"/>
                          </a:solidFill>
                          <a:latin typeface="Helvetica Neue"/>
                        </a:rPr>
                        <a:t>: Can a prompt-based 'segment anything' model work on medical images? (MedSAM)</a:t>
                      </a:r>
                    </a:p>
                  </a:txBody>
                  <a:tcPr marL="45720" marR="45720" marT="18288" marB="18288" anchor="t"/>
                </a:tc>
              </a:tr>
              <a:tr h="329184">
                <a:tc>
                  <a:txBody>
                    <a:bodyPr wrap="square"/>
                    <a:lstStyle/>
                    <a:p>
                      <a:pPr algn="r"/>
                      <a:r>
                        <a:rPr sz="900" b="0" i="0">
                          <a:solidFill>
                            <a:srgbClr val="1A1A1A"/>
                          </a:solidFill>
                          <a:latin typeface="Helvetica Neue"/>
                        </a:rPr>
                        <a:t>318</a:t>
                      </a:r>
                    </a:p>
                  </a:txBody>
                  <a:tcPr marL="45720" marR="45720" marT="18288" marB="18288" anchor="t"/>
                </a:tc>
                <a:tc>
                  <a:txBody>
                    <a:bodyPr wrap="square"/>
                    <a:lstStyle/>
                    <a:p>
                      <a:pPr algn="r"/>
                      <a:r>
                        <a:rPr sz="900" b="0" i="0">
                          <a:solidFill>
                            <a:srgbClr val="1A1A1A"/>
                          </a:solidFill>
                          <a:latin typeface="Helvetica Neue"/>
                        </a:rPr>
                        <a:t>126.4</a:t>
                      </a:r>
                    </a:p>
                  </a:txBody>
                  <a:tcPr marL="45720" marR="45720" marT="18288" marB="18288" anchor="t"/>
                </a:tc>
                <a:tc>
                  <a:txBody>
                    <a:bodyPr wrap="square"/>
                    <a:lstStyle/>
                    <a:p>
                      <a:r>
                        <a:rPr sz="900" b="0" i="0">
                          <a:solidFill>
                            <a:srgbClr val="1A1A1A"/>
                          </a:solidFill>
                          <a:latin typeface="Helvetica Neue"/>
                        </a:rPr>
                        <a:t>A Deep Learning based model for the Detection of Pneumonia from Chest X-Ray Images using VGG-16 and Neural Networks</a:t>
                      </a:r>
                    </a:p>
                  </a:txBody>
                  <a:tcPr marL="45720" marR="45720" marT="18288" marB="18288" anchor="t"/>
                </a:tc>
                <a:tc>
                  <a:txBody>
                    <a:bodyPr wrap="square"/>
                    <a:lstStyle/>
                    <a:p>
                      <a:r>
                        <a:rPr sz="900" b="0" i="0">
                          <a:solidFill>
                            <a:srgbClr val="1A1A1A"/>
                          </a:solidFill>
                          <a:latin typeface="Helvetica Neue"/>
                        </a:rPr>
                        <a:t>Procedia Computer Science</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329184">
                <a:tc>
                  <a:txBody>
                    <a:bodyPr wrap="square"/>
                    <a:lstStyle/>
                    <a:p>
                      <a:pPr algn="r"/>
                      <a:r>
                        <a:rPr sz="900" b="0" i="0">
                          <a:solidFill>
                            <a:srgbClr val="1A1A1A"/>
                          </a:solidFill>
                          <a:latin typeface="Helvetica Neue"/>
                        </a:rPr>
                        <a:t>387</a:t>
                      </a:r>
                    </a:p>
                  </a:txBody>
                  <a:tcPr marL="45720" marR="45720" marT="18288" marB="18288" anchor="t"/>
                </a:tc>
                <a:tc>
                  <a:txBody>
                    <a:bodyPr wrap="square"/>
                    <a:lstStyle/>
                    <a:p>
                      <a:pPr algn="r"/>
                      <a:r>
                        <a:rPr sz="900" b="0" i="0">
                          <a:solidFill>
                            <a:srgbClr val="1A1A1A"/>
                          </a:solidFill>
                          <a:latin typeface="Helvetica Neue"/>
                        </a:rPr>
                        <a:t>115.9</a:t>
                      </a:r>
                    </a:p>
                  </a:txBody>
                  <a:tcPr marL="45720" marR="45720" marT="18288" marB="18288" anchor="t"/>
                </a:tc>
                <a:tc>
                  <a:txBody>
                    <a:bodyPr wrap="square"/>
                    <a:lstStyle/>
                    <a:p>
                      <a:r>
                        <a:rPr sz="900" b="0" i="0">
                          <a:solidFill>
                            <a:srgbClr val="1A1A1A"/>
                          </a:solidFill>
                          <a:latin typeface="Helvetica Neue"/>
                        </a:rPr>
                        <a:t>CLIP-Driven Universal Model for Organ Segmentation and Tumor Detection</a:t>
                      </a:r>
                    </a:p>
                  </a:txBody>
                  <a:tcPr marL="45720" marR="45720" marT="18288" marB="18288" anchor="t"/>
                </a:tc>
                <a:tc>
                  <a:txBody>
                    <a:bodyPr wrap="square"/>
                    <a:lstStyle/>
                    <a:p>
                      <a:r>
                        <a:rPr sz="900" b="0" i="0">
                          <a:solidFill>
                            <a:srgbClr val="1A1A1A"/>
                          </a:solidFill>
                          <a:latin typeface="Helvetica Neue"/>
                        </a:rPr>
                        <a:t>IEEE International Conference on Computer Vision</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466344">
                <a:tc>
                  <a:txBody>
                    <a:bodyPr wrap="square"/>
                    <a:lstStyle/>
                    <a:p>
                      <a:pPr algn="r"/>
                      <a:r>
                        <a:rPr sz="900" b="0" i="0">
                          <a:solidFill>
                            <a:srgbClr val="1A1A1A"/>
                          </a:solidFill>
                          <a:latin typeface="Helvetica Neue"/>
                        </a:rPr>
                        <a:t>879</a:t>
                      </a:r>
                    </a:p>
                  </a:txBody>
                  <a:tcPr marL="45720" marR="45720" marT="18288" marB="18288" anchor="t"/>
                </a:tc>
                <a:tc>
                  <a:txBody>
                    <a:bodyPr wrap="square"/>
                    <a:lstStyle/>
                    <a:p>
                      <a:pPr algn="r"/>
                      <a:r>
                        <a:rPr sz="900" b="0" i="0">
                          <a:solidFill>
                            <a:srgbClr val="1A1A1A"/>
                          </a:solidFill>
                          <a:latin typeface="Helvetica Neue"/>
                        </a:rPr>
                        <a:t>70.5</a:t>
                      </a:r>
                    </a:p>
                  </a:txBody>
                  <a:tcPr marL="45720" marR="45720" marT="18288" marB="18288" anchor="t"/>
                </a:tc>
                <a:tc>
                  <a:txBody>
                    <a:bodyPr wrap="square"/>
                    <a:lstStyle/>
                    <a:p>
                      <a:r>
                        <a:rPr sz="900" b="0" i="0">
                          <a:solidFill>
                            <a:srgbClr val="1A1A1A"/>
                          </a:solidFill>
                          <a:latin typeface="Helvetica Neue"/>
                        </a:rPr>
                        <a:t>Segment Anything Model for medical image analysis: an experimental study</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How well does the unmodified Segment Anything Model work on medical images? (it needs prompts and adaptation)</a:t>
                      </a:r>
                    </a:p>
                  </a:txBody>
                  <a:tcPr marL="45720" marR="45720" marT="18288" marB="18288" anchor="t"/>
                </a:tc>
              </a:tr>
              <a:tr h="329184">
                <a:tc>
                  <a:txBody>
                    <a:bodyPr wrap="square"/>
                    <a:lstStyle/>
                    <a:p>
                      <a:pPr algn="r"/>
                      <a:r>
                        <a:rPr sz="900" b="0" i="0">
                          <a:solidFill>
                            <a:srgbClr val="1A1A1A"/>
                          </a:solidFill>
                          <a:latin typeface="Helvetica Neue"/>
                        </a:rPr>
                        <a:t>583</a:t>
                      </a:r>
                    </a:p>
                  </a:txBody>
                  <a:tcPr marL="45720" marR="45720" marT="18288" marB="18288" anchor="t"/>
                </a:tc>
                <a:tc>
                  <a:txBody>
                    <a:bodyPr wrap="square"/>
                    <a:lstStyle/>
                    <a:p>
                      <a:pPr algn="r"/>
                      <a:r>
                        <a:rPr sz="900" b="0" i="0">
                          <a:solidFill>
                            <a:srgbClr val="1A1A1A"/>
                          </a:solidFill>
                          <a:latin typeface="Helvetica Neue"/>
                        </a:rPr>
                        <a:t>56.0</a:t>
                      </a:r>
                    </a:p>
                  </a:txBody>
                  <a:tcPr marL="45720" marR="45720" marT="18288" marB="18288" anchor="t"/>
                </a:tc>
                <a:tc>
                  <a:txBody>
                    <a:bodyPr wrap="square"/>
                    <a:lstStyle/>
                    <a:p>
                      <a:r>
                        <a:rPr sz="900" b="0" i="0">
                          <a:solidFill>
                            <a:srgbClr val="1A1A1A"/>
                          </a:solidFill>
                          <a:latin typeface="Helvetica Neue"/>
                        </a:rPr>
                        <a:t>MRI-based brain tumor detection using convolutional deep learning methods and chosen machine learning techniques</a:t>
                      </a:r>
                    </a:p>
                  </a:txBody>
                  <a:tcPr marL="45720" marR="45720" marT="18288" marB="18288" anchor="t"/>
                </a:tc>
                <a:tc>
                  <a:txBody>
                    <a:bodyPr wrap="square"/>
                    <a:lstStyle/>
                    <a:p>
                      <a:r>
                        <a:rPr sz="900" b="0" i="0">
                          <a:solidFill>
                            <a:srgbClr val="1A1A1A"/>
                          </a:solidFill>
                          <a:latin typeface="Helvetica Neue"/>
                        </a:rPr>
                        <a:t>BMC Medical Informatics and Decision Making</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192024">
                <a:tc>
                  <a:txBody>
                    <a:bodyPr wrap="square"/>
                    <a:lstStyle/>
                    <a:p>
                      <a:pPr algn="r"/>
                      <a:r>
                        <a:rPr sz="900" b="0" i="0">
                          <a:solidFill>
                            <a:srgbClr val="1A1A1A"/>
                          </a:solidFill>
                          <a:latin typeface="Helvetica Neue"/>
                        </a:rPr>
                        <a:t>399</a:t>
                      </a:r>
                    </a:p>
                  </a:txBody>
                  <a:tcPr marL="45720" marR="45720" marT="18288" marB="18288" anchor="t"/>
                </a:tc>
                <a:tc>
                  <a:txBody>
                    <a:bodyPr wrap="square"/>
                    <a:lstStyle/>
                    <a:p>
                      <a:pPr algn="r"/>
                      <a:r>
                        <a:rPr sz="900" b="0" i="0">
                          <a:solidFill>
                            <a:srgbClr val="1A1A1A"/>
                          </a:solidFill>
                          <a:latin typeface="Helvetica Neue"/>
                        </a:rPr>
                        <a:t>50.6</a:t>
                      </a:r>
                    </a:p>
                  </a:txBody>
                  <a:tcPr marL="45720" marR="45720" marT="18288" marB="18288" anchor="t"/>
                </a:tc>
                <a:tc>
                  <a:txBody>
                    <a:bodyPr wrap="square"/>
                    <a:lstStyle/>
                    <a:p>
                      <a:r>
                        <a:rPr sz="900" b="0" i="0">
                          <a:solidFill>
                            <a:srgbClr val="1A1A1A"/>
                          </a:solidFill>
                          <a:latin typeface="Helvetica Neue"/>
                        </a:rPr>
                        <a:t>Multimodal data fusion for cancer biomarker discovery with deep learning</a:t>
                      </a:r>
                    </a:p>
                  </a:txBody>
                  <a:tcPr marL="45720" marR="45720" marT="18288" marB="18288" anchor="t"/>
                </a:tc>
                <a:tc>
                  <a:txBody>
                    <a:bodyPr wrap="square"/>
                    <a:lstStyle/>
                    <a:p>
                      <a:r>
                        <a:rPr sz="900" b="0" i="0">
                          <a:solidFill>
                            <a:srgbClr val="1A1A1A"/>
                          </a:solidFill>
                          <a:latin typeface="Helvetica Neue"/>
                        </a:rPr>
                        <a:t>Nature Machine Intelligence</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362</a:t>
                      </a:r>
                    </a:p>
                  </a:txBody>
                  <a:tcPr marL="45720" marR="45720" marT="18288" marB="18288" anchor="t"/>
                </a:tc>
                <a:tc>
                  <a:txBody>
                    <a:bodyPr wrap="square"/>
                    <a:lstStyle/>
                    <a:p>
                      <a:pPr algn="r"/>
                      <a:r>
                        <a:rPr sz="900" b="0" i="0">
                          <a:solidFill>
                            <a:srgbClr val="1A1A1A"/>
                          </a:solidFill>
                          <a:latin typeface="Helvetica Neue"/>
                        </a:rPr>
                        <a:t>45.1</a:t>
                      </a:r>
                    </a:p>
                  </a:txBody>
                  <a:tcPr marL="45720" marR="45720" marT="18288" marB="18288" anchor="t"/>
                </a:tc>
                <a:tc>
                  <a:txBody>
                    <a:bodyPr wrap="square"/>
                    <a:lstStyle/>
                    <a:p>
                      <a:r>
                        <a:rPr sz="900" b="0" i="0">
                          <a:solidFill>
                            <a:srgbClr val="1A1A1A"/>
                          </a:solidFill>
                          <a:latin typeface="Helvetica Neue"/>
                        </a:rPr>
                        <a:t>Large-scale pancreatic cancer detection via non-contrast CT and deep learning</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471</a:t>
                      </a:r>
                    </a:p>
                  </a:txBody>
                  <a:tcPr marL="45720" marR="45720" marT="18288" marB="18288" anchor="t"/>
                </a:tc>
                <a:tc>
                  <a:txBody>
                    <a:bodyPr wrap="square"/>
                    <a:lstStyle/>
                    <a:p>
                      <a:pPr algn="r"/>
                      <a:r>
                        <a:rPr sz="900" b="0" i="0">
                          <a:solidFill>
                            <a:srgbClr val="1A1A1A"/>
                          </a:solidFill>
                          <a:latin typeface="Helvetica Neue"/>
                        </a:rPr>
                        <a:t>44.7</a:t>
                      </a:r>
                    </a:p>
                  </a:txBody>
                  <a:tcPr marL="45720" marR="45720" marT="18288" marB="18288" anchor="t"/>
                </a:tc>
                <a:tc>
                  <a:txBody>
                    <a:bodyPr wrap="square"/>
                    <a:lstStyle/>
                    <a:p>
                      <a:r>
                        <a:rPr sz="900" b="0" i="0">
                          <a:solidFill>
                            <a:srgbClr val="1A1A1A"/>
                          </a:solidFill>
                          <a:latin typeface="Helvetica Neue"/>
                        </a:rPr>
                        <a:t>Brain Tumor Detection Based on Deep Learning Approaches and Magnetic Resonance Imaging</a:t>
                      </a:r>
                    </a:p>
                  </a:txBody>
                  <a:tcPr marL="45720" marR="45720" marT="18288" marB="18288" anchor="t"/>
                </a:tc>
                <a:tc>
                  <a:txBody>
                    <a:bodyPr wrap="square"/>
                    <a:lstStyle/>
                    <a:p>
                      <a:r>
                        <a:rPr sz="900" b="0" i="0">
                          <a:solidFill>
                            <a:srgbClr val="1A1A1A"/>
                          </a:solidFill>
                          <a:latin typeface="Helvetica Neue"/>
                        </a:rPr>
                        <a:t>Cancers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461</a:t>
                      </a:r>
                    </a:p>
                  </a:txBody>
                  <a:tcPr marL="45720" marR="45720" marT="18288" marB="18288" anchor="t"/>
                </a:tc>
                <a:tc>
                  <a:txBody>
                    <a:bodyPr wrap="square"/>
                    <a:lstStyle/>
                    <a:p>
                      <a:pPr algn="r"/>
                      <a:r>
                        <a:rPr sz="900" b="0" i="0">
                          <a:solidFill>
                            <a:srgbClr val="1A1A1A"/>
                          </a:solidFill>
                          <a:latin typeface="Helvetica Neue"/>
                        </a:rPr>
                        <a:t>43.5</a:t>
                      </a:r>
                    </a:p>
                  </a:txBody>
                  <a:tcPr marL="45720" marR="45720" marT="18288" marB="18288" anchor="t"/>
                </a:tc>
                <a:tc>
                  <a:txBody>
                    <a:bodyPr wrap="square"/>
                    <a:lstStyle/>
                    <a:p>
                      <a:r>
                        <a:rPr sz="900" b="0" i="0">
                          <a:solidFill>
                            <a:srgbClr val="1A1A1A"/>
                          </a:solidFill>
                          <a:latin typeface="Helvetica Neue"/>
                        </a:rPr>
                        <a:t>A generalist vision–language foundation model for diverse biomedical tasks</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402</a:t>
                      </a:r>
                    </a:p>
                  </a:txBody>
                  <a:tcPr marL="45720" marR="45720" marT="18288" marB="18288" anchor="t"/>
                </a:tc>
                <a:tc>
                  <a:txBody>
                    <a:bodyPr wrap="square"/>
                    <a:lstStyle/>
                    <a:p>
                      <a:pPr algn="r"/>
                      <a:r>
                        <a:rPr sz="900" b="0" i="0">
                          <a:solidFill>
                            <a:srgbClr val="1A1A1A"/>
                          </a:solidFill>
                          <a:latin typeface="Helvetica Neue"/>
                        </a:rPr>
                        <a:t>43.3</a:t>
                      </a:r>
                    </a:p>
                  </a:txBody>
                  <a:tcPr marL="45720" marR="45720" marT="18288" marB="18288" anchor="t"/>
                </a:tc>
                <a:tc>
                  <a:txBody>
                    <a:bodyPr wrap="square"/>
                    <a:lstStyle/>
                    <a:p>
                      <a:r>
                        <a:rPr sz="900" b="0" i="0">
                          <a:solidFill>
                            <a:srgbClr val="1A1A1A"/>
                          </a:solidFill>
                          <a:latin typeface="Helvetica Neue"/>
                        </a:rPr>
                        <a:t>SAM-Adapter: Adapting Segment Anything in Underperformed Scenes</a:t>
                      </a:r>
                    </a:p>
                  </a:txBody>
                  <a:tcPr marL="45720" marR="45720" marT="18288" marB="18288" anchor="t"/>
                </a:tc>
                <a:tc>
                  <a:txBody>
                    <a:bodyPr wrap="square"/>
                    <a:lstStyle/>
                    <a:p>
                      <a:r>
                        <a:rPr sz="900" b="0" i="0">
                          <a:solidFill>
                            <a:srgbClr val="1A1A1A"/>
                          </a:solidFill>
                          <a:latin typeface="Helvetica Neue"/>
                        </a:rPr>
                        <a:t>2023 IEEE/CVF International Conference on Computer Vision Workshops (ICCVW)</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2024</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483864"/>
        </p:xfrm>
        <a:graphic>
          <a:graphicData uri="http://schemas.openxmlformats.org/drawingml/2006/table">
            <a:tbl>
              <a:tblPr firstRow="1" bandRow="1">
                <a:tableStyleId>{5C22544A-7EE6-4342-B048-85BDC9FD1C3A}</a:tableStyleId>
              </a:tblPr>
              <a:tblGrid>
                <a:gridCol w="480060"/>
                <a:gridCol w="448056"/>
                <a:gridCol w="4797041"/>
                <a:gridCol w="2116341"/>
                <a:gridCol w="3527236"/>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195</a:t>
                      </a:r>
                    </a:p>
                  </a:txBody>
                  <a:tcPr marL="45720" marR="45720" marT="18288" marB="18288" anchor="t"/>
                </a:tc>
                <a:tc>
                  <a:txBody>
                    <a:bodyPr wrap="square"/>
                    <a:lstStyle/>
                    <a:p>
                      <a:pPr algn="r"/>
                      <a:r>
                        <a:rPr sz="900" b="0" i="0">
                          <a:solidFill>
                            <a:srgbClr val="1A1A1A"/>
                          </a:solidFill>
                          <a:latin typeface="Helvetica Neue"/>
                        </a:rPr>
                        <a:t>348.7</a:t>
                      </a:r>
                    </a:p>
                  </a:txBody>
                  <a:tcPr marL="45720" marR="45720" marT="18288" marB="18288" anchor="t"/>
                </a:tc>
                <a:tc>
                  <a:txBody>
                    <a:bodyPr wrap="square"/>
                    <a:lstStyle/>
                    <a:p>
                      <a:r>
                        <a:rPr sz="900" b="0" i="0">
                          <a:solidFill>
                            <a:srgbClr val="1A1A1A"/>
                          </a:solidFill>
                          <a:latin typeface="Helvetica Neue"/>
                        </a:rPr>
                        <a:t>SAM2-UNet: segment anything 2 makes strong encoder for natural and medical image segmentation</a:t>
                      </a:r>
                    </a:p>
                  </a:txBody>
                  <a:tcPr marL="45720" marR="45720" marT="18288" marB="18288" anchor="t"/>
                </a:tc>
                <a:tc>
                  <a:txBody>
                    <a:bodyPr wrap="square"/>
                    <a:lstStyle/>
                    <a:p>
                      <a:r>
                        <a:rPr sz="900" b="0" i="0">
                          <a:solidFill>
                            <a:srgbClr val="1A1A1A"/>
                          </a:solidFill>
                          <a:latin typeface="Helvetica Neue"/>
                        </a:rPr>
                        <a:t>Visual Intelligence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466344">
                <a:tc>
                  <a:txBody>
                    <a:bodyPr wrap="square"/>
                    <a:lstStyle/>
                    <a:p>
                      <a:pPr algn="r"/>
                      <a:r>
                        <a:rPr sz="900" b="0" i="0">
                          <a:solidFill>
                            <a:srgbClr val="1A1A1A"/>
                          </a:solidFill>
                          <a:latin typeface="Helvetica Neue"/>
                        </a:rPr>
                        <a:t>1,121</a:t>
                      </a:r>
                    </a:p>
                  </a:txBody>
                  <a:tcPr marL="45720" marR="45720" marT="18288" marB="18288" anchor="t"/>
                </a:tc>
                <a:tc>
                  <a:txBody>
                    <a:bodyPr wrap="square"/>
                    <a:lstStyle/>
                    <a:p>
                      <a:pPr algn="r"/>
                      <a:r>
                        <a:rPr sz="900" b="0" i="0">
                          <a:solidFill>
                            <a:srgbClr val="1A1A1A"/>
                          </a:solidFill>
                          <a:latin typeface="Helvetica Neue"/>
                        </a:rPr>
                        <a:t>224.4</a:t>
                      </a:r>
                    </a:p>
                  </a:txBody>
                  <a:tcPr marL="45720" marR="45720" marT="18288" marB="18288" anchor="t"/>
                </a:tc>
                <a:tc>
                  <a:txBody>
                    <a:bodyPr wrap="square"/>
                    <a:lstStyle/>
                    <a:p>
                      <a:r>
                        <a:rPr sz="900" b="0" i="0">
                          <a:solidFill>
                            <a:srgbClr val="1A1A1A"/>
                          </a:solidFill>
                          <a:latin typeface="Helvetica Neue"/>
                        </a:rPr>
                        <a:t>VM-UNet: Vision Mamba UNet for Medical Image Segmentation</a:t>
                      </a:r>
                    </a:p>
                  </a:txBody>
                  <a:tcPr marL="45720" marR="45720" marT="18288" marB="18288" anchor="t"/>
                </a:tc>
                <a:tc>
                  <a:txBody>
                    <a:bodyPr wrap="square"/>
                    <a:lstStyle/>
                    <a:p>
                      <a:r>
                        <a:rPr sz="900" b="0" i="0">
                          <a:solidFill>
                            <a:srgbClr val="1A1A1A"/>
                          </a:solidFill>
                          <a:latin typeface="Helvetica Neue"/>
                        </a:rPr>
                        <a:t>ACM Transactions on Multimedia Computing, Communications, and Applications (TOMCCAP)</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 state-space (Mamba) backbone beat convolutions and transformers for medical segmentation?</a:t>
                      </a:r>
                    </a:p>
                  </a:txBody>
                  <a:tcPr marL="45720" marR="45720" marT="18288" marB="18288" anchor="t"/>
                </a:tc>
              </a:tr>
              <a:tr h="329184">
                <a:tc>
                  <a:txBody>
                    <a:bodyPr wrap="square"/>
                    <a:lstStyle/>
                    <a:p>
                      <a:pPr algn="r"/>
                      <a:r>
                        <a:rPr sz="900" b="0" i="0">
                          <a:solidFill>
                            <a:srgbClr val="1A1A1A"/>
                          </a:solidFill>
                          <a:latin typeface="Helvetica Neue"/>
                        </a:rPr>
                        <a:t>259</a:t>
                      </a:r>
                    </a:p>
                  </a:txBody>
                  <a:tcPr marL="45720" marR="45720" marT="18288" marB="18288" anchor="t"/>
                </a:tc>
                <a:tc>
                  <a:txBody>
                    <a:bodyPr wrap="square"/>
                    <a:lstStyle/>
                    <a:p>
                      <a:pPr algn="r"/>
                      <a:r>
                        <a:rPr sz="900" b="0" i="0">
                          <a:solidFill>
                            <a:srgbClr val="1A1A1A"/>
                          </a:solidFill>
                          <a:latin typeface="Helvetica Neue"/>
                        </a:rPr>
                        <a:t>173.1</a:t>
                      </a:r>
                    </a:p>
                  </a:txBody>
                  <a:tcPr marL="45720" marR="45720" marT="18288" marB="18288" anchor="t"/>
                </a:tc>
                <a:tc>
                  <a:txBody>
                    <a:bodyPr wrap="square"/>
                    <a:lstStyle/>
                    <a:p>
                      <a:r>
                        <a:rPr sz="900" b="0" i="0">
                          <a:solidFill>
                            <a:srgbClr val="1A1A1A"/>
                          </a:solidFill>
                          <a:latin typeface="Helvetica Neue"/>
                        </a:rPr>
                        <a:t>Generalist foundation models from a multimodal dataset for 3D computed tomography</a:t>
                      </a:r>
                    </a:p>
                  </a:txBody>
                  <a:tcPr marL="45720" marR="45720" marT="18288" marB="18288" anchor="t"/>
                </a:tc>
                <a:tc>
                  <a:txBody>
                    <a:bodyPr wrap="square"/>
                    <a:lstStyle/>
                    <a:p>
                      <a:r>
                        <a:rPr sz="900" b="0" i="0">
                          <a:solidFill>
                            <a:srgbClr val="1A1A1A"/>
                          </a:solidFill>
                          <a:latin typeface="Helvetica Neue"/>
                        </a:rPr>
                        <a:t>Nature Biomedical Engineering</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329184">
                <a:tc>
                  <a:txBody>
                    <a:bodyPr wrap="square"/>
                    <a:lstStyle/>
                    <a:p>
                      <a:pPr algn="r"/>
                      <a:r>
                        <a:rPr sz="900" b="0" i="0">
                          <a:solidFill>
                            <a:srgbClr val="1A1A1A"/>
                          </a:solidFill>
                          <a:latin typeface="Helvetica Neue"/>
                        </a:rPr>
                        <a:t>188</a:t>
                      </a:r>
                    </a:p>
                  </a:txBody>
                  <a:tcPr marL="45720" marR="45720" marT="18288" marB="18288" anchor="t"/>
                </a:tc>
                <a:tc>
                  <a:txBody>
                    <a:bodyPr wrap="square"/>
                    <a:lstStyle/>
                    <a:p>
                      <a:pPr algn="r"/>
                      <a:r>
                        <a:rPr sz="900" b="0" i="0">
                          <a:solidFill>
                            <a:srgbClr val="1A1A1A"/>
                          </a:solidFill>
                          <a:latin typeface="Helvetica Neue"/>
                        </a:rPr>
                        <a:t>126.6</a:t>
                      </a:r>
                    </a:p>
                  </a:txBody>
                  <a:tcPr marL="45720" marR="45720" marT="18288" marB="18288" anchor="t"/>
                </a:tc>
                <a:tc>
                  <a:txBody>
                    <a:bodyPr wrap="square"/>
                    <a:lstStyle/>
                    <a:p>
                      <a:r>
                        <a:rPr sz="900" b="0" i="0">
                          <a:solidFill>
                            <a:srgbClr val="1A1A1A"/>
                          </a:solidFill>
                          <a:latin typeface="Helvetica Neue"/>
                        </a:rPr>
                        <a:t>Rolling-Unet: Revitalizing MLP's Ability to Efficiently Extract Long-Distance Dependencies for Medical Image Segmentation</a:t>
                      </a:r>
                    </a:p>
                  </a:txBody>
                  <a:tcPr marL="45720" marR="45720" marT="18288" marB="18288" anchor="t"/>
                </a:tc>
                <a:tc>
                  <a:txBody>
                    <a:bodyPr wrap="square"/>
                    <a:lstStyle/>
                    <a:p>
                      <a:r>
                        <a:rPr sz="900" b="0" i="0">
                          <a:solidFill>
                            <a:srgbClr val="1A1A1A"/>
                          </a:solidFill>
                          <a:latin typeface="Helvetica Neue"/>
                        </a:rPr>
                        <a:t>AAAI Conference on Artificial Intelligence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176</a:t>
                      </a:r>
                    </a:p>
                  </a:txBody>
                  <a:tcPr marL="45720" marR="45720" marT="18288" marB="18288" anchor="t"/>
                </a:tc>
                <a:tc>
                  <a:txBody>
                    <a:bodyPr wrap="square"/>
                    <a:lstStyle/>
                    <a:p>
                      <a:pPr algn="r"/>
                      <a:r>
                        <a:rPr sz="900" b="0" i="0">
                          <a:solidFill>
                            <a:srgbClr val="1A1A1A"/>
                          </a:solidFill>
                          <a:latin typeface="Helvetica Neue"/>
                        </a:rPr>
                        <a:t>118.9</a:t>
                      </a:r>
                    </a:p>
                  </a:txBody>
                  <a:tcPr marL="45720" marR="45720" marT="18288" marB="18288" anchor="t"/>
                </a:tc>
                <a:tc>
                  <a:txBody>
                    <a:bodyPr wrap="square"/>
                    <a:lstStyle/>
                    <a:p>
                      <a:r>
                        <a:rPr sz="900" b="0" i="0">
                          <a:solidFill>
                            <a:srgbClr val="1A1A1A"/>
                          </a:solidFill>
                          <a:latin typeface="Helvetica Neue"/>
                        </a:rPr>
                        <a:t>Merlin: A Computed Tomography Vision-Language Foundation Model and Dataset</a:t>
                      </a:r>
                    </a:p>
                  </a:txBody>
                  <a:tcPr marL="45720" marR="45720" marT="18288" marB="18288" anchor="t"/>
                </a:tc>
                <a:tc>
                  <a:txBody>
                    <a:bodyPr wrap="square"/>
                    <a:lstStyle/>
                    <a:p>
                      <a:r>
                        <a:rPr sz="900" b="0" i="0">
                          <a:solidFill>
                            <a:srgbClr val="1A1A1A"/>
                          </a:solidFill>
                          <a:latin typeface="Helvetica Neue"/>
                        </a:rPr>
                        <a:t>Nature</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192024">
                <a:tc>
                  <a:txBody>
                    <a:bodyPr wrap="square"/>
                    <a:lstStyle/>
                    <a:p>
                      <a:pPr algn="r"/>
                      <a:r>
                        <a:rPr sz="900" b="0" i="0">
                          <a:solidFill>
                            <a:srgbClr val="1A1A1A"/>
                          </a:solidFill>
                          <a:latin typeface="Helvetica Neue"/>
                        </a:rPr>
                        <a:t>248</a:t>
                      </a:r>
                    </a:p>
                  </a:txBody>
                  <a:tcPr marL="45720" marR="45720" marT="18288" marB="18288" anchor="t"/>
                </a:tc>
                <a:tc>
                  <a:txBody>
                    <a:bodyPr wrap="square"/>
                    <a:lstStyle/>
                    <a:p>
                      <a:pPr algn="r"/>
                      <a:r>
                        <a:rPr sz="900" b="0" i="0">
                          <a:solidFill>
                            <a:srgbClr val="1A1A1A"/>
                          </a:solidFill>
                          <a:latin typeface="Helvetica Neue"/>
                        </a:rPr>
                        <a:t>79.7</a:t>
                      </a:r>
                    </a:p>
                  </a:txBody>
                  <a:tcPr marL="45720" marR="45720" marT="18288" marB="18288" anchor="t"/>
                </a:tc>
                <a:tc>
                  <a:txBody>
                    <a:bodyPr wrap="square"/>
                    <a:lstStyle/>
                    <a:p>
                      <a:r>
                        <a:rPr sz="900" b="0" i="0">
                          <a:solidFill>
                            <a:srgbClr val="1A1A1A"/>
                          </a:solidFill>
                          <a:latin typeface="Helvetica Neue"/>
                        </a:rPr>
                        <a:t>H-vmunet: High-order Vision Mamba UNet for Medical Image Segmentation</a:t>
                      </a:r>
                    </a:p>
                  </a:txBody>
                  <a:tcPr marL="45720" marR="45720" marT="18288" marB="18288" anchor="t"/>
                </a:tc>
                <a:tc>
                  <a:txBody>
                    <a:bodyPr wrap="square"/>
                    <a:lstStyle/>
                    <a:p>
                      <a:r>
                        <a:rPr sz="900" b="0" i="0">
                          <a:solidFill>
                            <a:srgbClr val="1A1A1A"/>
                          </a:solidFill>
                          <a:latin typeface="Helvetica Neue"/>
                        </a:rPr>
                        <a:t>Neurocomputing</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297</a:t>
                      </a:r>
                    </a:p>
                  </a:txBody>
                  <a:tcPr marL="45720" marR="45720" marT="18288" marB="18288" anchor="t"/>
                </a:tc>
                <a:tc>
                  <a:txBody>
                    <a:bodyPr wrap="square"/>
                    <a:lstStyle/>
                    <a:p>
                      <a:pPr algn="r"/>
                      <a:r>
                        <a:rPr sz="900" b="0" i="0">
                          <a:solidFill>
                            <a:srgbClr val="1A1A1A"/>
                          </a:solidFill>
                          <a:latin typeface="Helvetica Neue"/>
                        </a:rPr>
                        <a:t>73.4</a:t>
                      </a:r>
                    </a:p>
                  </a:txBody>
                  <a:tcPr marL="45720" marR="45720" marT="18288" marB="18288" anchor="t"/>
                </a:tc>
                <a:tc>
                  <a:txBody>
                    <a:bodyPr wrap="square"/>
                    <a:lstStyle/>
                    <a:p>
                      <a:r>
                        <a:rPr sz="900" b="0" i="0">
                          <a:solidFill>
                            <a:srgbClr val="1A1A1A"/>
                          </a:solidFill>
                          <a:latin typeface="Helvetica Neue"/>
                        </a:rPr>
                        <a:t>METhodological RadiomICs Score (METRICS): a quality scoring tool for radiomics research endorsed by EuSoMII</a:t>
                      </a:r>
                    </a:p>
                  </a:txBody>
                  <a:tcPr marL="45720" marR="45720" marT="18288" marB="18288" anchor="t"/>
                </a:tc>
                <a:tc>
                  <a:txBody>
                    <a:bodyPr wrap="square"/>
                    <a:lstStyle/>
                    <a:p>
                      <a:r>
                        <a:rPr sz="900" b="0" i="0">
                          <a:solidFill>
                            <a:srgbClr val="1A1A1A"/>
                          </a:solidFill>
                          <a:latin typeface="Helvetica Neue"/>
                        </a:rPr>
                        <a:t>Insights into Imaging</a:t>
                      </a:r>
                    </a:p>
                  </a:txBody>
                  <a:tcPr marL="45720" marR="45720" marT="18288" marB="18288" anchor="t"/>
                </a:tc>
                <a:tc>
                  <a:txBody>
                    <a:bodyPr wrap="square"/>
                    <a:lstStyle/>
                    <a:p>
                      <a:r>
                        <a:rPr sz="900" b="0" i="1">
                          <a:solidFill>
                            <a:srgbClr val="1A1A1A"/>
                          </a:solidFill>
                          <a:latin typeface="Helvetica Neue"/>
                        </a:rPr>
                        <a:t>radiomics</a:t>
                      </a:r>
                      <a:r>
                        <a:rPr sz="900" b="0" i="0">
                          <a:solidFill>
                            <a:srgbClr val="1A1A1A"/>
                          </a:solidFill>
                          <a:latin typeface="Helvetica Neue"/>
                        </a:rPr>
                        <a:t>: How should the quality of a radiomics study be scored? (METRICS checklist)</a:t>
                      </a:r>
                    </a:p>
                  </a:txBody>
                  <a:tcPr marL="45720" marR="45720" marT="18288" marB="18288" anchor="t"/>
                </a:tc>
              </a:tr>
              <a:tr h="329184">
                <a:tc>
                  <a:txBody>
                    <a:bodyPr wrap="square"/>
                    <a:lstStyle/>
                    <a:p>
                      <a:pPr algn="r"/>
                      <a:r>
                        <a:rPr sz="900" b="0" i="0">
                          <a:solidFill>
                            <a:srgbClr val="1A1A1A"/>
                          </a:solidFill>
                          <a:latin typeface="Helvetica Neue"/>
                        </a:rPr>
                        <a:t>200</a:t>
                      </a:r>
                    </a:p>
                  </a:txBody>
                  <a:tcPr marL="45720" marR="45720" marT="18288" marB="18288" anchor="t"/>
                </a:tc>
                <a:tc>
                  <a:txBody>
                    <a:bodyPr wrap="square"/>
                    <a:lstStyle/>
                    <a:p>
                      <a:pPr algn="r"/>
                      <a:r>
                        <a:rPr sz="900" b="0" i="0">
                          <a:solidFill>
                            <a:srgbClr val="1A1A1A"/>
                          </a:solidFill>
                          <a:latin typeface="Helvetica Neue"/>
                        </a:rPr>
                        <a:t>47.4</a:t>
                      </a:r>
                    </a:p>
                  </a:txBody>
                  <a:tcPr marL="45720" marR="45720" marT="18288" marB="18288" anchor="t"/>
                </a:tc>
                <a:tc>
                  <a:txBody>
                    <a:bodyPr wrap="square"/>
                    <a:lstStyle/>
                    <a:p>
                      <a:r>
                        <a:rPr sz="900" b="0" i="0">
                          <a:solidFill>
                            <a:srgbClr val="1A1A1A"/>
                          </a:solidFill>
                          <a:latin typeface="Helvetica Neue"/>
                        </a:rPr>
                        <a:t>CSWin-UNet: Transformer UNet with Cross-Shaped Windows for Medical Image Segmentation</a:t>
                      </a:r>
                    </a:p>
                  </a:txBody>
                  <a:tcPr marL="45720" marR="45720" marT="18288" marB="18288" anchor="t"/>
                </a:tc>
                <a:tc>
                  <a:txBody>
                    <a:bodyPr wrap="square"/>
                    <a:lstStyle/>
                    <a:p>
                      <a:r>
                        <a:rPr sz="900" b="0" i="0">
                          <a:solidFill>
                            <a:srgbClr val="1A1A1A"/>
                          </a:solidFill>
                          <a:latin typeface="Helvetica Neue"/>
                        </a:rPr>
                        <a:t>Information Fusion</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222</a:t>
                      </a:r>
                    </a:p>
                  </a:txBody>
                  <a:tcPr marL="45720" marR="45720" marT="18288" marB="18288" anchor="t"/>
                </a:tc>
                <a:tc>
                  <a:txBody>
                    <a:bodyPr wrap="square"/>
                    <a:lstStyle/>
                    <a:p>
                      <a:pPr algn="r"/>
                      <a:r>
                        <a:rPr sz="900" b="0" i="0">
                          <a:solidFill>
                            <a:srgbClr val="1A1A1A"/>
                          </a:solidFill>
                          <a:latin typeface="Helvetica Neue"/>
                        </a:rPr>
                        <a:t>40.7</a:t>
                      </a:r>
                    </a:p>
                  </a:txBody>
                  <a:tcPr marL="45720" marR="45720" marT="18288" marB="18288" anchor="t"/>
                </a:tc>
                <a:tc>
                  <a:txBody>
                    <a:bodyPr wrap="square"/>
                    <a:lstStyle/>
                    <a:p>
                      <a:r>
                        <a:rPr sz="900" b="0" i="0">
                          <a:solidFill>
                            <a:srgbClr val="1A1A1A"/>
                          </a:solidFill>
                          <a:latin typeface="Helvetica Neue"/>
                        </a:rPr>
                        <a:t>Collaboration between clinicians and vision–language models in radiology report generation</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329184">
                <a:tc>
                  <a:txBody>
                    <a:bodyPr wrap="square"/>
                    <a:lstStyle/>
                    <a:p>
                      <a:pPr algn="r"/>
                      <a:r>
                        <a:rPr sz="900" b="0" i="0">
                          <a:solidFill>
                            <a:srgbClr val="1A1A1A"/>
                          </a:solidFill>
                          <a:latin typeface="Helvetica Neue"/>
                        </a:rPr>
                        <a:t>245</a:t>
                      </a:r>
                    </a:p>
                  </a:txBody>
                  <a:tcPr marL="45720" marR="45720" marT="18288" marB="18288" anchor="t"/>
                </a:tc>
                <a:tc>
                  <a:txBody>
                    <a:bodyPr wrap="square"/>
                    <a:lstStyle/>
                    <a:p>
                      <a:pPr algn="r"/>
                      <a:r>
                        <a:rPr sz="900" b="0" i="0">
                          <a:solidFill>
                            <a:srgbClr val="1A1A1A"/>
                          </a:solidFill>
                          <a:latin typeface="Helvetica Neue"/>
                        </a:rPr>
                        <a:t>36.9</a:t>
                      </a:r>
                    </a:p>
                  </a:txBody>
                  <a:tcPr marL="45720" marR="45720" marT="18288" marB="18288" anchor="t"/>
                </a:tc>
                <a:tc>
                  <a:txBody>
                    <a:bodyPr wrap="square"/>
                    <a:lstStyle/>
                    <a:p>
                      <a:r>
                        <a:rPr sz="900" b="0" i="0">
                          <a:solidFill>
                            <a:srgbClr val="1A1A1A"/>
                          </a:solidFill>
                          <a:latin typeface="Helvetica Neue"/>
                        </a:rPr>
                        <a:t>Employing deep learning and transfer learning for accurate brain tumor detection</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2025</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4718301"/>
        </p:xfrm>
        <a:graphic>
          <a:graphicData uri="http://schemas.openxmlformats.org/drawingml/2006/table">
            <a:tbl>
              <a:tblPr firstRow="1" bandRow="1">
                <a:tableStyleId>{5C22544A-7EE6-4342-B048-85BDC9FD1C3A}</a:tableStyleId>
              </a:tblPr>
              <a:tblGrid>
                <a:gridCol w="480060"/>
                <a:gridCol w="448056"/>
                <a:gridCol w="4792244"/>
                <a:gridCol w="2119445"/>
                <a:gridCol w="3528929"/>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603503">
                <a:tc>
                  <a:txBody>
                    <a:bodyPr wrap="square"/>
                    <a:lstStyle/>
                    <a:p>
                      <a:pPr algn="r"/>
                      <a:r>
                        <a:rPr sz="900" b="0" i="0">
                          <a:solidFill>
                            <a:srgbClr val="1A1A1A"/>
                          </a:solidFill>
                          <a:latin typeface="Helvetica Neue"/>
                        </a:rPr>
                        <a:t>103</a:t>
                      </a:r>
                    </a:p>
                  </a:txBody>
                  <a:tcPr marL="45720" marR="45720" marT="18288" marB="18288" anchor="t"/>
                </a:tc>
                <a:tc>
                  <a:txBody>
                    <a:bodyPr wrap="square"/>
                    <a:lstStyle/>
                    <a:p>
                      <a:pPr algn="r"/>
                      <a:r>
                        <a:rPr sz="900" b="0" i="0">
                          <a:solidFill>
                            <a:srgbClr val="1A1A1A"/>
                          </a:solidFill>
                          <a:latin typeface="Helvetica Neue"/>
                        </a:rPr>
                        <a:t>190.6</a:t>
                      </a:r>
                    </a:p>
                  </a:txBody>
                  <a:tcPr marL="45720" marR="45720" marT="18288" marB="18288" anchor="t"/>
                </a:tc>
                <a:tc>
                  <a:txBody>
                    <a:bodyPr wrap="square"/>
                    <a:lstStyle/>
                    <a:p>
                      <a:r>
                        <a:rPr sz="900" b="0" i="0">
                          <a:solidFill>
                            <a:srgbClr val="1A1A1A"/>
                          </a:solidFill>
                          <a:latin typeface="Helvetica Neue"/>
                        </a:rPr>
                        <a:t>Detection of Tuberculosis from Chest X-ray using Deep Transfer Learning</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detection</a:t>
                      </a:r>
                    </a:p>
                  </a:txBody>
                  <a:tcPr marL="45720" marR="45720" marT="18288" marB="18288" anchor="t"/>
                </a:tc>
              </a:tr>
              <a:tr h="603503">
                <a:tc>
                  <a:txBody>
                    <a:bodyPr wrap="square"/>
                    <a:lstStyle/>
                    <a:p>
                      <a:pPr algn="r"/>
                      <a:r>
                        <a:rPr sz="900" b="0" i="0">
                          <a:solidFill>
                            <a:srgbClr val="1A1A1A"/>
                          </a:solidFill>
                          <a:latin typeface="Helvetica Neue"/>
                        </a:rPr>
                        <a:t>102</a:t>
                      </a:r>
                    </a:p>
                  </a:txBody>
                  <a:tcPr marL="45720" marR="45720" marT="18288" marB="18288" anchor="t"/>
                </a:tc>
                <a:tc>
                  <a:txBody>
                    <a:bodyPr wrap="square"/>
                    <a:lstStyle/>
                    <a:p>
                      <a:pPr algn="r"/>
                      <a:r>
                        <a:rPr sz="900" b="0" i="0">
                          <a:solidFill>
                            <a:srgbClr val="1A1A1A"/>
                          </a:solidFill>
                          <a:latin typeface="Helvetica Neue"/>
                        </a:rPr>
                        <a:t>185.3</a:t>
                      </a:r>
                    </a:p>
                  </a:txBody>
                  <a:tcPr marL="45720" marR="45720" marT="18288" marB="18288" anchor="t"/>
                </a:tc>
                <a:tc>
                  <a:txBody>
                    <a:bodyPr wrap="square"/>
                    <a:lstStyle/>
                    <a:p>
                      <a:r>
                        <a:rPr sz="900" b="0" i="0">
                          <a:solidFill>
                            <a:srgbClr val="1A1A1A"/>
                          </a:solidFill>
                          <a:latin typeface="Helvetica Neue"/>
                        </a:rPr>
                        <a:t>Enhancing Chest X-Ray Image Analysis for Pneumonia, Normal, and COVID Classification Using Deep Learning</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466344">
                <a:tc>
                  <a:txBody>
                    <a:bodyPr wrap="square"/>
                    <a:lstStyle/>
                    <a:p>
                      <a:pPr algn="r"/>
                      <a:r>
                        <a:rPr sz="900" b="0" i="0">
                          <a:solidFill>
                            <a:srgbClr val="1A1A1A"/>
                          </a:solidFill>
                          <a:latin typeface="Helvetica Neue"/>
                        </a:rPr>
                        <a:t>173</a:t>
                      </a:r>
                    </a:p>
                  </a:txBody>
                  <a:tcPr marL="45720" marR="45720" marT="18288" marB="18288" anchor="t"/>
                </a:tc>
                <a:tc>
                  <a:txBody>
                    <a:bodyPr wrap="square"/>
                    <a:lstStyle/>
                    <a:p>
                      <a:pPr algn="r"/>
                      <a:r>
                        <a:rPr sz="900" b="0" i="0">
                          <a:solidFill>
                            <a:srgbClr val="1A1A1A"/>
                          </a:solidFill>
                          <a:latin typeface="Helvetica Neue"/>
                        </a:rPr>
                        <a:t>163.2</a:t>
                      </a:r>
                    </a:p>
                  </a:txBody>
                  <a:tcPr marL="45720" marR="45720" marT="18288" marB="18288" anchor="t"/>
                </a:tc>
                <a:tc>
                  <a:txBody>
                    <a:bodyPr wrap="square"/>
                    <a:lstStyle/>
                    <a:p>
                      <a:r>
                        <a:rPr sz="900" b="0" i="0">
                          <a:solidFill>
                            <a:srgbClr val="1A1A1A"/>
                          </a:solidFill>
                          <a:latin typeface="Helvetica Neue"/>
                        </a:rPr>
                        <a:t>Multi-model assurance analysis showing large language models are highly vulnerable to adversarial hallucination attacks during clinical decision support</a:t>
                      </a:r>
                    </a:p>
                  </a:txBody>
                  <a:tcPr marL="45720" marR="45720" marT="18288" marB="18288" anchor="t"/>
                </a:tc>
                <a:tc>
                  <a:txBody>
                    <a:bodyPr wrap="square"/>
                    <a:lstStyle/>
                    <a:p>
                      <a:r>
                        <a:rPr sz="900" b="0" i="0">
                          <a:solidFill>
                            <a:srgbClr val="1A1A1A"/>
                          </a:solidFill>
                          <a:latin typeface="Helvetica Neue"/>
                        </a:rPr>
                        <a:t>Communications Medicine</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603503">
                <a:tc>
                  <a:txBody>
                    <a:bodyPr wrap="square"/>
                    <a:lstStyle/>
                    <a:p>
                      <a:pPr algn="r"/>
                      <a:r>
                        <a:rPr sz="900" b="0" i="0">
                          <a:solidFill>
                            <a:srgbClr val="1A1A1A"/>
                          </a:solidFill>
                          <a:latin typeface="Helvetica Neue"/>
                        </a:rPr>
                        <a:t>100</a:t>
                      </a:r>
                    </a:p>
                  </a:txBody>
                  <a:tcPr marL="45720" marR="45720" marT="18288" marB="18288" anchor="t"/>
                </a:tc>
                <a:tc>
                  <a:txBody>
                    <a:bodyPr wrap="square"/>
                    <a:lstStyle/>
                    <a:p>
                      <a:pPr algn="r"/>
                      <a:r>
                        <a:rPr sz="900" b="0" i="0">
                          <a:solidFill>
                            <a:srgbClr val="1A1A1A"/>
                          </a:solidFill>
                          <a:latin typeface="Helvetica Neue"/>
                        </a:rPr>
                        <a:t>121.8</a:t>
                      </a:r>
                    </a:p>
                  </a:txBody>
                  <a:tcPr marL="45720" marR="45720" marT="18288" marB="18288" anchor="t"/>
                </a:tc>
                <a:tc>
                  <a:txBody>
                    <a:bodyPr wrap="square"/>
                    <a:lstStyle/>
                    <a:p>
                      <a:r>
                        <a:rPr sz="900" b="0" i="0">
                          <a:solidFill>
                            <a:srgbClr val="1A1A1A"/>
                          </a:solidFill>
                          <a:latin typeface="Helvetica Neue"/>
                        </a:rPr>
                        <a:t>Breast Cancer Detection from Mammogram with Deep Features Fusion</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466344">
                <a:tc>
                  <a:txBody>
                    <a:bodyPr wrap="square"/>
                    <a:lstStyle/>
                    <a:p>
                      <a:pPr algn="r"/>
                      <a:r>
                        <a:rPr sz="900" b="0" i="0">
                          <a:solidFill>
                            <a:srgbClr val="1A1A1A"/>
                          </a:solidFill>
                          <a:latin typeface="Helvetica Neue"/>
                        </a:rPr>
                        <a:t>338</a:t>
                      </a:r>
                    </a:p>
                  </a:txBody>
                  <a:tcPr marL="45720" marR="45720" marT="18288" marB="18288" anchor="t"/>
                </a:tc>
                <a:tc>
                  <a:txBody>
                    <a:bodyPr wrap="square"/>
                    <a:lstStyle/>
                    <a:p>
                      <a:pPr algn="r"/>
                      <a:r>
                        <a:rPr sz="900" b="0" i="0">
                          <a:solidFill>
                            <a:srgbClr val="1A1A1A"/>
                          </a:solidFill>
                          <a:latin typeface="Helvetica Neue"/>
                        </a:rPr>
                        <a:t>106.1</a:t>
                      </a:r>
                    </a:p>
                  </a:txBody>
                  <a:tcPr marL="45720" marR="45720" marT="18288" marB="18288" anchor="t"/>
                </a:tc>
                <a:tc>
                  <a:txBody>
                    <a:bodyPr wrap="square"/>
                    <a:lstStyle/>
                    <a:p>
                      <a:r>
                        <a:rPr sz="900" b="0" i="0">
                          <a:solidFill>
                            <a:srgbClr val="1A1A1A"/>
                          </a:solidFill>
                          <a:latin typeface="Helvetica Neue"/>
                        </a:rPr>
                        <a:t>Towards generalist foundation model for radiology by leveraging web-scale 2D&amp;3D medical data</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a radiology foundation model trained on web-scale 2D and 3D scans generalize across modalities and tasks? (RadFM)</a:t>
                      </a:r>
                    </a:p>
                  </a:txBody>
                  <a:tcPr marL="45720" marR="45720" marT="18288" marB="18288" anchor="t"/>
                </a:tc>
              </a:tr>
              <a:tr h="329184">
                <a:tc>
                  <a:txBody>
                    <a:bodyPr wrap="square"/>
                    <a:lstStyle/>
                    <a:p>
                      <a:pPr algn="r"/>
                      <a:r>
                        <a:rPr sz="900" b="0" i="0">
                          <a:solidFill>
                            <a:srgbClr val="1A1A1A"/>
                          </a:solidFill>
                          <a:latin typeface="Helvetica Neue"/>
                        </a:rPr>
                        <a:t>112</a:t>
                      </a:r>
                    </a:p>
                  </a:txBody>
                  <a:tcPr marL="45720" marR="45720" marT="18288" marB="18288" anchor="t"/>
                </a:tc>
                <a:tc>
                  <a:txBody>
                    <a:bodyPr wrap="square"/>
                    <a:lstStyle/>
                    <a:p>
                      <a:pPr algn="r"/>
                      <a:r>
                        <a:rPr sz="900" b="0" i="0">
                          <a:solidFill>
                            <a:srgbClr val="1A1A1A"/>
                          </a:solidFill>
                          <a:latin typeface="Helvetica Neue"/>
                        </a:rPr>
                        <a:t>96.1</a:t>
                      </a:r>
                    </a:p>
                  </a:txBody>
                  <a:tcPr marL="45720" marR="45720" marT="18288" marB="18288" anchor="t"/>
                </a:tc>
                <a:tc>
                  <a:txBody>
                    <a:bodyPr wrap="square"/>
                    <a:lstStyle/>
                    <a:p>
                      <a:r>
                        <a:rPr sz="900" b="0" i="0">
                          <a:solidFill>
                            <a:srgbClr val="1A1A1A"/>
                          </a:solidFill>
                          <a:latin typeface="Helvetica Neue"/>
                        </a:rPr>
                        <a:t>Advancing AI Interpretability in Medical Imaging: A Comparative Analysis of Pixel-Level Interpretability and Grad-CAM Models</a:t>
                      </a:r>
                    </a:p>
                  </a:txBody>
                  <a:tcPr marL="45720" marR="45720" marT="18288" marB="18288" anchor="t"/>
                </a:tc>
                <a:tc>
                  <a:txBody>
                    <a:bodyPr wrap="square"/>
                    <a:lstStyle/>
                    <a:p>
                      <a:r>
                        <a:rPr sz="900" b="0" i="0">
                          <a:solidFill>
                            <a:srgbClr val="1A1A1A"/>
                          </a:solidFill>
                          <a:latin typeface="Helvetica Neue"/>
                        </a:rPr>
                        <a:t>Machine Learning and Knowledge Extraction</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181</a:t>
                      </a:r>
                    </a:p>
                  </a:txBody>
                  <a:tcPr marL="45720" marR="45720" marT="18288" marB="18288" anchor="t"/>
                </a:tc>
                <a:tc>
                  <a:txBody>
                    <a:bodyPr wrap="square"/>
                    <a:lstStyle/>
                    <a:p>
                      <a:pPr algn="r"/>
                      <a:r>
                        <a:rPr sz="900" b="0" i="0">
                          <a:solidFill>
                            <a:srgbClr val="1A1A1A"/>
                          </a:solidFill>
                          <a:latin typeface="Helvetica Neue"/>
                        </a:rPr>
                        <a:t>85.3</a:t>
                      </a:r>
                    </a:p>
                  </a:txBody>
                  <a:tcPr marL="45720" marR="45720" marT="18288" marB="18288" anchor="t"/>
                </a:tc>
                <a:tc>
                  <a:txBody>
                    <a:bodyPr wrap="square"/>
                    <a:lstStyle/>
                    <a:p>
                      <a:r>
                        <a:rPr sz="900" b="0" i="0">
                          <a:solidFill>
                            <a:srgbClr val="1A1A1A"/>
                          </a:solidFill>
                          <a:latin typeface="Helvetica Neue"/>
                        </a:rPr>
                        <a:t>Development and validation of an autonomous artificial intelligence agent for clinical decision-making in oncology</a:t>
                      </a:r>
                    </a:p>
                  </a:txBody>
                  <a:tcPr marL="45720" marR="45720" marT="18288" marB="18288" anchor="t"/>
                </a:tc>
                <a:tc>
                  <a:txBody>
                    <a:bodyPr wrap="square"/>
                    <a:lstStyle/>
                    <a:p>
                      <a:r>
                        <a:rPr sz="900" b="0" i="0">
                          <a:solidFill>
                            <a:srgbClr val="1A1A1A"/>
                          </a:solidFill>
                          <a:latin typeface="Helvetica Neue"/>
                        </a:rPr>
                        <a:t>Nature Cancer</a:t>
                      </a:r>
                    </a:p>
                  </a:txBody>
                  <a:tcPr marL="45720" marR="45720" marT="18288" marB="18288" anchor="t"/>
                </a:tc>
                <a:tc>
                  <a:txBody>
                    <a:bodyPr wrap="square"/>
                    <a:lstStyle/>
                    <a:p>
                      <a:r>
                        <a:rPr sz="900" b="0" i="1">
                          <a:solidFill>
                            <a:srgbClr val="1A1A1A"/>
                          </a:solidFill>
                          <a:latin typeface="Helvetica Neue"/>
                        </a:rPr>
                        <a:t>agent / autonomous</a:t>
                      </a:r>
                      <a:r>
                        <a:rPr sz="900" b="0" i="0">
                          <a:solidFill>
                            <a:srgbClr val="1A1A1A"/>
                          </a:solidFill>
                          <a:latin typeface="Helvetica Neue"/>
                        </a:rPr>
                        <a:t>: Can an autonomous LLM agent that calls imaging and other tools support oncology decisions? (validation study)</a:t>
                      </a:r>
                    </a:p>
                  </a:txBody>
                  <a:tcPr marL="45720" marR="45720" marT="18288" marB="18288" anchor="t"/>
                </a:tc>
              </a:tr>
              <a:tr h="329184">
                <a:tc>
                  <a:txBody>
                    <a:bodyPr wrap="square"/>
                    <a:lstStyle/>
                    <a:p>
                      <a:pPr algn="r"/>
                      <a:r>
                        <a:rPr sz="900" b="0" i="0">
                          <a:solidFill>
                            <a:srgbClr val="1A1A1A"/>
                          </a:solidFill>
                          <a:latin typeface="Helvetica Neue"/>
                        </a:rPr>
                        <a:t>154</a:t>
                      </a:r>
                    </a:p>
                  </a:txBody>
                  <a:tcPr marL="45720" marR="45720" marT="18288" marB="18288" anchor="t"/>
                </a:tc>
                <a:tc>
                  <a:txBody>
                    <a:bodyPr wrap="square"/>
                    <a:lstStyle/>
                    <a:p>
                      <a:pPr algn="r"/>
                      <a:r>
                        <a:rPr sz="900" b="0" i="0">
                          <a:solidFill>
                            <a:srgbClr val="1A1A1A"/>
                          </a:solidFill>
                          <a:latin typeface="Helvetica Neue"/>
                        </a:rPr>
                        <a:t>76.0</a:t>
                      </a:r>
                    </a:p>
                  </a:txBody>
                  <a:tcPr marL="45720" marR="45720" marT="18288" marB="18288" anchor="t"/>
                </a:tc>
                <a:tc>
                  <a:txBody>
                    <a:bodyPr wrap="square"/>
                    <a:lstStyle/>
                    <a:p>
                      <a:r>
                        <a:rPr sz="900" b="0" i="0">
                          <a:solidFill>
                            <a:srgbClr val="1A1A1A"/>
                          </a:solidFill>
                          <a:latin typeface="Helvetica Neue"/>
                        </a:rPr>
                        <a:t>Med-R1: Reinforcement Learning for Generalizable Medical Reasoning in Vision-Language Models</a:t>
                      </a:r>
                    </a:p>
                  </a:txBody>
                  <a:tcPr marL="45720" marR="45720" marT="18288" marB="18288" anchor="t"/>
                </a:tc>
                <a:tc>
                  <a:txBody>
                    <a:bodyPr wrap="square"/>
                    <a:lstStyle/>
                    <a:p>
                      <a:r>
                        <a:rPr sz="900" b="0" i="0">
                          <a:solidFill>
                            <a:srgbClr val="1A1A1A"/>
                          </a:solidFill>
                          <a:latin typeface="Helvetica Neue"/>
                        </a:rPr>
                        <a:t>IEEE Transactions on Medical Imaging</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329184">
                <a:tc>
                  <a:txBody>
                    <a:bodyPr wrap="square"/>
                    <a:lstStyle/>
                    <a:p>
                      <a:pPr algn="r"/>
                      <a:r>
                        <a:rPr sz="900" b="0" i="0">
                          <a:solidFill>
                            <a:srgbClr val="1A1A1A"/>
                          </a:solidFill>
                          <a:latin typeface="Helvetica Neue"/>
                        </a:rPr>
                        <a:t>124</a:t>
                      </a:r>
                    </a:p>
                  </a:txBody>
                  <a:tcPr marL="45720" marR="45720" marT="18288" marB="18288" anchor="t"/>
                </a:tc>
                <a:tc>
                  <a:txBody>
                    <a:bodyPr wrap="square"/>
                    <a:lstStyle/>
                    <a:p>
                      <a:pPr algn="r"/>
                      <a:r>
                        <a:rPr sz="900" b="0" i="0">
                          <a:solidFill>
                            <a:srgbClr val="1A1A1A"/>
                          </a:solidFill>
                          <a:latin typeface="Helvetica Neue"/>
                        </a:rPr>
                        <a:t>38.8</a:t>
                      </a:r>
                    </a:p>
                  </a:txBody>
                  <a:tcPr marL="45720" marR="45720" marT="18288" marB="18288" anchor="t"/>
                </a:tc>
                <a:tc>
                  <a:txBody>
                    <a:bodyPr wrap="square"/>
                    <a:lstStyle/>
                    <a:p>
                      <a:r>
                        <a:rPr sz="900" b="0" i="0">
                          <a:solidFill>
                            <a:srgbClr val="1A1A1A"/>
                          </a:solidFill>
                          <a:latin typeface="Helvetica Neue"/>
                        </a:rPr>
                        <a:t>Advanced Brain Tumor Classification in MR Images Using Transfer Learning and Pre-Trained Deep CNN Models</a:t>
                      </a:r>
                    </a:p>
                  </a:txBody>
                  <a:tcPr marL="45720" marR="45720" marT="18288" marB="18288" anchor="t"/>
                </a:tc>
                <a:tc>
                  <a:txBody>
                    <a:bodyPr wrap="square"/>
                    <a:lstStyle/>
                    <a:p>
                      <a:r>
                        <a:rPr sz="900" b="0" i="0">
                          <a:solidFill>
                            <a:srgbClr val="1A1A1A"/>
                          </a:solidFill>
                          <a:latin typeface="Helvetica Neue"/>
                        </a:rPr>
                        <a:t>Cancers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333</a:t>
                      </a:r>
                    </a:p>
                  </a:txBody>
                  <a:tcPr marL="45720" marR="45720" marT="18288" marB="18288" anchor="t"/>
                </a:tc>
                <a:tc>
                  <a:txBody>
                    <a:bodyPr wrap="square"/>
                    <a:lstStyle/>
                    <a:p>
                      <a:pPr algn="r"/>
                      <a:r>
                        <a:rPr sz="900" b="0" i="0">
                          <a:solidFill>
                            <a:srgbClr val="1A1A1A"/>
                          </a:solidFill>
                          <a:latin typeface="Helvetica Neue"/>
                        </a:rPr>
                        <a:t>0.0</a:t>
                      </a:r>
                    </a:p>
                  </a:txBody>
                  <a:tcPr marL="45720" marR="45720" marT="18288" marB="18288" anchor="t"/>
                </a:tc>
                <a:tc>
                  <a:txBody>
                    <a:bodyPr wrap="square"/>
                    <a:lstStyle/>
                    <a:p>
                      <a:r>
                        <a:rPr sz="900" b="0" i="0">
                          <a:solidFill>
                            <a:srgbClr val="1A1A1A"/>
                          </a:solidFill>
                          <a:latin typeface="Helvetica Neue"/>
                        </a:rPr>
                        <a:t>ASAM: Anatomy-Encoded Segment Anything Model for Medical Images</a:t>
                      </a:r>
                    </a:p>
                  </a:txBody>
                  <a:tcPr marL="45720" marR="45720" marT="18288" marB="18288" anchor="t"/>
                </a:tc>
                <a:tc>
                  <a:txBody>
                    <a:bodyPr wrap="square"/>
                    <a:lstStyle/>
                    <a:p>
                      <a:r>
                        <a:rPr sz="900" b="0" i="0">
                          <a:solidFill>
                            <a:srgbClr val="1A1A1A"/>
                          </a:solidFill>
                          <a:latin typeface="Helvetica Neue"/>
                        </a:rPr>
                        <a:t>IEEE International Symposium on Biomedical Imaging</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encoding anatomy into Segment Anything improve medical segmentation? (ASAM)</a:t>
                      </a:r>
                    </a:p>
                  </a:txBody>
                  <a:tcPr marL="45720" marR="45720" marT="18288" marB="18288" anchor="t"/>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2026 (year to date)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855463"/>
        </p:xfrm>
        <a:graphic>
          <a:graphicData uri="http://schemas.openxmlformats.org/drawingml/2006/table">
            <a:tbl>
              <a:tblPr firstRow="1" bandRow="1">
                <a:tableStyleId>{5C22544A-7EE6-4342-B048-85BDC9FD1C3A}</a:tableStyleId>
              </a:tblPr>
              <a:tblGrid>
                <a:gridCol w="480060"/>
                <a:gridCol w="448056"/>
                <a:gridCol w="3413279"/>
                <a:gridCol w="1505858"/>
                <a:gridCol w="1505858"/>
                <a:gridCol w="4015622"/>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59</a:t>
                      </a:r>
                    </a:p>
                  </a:txBody>
                  <a:tcPr marL="45720" marR="45720" marT="18288" marB="18288" anchor="t"/>
                </a:tc>
                <a:tc>
                  <a:txBody>
                    <a:bodyPr wrap="square"/>
                    <a:lstStyle/>
                    <a:p>
                      <a:pPr algn="r"/>
                      <a:r>
                        <a:rPr sz="900" b="0" i="0">
                          <a:solidFill>
                            <a:srgbClr val="1A1A1A"/>
                          </a:solidFill>
                          <a:latin typeface="Helvetica Neue"/>
                        </a:rPr>
                        <a:t>111.4</a:t>
                      </a:r>
                    </a:p>
                  </a:txBody>
                  <a:tcPr marL="45720" marR="45720" marT="18288" marB="18288" anchor="t"/>
                </a:tc>
                <a:tc>
                  <a:txBody>
                    <a:bodyPr wrap="square"/>
                    <a:lstStyle/>
                    <a:p>
                      <a:r>
                        <a:rPr sz="900" b="0" i="0">
                          <a:solidFill>
                            <a:srgbClr val="1A1A1A"/>
                          </a:solidFill>
                          <a:latin typeface="Helvetica Neue"/>
                        </a:rPr>
                        <a:t>A generalizable foundation model for analysis of human brain MRI</a:t>
                      </a:r>
                    </a:p>
                  </a:txBody>
                  <a:tcPr marL="45720" marR="45720" marT="18288" marB="18288" anchor="t"/>
                </a:tc>
                <a:tc>
                  <a:txBody>
                    <a:bodyPr wrap="square"/>
                    <a:lstStyle/>
                    <a:p>
                      <a:r>
                        <a:rPr sz="900" b="0" i="0">
                          <a:solidFill>
                            <a:srgbClr val="1A1A1A"/>
                          </a:solidFill>
                          <a:latin typeface="Helvetica Neue"/>
                        </a:rPr>
                        <a:t>Nature Neuroscience</a:t>
                      </a:r>
                    </a:p>
                  </a:txBody>
                  <a:tcPr marL="45720" marR="45720" marT="18288" marB="18288" anchor="t"/>
                </a:tc>
                <a:tc>
                  <a:txBody>
                    <a:bodyPr wrap="square"/>
                    <a:lstStyle/>
                    <a:p>
                      <a:r>
                        <a:rPr sz="900" b="0" i="0">
                          <a:solidFill>
                            <a:srgbClr val="1A1A1A"/>
                          </a:solidFill>
                          <a:latin typeface="Helvetica Neue"/>
                        </a:rPr>
                        <a:t>brain (multiple disorders)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one model pretrained on large unlabeled brain MRI collections be adapted to many downstream brain tasks with little labeled data?</a:t>
                      </a:r>
                    </a:p>
                  </a:txBody>
                  <a:tcPr marL="45720" marR="45720" marT="18288" marB="18288" anchor="t"/>
                </a:tc>
              </a:tr>
              <a:tr h="46634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61.4</a:t>
                      </a:r>
                    </a:p>
                  </a:txBody>
                  <a:tcPr marL="45720" marR="45720" marT="18288" marB="18288" anchor="t"/>
                </a:tc>
                <a:tc>
                  <a:txBody>
                    <a:bodyPr wrap="square"/>
                    <a:lstStyle/>
                    <a:p>
                      <a:r>
                        <a:rPr sz="900" b="0" i="0">
                          <a:solidFill>
                            <a:srgbClr val="1A1A1A"/>
                          </a:solidFill>
                          <a:latin typeface="Helvetica Neue"/>
                        </a:rPr>
                        <a:t>Explainability-Aligned Reliability-Weighted Fuzzy Ensemble for Automated Cervical Cancer Classification</a:t>
                      </a:r>
                    </a:p>
                  </a:txBody>
                  <a:tcPr marL="45720" marR="45720" marT="18288" marB="18288" anchor="t"/>
                </a:tc>
                <a:tc>
                  <a:txBody>
                    <a:bodyPr wrap="square"/>
                    <a:lstStyle/>
                    <a:p>
                      <a:r>
                        <a:rPr sz="900" b="0" i="0">
                          <a:solidFill>
                            <a:srgbClr val="1A1A1A"/>
                          </a:solidFill>
                          <a:latin typeface="Helvetica Neue"/>
                        </a:rPr>
                        <a:t>International Journal of Intelligent Systems</a:t>
                      </a:r>
                    </a:p>
                  </a:txBody>
                  <a:tcPr marL="45720" marR="45720" marT="18288" marB="18288" anchor="t"/>
                </a:tc>
                <a:tc>
                  <a:txBody>
                    <a:bodyPr wrap="square"/>
                    <a:lstStyle/>
                    <a:p>
                      <a:r>
                        <a:rPr sz="900" b="0" i="0">
                          <a:solidFill>
                            <a:srgbClr val="1A1A1A"/>
                          </a:solidFill>
                          <a:latin typeface="Helvetica Neue"/>
                        </a:rPr>
                        <a:t>cervical cancer</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reliability-weighted ensemble of CNNs classify cervical cancer images and show which image regions drove each call?</a:t>
                      </a:r>
                    </a:p>
                  </a:txBody>
                  <a:tcPr marL="45720" marR="45720" marT="18288" marB="18288" anchor="t"/>
                </a:tc>
              </a:tr>
              <a:tr h="466344">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58.8</a:t>
                      </a:r>
                    </a:p>
                  </a:txBody>
                  <a:tcPr marL="45720" marR="45720" marT="18288" marB="18288" anchor="t"/>
                </a:tc>
                <a:tc>
                  <a:txBody>
                    <a:bodyPr wrap="square"/>
                    <a:lstStyle/>
                    <a:p>
                      <a:r>
                        <a:rPr sz="900" b="0" i="0">
                          <a:solidFill>
                            <a:srgbClr val="1A1A1A"/>
                          </a:solidFill>
                          <a:latin typeface="Helvetica Neue"/>
                        </a:rPr>
                        <a:t>A hybrid deep learning framework based on VGG19 and U-Net for accurate brain tumor segmentation in MRI images</a:t>
                      </a:r>
                    </a:p>
                  </a:txBody>
                  <a:tcPr marL="45720" marR="45720" marT="18288" marB="18288" anchor="t"/>
                </a:tc>
                <a:tc>
                  <a:txBody>
                    <a:bodyPr wrap="square"/>
                    <a:lstStyle/>
                    <a:p>
                      <a:r>
                        <a:rPr sz="900" b="0" i="0">
                          <a:solidFill>
                            <a:srgbClr val="1A1A1A"/>
                          </a:solidFill>
                          <a:latin typeface="Helvetica Neue"/>
                        </a:rPr>
                        <a:t>Magnetic Resonance Letters</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pairing a pretrained VGG19 encoder with a U-Net decoder give more accurate brain tumor outlines on MRI?</a:t>
                      </a:r>
                    </a:p>
                  </a:txBody>
                  <a:tcPr marL="45720" marR="45720" marT="18288" marB="18288" anchor="t"/>
                </a:tc>
              </a:tr>
              <a:tr h="466344">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50.1</a:t>
                      </a:r>
                    </a:p>
                  </a:txBody>
                  <a:tcPr marL="45720" marR="45720" marT="18288" marB="18288" anchor="t"/>
                </a:tc>
                <a:tc>
                  <a:txBody>
                    <a:bodyPr wrap="square"/>
                    <a:lstStyle/>
                    <a:p>
                      <a:r>
                        <a:rPr sz="900" b="0" i="0">
                          <a:solidFill>
                            <a:srgbClr val="1A1A1A"/>
                          </a:solidFill>
                          <a:latin typeface="Helvetica Neue"/>
                        </a:rPr>
                        <a:t>MedVersa: A Generalist Foundation Model for Diverse Medical Imaging Tasks</a:t>
                      </a:r>
                    </a:p>
                  </a:txBody>
                  <a:tcPr marL="45720" marR="45720" marT="18288" marB="18288" anchor="t"/>
                </a:tc>
                <a:tc>
                  <a:txBody>
                    <a:bodyPr wrap="square"/>
                    <a:lstStyle/>
                    <a:p>
                      <a:r>
                        <a:rPr sz="900" b="0" i="0">
                          <a:solidFill>
                            <a:srgbClr val="1A1A1A"/>
                          </a:solidFill>
                          <a:latin typeface="Helvetica Neue"/>
                        </a:rPr>
                        <a:t>NEJM AI</a:t>
                      </a:r>
                    </a:p>
                  </a:txBody>
                  <a:tcPr marL="45720" marR="45720" marT="18288" marB="18288" anchor="t"/>
                </a:tc>
                <a:tc>
                  <a:txBody>
                    <a:bodyPr wrap="square"/>
                    <a:lstStyle/>
                    <a:p>
                      <a:r>
                        <a:rPr sz="900" b="0" i="0">
                          <a:solidFill>
                            <a:srgbClr val="1A1A1A"/>
                          </a:solidFill>
                          <a:latin typeface="Helvetica Neue"/>
                        </a:rPr>
                        <a:t>general (multiple modalities)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a single generalist model handle many imaging tasks (report drafting, detection, segmentation) across chest X-ray, CT, MRI and dermatology images?</a:t>
                      </a:r>
                    </a:p>
                  </a:txBody>
                  <a:tcPr marL="45720" marR="45720" marT="18288" marB="18288" anchor="t"/>
                </a:tc>
              </a:tr>
              <a:tr h="329184">
                <a:tc>
                  <a:txBody>
                    <a:bodyPr wrap="square"/>
                    <a:lstStyle/>
                    <a:p>
                      <a:pPr algn="r"/>
                      <a:r>
                        <a:rPr sz="900" b="0" i="0">
                          <a:solidFill>
                            <a:srgbClr val="1A1A1A"/>
                          </a:solidFill>
                          <a:latin typeface="Helvetica Neue"/>
                        </a:rPr>
                        <a:t>15</a:t>
                      </a:r>
                    </a:p>
                  </a:txBody>
                  <a:tcPr marL="45720" marR="45720" marT="18288" marB="18288" anchor="t"/>
                </a:tc>
                <a:tc>
                  <a:txBody>
                    <a:bodyPr wrap="square"/>
                    <a:lstStyle/>
                    <a:p>
                      <a:pPr algn="r"/>
                      <a:r>
                        <a:rPr sz="900" b="0" i="0">
                          <a:solidFill>
                            <a:srgbClr val="1A1A1A"/>
                          </a:solidFill>
                          <a:latin typeface="Helvetica Neue"/>
                        </a:rPr>
                        <a:t>49.5</a:t>
                      </a:r>
                    </a:p>
                  </a:txBody>
                  <a:tcPr marL="45720" marR="45720" marT="18288" marB="18288" anchor="t"/>
                </a:tc>
                <a:tc>
                  <a:txBody>
                    <a:bodyPr wrap="square"/>
                    <a:lstStyle/>
                    <a:p>
                      <a:r>
                        <a:rPr sz="900" b="0" i="0">
                          <a:solidFill>
                            <a:srgbClr val="1A1A1A"/>
                          </a:solidFill>
                          <a:latin typeface="Helvetica Neue"/>
                        </a:rPr>
                        <a:t>Explainable AI-driven MRI-based brain tumor classification: a novel deep learning approach</a:t>
                      </a:r>
                    </a:p>
                  </a:txBody>
                  <a:tcPr marL="45720" marR="45720" marT="18288" marB="18288" anchor="t"/>
                </a:tc>
                <a:tc>
                  <a:txBody>
                    <a:bodyPr wrap="square"/>
                    <a:lstStyle/>
                    <a:p>
                      <a:r>
                        <a:rPr sz="900" b="0" i="0">
                          <a:solidFill>
                            <a:srgbClr val="1A1A1A"/>
                          </a:solidFill>
                          <a:latin typeface="Helvetica Neue"/>
                        </a:rPr>
                        <a:t>Frontiers Artif. Intell.</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CNN classify brain tumor type on MRI and highlight the image regions behind each prediction?</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46.0</a:t>
                      </a:r>
                    </a:p>
                  </a:txBody>
                  <a:tcPr marL="45720" marR="45720" marT="18288" marB="18288" anchor="t"/>
                </a:tc>
                <a:tc>
                  <a:txBody>
                    <a:bodyPr wrap="square"/>
                    <a:lstStyle/>
                    <a:p>
                      <a:r>
                        <a:rPr sz="900" b="0" i="0">
                          <a:solidFill>
                            <a:srgbClr val="1A1A1A"/>
                          </a:solidFill>
                          <a:latin typeface="Helvetica Neue"/>
                        </a:rPr>
                        <a:t>A deep learning framework for breast cancer diagnosis using Swin Transformer and Dual-Attention Multi-scale Fusion Network</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breast cancer</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Swin Transformer with multi-scale attention fusion separate benign from malignant breast lesions on imaging?</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44.2</a:t>
                      </a:r>
                    </a:p>
                  </a:txBody>
                  <a:tcPr marL="45720" marR="45720" marT="18288" marB="18288" anchor="t"/>
                </a:tc>
                <a:tc>
                  <a:txBody>
                    <a:bodyPr wrap="square"/>
                    <a:lstStyle/>
                    <a:p>
                      <a:r>
                        <a:rPr sz="900" b="0" i="0">
                          <a:solidFill>
                            <a:srgbClr val="1A1A1A"/>
                          </a:solidFill>
                          <a:latin typeface="Helvetica Neue"/>
                        </a:rPr>
                        <a:t>Multi-class eye disease classification using deep learning EfficientNetB0 fusion techniques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eye disease (retinal images)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fused EfficientNet models classify several eye diseases from retinal images? (Ophthalmic, outside radiology proper)</a:t>
                      </a:r>
                    </a:p>
                  </a:txBody>
                  <a:tcPr marL="45720" marR="45720" marT="18288" marB="18288" anchor="t"/>
                </a:tc>
              </a:tr>
              <a:tr h="46634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39.6</a:t>
                      </a:r>
                    </a:p>
                  </a:txBody>
                  <a:tcPr marL="45720" marR="45720" marT="18288" marB="18288" anchor="t"/>
                </a:tc>
                <a:tc>
                  <a:txBody>
                    <a:bodyPr wrap="square"/>
                    <a:lstStyle/>
                    <a:p>
                      <a:r>
                        <a:rPr sz="900" b="0" i="0">
                          <a:solidFill>
                            <a:srgbClr val="1A1A1A"/>
                          </a:solidFill>
                          <a:latin typeface="Helvetica Neue"/>
                        </a:rPr>
                        <a:t>3D-UNet+: An enhanced 3D U-Net framework for brain tumor segmentation with systematic hyperparameter tuning</a:t>
                      </a:r>
                    </a:p>
                  </a:txBody>
                  <a:tcPr marL="45720" marR="45720" marT="18288" marB="18288" anchor="t"/>
                </a:tc>
                <a:tc>
                  <a:txBody>
                    <a:bodyPr wrap="square"/>
                    <a:lstStyle/>
                    <a:p>
                      <a:r>
                        <a:rPr sz="900" b="0" i="0">
                          <a:solidFill>
                            <a:srgbClr val="1A1A1A"/>
                          </a:solidFill>
                          <a:latin typeface="Helvetica Neue"/>
                        </a:rPr>
                        <a:t>Neural computing &amp; applications (Print)</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systematic hyperparameter tuning of a 3D U-Net improve brain tumor segmentation on multiparametric MRI?</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30.9</a:t>
                      </a:r>
                    </a:p>
                  </a:txBody>
                  <a:tcPr marL="45720" marR="45720" marT="18288" marB="18288" anchor="t"/>
                </a:tc>
                <a:tc>
                  <a:txBody>
                    <a:bodyPr wrap="square"/>
                    <a:lstStyle/>
                    <a:p>
                      <a:r>
                        <a:rPr sz="900" b="0" i="0">
                          <a:solidFill>
                            <a:srgbClr val="1A1A1A"/>
                          </a:solidFill>
                          <a:latin typeface="Helvetica Neue"/>
                        </a:rPr>
                        <a:t>Deep Learning Approaches for Brain Tumor Classification in MRI Scans: An Analysis of Model Interpretability</a:t>
                      </a:r>
                    </a:p>
                  </a:txBody>
                  <a:tcPr marL="45720" marR="45720" marT="18288" marB="18288" anchor="t"/>
                </a:tc>
                <a:tc>
                  <a:txBody>
                    <a:bodyPr wrap="square"/>
                    <a:lstStyle/>
                    <a:p>
                      <a:r>
                        <a:rPr sz="900" b="0" i="0">
                          <a:solidFill>
                            <a:srgbClr val="1A1A1A"/>
                          </a:solidFill>
                          <a:latin typeface="Helvetica Neue"/>
                        </a:rPr>
                        <a:t>Applied Sciences</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Which CNN brain tumor classifiers on MRI give explanations that point at the tumor rather than at irrelevant parts of the image?</a:t>
                      </a:r>
                    </a:p>
                  </a:txBody>
                  <a:tcPr marL="45720" marR="45720" marT="18288" marB="18288" anchor="t"/>
                </a:tc>
              </a:tr>
              <a:tr h="603503">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BIBSNet: A deep learning baby image brain segmentation network for MRI scans</a:t>
                      </a:r>
                    </a:p>
                  </a:txBody>
                  <a:tcPr marL="45720" marR="45720" marT="18288" marB="18288" anchor="t"/>
                </a:tc>
                <a:tc>
                  <a:txBody>
                    <a:bodyPr wrap="square"/>
                    <a:lstStyle/>
                    <a:p>
                      <a:r>
                        <a:rPr sz="900" b="0" i="0">
                          <a:solidFill>
                            <a:srgbClr val="1A1A1A"/>
                          </a:solidFill>
                          <a:latin typeface="Helvetica Neue"/>
                        </a:rPr>
                        <a:t>Developmental Cognitive Neuroscience</a:t>
                      </a:r>
                    </a:p>
                  </a:txBody>
                  <a:tcPr marL="45720" marR="45720" marT="18288" marB="18288" anchor="t"/>
                </a:tc>
                <a:tc>
                  <a:txBody>
                    <a:bodyPr wrap="square"/>
                    <a:lstStyle/>
                    <a:p>
                      <a:r>
                        <a:rPr sz="900" b="0" i="0">
                          <a:solidFill>
                            <a:srgbClr val="1A1A1A"/>
                          </a:solidFill>
                          <a:latin typeface="Helvetica Neue"/>
                        </a:rPr>
                        <a:t>neurodevelopment (infant brain)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network segment infant brain MRI (gray and white matter, deep structures) across the first years of life, when tissue contrast is still changing? (BIBSNet, open source)</a:t>
                      </a:r>
                    </a:p>
                  </a:txBody>
                  <a:tcPr marL="45720" marR="45720" marT="18288" marB="18288" anchor="t"/>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2008-2022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992622"/>
        </p:xfrm>
        <a:graphic>
          <a:graphicData uri="http://schemas.openxmlformats.org/drawingml/2006/table">
            <a:tbl>
              <a:tblPr firstRow="1" bandRow="1">
                <a:tableStyleId>{5C22544A-7EE6-4342-B048-85BDC9FD1C3A}</a:tableStyleId>
              </a:tblPr>
              <a:tblGrid>
                <a:gridCol w="480060"/>
                <a:gridCol w="448056"/>
                <a:gridCol w="3413279"/>
                <a:gridCol w="1505858"/>
                <a:gridCol w="1505858"/>
                <a:gridCol w="4015622"/>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426</a:t>
                      </a:r>
                    </a:p>
                  </a:txBody>
                  <a:tcPr marL="45720" marR="45720" marT="18288" marB="18288" anchor="t"/>
                </a:tc>
                <a:tc>
                  <a:txBody>
                    <a:bodyPr wrap="square"/>
                    <a:lstStyle/>
                    <a:p>
                      <a:pPr algn="r"/>
                      <a:r>
                        <a:rPr sz="900" b="0" i="0">
                          <a:solidFill>
                            <a:srgbClr val="1A1A1A"/>
                          </a:solidFill>
                          <a:latin typeface="Helvetica Neue"/>
                        </a:rPr>
                        <a:t>310.7</a:t>
                      </a:r>
                    </a:p>
                  </a:txBody>
                  <a:tcPr marL="45720" marR="45720" marT="18288" marB="18288" anchor="t"/>
                </a:tc>
                <a:tc>
                  <a:txBody>
                    <a:bodyPr wrap="square"/>
                    <a:lstStyle/>
                    <a:p>
                      <a:r>
                        <a:rPr sz="900" b="0" i="0">
                          <a:solidFill>
                            <a:srgbClr val="1A1A1A"/>
                          </a:solidFill>
                          <a:latin typeface="Helvetica Neue"/>
                        </a:rPr>
                        <a:t>Performance of a Deep-Learning Neural Network Model in Assessing Skeletal Maturity on Pediatric Hand Radiographs. (2017)</a:t>
                      </a:r>
                    </a:p>
                  </a:txBody>
                  <a:tcPr marL="45720" marR="45720" marT="18288" marB="18288" anchor="t"/>
                </a:tc>
                <a:tc>
                  <a:txBody>
                    <a:bodyPr wrap="square"/>
                    <a:lstStyle/>
                    <a:p>
                      <a:r>
                        <a:rPr sz="900" b="0" i="0">
                          <a:solidFill>
                            <a:srgbClr val="1A1A1A"/>
                          </a:solidFill>
                          <a:latin typeface="Helvetica Neue"/>
                        </a:rPr>
                        <a:t>Radiology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CNN read bone age from a hand radiograph as accurately as pediatric radiologists using the Greulich–Pyle atlas?</a:t>
                      </a:r>
                    </a:p>
                  </a:txBody>
                  <a:tcPr marL="45720" marR="45720" marT="18288" marB="18288" anchor="t"/>
                </a:tc>
              </a:tr>
              <a:tr h="466344">
                <a:tc>
                  <a:txBody>
                    <a:bodyPr wrap="square"/>
                    <a:lstStyle/>
                    <a:p>
                      <a:pPr algn="r"/>
                      <a:r>
                        <a:rPr sz="900" b="0" i="0">
                          <a:solidFill>
                            <a:srgbClr val="1A1A1A"/>
                          </a:solidFill>
                          <a:latin typeface="Helvetica Neue"/>
                        </a:rPr>
                        <a:t>432</a:t>
                      </a:r>
                    </a:p>
                  </a:txBody>
                  <a:tcPr marL="45720" marR="45720" marT="18288" marB="18288" anchor="t"/>
                </a:tc>
                <a:tc>
                  <a:txBody>
                    <a:bodyPr wrap="square"/>
                    <a:lstStyle/>
                    <a:p>
                      <a:pPr algn="r"/>
                      <a:r>
                        <a:rPr sz="900" b="0" i="0">
                          <a:solidFill>
                            <a:srgbClr val="1A1A1A"/>
                          </a:solidFill>
                          <a:latin typeface="Helvetica Neue"/>
                        </a:rPr>
                        <a:t>305.5</a:t>
                      </a:r>
                    </a:p>
                  </a:txBody>
                  <a:tcPr marL="45720" marR="45720" marT="18288" marB="18288" anchor="t"/>
                </a:tc>
                <a:tc>
                  <a:txBody>
                    <a:bodyPr wrap="square"/>
                    <a:lstStyle/>
                    <a:p>
                      <a:r>
                        <a:rPr sz="900" b="0" i="0">
                          <a:solidFill>
                            <a:srgbClr val="1A1A1A"/>
                          </a:solidFill>
                          <a:latin typeface="Helvetica Neue"/>
                        </a:rPr>
                        <a:t>Fully Automated Deep Learning System for Bone Age Assessment (2017)</a:t>
                      </a:r>
                    </a:p>
                  </a:txBody>
                  <a:tcPr marL="45720" marR="45720" marT="18288" marB="18288" anchor="t"/>
                </a:tc>
                <a:tc>
                  <a:txBody>
                    <a:bodyPr wrap="square"/>
                    <a:lstStyle/>
                    <a:p>
                      <a:r>
                        <a:rPr sz="900" b="0" i="0">
                          <a:solidFill>
                            <a:srgbClr val="1A1A1A"/>
                          </a:solidFill>
                          <a:latin typeface="Helvetica Neue"/>
                        </a:rPr>
                        <a:t>Journal of digital imaging</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fully automated pipeline (find the hand, standardize the image, read it) assign bone age with no manual steps, fast enough for clinical use?</a:t>
                      </a:r>
                    </a:p>
                  </a:txBody>
                  <a:tcPr marL="45720" marR="45720" marT="18288" marB="18288" anchor="t"/>
                </a:tc>
              </a:tr>
              <a:tr h="466344">
                <a:tc>
                  <a:txBody>
                    <a:bodyPr wrap="square"/>
                    <a:lstStyle/>
                    <a:p>
                      <a:pPr algn="r"/>
                      <a:r>
                        <a:rPr sz="900" b="0" i="0">
                          <a:solidFill>
                            <a:srgbClr val="1A1A1A"/>
                          </a:solidFill>
                          <a:latin typeface="Helvetica Neue"/>
                        </a:rPr>
                        <a:t>407</a:t>
                      </a:r>
                    </a:p>
                  </a:txBody>
                  <a:tcPr marL="45720" marR="45720" marT="18288" marB="18288" anchor="t"/>
                </a:tc>
                <a:tc>
                  <a:txBody>
                    <a:bodyPr wrap="square"/>
                    <a:lstStyle/>
                    <a:p>
                      <a:pPr algn="r"/>
                      <a:r>
                        <a:rPr sz="900" b="0" i="0">
                          <a:solidFill>
                            <a:srgbClr val="1A1A1A"/>
                          </a:solidFill>
                          <a:latin typeface="Helvetica Neue"/>
                        </a:rPr>
                        <a:t>206.8</a:t>
                      </a:r>
                    </a:p>
                  </a:txBody>
                  <a:tcPr marL="45720" marR="45720" marT="18288" marB="18288" anchor="t"/>
                </a:tc>
                <a:tc>
                  <a:txBody>
                    <a:bodyPr wrap="square"/>
                    <a:lstStyle/>
                    <a:p>
                      <a:r>
                        <a:rPr sz="900" b="0" i="0">
                          <a:solidFill>
                            <a:srgbClr val="1A1A1A"/>
                          </a:solidFill>
                          <a:latin typeface="Helvetica Neue"/>
                        </a:rPr>
                        <a:t>Deep learning for automated skeletal bone age assessment in X-ray images (2017)</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deep network estimate bone age directly from radiographs, without hand-crafted features, across sexes and ethnicities? (BoNet)</a:t>
                      </a:r>
                    </a:p>
                  </a:txBody>
                  <a:tcPr marL="45720" marR="45720" marT="18288" marB="18288" anchor="t"/>
                </a:tc>
              </a:tr>
              <a:tr h="466344">
                <a:tc>
                  <a:txBody>
                    <a:bodyPr wrap="square"/>
                    <a:lstStyle/>
                    <a:p>
                      <a:pPr algn="r"/>
                      <a:r>
                        <a:rPr sz="900" b="0" i="0">
                          <a:solidFill>
                            <a:srgbClr val="1A1A1A"/>
                          </a:solidFill>
                          <a:latin typeface="Helvetica Neue"/>
                        </a:rPr>
                        <a:t>144</a:t>
                      </a:r>
                    </a:p>
                  </a:txBody>
                  <a:tcPr marL="45720" marR="45720" marT="18288" marB="18288" anchor="t"/>
                </a:tc>
                <a:tc>
                  <a:txBody>
                    <a:bodyPr wrap="square"/>
                    <a:lstStyle/>
                    <a:p>
                      <a:pPr algn="r"/>
                      <a:r>
                        <a:rPr sz="900" b="0" i="0">
                          <a:solidFill>
                            <a:srgbClr val="1A1A1A"/>
                          </a:solidFill>
                          <a:latin typeface="Helvetica Neue"/>
                        </a:rPr>
                        <a:t>69.0</a:t>
                      </a:r>
                    </a:p>
                  </a:txBody>
                  <a:tcPr marL="45720" marR="45720" marT="18288" marB="18288" anchor="t"/>
                </a:tc>
                <a:tc>
                  <a:txBody>
                    <a:bodyPr wrap="square"/>
                    <a:lstStyle/>
                    <a:p>
                      <a:r>
                        <a:rPr sz="900" b="0" i="0">
                          <a:solidFill>
                            <a:srgbClr val="1A1A1A"/>
                          </a:solidFill>
                          <a:latin typeface="Helvetica Neue"/>
                        </a:rPr>
                        <a:t>Computerized Bone Age Estimation Using Deep Learning Based Program: Evaluation of the Accuracy and Efficiency. (2017)</a:t>
                      </a:r>
                    </a:p>
                  </a:txBody>
                  <a:tcPr marL="45720" marR="45720" marT="18288" marB="18288" anchor="t"/>
                </a:tc>
                <a:tc>
                  <a:txBody>
                    <a:bodyPr wrap="square"/>
                    <a:lstStyle/>
                    <a:p>
                      <a:r>
                        <a:rPr sz="900" b="0" i="0">
                          <a:solidFill>
                            <a:srgbClr val="1A1A1A"/>
                          </a:solidFill>
                          <a:latin typeface="Helvetica Neue"/>
                        </a:rPr>
                        <a:t>AJR. American journal of roentgenology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Is a commercial deep-learning bone-age program (VUNO) accurate, and does it shorten radiologist reading time?</a:t>
                      </a:r>
                    </a:p>
                  </a:txBody>
                  <a:tcPr marL="45720" marR="45720" marT="18288" marB="18288" anchor="t"/>
                </a:tc>
              </a:tr>
              <a:tr h="603503">
                <a:tc>
                  <a:txBody>
                    <a:bodyPr wrap="square"/>
                    <a:lstStyle/>
                    <a:p>
                      <a:pPr algn="r"/>
                      <a:r>
                        <a:rPr sz="900" b="0" i="0">
                          <a:solidFill>
                            <a:srgbClr val="1A1A1A"/>
                          </a:solidFill>
                          <a:latin typeface="Helvetica Neue"/>
                        </a:rPr>
                        <a:t>353</a:t>
                      </a:r>
                    </a:p>
                  </a:txBody>
                  <a:tcPr marL="45720" marR="45720" marT="18288" marB="18288" anchor="t"/>
                </a:tc>
                <a:tc>
                  <a:txBody>
                    <a:bodyPr wrap="square"/>
                    <a:lstStyle/>
                    <a:p>
                      <a:pPr algn="r"/>
                      <a:r>
                        <a:rPr sz="900" b="0" i="0">
                          <a:solidFill>
                            <a:srgbClr val="1A1A1A"/>
                          </a:solidFill>
                          <a:latin typeface="Helvetica Neue"/>
                        </a:rPr>
                        <a:t>55.0</a:t>
                      </a:r>
                    </a:p>
                  </a:txBody>
                  <a:tcPr marL="45720" marR="45720" marT="18288" marB="18288" anchor="t"/>
                </a:tc>
                <a:tc>
                  <a:txBody>
                    <a:bodyPr wrap="square"/>
                    <a:lstStyle/>
                    <a:p>
                      <a:r>
                        <a:rPr sz="900" b="0" i="0">
                          <a:solidFill>
                            <a:srgbClr val="1A1A1A"/>
                          </a:solidFill>
                          <a:latin typeface="Helvetica Neue"/>
                        </a:rPr>
                        <a:t>Standard Plane Localization in Fetal Ultrasound via Domain Transferred Deep Neural Networks (2015)</a:t>
                      </a:r>
                    </a:p>
                  </a:txBody>
                  <a:tcPr marL="45720" marR="45720" marT="18288" marB="18288" anchor="t"/>
                </a:tc>
                <a:tc>
                  <a:txBody>
                    <a:bodyPr wrap="square"/>
                    <a:lstStyle/>
                    <a:p>
                      <a:r>
                        <a:rPr sz="900" b="0" i="0">
                          <a:solidFill>
                            <a:srgbClr val="1A1A1A"/>
                          </a:solidFill>
                          <a:latin typeface="Helvetica Neue"/>
                        </a:rPr>
                        <a:t>IEEE journal of biomedical and health informatics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a CNN find the frame showing the fetal abdominal standard plane (where biometry is measured) in an ultrasound video, using layers transferred from a photo-trained network to cope with little data?</a:t>
                      </a:r>
                    </a:p>
                  </a:txBody>
                  <a:tcPr marL="45720" marR="45720" marT="18288" marB="18288" anchor="t"/>
                </a:tc>
              </a:tr>
              <a:tr h="466344">
                <a:tc>
                  <a:txBody>
                    <a:bodyPr wrap="square"/>
                    <a:lstStyle/>
                    <a:p>
                      <a:pPr algn="r"/>
                      <a:r>
                        <a:rPr sz="900" b="0" i="0">
                          <a:solidFill>
                            <a:srgbClr val="1A1A1A"/>
                          </a:solidFill>
                          <a:latin typeface="Helvetica Neue"/>
                        </a:rPr>
                        <a:t>196</a:t>
                      </a:r>
                    </a:p>
                  </a:txBody>
                  <a:tcPr marL="45720" marR="45720" marT="18288" marB="18288" anchor="t"/>
                </a:tc>
                <a:tc>
                  <a:txBody>
                    <a:bodyPr wrap="square"/>
                    <a:lstStyle/>
                    <a:p>
                      <a:pPr algn="r"/>
                      <a:r>
                        <a:rPr sz="900" b="0" i="0">
                          <a:solidFill>
                            <a:srgbClr val="1A1A1A"/>
                          </a:solidFill>
                          <a:latin typeface="Helvetica Neue"/>
                        </a:rPr>
                        <a:t>54.4</a:t>
                      </a:r>
                    </a:p>
                  </a:txBody>
                  <a:tcPr marL="45720" marR="45720" marT="18288" marB="18288" anchor="t"/>
                </a:tc>
                <a:tc>
                  <a:txBody>
                    <a:bodyPr wrap="square"/>
                    <a:lstStyle/>
                    <a:p>
                      <a:r>
                        <a:rPr sz="900" b="0" i="0">
                          <a:solidFill>
                            <a:srgbClr val="1A1A1A"/>
                          </a:solidFill>
                          <a:latin typeface="Helvetica Neue"/>
                        </a:rPr>
                        <a:t>Automatic Fetal Ultrasound Standard Plane Recognition Based on Deep Learning and IIoT (2021)</a:t>
                      </a:r>
                    </a:p>
                  </a:txBody>
                  <a:tcPr marL="45720" marR="45720" marT="18288" marB="18288" anchor="t"/>
                </a:tc>
                <a:tc>
                  <a:txBody>
                    <a:bodyPr wrap="square"/>
                    <a:lstStyle/>
                    <a:p>
                      <a:r>
                        <a:rPr sz="900" b="0" i="0">
                          <a:solidFill>
                            <a:srgbClr val="1A1A1A"/>
                          </a:solidFill>
                          <a:latin typeface="Helvetica Neue"/>
                        </a:rPr>
                        <a:t>IEEE Transactions on Industrial Informatics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deep learning recognize the standard fetal ultrasound views automatically, reducing dependence on sonographer experience?</a:t>
                      </a:r>
                    </a:p>
                  </a:txBody>
                  <a:tcPr marL="45720" marR="45720" marT="18288" marB="18288" anchor="t"/>
                </a:tc>
              </a:tr>
              <a:tr h="466344">
                <a:tc>
                  <a:txBody>
                    <a:bodyPr wrap="square"/>
                    <a:lstStyle/>
                    <a:p>
                      <a:pPr algn="r"/>
                      <a:r>
                        <a:rPr sz="900" b="0" i="0">
                          <a:solidFill>
                            <a:srgbClr val="1A1A1A"/>
                          </a:solidFill>
                          <a:latin typeface="Helvetica Neue"/>
                        </a:rPr>
                        <a:t>449</a:t>
                      </a:r>
                    </a:p>
                  </a:txBody>
                  <a:tcPr marL="45720" marR="45720" marT="18288" marB="18288" anchor="t"/>
                </a:tc>
                <a:tc>
                  <a:txBody>
                    <a:bodyPr wrap="square"/>
                    <a:lstStyle/>
                    <a:p>
                      <a:pPr algn="r"/>
                      <a:r>
                        <a:rPr sz="900" b="0" i="0">
                          <a:solidFill>
                            <a:srgbClr val="1A1A1A"/>
                          </a:solidFill>
                          <a:latin typeface="Helvetica Neue"/>
                        </a:rPr>
                        <a:t>35.4</a:t>
                      </a:r>
                    </a:p>
                  </a:txBody>
                  <a:tcPr marL="45720" marR="45720" marT="18288" marB="18288" anchor="t"/>
                </a:tc>
                <a:tc>
                  <a:txBody>
                    <a:bodyPr wrap="square"/>
                    <a:lstStyle/>
                    <a:p>
                      <a:r>
                        <a:rPr sz="900" b="0" i="0">
                          <a:solidFill>
                            <a:srgbClr val="1A1A1A"/>
                          </a:solidFill>
                          <a:latin typeface="Helvetica Neue"/>
                        </a:rPr>
                        <a:t>A transfer learning method with deep residual network for pediatric pneumonia diagnosis (2020)</a:t>
                      </a:r>
                    </a:p>
                  </a:txBody>
                  <a:tcPr marL="45720" marR="45720" marT="18288" marB="18288" anchor="t"/>
                </a:tc>
                <a:tc>
                  <a:txBody>
                    <a:bodyPr wrap="square"/>
                    <a:lstStyle/>
                    <a:p>
                      <a:r>
                        <a:rPr sz="900" b="0" i="0">
                          <a:solidFill>
                            <a:srgbClr val="1A1A1A"/>
                          </a:solidFill>
                          <a:latin typeface="Helvetica Neue"/>
                        </a:rPr>
                        <a:t>Comput. Methods Programs Biomed.</a:t>
                      </a:r>
                    </a:p>
                  </a:txBody>
                  <a:tcPr marL="45720" marR="45720" marT="18288" marB="18288" anchor="t"/>
                </a:tc>
                <a:tc>
                  <a:txBody>
                    <a:bodyPr wrap="square"/>
                    <a:lstStyle/>
                    <a:p>
                      <a:r>
                        <a:rPr sz="900" b="0" i="0">
                          <a:solidFill>
                            <a:srgbClr val="1A1A1A"/>
                          </a:solidFill>
                          <a:latin typeface="Helvetica Neue"/>
                        </a:rPr>
                        <a:t>pneumonia / bronchiolitis / RSV / TB</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residual CNN with transfer learning diagnose pneumonia on pediatric chest X-rays (children aged 1–5, Guangzhou dataset)?</a:t>
                      </a:r>
                    </a:p>
                  </a:txBody>
                  <a:tcPr marL="45720" marR="45720" marT="18288" marB="18288" anchor="t"/>
                </a:tc>
              </a:tr>
              <a:tr h="603503">
                <a:tc>
                  <a:txBody>
                    <a:bodyPr wrap="square"/>
                    <a:lstStyle/>
                    <a:p>
                      <a:pPr algn="r"/>
                      <a:r>
                        <a:rPr sz="900" b="0" i="0">
                          <a:solidFill>
                            <a:srgbClr val="1A1A1A"/>
                          </a:solidFill>
                          <a:latin typeface="Helvetica Neue"/>
                        </a:rPr>
                        <a:t>236</a:t>
                      </a:r>
                    </a:p>
                  </a:txBody>
                  <a:tcPr marL="45720" marR="45720" marT="18288" marB="18288" anchor="t"/>
                </a:tc>
                <a:tc>
                  <a:txBody>
                    <a:bodyPr wrap="square"/>
                    <a:lstStyle/>
                    <a:p>
                      <a:pPr algn="r"/>
                      <a:r>
                        <a:rPr sz="900" b="0" i="0">
                          <a:solidFill>
                            <a:srgbClr val="1A1A1A"/>
                          </a:solidFill>
                          <a:latin typeface="Helvetica Neue"/>
                        </a:rPr>
                        <a:t>28.9</a:t>
                      </a:r>
                    </a:p>
                  </a:txBody>
                  <a:tcPr marL="45720" marR="45720" marT="18288" marB="18288" anchor="t"/>
                </a:tc>
                <a:tc>
                  <a:txBody>
                    <a:bodyPr wrap="square"/>
                    <a:lstStyle/>
                    <a:p>
                      <a:r>
                        <a:rPr sz="900" b="0" i="0">
                          <a:solidFill>
                            <a:srgbClr val="1A1A1A"/>
                          </a:solidFill>
                          <a:latin typeface="Helvetica Neue"/>
                        </a:rPr>
                        <a:t>Evaluation of deep convolutional neural networks for automatic classification of common maternal fetal ultrasound planes (2020)</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CNNs sort routine maternal–fetal ultrasound images into the standard planes (fetal brain, abdomen, femur, thorax, cervix) as well as a sonographer? (public FETAL_PLANES_DB)</a:t>
                      </a:r>
                    </a:p>
                  </a:txBody>
                  <a:tcPr marL="45720" marR="45720" marT="18288" marB="18288" anchor="t"/>
                </a:tc>
              </a:tr>
              <a:tr h="329184">
                <a:tc>
                  <a:txBody>
                    <a:bodyPr wrap="square"/>
                    <a:lstStyle/>
                    <a:p>
                      <a:pPr algn="r"/>
                      <a:r>
                        <a:rPr sz="900" b="0" i="0">
                          <a:solidFill>
                            <a:srgbClr val="1A1A1A"/>
                          </a:solidFill>
                          <a:latin typeface="Helvetica Neue"/>
                        </a:rPr>
                        <a:t>460</a:t>
                      </a:r>
                    </a:p>
                  </a:txBody>
                  <a:tcPr marL="45720" marR="45720" marT="18288" marB="18288" anchor="t"/>
                </a:tc>
                <a:tc>
                  <a:txBody>
                    <a:bodyPr wrap="square"/>
                    <a:lstStyle/>
                    <a:p>
                      <a:pPr algn="r"/>
                      <a:r>
                        <a:rPr sz="900" b="0" i="0">
                          <a:solidFill>
                            <a:srgbClr val="1A1A1A"/>
                          </a:solidFill>
                          <a:latin typeface="Helvetica Neue"/>
                        </a:rPr>
                        <a:t>26.4</a:t>
                      </a:r>
                    </a:p>
                  </a:txBody>
                  <a:tcPr marL="45720" marR="45720" marT="18288" marB="18288" anchor="t"/>
                </a:tc>
                <a:tc>
                  <a:txBody>
                    <a:bodyPr wrap="square"/>
                    <a:lstStyle/>
                    <a:p>
                      <a:r>
                        <a:rPr sz="900" b="0" i="0">
                          <a:solidFill>
                            <a:srgbClr val="1A1A1A"/>
                          </a:solidFill>
                          <a:latin typeface="Helvetica Neue"/>
                        </a:rPr>
                        <a:t>The RSNA Pediatric Bone Age Machine Learning Challenge. (2019)</a:t>
                      </a:r>
                    </a:p>
                  </a:txBody>
                  <a:tcPr marL="45720" marR="45720" marT="18288" marB="18288" anchor="t"/>
                </a:tc>
                <a:tc>
                  <a:txBody>
                    <a:bodyPr wrap="square"/>
                    <a:lstStyle/>
                    <a:p>
                      <a:r>
                        <a:rPr sz="900" b="0" i="0">
                          <a:solidFill>
                            <a:srgbClr val="1A1A1A"/>
                          </a:solidFill>
                          <a:latin typeface="Helvetica Neue"/>
                        </a:rPr>
                        <a:t>Radiology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bone age</a:t>
                      </a:r>
                      <a:r>
                        <a:rPr sz="900" b="0" i="0">
                          <a:solidFill>
                            <a:srgbClr val="1A1A1A"/>
                          </a:solidFill>
                          <a:latin typeface="Helvetica Neue"/>
                        </a:rPr>
                        <a:t>: How well can crowdsourced AI estimate bone age? (RSNA challenge, 260 teams)</a:t>
                      </a:r>
                    </a:p>
                  </a:txBody>
                  <a:tcPr marL="45720" marR="45720" marT="18288" marB="18288" anchor="t"/>
                </a:tc>
              </a:tr>
              <a:tr h="466344">
                <a:tc>
                  <a:txBody>
                    <a:bodyPr wrap="square"/>
                    <a:lstStyle/>
                    <a:p>
                      <a:pPr algn="r"/>
                      <a:r>
                        <a:rPr sz="900" b="0" i="0">
                          <a:solidFill>
                            <a:srgbClr val="1A1A1A"/>
                          </a:solidFill>
                          <a:latin typeface="Helvetica Neue"/>
                        </a:rPr>
                        <a:t>258</a:t>
                      </a:r>
                    </a:p>
                  </a:txBody>
                  <a:tcPr marL="45720" marR="45720" marT="18288" marB="18288" anchor="t"/>
                </a:tc>
                <a:tc>
                  <a:txBody>
                    <a:bodyPr wrap="square"/>
                    <a:lstStyle/>
                    <a:p>
                      <a:pPr algn="r"/>
                      <a:r>
                        <a:rPr sz="900" b="0" i="0">
                          <a:solidFill>
                            <a:srgbClr val="1A1A1A"/>
                          </a:solidFill>
                          <a:latin typeface="Helvetica Neue"/>
                        </a:rPr>
                        <a:t>25.8</a:t>
                      </a:r>
                    </a:p>
                  </a:txBody>
                  <a:tcPr marL="45720" marR="45720" marT="18288" marB="18288" anchor="t"/>
                </a:tc>
                <a:tc>
                  <a:txBody>
                    <a:bodyPr wrap="square"/>
                    <a:lstStyle/>
                    <a:p>
                      <a:r>
                        <a:rPr sz="900" b="0" i="0">
                          <a:solidFill>
                            <a:srgbClr val="1A1A1A"/>
                          </a:solidFill>
                          <a:latin typeface="Helvetica Neue"/>
                        </a:rPr>
                        <a:t>An ensemble of neural networks provides expert-level prenatal detection of complex congenital heart disease (2021)</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0">
                          <a:solidFill>
                            <a:srgbClr val="1A1A1A"/>
                          </a:solidFill>
                          <a:latin typeface="Helvetica Neue"/>
                        </a:rPr>
                        <a:t>congenital heart disease / cardiac</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an ensemble of networks flag complex congenital heart disease on routine fetal screening ultrasound views as well as fetal cardiologists?</a:t>
                      </a:r>
                    </a:p>
                  </a:txBody>
                  <a:tcPr marL="45720" marR="45720" marT="18288" marB="18288" anchor="t"/>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2023</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032503"/>
        </p:xfrm>
        <a:graphic>
          <a:graphicData uri="http://schemas.openxmlformats.org/drawingml/2006/table">
            <a:tbl>
              <a:tblPr firstRow="1" bandRow="1">
                <a:tableStyleId>{5C22544A-7EE6-4342-B048-85BDC9FD1C3A}</a:tableStyleId>
              </a:tblPr>
              <a:tblGrid>
                <a:gridCol w="480060"/>
                <a:gridCol w="409651"/>
                <a:gridCol w="4814686"/>
                <a:gridCol w="2124126"/>
                <a:gridCol w="3540210"/>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32</a:t>
                      </a:r>
                    </a:p>
                  </a:txBody>
                  <a:tcPr marL="45720" marR="45720" marT="18288" marB="18288" anchor="t"/>
                </a:tc>
                <a:tc>
                  <a:txBody>
                    <a:bodyPr wrap="square"/>
                    <a:lstStyle/>
                    <a:p>
                      <a:pPr algn="r"/>
                      <a:r>
                        <a:rPr sz="900" b="0" i="0">
                          <a:solidFill>
                            <a:srgbClr val="1A1A1A"/>
                          </a:solidFill>
                          <a:latin typeface="Helvetica Neue"/>
                        </a:rPr>
                        <a:t>35.2</a:t>
                      </a:r>
                    </a:p>
                  </a:txBody>
                  <a:tcPr marL="45720" marR="45720" marT="18288" marB="18288" anchor="t"/>
                </a:tc>
                <a:tc>
                  <a:txBody>
                    <a:bodyPr wrap="square"/>
                    <a:lstStyle/>
                    <a:p>
                      <a:r>
                        <a:rPr sz="900" b="0" i="0">
                          <a:solidFill>
                            <a:srgbClr val="1A1A1A"/>
                          </a:solidFill>
                          <a:latin typeface="Helvetica Neue"/>
                        </a:rPr>
                        <a:t>Bone Age Assessment Using Artificial Intelligence in Korean Pediatric Population: A Comparison of Deep-Learning Models Trained With Healthy Chronological and Greulich-Pyle Ages as Labels</a:t>
                      </a:r>
                    </a:p>
                  </a:txBody>
                  <a:tcPr marL="45720" marR="45720" marT="18288" marB="18288" anchor="t"/>
                </a:tc>
                <a:tc>
                  <a:txBody>
                    <a:bodyPr wrap="square"/>
                    <a:lstStyle/>
                    <a:p>
                      <a:r>
                        <a:rPr sz="900" b="0" i="0">
                          <a:solidFill>
                            <a:srgbClr val="1A1A1A"/>
                          </a:solidFill>
                          <a:latin typeface="Helvetica Neue"/>
                        </a:rPr>
                        <a:t>Korean Journal of Radiology</a:t>
                      </a:r>
                    </a:p>
                  </a:txBody>
                  <a:tcPr marL="45720" marR="45720" marT="18288" marB="18288" anchor="t"/>
                </a:tc>
                <a:tc>
                  <a:txBody>
                    <a:bodyPr wrap="square"/>
                    <a:lstStyle/>
                    <a:p>
                      <a:r>
                        <a:rPr sz="900" b="0" i="1">
                          <a:solidFill>
                            <a:srgbClr val="1A1A1A"/>
                          </a:solidFill>
                          <a:latin typeface="Helvetica Neue"/>
                        </a:rPr>
                        <a:t>bone age</a:t>
                      </a:r>
                    </a:p>
                  </a:txBody>
                  <a:tcPr marL="45720" marR="45720" marT="18288" marB="18288" anchor="t"/>
                </a:tc>
              </a:tr>
              <a:tr h="329184">
                <a:tc>
                  <a:txBody>
                    <a:bodyPr wrap="square"/>
                    <a:lstStyle/>
                    <a:p>
                      <a:pPr algn="r"/>
                      <a:r>
                        <a:rPr sz="900" b="0" i="0">
                          <a:solidFill>
                            <a:srgbClr val="1A1A1A"/>
                          </a:solidFill>
                          <a:latin typeface="Helvetica Neue"/>
                        </a:rPr>
                        <a:t>63</a:t>
                      </a:r>
                    </a:p>
                  </a:txBody>
                  <a:tcPr marL="45720" marR="45720" marT="18288" marB="18288" anchor="t"/>
                </a:tc>
                <a:tc>
                  <a:txBody>
                    <a:bodyPr wrap="square"/>
                    <a:lstStyle/>
                    <a:p>
                      <a:pPr algn="r"/>
                      <a:r>
                        <a:rPr sz="900" b="0" i="0">
                          <a:solidFill>
                            <a:srgbClr val="1A1A1A"/>
                          </a:solidFill>
                          <a:latin typeface="Helvetica Neue"/>
                        </a:rPr>
                        <a:t>32.0</a:t>
                      </a:r>
                    </a:p>
                  </a:txBody>
                  <a:tcPr marL="45720" marR="45720" marT="18288" marB="18288" anchor="t"/>
                </a:tc>
                <a:tc>
                  <a:txBody>
                    <a:bodyPr wrap="square"/>
                    <a:lstStyle/>
                    <a:p>
                      <a:r>
                        <a:rPr sz="900" b="0" i="0">
                          <a:solidFill>
                            <a:srgbClr val="1A1A1A"/>
                          </a:solidFill>
                          <a:latin typeface="Helvetica Neue"/>
                        </a:rPr>
                        <a:t>Standard fetal ultrasound plane classification based on stacked ensemble of deep learning models</a:t>
                      </a:r>
                    </a:p>
                  </a:txBody>
                  <a:tcPr marL="45720" marR="45720" marT="18288" marB="18288" anchor="t"/>
                </a:tc>
                <a:tc>
                  <a:txBody>
                    <a:bodyPr wrap="square"/>
                    <a:lstStyle/>
                    <a:p>
                      <a:r>
                        <a:rPr sz="900" b="0" i="0">
                          <a:solidFill>
                            <a:srgbClr val="1A1A1A"/>
                          </a:solidFill>
                          <a:latin typeface="Helvetica Neue"/>
                        </a:rPr>
                        <a:t>Expert systems with applications</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Can an ensemble of networks classify the standard fetal ultrasound planes?</a:t>
                      </a:r>
                    </a:p>
                  </a:txBody>
                  <a:tcPr marL="45720" marR="45720" marT="18288" marB="18288" anchor="t"/>
                </a:tc>
              </a:tr>
              <a:tr h="329184">
                <a:tc>
                  <a:txBody>
                    <a:bodyPr wrap="square"/>
                    <a:lstStyle/>
                    <a:p>
                      <a:pPr algn="r"/>
                      <a:r>
                        <a:rPr sz="900" b="0" i="0">
                          <a:solidFill>
                            <a:srgbClr val="1A1A1A"/>
                          </a:solidFill>
                          <a:latin typeface="Helvetica Neue"/>
                        </a:rPr>
                        <a:t>37</a:t>
                      </a:r>
                    </a:p>
                  </a:txBody>
                  <a:tcPr marL="45720" marR="45720" marT="18288" marB="18288" anchor="t"/>
                </a:tc>
                <a:tc>
                  <a:txBody>
                    <a:bodyPr wrap="square"/>
                    <a:lstStyle/>
                    <a:p>
                      <a:pPr algn="r"/>
                      <a:r>
                        <a:rPr sz="900" b="0" i="0">
                          <a:solidFill>
                            <a:srgbClr val="1A1A1A"/>
                          </a:solidFill>
                          <a:latin typeface="Helvetica Neue"/>
                        </a:rPr>
                        <a:t>19.1</a:t>
                      </a:r>
                    </a:p>
                  </a:txBody>
                  <a:tcPr marL="45720" marR="45720" marT="18288" marB="18288" anchor="t"/>
                </a:tc>
                <a:tc>
                  <a:txBody>
                    <a:bodyPr wrap="square"/>
                    <a:lstStyle/>
                    <a:p>
                      <a:r>
                        <a:rPr sz="900" b="0" i="0">
                          <a:solidFill>
                            <a:srgbClr val="1A1A1A"/>
                          </a:solidFill>
                          <a:latin typeface="Helvetica Neue"/>
                        </a:rPr>
                        <a:t>Transfer learning for accurate fetal organ classification from ultrasound images: a potential tool for maternal healthcare providers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35</a:t>
                      </a:r>
                    </a:p>
                  </a:txBody>
                  <a:tcPr marL="45720" marR="45720" marT="18288" marB="18288" anchor="t"/>
                </a:tc>
                <a:tc>
                  <a:txBody>
                    <a:bodyPr wrap="square"/>
                    <a:lstStyle/>
                    <a:p>
                      <a:pPr algn="r"/>
                      <a:r>
                        <a:rPr sz="900" b="0" i="0">
                          <a:solidFill>
                            <a:srgbClr val="1A1A1A"/>
                          </a:solidFill>
                          <a:latin typeface="Helvetica Neue"/>
                        </a:rPr>
                        <a:t>16.3</a:t>
                      </a:r>
                    </a:p>
                  </a:txBody>
                  <a:tcPr marL="45720" marR="45720" marT="18288" marB="18288" anchor="t"/>
                </a:tc>
                <a:tc>
                  <a:txBody>
                    <a:bodyPr wrap="square"/>
                    <a:lstStyle/>
                    <a:p>
                      <a:r>
                        <a:rPr sz="900" b="0" i="0">
                          <a:solidFill>
                            <a:srgbClr val="1A1A1A"/>
                          </a:solidFill>
                          <a:latin typeface="Helvetica Neue"/>
                        </a:rPr>
                        <a:t>Deep Learning-Based Multiclass Brain Tissue Segmentation in Fetal MRIs</a:t>
                      </a:r>
                    </a:p>
                  </a:txBody>
                  <a:tcPr marL="45720" marR="45720" marT="18288" marB="18288" anchor="t"/>
                </a:tc>
                <a:tc>
                  <a:txBody>
                    <a:bodyPr wrap="square"/>
                    <a:lstStyle/>
                    <a:p>
                      <a:r>
                        <a:rPr sz="900" b="0" i="0">
                          <a:solidFill>
                            <a:srgbClr val="1A1A1A"/>
                          </a:solidFill>
                          <a:latin typeface="Helvetica Neue"/>
                        </a:rPr>
                        <a:t>Italian National Conference on Sensors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43</a:t>
                      </a:r>
                    </a:p>
                  </a:txBody>
                  <a:tcPr marL="45720" marR="45720" marT="18288" marB="18288" anchor="t"/>
                </a:tc>
                <a:tc>
                  <a:txBody>
                    <a:bodyPr wrap="square"/>
                    <a:lstStyle/>
                    <a:p>
                      <a:pPr algn="r"/>
                      <a:r>
                        <a:rPr sz="900" b="0" i="0">
                          <a:solidFill>
                            <a:srgbClr val="1A1A1A"/>
                          </a:solidFill>
                          <a:latin typeface="Helvetica Neue"/>
                        </a:rPr>
                        <a:t>8.9</a:t>
                      </a:r>
                    </a:p>
                  </a:txBody>
                  <a:tcPr marL="45720" marR="45720" marT="18288" marB="18288" anchor="t"/>
                </a:tc>
                <a:tc>
                  <a:txBody>
                    <a:bodyPr wrap="square"/>
                    <a:lstStyle/>
                    <a:p>
                      <a:r>
                        <a:rPr sz="900" b="0" i="0">
                          <a:solidFill>
                            <a:srgbClr val="1A1A1A"/>
                          </a:solidFill>
                          <a:latin typeface="Helvetica Neue"/>
                        </a:rPr>
                        <a:t>Deeplasia: deep learning for bone age assessment validated on skeletal dysplasias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1">
                          <a:solidFill>
                            <a:srgbClr val="1A1A1A"/>
                          </a:solidFill>
                          <a:latin typeface="Helvetica Neue"/>
                        </a:rPr>
                        <a:t>bone age</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7.9</a:t>
                      </a:r>
                    </a:p>
                  </a:txBody>
                  <a:tcPr marL="45720" marR="45720" marT="18288" marB="18288" anchor="t"/>
                </a:tc>
                <a:tc>
                  <a:txBody>
                    <a:bodyPr wrap="square"/>
                    <a:lstStyle/>
                    <a:p>
                      <a:r>
                        <a:rPr sz="900" b="0" i="0">
                          <a:solidFill>
                            <a:srgbClr val="1A1A1A"/>
                          </a:solidFill>
                          <a:latin typeface="Helvetica Neue"/>
                        </a:rPr>
                        <a:t>Deep learning for estimation of fetal weight throughout the pregnancy from fetal abdominal ultrasound.</a:t>
                      </a:r>
                    </a:p>
                  </a:txBody>
                  <a:tcPr marL="45720" marR="45720" marT="18288" marB="18288" anchor="t"/>
                </a:tc>
                <a:tc>
                  <a:txBody>
                    <a:bodyPr wrap="square"/>
                    <a:lstStyle/>
                    <a:p>
                      <a:r>
                        <a:rPr sz="900" b="0" i="0">
                          <a:solidFill>
                            <a:srgbClr val="1A1A1A"/>
                          </a:solidFill>
                          <a:latin typeface="Helvetica Neue"/>
                        </a:rPr>
                        <a:t>American Journal of Obstetrics &amp; Gynecology MFM</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466344">
                <a:tc>
                  <a:txBody>
                    <a:bodyPr wrap="square"/>
                    <a:lstStyle/>
                    <a:p>
                      <a:pPr algn="r"/>
                      <a:r>
                        <a:rPr sz="900" b="0" i="0">
                          <a:solidFill>
                            <a:srgbClr val="1A1A1A"/>
                          </a:solidFill>
                          <a:latin typeface="Helvetica Neue"/>
                        </a:rPr>
                        <a:t>38</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r>
                        <a:rPr sz="900" b="0" i="0">
                          <a:solidFill>
                            <a:srgbClr val="1A1A1A"/>
                          </a:solidFill>
                          <a:latin typeface="Helvetica Neue"/>
                        </a:rPr>
                        <a:t>Deep learning model for prenatal congenital heart disease (CHD) screening can be applied to retrospective imaging from the community setting, outperforming initial clinical detection in a well-annotated cohort</a:t>
                      </a:r>
                    </a:p>
                  </a:txBody>
                  <a:tcPr marL="45720" marR="45720" marT="18288" marB="18288" anchor="t"/>
                </a:tc>
                <a:tc>
                  <a:txBody>
                    <a:bodyPr wrap="square"/>
                    <a:lstStyle/>
                    <a:p>
                      <a:r>
                        <a:rPr sz="900" b="0" i="0">
                          <a:solidFill>
                            <a:srgbClr val="1A1A1A"/>
                          </a:solidFill>
                          <a:latin typeface="Helvetica Neue"/>
                        </a:rPr>
                        <a:t>Ultrasound in Obstetrics and Gynecology</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Does a prenatal congenital heart disease screening model work on retrospective real-world scans?</a:t>
                      </a:r>
                    </a:p>
                  </a:txBody>
                  <a:tcPr marL="45720" marR="45720" marT="18288" marB="18288" anchor="t"/>
                </a:tc>
              </a:tr>
              <a:tr h="603503">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5.7</a:t>
                      </a:r>
                    </a:p>
                  </a:txBody>
                  <a:tcPr marL="45720" marR="45720" marT="18288" marB="18288" anchor="t"/>
                </a:tc>
                <a:tc>
                  <a:txBody>
                    <a:bodyPr wrap="square"/>
                    <a:lstStyle/>
                    <a:p>
                      <a:r>
                        <a:rPr sz="900" b="0" i="0">
                          <a:solidFill>
                            <a:srgbClr val="1A1A1A"/>
                          </a:solidFill>
                          <a:latin typeface="Helvetica Neue"/>
                        </a:rPr>
                        <a:t>MRI-Based End-To-End Pediatric Low-Grade Glioma Segmentation and Classification</a:t>
                      </a:r>
                    </a:p>
                  </a:txBody>
                  <a:tcPr marL="45720" marR="45720" marT="18288" marB="18288" anchor="t"/>
                </a:tc>
                <a:tc>
                  <a:txBody>
                    <a:bodyPr wrap="square"/>
                    <a:lstStyle/>
                    <a:p>
                      <a:r>
                        <a:rPr sz="900" b="0" i="0">
                          <a:solidFill>
                            <a:srgbClr val="1A1A1A"/>
                          </a:solidFill>
                          <a:latin typeface="Helvetica Neue"/>
                        </a:rPr>
                        <a:t>Canadian Association of Radiologists journal = Journal l'Association canadienne des radiologistes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44</a:t>
                      </a:r>
                    </a:p>
                  </a:txBody>
                  <a:tcPr marL="45720" marR="45720" marT="18288" marB="18288" anchor="t"/>
                </a:tc>
                <a:tc>
                  <a:txBody>
                    <a:bodyPr wrap="square"/>
                    <a:lstStyle/>
                    <a:p>
                      <a:pPr algn="r"/>
                      <a:r>
                        <a:rPr sz="900" b="0" i="0">
                          <a:solidFill>
                            <a:srgbClr val="1A1A1A"/>
                          </a:solidFill>
                          <a:latin typeface="Helvetica Neue"/>
                        </a:rPr>
                        <a:t>5.5</a:t>
                      </a:r>
                    </a:p>
                  </a:txBody>
                  <a:tcPr marL="45720" marR="45720" marT="18288" marB="18288" anchor="t"/>
                </a:tc>
                <a:tc>
                  <a:txBody>
                    <a:bodyPr wrap="square"/>
                    <a:lstStyle/>
                    <a:p>
                      <a:r>
                        <a:rPr sz="900" b="0" i="0">
                          <a:solidFill>
                            <a:srgbClr val="1A1A1A"/>
                          </a:solidFill>
                          <a:latin typeface="Helvetica Neue"/>
                        </a:rPr>
                        <a:t>Deep learning-based real time detection for cardiac objects with fetal ultrasound video</a:t>
                      </a:r>
                    </a:p>
                  </a:txBody>
                  <a:tcPr marL="45720" marR="45720" marT="18288" marB="18288" anchor="t"/>
                </a:tc>
                <a:tc>
                  <a:txBody>
                    <a:bodyPr wrap="square"/>
                    <a:lstStyle/>
                    <a:p>
                      <a:r>
                        <a:rPr sz="900" b="0" i="0">
                          <a:solidFill>
                            <a:srgbClr val="1A1A1A"/>
                          </a:solidFill>
                          <a:latin typeface="Helvetica Neue"/>
                        </a:rPr>
                        <a:t>Informatics in Medicine Unlocked</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5.2</a:t>
                      </a:r>
                    </a:p>
                  </a:txBody>
                  <a:tcPr marL="45720" marR="45720" marT="18288" marB="18288" anchor="t"/>
                </a:tc>
                <a:tc>
                  <a:txBody>
                    <a:bodyPr wrap="square"/>
                    <a:lstStyle/>
                    <a:p>
                      <a:r>
                        <a:rPr sz="900" b="0" i="0">
                          <a:solidFill>
                            <a:srgbClr val="1A1A1A"/>
                          </a:solidFill>
                          <a:latin typeface="Helvetica Neue"/>
                        </a:rPr>
                        <a:t>Deep learning based synthetic CT from cone beam CT generation for abdominal paediatric radiotherapy</a:t>
                      </a:r>
                    </a:p>
                  </a:txBody>
                  <a:tcPr marL="45720" marR="45720" marT="18288" marB="18288" anchor="t"/>
                </a:tc>
                <a:tc>
                  <a:txBody>
                    <a:bodyPr wrap="square"/>
                    <a:lstStyle/>
                    <a:p>
                      <a:r>
                        <a:rPr sz="900" b="0" i="0">
                          <a:solidFill>
                            <a:srgbClr val="1A1A1A"/>
                          </a:solidFill>
                          <a:latin typeface="Helvetica Neue"/>
                        </a:rPr>
                        <a:t>Physics in Medicine and Biology</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2024</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758184"/>
        </p:xfrm>
        <a:graphic>
          <a:graphicData uri="http://schemas.openxmlformats.org/drawingml/2006/table">
            <a:tbl>
              <a:tblPr firstRow="1" bandRow="1">
                <a:tableStyleId>{5C22544A-7EE6-4342-B048-85BDC9FD1C3A}</a:tableStyleId>
              </a:tblPr>
              <a:tblGrid>
                <a:gridCol w="480060"/>
                <a:gridCol w="409651"/>
                <a:gridCol w="4819178"/>
                <a:gridCol w="2121220"/>
                <a:gridCol w="3538625"/>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88</a:t>
                      </a:r>
                    </a:p>
                  </a:txBody>
                  <a:tcPr marL="45720" marR="45720" marT="18288" marB="18288" anchor="t"/>
                </a:tc>
                <a:tc>
                  <a:txBody>
                    <a:bodyPr wrap="square"/>
                    <a:lstStyle/>
                    <a:p>
                      <a:pPr algn="r"/>
                      <a:r>
                        <a:rPr sz="900" b="0" i="0">
                          <a:solidFill>
                            <a:srgbClr val="1A1A1A"/>
                          </a:solidFill>
                          <a:latin typeface="Helvetica Neue"/>
                        </a:rPr>
                        <a:t>24.1</a:t>
                      </a:r>
                    </a:p>
                  </a:txBody>
                  <a:tcPr marL="45720" marR="45720" marT="18288" marB="18288" anchor="t"/>
                </a:tc>
                <a:tc>
                  <a:txBody>
                    <a:bodyPr wrap="square"/>
                    <a:lstStyle/>
                    <a:p>
                      <a:r>
                        <a:rPr sz="900" b="0" i="0">
                          <a:solidFill>
                            <a:srgbClr val="1A1A1A"/>
                          </a:solidFill>
                          <a:latin typeface="Helvetica Neue"/>
                        </a:rPr>
                        <a:t>Classification of Paediatric Pneumonia Using Modified DenseNet-121 Deep-Learning Model</a:t>
                      </a:r>
                    </a:p>
                  </a:txBody>
                  <a:tcPr marL="45720" marR="45720" marT="18288" marB="18288" anchor="t"/>
                </a:tc>
                <a:tc>
                  <a:txBody>
                    <a:bodyPr wrap="square"/>
                    <a:lstStyle/>
                    <a:p>
                      <a:r>
                        <a:rPr sz="900" b="0" i="0">
                          <a:solidFill>
                            <a:srgbClr val="1A1A1A"/>
                          </a:solidFill>
                          <a:latin typeface="Helvetica Neue"/>
                        </a:rPr>
                        <a:t>IEEE Access</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22.4</a:t>
                      </a:r>
                    </a:p>
                  </a:txBody>
                  <a:tcPr marL="45720" marR="45720" marT="18288" marB="18288" anchor="t"/>
                </a:tc>
                <a:tc>
                  <a:txBody>
                    <a:bodyPr wrap="square"/>
                    <a:lstStyle/>
                    <a:p>
                      <a:r>
                        <a:rPr sz="900" b="0" i="0">
                          <a:solidFill>
                            <a:srgbClr val="1A1A1A"/>
                          </a:solidFill>
                          <a:latin typeface="Helvetica Neue"/>
                        </a:rPr>
                        <a:t>FetalBrainAwareNet: Bridging GANs with anatomical insight for fetal ultrasound brain plane synthesis</a:t>
                      </a:r>
                    </a:p>
                  </a:txBody>
                  <a:tcPr marL="45720" marR="45720" marT="18288" marB="18288" anchor="t"/>
                </a:tc>
                <a:tc>
                  <a:txBody>
                    <a:bodyPr wrap="square"/>
                    <a:lstStyle/>
                    <a:p>
                      <a:r>
                        <a:rPr sz="900" b="0" i="0">
                          <a:solidFill>
                            <a:srgbClr val="1A1A1A"/>
                          </a:solidFill>
                          <a:latin typeface="Helvetica Neue"/>
                        </a:rPr>
                        <a:t>Comput. Medical Imaging Graph.</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25</a:t>
                      </a:r>
                    </a:p>
                  </a:txBody>
                  <a:tcPr marL="45720" marR="45720" marT="18288" marB="18288" anchor="t"/>
                </a:tc>
                <a:tc>
                  <a:txBody>
                    <a:bodyPr wrap="square"/>
                    <a:lstStyle/>
                    <a:p>
                      <a:pPr algn="r"/>
                      <a:r>
                        <a:rPr sz="900" b="0" i="0">
                          <a:solidFill>
                            <a:srgbClr val="1A1A1A"/>
                          </a:solidFill>
                          <a:latin typeface="Helvetica Neue"/>
                        </a:rPr>
                        <a:t>20.1</a:t>
                      </a:r>
                    </a:p>
                  </a:txBody>
                  <a:tcPr marL="45720" marR="45720" marT="18288" marB="18288" anchor="t"/>
                </a:tc>
                <a:tc>
                  <a:txBody>
                    <a:bodyPr wrap="square"/>
                    <a:lstStyle/>
                    <a:p>
                      <a:r>
                        <a:rPr sz="900" b="0" i="0">
                          <a:solidFill>
                            <a:srgbClr val="1A1A1A"/>
                          </a:solidFill>
                          <a:latin typeface="Helvetica Neue"/>
                        </a:rPr>
                        <a:t>Transformer based multi-modal MRI fusion for prediction of post-menstrual age and neonatal brain development analysis</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17.8</a:t>
                      </a:r>
                    </a:p>
                  </a:txBody>
                  <a:tcPr marL="45720" marR="45720" marT="18288" marB="18288" anchor="t"/>
                </a:tc>
                <a:tc>
                  <a:txBody>
                    <a:bodyPr wrap="square"/>
                    <a:lstStyle/>
                    <a:p>
                      <a:r>
                        <a:rPr sz="900" b="0" i="0">
                          <a:solidFill>
                            <a:srgbClr val="1A1A1A"/>
                          </a:solidFill>
                          <a:latin typeface="Helvetica Neue"/>
                        </a:rPr>
                        <a:t>Artificial intelligence assisted common maternal fetal planes prediction from ultrasound images based on information fusion of customized convolutional neural networks</a:t>
                      </a:r>
                    </a:p>
                  </a:txBody>
                  <a:tcPr marL="45720" marR="45720" marT="18288" marB="18288" anchor="t"/>
                </a:tc>
                <a:tc>
                  <a:txBody>
                    <a:bodyPr wrap="square"/>
                    <a:lstStyle/>
                    <a:p>
                      <a:r>
                        <a:rPr sz="900" b="0" i="0">
                          <a:solidFill>
                            <a:srgbClr val="1A1A1A"/>
                          </a:solidFill>
                          <a:latin typeface="Helvetica Neue"/>
                        </a:rPr>
                        <a:t>Frontiers in Medicine</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15.4</a:t>
                      </a:r>
                    </a:p>
                  </a:txBody>
                  <a:tcPr marL="45720" marR="45720" marT="18288" marB="18288" anchor="t"/>
                </a:tc>
                <a:tc>
                  <a:txBody>
                    <a:bodyPr wrap="square"/>
                    <a:lstStyle/>
                    <a:p>
                      <a:r>
                        <a:rPr sz="900" b="0" i="0">
                          <a:solidFill>
                            <a:srgbClr val="1A1A1A"/>
                          </a:solidFill>
                          <a:latin typeface="Helvetica Neue"/>
                        </a:rPr>
                        <a:t>Deep learning denoising reconstruction for improved image quality in fetal cardiac cine MRI</a:t>
                      </a:r>
                    </a:p>
                  </a:txBody>
                  <a:tcPr marL="45720" marR="45720" marT="18288" marB="18288" anchor="t"/>
                </a:tc>
                <a:tc>
                  <a:txBody>
                    <a:bodyPr wrap="square"/>
                    <a:lstStyle/>
                    <a:p>
                      <a:r>
                        <a:rPr sz="900" b="0" i="0">
                          <a:solidFill>
                            <a:srgbClr val="1A1A1A"/>
                          </a:solidFill>
                          <a:latin typeface="Helvetica Neue"/>
                        </a:rPr>
                        <a:t>Frontiers in Cardiovascular Medicine</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Does deep-learning denoising improve fetal cardiac cine MRI?</a:t>
                      </a:r>
                    </a:p>
                  </a:txBody>
                  <a:tcPr marL="45720" marR="45720" marT="18288" marB="18288" anchor="t"/>
                </a:tc>
              </a:tr>
              <a:tr h="329184">
                <a:tc>
                  <a:txBody>
                    <a:bodyPr wrap="square"/>
                    <a:lstStyle/>
                    <a:p>
                      <a:pPr algn="r"/>
                      <a:r>
                        <a:rPr sz="900" b="0" i="0">
                          <a:solidFill>
                            <a:srgbClr val="1A1A1A"/>
                          </a:solidFill>
                          <a:latin typeface="Helvetica Neue"/>
                        </a:rPr>
                        <a:t>30</a:t>
                      </a:r>
                    </a:p>
                  </a:txBody>
                  <a:tcPr marL="45720" marR="45720" marT="18288" marB="18288" anchor="t"/>
                </a:tc>
                <a:tc>
                  <a:txBody>
                    <a:bodyPr wrap="square"/>
                    <a:lstStyle/>
                    <a:p>
                      <a:pPr algn="r"/>
                      <a:r>
                        <a:rPr sz="900" b="0" i="0">
                          <a:solidFill>
                            <a:srgbClr val="1A1A1A"/>
                          </a:solidFill>
                          <a:latin typeface="Helvetica Neue"/>
                        </a:rPr>
                        <a:t>14.8</a:t>
                      </a:r>
                    </a:p>
                  </a:txBody>
                  <a:tcPr marL="45720" marR="45720" marT="18288" marB="18288" anchor="t"/>
                </a:tc>
                <a:tc>
                  <a:txBody>
                    <a:bodyPr wrap="square"/>
                    <a:lstStyle/>
                    <a:p>
                      <a:r>
                        <a:rPr sz="900" b="0" i="0">
                          <a:solidFill>
                            <a:srgbClr val="1A1A1A"/>
                          </a:solidFill>
                          <a:latin typeface="Helvetica Neue"/>
                        </a:rPr>
                        <a:t>RTSeg-net: A lightweight network for real-time segmentation of fetal head and pubic symphysis from intrapartum ultrasound images</a:t>
                      </a:r>
                    </a:p>
                  </a:txBody>
                  <a:tcPr marL="45720" marR="45720" marT="18288" marB="18288" anchor="t"/>
                </a:tc>
                <a:tc>
                  <a:txBody>
                    <a:bodyPr wrap="square"/>
                    <a:lstStyle/>
                    <a:p>
                      <a:r>
                        <a:rPr sz="900" b="0" i="0">
                          <a:solidFill>
                            <a:srgbClr val="1A1A1A"/>
                          </a:solidFill>
                          <a:latin typeface="Helvetica Neue"/>
                        </a:rPr>
                        <a:t>Comput. Biol. Medicine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26</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r>
                        <a:rPr sz="900" b="0" i="0">
                          <a:solidFill>
                            <a:srgbClr val="1A1A1A"/>
                          </a:solidFill>
                          <a:latin typeface="Helvetica Neue"/>
                        </a:rPr>
                        <a:t>Deep learning-based automated lesion segmentation on pediatric focal cortical dysplasia II preoperative MRI: a reliable approach</a:t>
                      </a:r>
                    </a:p>
                  </a:txBody>
                  <a:tcPr marL="45720" marR="45720" marT="18288" marB="18288" anchor="t"/>
                </a:tc>
                <a:tc>
                  <a:txBody>
                    <a:bodyPr wrap="square"/>
                    <a:lstStyle/>
                    <a:p>
                      <a:r>
                        <a:rPr sz="900" b="0" i="0">
                          <a:solidFill>
                            <a:srgbClr val="1A1A1A"/>
                          </a:solidFill>
                          <a:latin typeface="Helvetica Neue"/>
                        </a:rPr>
                        <a:t>Insights into Imaging</a:t>
                      </a:r>
                    </a:p>
                  </a:txBody>
                  <a:tcPr marL="45720" marR="45720" marT="18288" marB="18288" anchor="t"/>
                </a:tc>
                <a:tc>
                  <a:txBody>
                    <a:bodyPr wrap="square"/>
                    <a:lstStyle/>
                    <a:p>
                      <a:r>
                        <a:rPr sz="900" b="0" i="1">
                          <a:solidFill>
                            <a:srgbClr val="1A1A1A"/>
                          </a:solidFill>
                          <a:latin typeface="Helvetica Neue"/>
                        </a:rPr>
                        <a:t>epilepsy</a:t>
                      </a:r>
                      <a:r>
                        <a:rPr sz="900" b="0" i="0">
                          <a:solidFill>
                            <a:srgbClr val="1A1A1A"/>
                          </a:solidFill>
                          <a:latin typeface="Helvetica Neue"/>
                        </a:rPr>
                        <a:t>: Can focal cortical dysplasia lesions be found automatically on preoperative pediatric MRI?</a:t>
                      </a:r>
                    </a:p>
                  </a:txBody>
                  <a:tcPr marL="45720" marR="45720" marT="18288" marB="18288" anchor="t"/>
                </a:tc>
              </a:tr>
              <a:tr h="466344">
                <a:tc>
                  <a:txBody>
                    <a:bodyPr wrap="square"/>
                    <a:lstStyle/>
                    <a:p>
                      <a:pPr algn="r"/>
                      <a:r>
                        <a:rPr sz="900" b="0" i="0">
                          <a:solidFill>
                            <a:srgbClr val="1A1A1A"/>
                          </a:solidFill>
                          <a:latin typeface="Helvetica Neue"/>
                        </a:rPr>
                        <a:t>23</a:t>
                      </a:r>
                    </a:p>
                  </a:txBody>
                  <a:tcPr marL="45720" marR="45720" marT="18288" marB="18288" anchor="t"/>
                </a:tc>
                <a:tc>
                  <a:txBody>
                    <a:bodyPr wrap="square"/>
                    <a:lstStyle/>
                    <a:p>
                      <a:pPr algn="r"/>
                      <a:r>
                        <a:rPr sz="900" b="0" i="0">
                          <a:solidFill>
                            <a:srgbClr val="1A1A1A"/>
                          </a:solidFill>
                          <a:latin typeface="Helvetica Neue"/>
                        </a:rPr>
                        <a:t>5.8</a:t>
                      </a:r>
                    </a:p>
                  </a:txBody>
                  <a:tcPr marL="45720" marR="45720" marT="18288" marB="18288" anchor="t"/>
                </a:tc>
                <a:tc>
                  <a:txBody>
                    <a:bodyPr wrap="square"/>
                    <a:lstStyle/>
                    <a:p>
                      <a:r>
                        <a:rPr sz="900" b="0" i="0">
                          <a:solidFill>
                            <a:srgbClr val="1A1A1A"/>
                          </a:solidFill>
                          <a:latin typeface="Helvetica Neue"/>
                        </a:rPr>
                        <a:t>Multiparametric MRI-Based Interpretable Radiomics Machine Learning Model Differentiates Medulloblastoma and Ependymoma in Children: A Two-Center Study.</a:t>
                      </a:r>
                    </a:p>
                  </a:txBody>
                  <a:tcPr marL="45720" marR="45720" marT="18288" marB="18288" anchor="t"/>
                </a:tc>
                <a:tc>
                  <a:txBody>
                    <a:bodyPr wrap="square"/>
                    <a:lstStyle/>
                    <a:p>
                      <a:r>
                        <a:rPr sz="900" b="0" i="0">
                          <a:solidFill>
                            <a:srgbClr val="1A1A1A"/>
                          </a:solidFill>
                          <a:latin typeface="Helvetica Neue"/>
                        </a:rPr>
                        <a:t>Academic Radiology</a:t>
                      </a:r>
                    </a:p>
                  </a:txBody>
                  <a:tcPr marL="45720" marR="45720" marT="18288" marB="18288" anchor="t"/>
                </a:tc>
                <a:tc>
                  <a:txBody>
                    <a:bodyPr wrap="square"/>
                    <a:lstStyle/>
                    <a:p>
                      <a:r>
                        <a:rPr sz="900" b="0" i="1">
                          <a:solidFill>
                            <a:srgbClr val="1A1A1A"/>
                          </a:solidFill>
                          <a:latin typeface="Helvetica Neue"/>
                        </a:rPr>
                        <a:t>radiomics</a:t>
                      </a:r>
                    </a:p>
                  </a:txBody>
                  <a:tcPr marL="45720" marR="45720" marT="18288" marB="18288" anchor="t"/>
                </a:tc>
              </a:tr>
              <a:tr h="329184">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4.9</a:t>
                      </a:r>
                    </a:p>
                  </a:txBody>
                  <a:tcPr marL="45720" marR="45720" marT="18288" marB="18288" anchor="t"/>
                </a:tc>
                <a:tc>
                  <a:txBody>
                    <a:bodyPr wrap="square"/>
                    <a:lstStyle/>
                    <a:p>
                      <a:r>
                        <a:rPr sz="900" b="0" i="0">
                          <a:solidFill>
                            <a:srgbClr val="1A1A1A"/>
                          </a:solidFill>
                          <a:latin typeface="Helvetica Neue"/>
                        </a:rPr>
                        <a:t>Explainable AI in Deep Learning Based Classification of Fetal Ultrasound Image Planes</a:t>
                      </a:r>
                    </a:p>
                  </a:txBody>
                  <a:tcPr marL="45720" marR="45720" marT="18288" marB="18288" anchor="t"/>
                </a:tc>
                <a:tc>
                  <a:txBody>
                    <a:bodyPr wrap="square"/>
                    <a:lstStyle/>
                    <a:p>
                      <a:r>
                        <a:rPr sz="900" b="0" i="0">
                          <a:solidFill>
                            <a:srgbClr val="1A1A1A"/>
                          </a:solidFill>
                          <a:latin typeface="Helvetica Neue"/>
                        </a:rPr>
                        <a:t>Procedia Computer Science</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4.6</a:t>
                      </a:r>
                    </a:p>
                  </a:txBody>
                  <a:tcPr marL="45720" marR="45720" marT="18288" marB="18288" anchor="t"/>
                </a:tc>
                <a:tc>
                  <a:txBody>
                    <a:bodyPr wrap="square"/>
                    <a:lstStyle/>
                    <a:p>
                      <a:r>
                        <a:rPr sz="900" b="0" i="0">
                          <a:solidFill>
                            <a:srgbClr val="1A1A1A"/>
                          </a:solidFill>
                          <a:latin typeface="Helvetica Neue"/>
                        </a:rPr>
                        <a:t>A deep learning framework for identifying and segmenting three vessels in fetal heart ultrasound images</a:t>
                      </a:r>
                    </a:p>
                  </a:txBody>
                  <a:tcPr marL="45720" marR="45720" marT="18288" marB="18288" anchor="t"/>
                </a:tc>
                <a:tc>
                  <a:txBody>
                    <a:bodyPr wrap="square"/>
                    <a:lstStyle/>
                    <a:p>
                      <a:r>
                        <a:rPr sz="900" b="0" i="0">
                          <a:solidFill>
                            <a:srgbClr val="1A1A1A"/>
                          </a:solidFill>
                          <a:latin typeface="Helvetica Neue"/>
                        </a:rPr>
                        <a:t>BioMedical Engineering OnLine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2025</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895343"/>
        </p:xfrm>
        <a:graphic>
          <a:graphicData uri="http://schemas.openxmlformats.org/drawingml/2006/table">
            <a:tbl>
              <a:tblPr firstRow="1" bandRow="1">
                <a:tableStyleId>{5C22544A-7EE6-4342-B048-85BDC9FD1C3A}</a:tableStyleId>
              </a:tblPr>
              <a:tblGrid>
                <a:gridCol w="480060"/>
                <a:gridCol w="409651"/>
                <a:gridCol w="4819178"/>
                <a:gridCol w="2121220"/>
                <a:gridCol w="3538625"/>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72.1</a:t>
                      </a:r>
                    </a:p>
                  </a:txBody>
                  <a:tcPr marL="45720" marR="45720" marT="18288" marB="18288" anchor="t"/>
                </a:tc>
                <a:tc>
                  <a:txBody>
                    <a:bodyPr wrap="square"/>
                    <a:lstStyle/>
                    <a:p>
                      <a:r>
                        <a:rPr sz="900" b="0" i="0">
                          <a:solidFill>
                            <a:srgbClr val="1A1A1A"/>
                          </a:solidFill>
                          <a:latin typeface="Helvetica Neue"/>
                        </a:rPr>
                        <a:t>M-CNN-RF: A hybrid deep learning model for accurate pediatric skeletal age estimation using hand bone radiographs</a:t>
                      </a:r>
                    </a:p>
                  </a:txBody>
                  <a:tcPr marL="45720" marR="45720" marT="18288" marB="18288" anchor="t"/>
                </a:tc>
                <a:tc>
                  <a:txBody>
                    <a:bodyPr wrap="square"/>
                    <a:lstStyle/>
                    <a:p>
                      <a:r>
                        <a:rPr sz="900" b="0" i="0">
                          <a:solidFill>
                            <a:srgbClr val="1A1A1A"/>
                          </a:solidFill>
                          <a:latin typeface="Helvetica Neue"/>
                        </a:rPr>
                        <a:t>Alexandria Engineering Journal</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329184">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24.7</a:t>
                      </a:r>
                    </a:p>
                  </a:txBody>
                  <a:tcPr marL="45720" marR="45720" marT="18288" marB="18288" anchor="t"/>
                </a:tc>
                <a:tc>
                  <a:txBody>
                    <a:bodyPr wrap="square"/>
                    <a:lstStyle/>
                    <a:p>
                      <a:r>
                        <a:rPr sz="900" b="0" i="0">
                          <a:solidFill>
                            <a:srgbClr val="1A1A1A"/>
                          </a:solidFill>
                          <a:latin typeface="Helvetica Neue"/>
                        </a:rPr>
                        <a:t>Advancing prenatal healthcare by explainable AI enhanced fetal ultrasound image segmentation using U-Net++ with attention mechanisms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19.7</a:t>
                      </a:r>
                    </a:p>
                  </a:txBody>
                  <a:tcPr marL="45720" marR="45720" marT="18288" marB="18288" anchor="t"/>
                </a:tc>
                <a:tc>
                  <a:txBody>
                    <a:bodyPr wrap="square"/>
                    <a:lstStyle/>
                    <a:p>
                      <a:r>
                        <a:rPr sz="900" b="0" i="0">
                          <a:solidFill>
                            <a:srgbClr val="1A1A1A"/>
                          </a:solidFill>
                          <a:latin typeface="Helvetica Neue"/>
                        </a:rPr>
                        <a:t>FetalMovNet: A Novel Deep Learning Model Based on Attention Mechanism for Fetal Movement Classification in US</a:t>
                      </a:r>
                    </a:p>
                  </a:txBody>
                  <a:tcPr marL="45720" marR="45720" marT="18288" marB="18288" anchor="t"/>
                </a:tc>
                <a:tc>
                  <a:txBody>
                    <a:bodyPr wrap="square"/>
                    <a:lstStyle/>
                    <a:p>
                      <a:r>
                        <a:rPr sz="900" b="0" i="0">
                          <a:solidFill>
                            <a:srgbClr val="1A1A1A"/>
                          </a:solidFill>
                          <a:latin typeface="Helvetica Neue"/>
                        </a:rPr>
                        <a:t>IEEE Access</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28</a:t>
                      </a:r>
                    </a:p>
                  </a:txBody>
                  <a:tcPr marL="45720" marR="45720" marT="18288" marB="18288" anchor="t"/>
                </a:tc>
                <a:tc>
                  <a:txBody>
                    <a:bodyPr wrap="square"/>
                    <a:lstStyle/>
                    <a:p>
                      <a:pPr algn="r"/>
                      <a:r>
                        <a:rPr sz="900" b="0" i="0">
                          <a:solidFill>
                            <a:srgbClr val="1A1A1A"/>
                          </a:solidFill>
                          <a:latin typeface="Helvetica Neue"/>
                        </a:rPr>
                        <a:t>13.5</a:t>
                      </a:r>
                    </a:p>
                  </a:txBody>
                  <a:tcPr marL="45720" marR="45720" marT="18288" marB="18288" anchor="t"/>
                </a:tc>
                <a:tc>
                  <a:txBody>
                    <a:bodyPr wrap="square"/>
                    <a:lstStyle/>
                    <a:p>
                      <a:r>
                        <a:rPr sz="900" b="0" i="0">
                          <a:solidFill>
                            <a:srgbClr val="1A1A1A"/>
                          </a:solidFill>
                          <a:latin typeface="Helvetica Neue"/>
                        </a:rPr>
                        <a:t>Multiparametric MRI along with machine learning predicts prognosis and treatment response in pediatric low-grade glioma</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11.6</a:t>
                      </a:r>
                    </a:p>
                  </a:txBody>
                  <a:tcPr marL="45720" marR="45720" marT="18288" marB="18288" anchor="t"/>
                </a:tc>
                <a:tc>
                  <a:txBody>
                    <a:bodyPr wrap="square"/>
                    <a:lstStyle/>
                    <a:p>
                      <a:r>
                        <a:rPr sz="900" b="0" i="0">
                          <a:solidFill>
                            <a:srgbClr val="1A1A1A"/>
                          </a:solidFill>
                          <a:latin typeface="Helvetica Neue"/>
                        </a:rPr>
                        <a:t>Association between deep learning radiomics based on placental MRI and preeclampsia with fetal growth restriction: A multicenter study.</a:t>
                      </a:r>
                    </a:p>
                  </a:txBody>
                  <a:tcPr marL="45720" marR="45720" marT="18288" marB="18288" anchor="t"/>
                </a:tc>
                <a:tc>
                  <a:txBody>
                    <a:bodyPr wrap="square"/>
                    <a:lstStyle/>
                    <a:p>
                      <a:r>
                        <a:rPr sz="900" b="0" i="0">
                          <a:solidFill>
                            <a:srgbClr val="1A1A1A"/>
                          </a:solidFill>
                          <a:latin typeface="Helvetica Neue"/>
                        </a:rPr>
                        <a:t>European Journal of Radiology</a:t>
                      </a:r>
                    </a:p>
                  </a:txBody>
                  <a:tcPr marL="45720" marR="45720" marT="18288" marB="18288" anchor="t"/>
                </a:tc>
                <a:tc>
                  <a:txBody>
                    <a:bodyPr wrap="square"/>
                    <a:lstStyle/>
                    <a:p>
                      <a:r>
                        <a:rPr sz="900" b="0" i="1">
                          <a:solidFill>
                            <a:srgbClr val="1A1A1A"/>
                          </a:solidFill>
                          <a:latin typeface="Helvetica Neue"/>
                        </a:rPr>
                        <a:t>radiomics</a:t>
                      </a:r>
                    </a:p>
                  </a:txBody>
                  <a:tcPr marL="45720" marR="45720" marT="18288" marB="18288" anchor="t"/>
                </a:tc>
              </a:tr>
              <a:tr h="466344">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9.2</a:t>
                      </a:r>
                    </a:p>
                  </a:txBody>
                  <a:tcPr marL="45720" marR="45720" marT="18288" marB="18288" anchor="t"/>
                </a:tc>
                <a:tc>
                  <a:txBody>
                    <a:bodyPr wrap="square"/>
                    <a:lstStyle/>
                    <a:p>
                      <a:r>
                        <a:rPr sz="900" b="0" i="0">
                          <a:solidFill>
                            <a:srgbClr val="1A1A1A"/>
                          </a:solidFill>
                          <a:latin typeface="Helvetica Neue"/>
                        </a:rPr>
                        <a:t>Explainable artificial intelligence for pneumonia classification: Clinical insights into deformable prototypical part network in pediatric chest x-ray images.</a:t>
                      </a:r>
                    </a:p>
                  </a:txBody>
                  <a:tcPr marL="45720" marR="45720" marT="18288" marB="18288" anchor="t"/>
                </a:tc>
                <a:tc>
                  <a:txBody>
                    <a:bodyPr wrap="square"/>
                    <a:lstStyle/>
                    <a:p>
                      <a:r>
                        <a:rPr sz="900" b="0" i="0">
                          <a:solidFill>
                            <a:srgbClr val="1A1A1A"/>
                          </a:solidFill>
                          <a:latin typeface="Helvetica Neue"/>
                        </a:rPr>
                        <a:t>Journal of Medical Imaging and Radiation Sciences</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603503">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8.3</a:t>
                      </a:r>
                    </a:p>
                  </a:txBody>
                  <a:tcPr marL="45720" marR="45720" marT="18288" marB="18288" anchor="t"/>
                </a:tc>
                <a:tc>
                  <a:txBody>
                    <a:bodyPr wrap="square"/>
                    <a:lstStyle/>
                    <a:p>
                      <a:r>
                        <a:rPr sz="900" b="0" i="0">
                          <a:solidFill>
                            <a:srgbClr val="1A1A1A"/>
                          </a:solidFill>
                          <a:latin typeface="Helvetica Neue"/>
                        </a:rPr>
                        <a:t>Prenatal detection of congenital heart defects using the deep learning-based image and video analysis: protocol for Clinical Artificial Intelligence in Fetal Echocardiography (CAIFE), an international multicentre multidisciplinary study</a:t>
                      </a:r>
                    </a:p>
                  </a:txBody>
                  <a:tcPr marL="45720" marR="45720" marT="18288" marB="18288" anchor="t"/>
                </a:tc>
                <a:tc>
                  <a:txBody>
                    <a:bodyPr wrap="square"/>
                    <a:lstStyle/>
                    <a:p>
                      <a:r>
                        <a:rPr sz="900" b="0" i="0">
                          <a:solidFill>
                            <a:srgbClr val="1A1A1A"/>
                          </a:solidFill>
                          <a:latin typeface="Helvetica Neue"/>
                        </a:rPr>
                        <a:t>BMJ Open</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Can deep learning on prenatal ultrasound video detect congenital heart defects?</a:t>
                      </a:r>
                    </a:p>
                  </a:txBody>
                  <a:tcPr marL="45720" marR="45720" marT="18288" marB="18288" anchor="t"/>
                </a:tc>
              </a:tr>
              <a:tr h="32918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7.1</a:t>
                      </a:r>
                    </a:p>
                  </a:txBody>
                  <a:tcPr marL="45720" marR="45720" marT="18288" marB="18288" anchor="t"/>
                </a:tc>
                <a:tc>
                  <a:txBody>
                    <a:bodyPr wrap="square"/>
                    <a:lstStyle/>
                    <a:p>
                      <a:r>
                        <a:rPr sz="900" b="0" i="0">
                          <a:solidFill>
                            <a:srgbClr val="1A1A1A"/>
                          </a:solidFill>
                          <a:latin typeface="Helvetica Neue"/>
                        </a:rPr>
                        <a:t>Evaluation of Image Quality and Scan Time Efficiency in Accelerated 3D T1-Weighted Pediatric Brain MRI Using Deep Learning-Based Reconstruction</a:t>
                      </a:r>
                    </a:p>
                  </a:txBody>
                  <a:tcPr marL="45720" marR="45720" marT="18288" marB="18288" anchor="t"/>
                </a:tc>
                <a:tc>
                  <a:txBody>
                    <a:bodyPr wrap="square"/>
                    <a:lstStyle/>
                    <a:p>
                      <a:r>
                        <a:rPr sz="900" b="0" i="0">
                          <a:solidFill>
                            <a:srgbClr val="1A1A1A"/>
                          </a:solidFill>
                          <a:latin typeface="Helvetica Neue"/>
                        </a:rPr>
                        <a:t>Korean Journal of Radiology</a:t>
                      </a:r>
                    </a:p>
                  </a:txBody>
                  <a:tcPr marL="45720" marR="45720" marT="18288" marB="18288" anchor="t"/>
                </a:tc>
                <a:tc>
                  <a:txBody>
                    <a:bodyPr wrap="square"/>
                    <a:lstStyle/>
                    <a:p>
                      <a:r>
                        <a:rPr sz="900" b="0" i="1">
                          <a:solidFill>
                            <a:srgbClr val="1A1A1A"/>
                          </a:solidFill>
                          <a:latin typeface="Helvetica Neue"/>
                        </a:rPr>
                        <a:t>reconstruction</a:t>
                      </a:r>
                    </a:p>
                  </a:txBody>
                  <a:tcPr marL="45720" marR="45720" marT="18288" marB="18288" anchor="t"/>
                </a:tc>
              </a:tr>
              <a:tr h="32918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5.4</a:t>
                      </a:r>
                    </a:p>
                  </a:txBody>
                  <a:tcPr marL="45720" marR="45720" marT="18288" marB="18288" anchor="t"/>
                </a:tc>
                <a:tc>
                  <a:txBody>
                    <a:bodyPr wrap="square"/>
                    <a:lstStyle/>
                    <a:p>
                      <a:r>
                        <a:rPr sz="900" b="0" i="0">
                          <a:solidFill>
                            <a:srgbClr val="1A1A1A"/>
                          </a:solidFill>
                          <a:latin typeface="Helvetica Neue"/>
                        </a:rPr>
                        <a:t>BO-CLAHE enhancing neonatal chest X-ray image quality for improved lesion classification</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classification</a:t>
                      </a:r>
                    </a:p>
                  </a:txBody>
                  <a:tcPr marL="45720" marR="45720" marT="18288" marB="18288" anchor="t"/>
                </a:tc>
              </a:tr>
              <a:tr h="329184">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5.1</a:t>
                      </a:r>
                    </a:p>
                  </a:txBody>
                  <a:tcPr marL="45720" marR="45720" marT="18288" marB="18288" anchor="t"/>
                </a:tc>
                <a:tc>
                  <a:txBody>
                    <a:bodyPr wrap="square"/>
                    <a:lstStyle/>
                    <a:p>
                      <a:r>
                        <a:rPr sz="900" b="0" i="0">
                          <a:solidFill>
                            <a:srgbClr val="1A1A1A"/>
                          </a:solidFill>
                          <a:latin typeface="Helvetica Neue"/>
                        </a:rPr>
                        <a:t>Real-life benefit of artificial intelligence-based fracture detection in a pediatric emergency department</a:t>
                      </a:r>
                    </a:p>
                  </a:txBody>
                  <a:tcPr marL="45720" marR="45720" marT="18288" marB="18288" anchor="t"/>
                </a:tc>
                <a:tc>
                  <a:txBody>
                    <a:bodyPr wrap="square"/>
                    <a:lstStyle/>
                    <a:p>
                      <a:r>
                        <a:rPr sz="900" b="0" i="0">
                          <a:solidFill>
                            <a:srgbClr val="1A1A1A"/>
                          </a:solidFill>
                          <a:latin typeface="Helvetica Neue"/>
                        </a:rPr>
                        <a:t>European Radiology</a:t>
                      </a:r>
                    </a:p>
                  </a:txBody>
                  <a:tcPr marL="45720" marR="45720" marT="18288" marB="18288" anchor="t"/>
                </a:tc>
                <a:tc>
                  <a:txBody>
                    <a:bodyPr wrap="square"/>
                    <a:lstStyle/>
                    <a:p>
                      <a:r>
                        <a:rPr sz="900" b="0" i="1">
                          <a:solidFill>
                            <a:srgbClr val="1A1A1A"/>
                          </a:solidFill>
                          <a:latin typeface="Helvetica Neue"/>
                        </a:rPr>
                        <a:t>fracture</a:t>
                      </a:r>
                      <a:r>
                        <a:rPr sz="900" b="0" i="0">
                          <a:solidFill>
                            <a:srgbClr val="1A1A1A"/>
                          </a:solidFill>
                          <a:latin typeface="Helvetica Neue"/>
                        </a:rPr>
                        <a:t>: Does AI fracture detection help residents in a real pediatric emergency department?</a:t>
                      </a:r>
                    </a:p>
                  </a:txBody>
                  <a:tcPr marL="45720" marR="45720" marT="18288" marB="18288" anchor="t"/>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2026 (year to date)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2" cy="5266940"/>
        </p:xfrm>
        <a:graphic>
          <a:graphicData uri="http://schemas.openxmlformats.org/drawingml/2006/table">
            <a:tbl>
              <a:tblPr firstRow="1" bandRow="1">
                <a:tableStyleId>{5C22544A-7EE6-4342-B048-85BDC9FD1C3A}</a:tableStyleId>
              </a:tblPr>
              <a:tblGrid>
                <a:gridCol w="480060"/>
                <a:gridCol w="409651"/>
                <a:gridCol w="3425834"/>
                <a:gridCol w="1511397"/>
                <a:gridCol w="1511397"/>
                <a:gridCol w="4030393"/>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45.1</a:t>
                      </a:r>
                    </a:p>
                  </a:txBody>
                  <a:tcPr marL="45720" marR="45720" marT="18288" marB="18288" anchor="t"/>
                </a:tc>
                <a:tc>
                  <a:txBody>
                    <a:bodyPr wrap="square"/>
                    <a:lstStyle/>
                    <a:p>
                      <a:r>
                        <a:rPr sz="900" b="0" i="0">
                          <a:solidFill>
                            <a:srgbClr val="1A1A1A"/>
                          </a:solidFill>
                          <a:latin typeface="Helvetica Neue"/>
                        </a:rPr>
                        <a:t>Wavelet-Based Frequency Replacement and Edge Enhancement for Semi-Supervised Fetal Ultrasound Image Segmentation</a:t>
                      </a:r>
                    </a:p>
                  </a:txBody>
                  <a:tcPr marL="45720" marR="45720" marT="18288" marB="18288" anchor="t"/>
                </a:tc>
                <a:tc>
                  <a:txBody>
                    <a:bodyPr wrap="square"/>
                    <a:lstStyle/>
                    <a:p>
                      <a:r>
                        <a:rPr sz="900" b="0" i="0">
                          <a:solidFill>
                            <a:srgbClr val="1A1A1A"/>
                          </a:solidFill>
                          <a:latin typeface="Helvetica Neue"/>
                        </a:rPr>
                        <a:t>Journal of ultrasound in medicine</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fetal head and pubic symphysis be segmented on ultrasound from only a few labeled images, using frequency and edge cues to learn from unlabeled ones?</a:t>
                      </a:r>
                    </a:p>
                  </a:txBody>
                  <a:tcPr marL="45720" marR="45720" marT="18288" marB="18288" anchor="t"/>
                </a:tc>
              </a:tr>
              <a:tr h="603503">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BIBSNet: A deep learning baby image brain segmentation network for MRI scans</a:t>
                      </a:r>
                    </a:p>
                  </a:txBody>
                  <a:tcPr marL="45720" marR="45720" marT="18288" marB="18288" anchor="t"/>
                </a:tc>
                <a:tc>
                  <a:txBody>
                    <a:bodyPr wrap="square"/>
                    <a:lstStyle/>
                    <a:p>
                      <a:r>
                        <a:rPr sz="900" b="0" i="0">
                          <a:solidFill>
                            <a:srgbClr val="1A1A1A"/>
                          </a:solidFill>
                          <a:latin typeface="Helvetica Neue"/>
                        </a:rPr>
                        <a:t>Developmental Cognitive Neuroscience</a:t>
                      </a:r>
                    </a:p>
                  </a:txBody>
                  <a:tcPr marL="45720" marR="45720" marT="18288" marB="18288" anchor="t"/>
                </a:tc>
                <a:tc>
                  <a:txBody>
                    <a:bodyPr wrap="square"/>
                    <a:lstStyle/>
                    <a:p>
                      <a:r>
                        <a:rPr sz="900" b="0" i="0">
                          <a:solidFill>
                            <a:srgbClr val="1A1A1A"/>
                          </a:solidFill>
                          <a:latin typeface="Helvetica Neue"/>
                        </a:rPr>
                        <a:t>neurodevelopment (infant brain)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network segment infant brain MRI (gray and white matter, deep structures) across the first years of life, when tissue contrast is still changing? (BIBSNet, open source)</a:t>
                      </a:r>
                    </a:p>
                  </a:txBody>
                  <a:tcPr marL="45720" marR="45720" marT="18288" marB="18288" anchor="t"/>
                </a:tc>
              </a:tr>
              <a:tr h="603503">
                <a:tc>
                  <a:txBody>
                    <a:bodyPr wrap="square"/>
                    <a:lstStyle/>
                    <a:p>
                      <a:pPr algn="r"/>
                      <a:r>
                        <a:rPr sz="900" b="0" i="0">
                          <a:solidFill>
                            <a:srgbClr val="1A1A1A"/>
                          </a:solidFill>
                          <a:latin typeface="Helvetica Neue"/>
                        </a:rPr>
                        <a:t>4</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Beyond Benchmarks of IUGC: Rethinking Requirements of Deep Learning Methods for Intrapartum Ultrasound Biometry from Fetal Ultrasound Videos</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0">
                          <a:solidFill>
                            <a:srgbClr val="1A1A1A"/>
                          </a:solidFill>
                          <a:latin typeface="Helvetica Neue"/>
                        </a:rPr>
                        <a:t>labor / intrapartum (prenatal)</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What do deep-learning methods need to measure labor progress automatically from intrapartum ultrasound video where trained sonographers are scarce? (IUGC challenge, 774 videos)</a:t>
                      </a:r>
                    </a:p>
                  </a:txBody>
                  <a:tcPr marL="45720" marR="45720" marT="18288" marB="18288" anchor="t"/>
                </a:tc>
              </a:tr>
              <a:tr h="603503">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26.2</a:t>
                      </a:r>
                    </a:p>
                  </a:txBody>
                  <a:tcPr marL="45720" marR="45720" marT="18288" marB="18288" anchor="t"/>
                </a:tc>
                <a:tc>
                  <a:txBody>
                    <a:bodyPr wrap="square"/>
                    <a:lstStyle/>
                    <a:p>
                      <a:r>
                        <a:rPr sz="900" b="0" i="0">
                          <a:solidFill>
                            <a:srgbClr val="1A1A1A"/>
                          </a:solidFill>
                          <a:latin typeface="Helvetica Neue"/>
                        </a:rPr>
                        <a:t>Zero-shot performance of a general-purpose vision-language model for pediatric appendicitis diagnosis.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0">
                          <a:solidFill>
                            <a:srgbClr val="1A1A1A"/>
                          </a:solidFill>
                          <a:latin typeface="Helvetica Neue"/>
                        </a:rPr>
                        <a:t>appendicitis / intussusception / NEC</a:t>
                      </a:r>
                    </a:p>
                  </a:txBody>
                  <a:tcPr marL="45720" marR="45720" marT="18288" marB="18288" anchor="t"/>
                </a:tc>
                <a:tc>
                  <a:txBody>
                    <a:bodyPr wrap="square"/>
                    <a:lstStyle/>
                    <a:p>
                      <a:r>
                        <a:rPr sz="900" b="0" i="1">
                          <a:solidFill>
                            <a:srgbClr val="1A1A1A"/>
                          </a:solidFill>
                          <a:latin typeface="Helvetica Neue"/>
                        </a:rPr>
                        <a:t>vision-language</a:t>
                      </a:r>
                      <a:r>
                        <a:rPr sz="900" b="0" i="0">
                          <a:solidFill>
                            <a:srgbClr val="1A1A1A"/>
                          </a:solidFill>
                          <a:latin typeface="Helvetica Neue"/>
                        </a:rPr>
                        <a:t>: Can a general-purpose vision-language model (Llama 4), with no task-specific training, diagnose pediatric appendicitis from ultrasound images, report text and clinical data? (294 patients)</a:t>
                      </a:r>
                    </a:p>
                  </a:txBody>
                  <a:tcPr marL="45720" marR="45720" marT="18288" marB="18288" anchor="t"/>
                </a:tc>
              </a:tr>
              <a:tr h="466344">
                <a:tc>
                  <a:txBody>
                    <a:bodyPr wrap="square"/>
                    <a:lstStyle/>
                    <a:p>
                      <a:pPr algn="r"/>
                      <a:r>
                        <a:rPr sz="900" b="0" i="0">
                          <a:solidFill>
                            <a:srgbClr val="1A1A1A"/>
                          </a:solidFill>
                          <a:latin typeface="Helvetica Neue"/>
                        </a:rPr>
                        <a:t>5</a:t>
                      </a:r>
                    </a:p>
                  </a:txBody>
                  <a:tcPr marL="45720" marR="45720" marT="18288" marB="18288" anchor="t"/>
                </a:tc>
                <a:tc>
                  <a:txBody>
                    <a:bodyPr wrap="square"/>
                    <a:lstStyle/>
                    <a:p>
                      <a:pPr algn="r"/>
                      <a:r>
                        <a:rPr sz="900" b="0" i="0">
                          <a:solidFill>
                            <a:srgbClr val="1A1A1A"/>
                          </a:solidFill>
                          <a:latin typeface="Helvetica Neue"/>
                        </a:rPr>
                        <a:t>24.1</a:t>
                      </a:r>
                    </a:p>
                  </a:txBody>
                  <a:tcPr marL="45720" marR="45720" marT="18288" marB="18288" anchor="t"/>
                </a:tc>
                <a:tc>
                  <a:txBody>
                    <a:bodyPr wrap="square"/>
                    <a:lstStyle/>
                    <a:p>
                      <a:r>
                        <a:rPr sz="900" b="0" i="0">
                          <a:solidFill>
                            <a:srgbClr val="1A1A1A"/>
                          </a:solidFill>
                          <a:latin typeface="Helvetica Neue"/>
                        </a:rPr>
                        <a:t>Deep learning assessment of fetal brain maturation on 3D ultrasound volumes in early-onset fetal growth restriction</a:t>
                      </a:r>
                    </a:p>
                  </a:txBody>
                  <a:tcPr marL="45720" marR="45720" marT="18288" marB="18288" anchor="t"/>
                </a:tc>
                <a:tc>
                  <a:txBody>
                    <a:bodyPr wrap="square"/>
                    <a:lstStyle/>
                    <a:p>
                      <a:r>
                        <a:rPr sz="900" b="0" i="0">
                          <a:solidFill>
                            <a:srgbClr val="1A1A1A"/>
                          </a:solidFill>
                          <a:latin typeface="Helvetica Neue"/>
                        </a:rPr>
                        <a:t>Ultrasound in Obstetrics and Gynecology</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deep learning grade fetal brain maturation on 3D ultrasound in early-onset growth restriction, and does a maturation delay predict neonatal complications?</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18.1</a:t>
                      </a:r>
                    </a:p>
                  </a:txBody>
                  <a:tcPr marL="45720" marR="45720" marT="18288" marB="18288" anchor="t"/>
                </a:tc>
                <a:tc>
                  <a:txBody>
                    <a:bodyPr wrap="square"/>
                    <a:lstStyle/>
                    <a:p>
                      <a:r>
                        <a:rPr sz="900" b="0" i="0">
                          <a:solidFill>
                            <a:srgbClr val="1A1A1A"/>
                          </a:solidFill>
                          <a:latin typeface="Helvetica Neue"/>
                        </a:rPr>
                        <a:t>A multi-task deep learning and radiomics framework for fetal anatomical structure detection and classification in ultrasound imaging</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one model locate and label nine fetal brain and craniofacial structures on first-trimester ultrasound to support early anomaly screening? (4,532 scans, 9 centers)</a:t>
                      </a:r>
                    </a:p>
                  </a:txBody>
                  <a:tcPr marL="45720" marR="45720" marT="18288" marB="18288" anchor="t"/>
                </a:tc>
              </a:tr>
              <a:tr h="603503">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18.1</a:t>
                      </a:r>
                    </a:p>
                  </a:txBody>
                  <a:tcPr marL="45720" marR="45720" marT="18288" marB="18288" anchor="t"/>
                </a:tc>
                <a:tc>
                  <a:txBody>
                    <a:bodyPr wrap="square"/>
                    <a:lstStyle/>
                    <a:p>
                      <a:r>
                        <a:rPr sz="900" b="0" i="0">
                          <a:solidFill>
                            <a:srgbClr val="1A1A1A"/>
                          </a:solidFill>
                          <a:latin typeface="Helvetica Neue"/>
                        </a:rPr>
                        <a:t>Deep learning-based cerebellar segmentation on T2-weighted fluid-attenuated inversion recovery magnetic resonance imaging for detecting cerebellar hypoplasia/atrophy in infants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0">
                          <a:solidFill>
                            <a:srgbClr val="1A1A1A"/>
                          </a:solidFill>
                          <a:latin typeface="Helvetica Neue"/>
                        </a:rPr>
                        <a:t>neurodevelopment (cerebellar hypoplasia / atrophy)</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automated cerebellar volume on infant T2-FLAIR MRI flag cerebellar hypoplasia or atrophy against age-expected size?</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14.6</a:t>
                      </a:r>
                    </a:p>
                  </a:txBody>
                  <a:tcPr marL="45720" marR="45720" marT="18288" marB="18288" anchor="t"/>
                </a:tc>
                <a:tc>
                  <a:txBody>
                    <a:bodyPr wrap="square"/>
                    <a:lstStyle/>
                    <a:p>
                      <a:r>
                        <a:rPr sz="900" b="0" i="0">
                          <a:solidFill>
                            <a:srgbClr val="1A1A1A"/>
                          </a:solidFill>
                          <a:latin typeface="Helvetica Neue"/>
                        </a:rPr>
                        <a:t>Deep Learning-Based Multi-Class Pediatric Wrist Fracture Subtype Classification: A Pilot Study Comparing Convolutional Neural Network Architectures</a:t>
                      </a:r>
                    </a:p>
                  </a:txBody>
                  <a:tcPr marL="45720" marR="45720" marT="18288" marB="18288" anchor="t"/>
                </a:tc>
                <a:tc>
                  <a:txBody>
                    <a:bodyPr wrap="square"/>
                    <a:lstStyle/>
                    <a:p>
                      <a:r>
                        <a:rPr sz="900" b="0" i="0">
                          <a:solidFill>
                            <a:srgbClr val="1A1A1A"/>
                          </a:solidFill>
                          <a:latin typeface="Helvetica Neue"/>
                        </a:rPr>
                        <a:t>Journal of Imaging</a:t>
                      </a:r>
                    </a:p>
                  </a:txBody>
                  <a:tcPr marL="45720" marR="45720" marT="18288" marB="18288" anchor="t"/>
                </a:tc>
                <a:tc>
                  <a:txBody>
                    <a:bodyPr wrap="square"/>
                    <a:lstStyle/>
                    <a:p>
                      <a:r>
                        <a:rPr sz="900" b="0" i="0">
                          <a:solidFill>
                            <a:srgbClr val="1A1A1A"/>
                          </a:solidFill>
                          <a:latin typeface="Helvetica Neue"/>
                        </a:rPr>
                        <a:t>fracture / trauma / abuse</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Which CNN architecture best tells pediatric wrist fracture subtypes (buckle, greenstick, Salter–Harris) apart on radiographs? (pilot, 940 images)</a:t>
                      </a:r>
                    </a:p>
                  </a:txBody>
                  <a:tcPr marL="45720" marR="45720" marT="18288" marB="18288" anchor="t"/>
                </a:tc>
              </a:tr>
              <a:tr h="466344">
                <a:tc>
                  <a:txBody>
                    <a:bodyPr wrap="square"/>
                    <a:lstStyle/>
                    <a:p>
                      <a:pPr algn="r"/>
                      <a:r>
                        <a:rPr sz="900" b="0" i="0">
                          <a:solidFill>
                            <a:srgbClr val="1A1A1A"/>
                          </a:solidFill>
                          <a:latin typeface="Helvetica Neue"/>
                        </a:rPr>
                        <a:t>4</a:t>
                      </a:r>
                    </a:p>
                  </a:txBody>
                  <a:tcPr marL="45720" marR="45720" marT="18288" marB="18288" anchor="t"/>
                </a:tc>
                <a:tc>
                  <a:txBody>
                    <a:bodyPr wrap="square"/>
                    <a:lstStyle/>
                    <a:p>
                      <a:pPr algn="r"/>
                      <a:r>
                        <a:rPr sz="900" b="0" i="0">
                          <a:solidFill>
                            <a:srgbClr val="1A1A1A"/>
                          </a:solidFill>
                          <a:latin typeface="Helvetica Neue"/>
                        </a:rPr>
                        <a:t>9.8</a:t>
                      </a:r>
                    </a:p>
                  </a:txBody>
                  <a:tcPr marL="45720" marR="45720" marT="18288" marB="18288" anchor="t"/>
                </a:tc>
                <a:tc>
                  <a:txBody>
                    <a:bodyPr wrap="square"/>
                    <a:lstStyle/>
                    <a:p>
                      <a:r>
                        <a:rPr sz="900" b="0" i="0">
                          <a:solidFill>
                            <a:srgbClr val="1A1A1A"/>
                          </a:solidFill>
                          <a:latin typeface="Helvetica Neue"/>
                        </a:rPr>
                        <a:t>Deep learning super-resolution of paediatric ultra-low-field MRI without paired high-field scans</a:t>
                      </a:r>
                    </a:p>
                  </a:txBody>
                  <a:tcPr marL="45720" marR="45720" marT="18288" marB="18288" anchor="t"/>
                </a:tc>
                <a:tc>
                  <a:txBody>
                    <a:bodyPr wrap="square"/>
                    <a:lstStyle/>
                    <a:p>
                      <a:r>
                        <a:rPr sz="900" b="0" i="0">
                          <a:solidFill>
                            <a:srgbClr val="1A1A1A"/>
                          </a:solidFill>
                          <a:latin typeface="Helvetica Neue"/>
                        </a:rPr>
                        <a:t>bioRxiv</a:t>
                      </a:r>
                    </a:p>
                  </a:txBody>
                  <a:tcPr marL="45720" marR="45720" marT="18288" marB="18288" anchor="t"/>
                </a:tc>
                <a:tc>
                  <a:txBody>
                    <a:bodyPr wrap="square"/>
                    <a:lstStyle/>
                    <a:p>
                      <a:r>
                        <a:rPr sz="900" b="0" i="0">
                          <a:solidFill>
                            <a:srgbClr val="1A1A1A"/>
                          </a:solidFill>
                          <a:latin typeface="Helvetica Neue"/>
                        </a:rPr>
                        <a:t>brain MRI access (portable low-field)</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Can deep learning sharpen affordable ultra-low-field pediatric brain MRI toward high-field quality without paired high-field scans to train on?</a:t>
                      </a:r>
                    </a:p>
                  </a:txBody>
                  <a:tcPr marL="45720" marR="45720" marT="18288" marB="18288" anchor="t"/>
                </a:tc>
              </a:tr>
              <a:tr h="329184">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9.8</a:t>
                      </a:r>
                    </a:p>
                  </a:txBody>
                  <a:tcPr marL="45720" marR="45720" marT="18288" marB="18288" anchor="t"/>
                </a:tc>
                <a:tc>
                  <a:txBody>
                    <a:bodyPr wrap="square"/>
                    <a:lstStyle/>
                    <a:p>
                      <a:r>
                        <a:rPr sz="900" b="0" i="0">
                          <a:solidFill>
                            <a:srgbClr val="1A1A1A"/>
                          </a:solidFill>
                          <a:latin typeface="Helvetica Neue"/>
                        </a:rPr>
                        <a:t>Acquisition time/dose reduction in pediatric PET imaging using patch-based deep learning</a:t>
                      </a:r>
                    </a:p>
                  </a:txBody>
                  <a:tcPr marL="45720" marR="45720" marT="18288" marB="18288" anchor="t"/>
                </a:tc>
                <a:tc>
                  <a:txBody>
                    <a:bodyPr wrap="square"/>
                    <a:lstStyle/>
                    <a:p>
                      <a:r>
                        <a:rPr sz="900" b="0" i="0">
                          <a:solidFill>
                            <a:srgbClr val="1A1A1A"/>
                          </a:solidFill>
                          <a:latin typeface="Helvetica Neue"/>
                        </a:rPr>
                        <a:t>EJNMMI Physics</a:t>
                      </a:r>
                    </a:p>
                  </a:txBody>
                  <a:tcPr marL="45720" marR="45720" marT="18288" marB="18288" anchor="t"/>
                </a:tc>
                <a:tc>
                  <a:txBody>
                    <a:bodyPr wrap="square"/>
                    <a:lstStyle/>
                    <a:p>
                      <a:r>
                        <a:rPr sz="900" b="0" i="0">
                          <a:solidFill>
                            <a:srgbClr val="1A1A1A"/>
                          </a:solidFill>
                          <a:latin typeface="Helvetica Neue"/>
                        </a:rPr>
                        <a:t>radiation dose reduction (PET)</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Can pediatric PET use one fifth of the counts with patch-based deep-learning denoising?</a:t>
                      </a:r>
                    </a:p>
                  </a:txBody>
                  <a:tcPr marL="45720" marR="45720" marT="18288" marB="18288" anchor="t"/>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 fracture detection validation of RBFracture (Radiobotics)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Ziegner et al., European Radiology 2025 (second most-cited pediatric paper of 2025)</a:t>
            </a:r>
          </a:p>
        </p:txBody>
      </p:sp>
      <p:pic>
        <p:nvPicPr>
          <p:cNvPr id="5" name="spot_fracture_ed" descr="spot_fracture_ed.jpg"/>
          <p:cNvPicPr>
            <a:picLocks noChangeAspect="1"/>
          </p:cNvPicPr>
          <p:nvPr/>
        </p:nvPicPr>
        <p:blipFill>
          <a:blip r:embed="rId2"/>
          <a:stretch>
            <a:fillRect/>
          </a:stretch>
        </p:blipFill>
        <p:spPr>
          <a:xfrm>
            <a:off x="411480" y="1258951"/>
            <a:ext cx="4698057" cy="1797790"/>
          </a:xfrm>
          <a:prstGeom prst="rect">
            <a:avLst/>
          </a:prstGeom>
        </p:spPr>
      </p:pic>
      <p:sp>
        <p:nvSpPr>
          <p:cNvPr id="6" name="TextBox 5"/>
          <p:cNvSpPr txBox="1"/>
          <p:nvPr/>
        </p:nvSpPr>
        <p:spPr>
          <a:xfrm>
            <a:off x="411480" y="3129893"/>
            <a:ext cx="4698059" cy="72009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Ziegner et al., Eur Radiol 2025, figure 4: Frequently missed fracture entities with medicolegal significance according to van Laer. a Radial condyle fracture, (b) fracture of the proximal tibia, and (c) fracture of the medial malleolus.</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doi.org/10.1007/s00330-025-11554-9</a:t>
            </a:r>
          </a:p>
        </p:txBody>
      </p:sp>
      <p:sp>
        <p:nvSpPr>
          <p:cNvPr id="7" name="TextBox 6"/>
          <p:cNvSpPr txBox="1"/>
          <p:nvPr/>
        </p:nvSpPr>
        <p:spPr>
          <a:xfrm>
            <a:off x="5292419" y="1258951"/>
            <a:ext cx="6264078" cy="268287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pediatric fracture detection</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1,672 consecutive radiographs of children under 18 from one tertiary pediatric emergency department, plus a selected medicolegal set (proximal tibia, radial condyle); three pediatric residents read each before and after seeing the AI.</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RBFracture (Radiobotics), a commercially available, CE-marked deep-learning fracture detector (adult-derived, pediatric extension) was run stand-alone and as a second reader.</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stand-alone sensitivity 92%, radial condyle fracture sensitivity 68%, proximal tibia fracture sensitivity 100%, medial malleolus fracture sensitivity 96%. As second reader, AI raised resident sensitivity 84%to87% and accuracy 88%to90%; in 2% of cases readers dropped a correct diagnosis after seeing the AI.</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external validation of a commercial pediatric fracture AI shows good performance, but also that even a high-performing AI can mislead readers in a small fraction of cases.</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9 / 36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pTBLightNet: pediatric tuberculosis on frontal and lateral chest radiographs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Capellán-Martín et al., Nature Communications 2025 (open access)</a:t>
            </a:r>
          </a:p>
        </p:txBody>
      </p:sp>
      <p:pic>
        <p:nvPicPr>
          <p:cNvPr id="5" name="spot_ped_tb" descr="spot_ped_tb.jpg"/>
          <p:cNvPicPr>
            <a:picLocks noChangeAspect="1"/>
          </p:cNvPicPr>
          <p:nvPr/>
        </p:nvPicPr>
        <p:blipFill>
          <a:blip r:embed="rId2"/>
          <a:stretch>
            <a:fillRect/>
          </a:stretch>
        </p:blipFill>
        <p:spPr>
          <a:xfrm>
            <a:off x="1572160" y="1258951"/>
            <a:ext cx="2376698"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Capellan-Martin et al., Nat Commun 2025, figure 1: the multi-view pTBLightNet pipeline</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doi.org/10.1038/s41467-025-64391-1</a:t>
            </a:r>
          </a:p>
        </p:txBody>
      </p:sp>
      <p:sp>
        <p:nvSpPr>
          <p:cNvPr id="7" name="TextBox 6"/>
          <p:cNvSpPr txBox="1"/>
          <p:nvPr/>
        </p:nvSpPr>
        <p:spPr>
          <a:xfrm>
            <a:off x="5292419" y="1258951"/>
            <a:ext cx="6264078" cy="201231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pediatric pulmonary TB detection on chest radiographs</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114,173 adult chest radiographs for pre-training; 918 radiographs from three pediatric TB cohorts for fine-tuning and testing, including lateral views.</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pTBLightNet, a deep-learning model using frontal and lateral views to detect TB-compatible findings; separate models for children under 5 and ages 5–18.</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AUC 0.90 on internal testing and 0.68 on external testing; lateral views helped most in younger children. Age-specific models performed similarly to larger models trained across age groups.</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Adult pre-training can help with pediatric TB detection, but performance was substantially lower on external data.</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10 / 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Deep-learning reconstruction shortens pediatric brain MRI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Yoo et al., Korean Journal of Radiology 2025 (open access)</a:t>
            </a:r>
          </a:p>
        </p:txBody>
      </p:sp>
      <p:pic>
        <p:nvPicPr>
          <p:cNvPr id="5" name="spot_dl_recon_mri" descr="spot_dl_recon_mri.jpg"/>
          <p:cNvPicPr>
            <a:picLocks noChangeAspect="1"/>
          </p:cNvPicPr>
          <p:nvPr/>
        </p:nvPicPr>
        <p:blipFill>
          <a:blip r:embed="rId2"/>
          <a:stretch>
            <a:fillRect/>
          </a:stretch>
        </p:blipFill>
        <p:spPr>
          <a:xfrm>
            <a:off x="804870" y="1258951"/>
            <a:ext cx="3911277" cy="2807208"/>
          </a:xfrm>
          <a:prstGeom prst="rect">
            <a:avLst/>
          </a:prstGeom>
        </p:spPr>
      </p:pic>
      <p:sp>
        <p:nvSpPr>
          <p:cNvPr id="6" name="TextBox 5"/>
          <p:cNvSpPr txBox="1"/>
          <p:nvPr/>
        </p:nvSpPr>
        <p:spPr>
          <a:xfrm>
            <a:off x="411480" y="4139311"/>
            <a:ext cx="4698059" cy="72009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Yoo et al., Korean J Radiol 2025, figure 2: conventional (A, D) vs accelerated 3D T1 pediatric brain MRI without (B, E) and with (C, F) deep-learning reconstruction</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doi.org/10.3348/kjr.2024.0701</a:t>
            </a:r>
          </a:p>
        </p:txBody>
      </p:sp>
      <p:sp>
        <p:nvSpPr>
          <p:cNvPr id="7" name="TextBox 6"/>
          <p:cNvSpPr txBox="1"/>
          <p:nvPr/>
        </p:nvSpPr>
        <p:spPr>
          <a:xfrm>
            <a:off x="5292419" y="1258951"/>
            <a:ext cx="6264078" cy="217995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reducing pediatric brain MRI scan time while maintaining image quality</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46 children scanned with conventional and accelerated 3D T1 sequences, pre- and post-contrast, on one 3T scanner.</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Vendor deep-learning reconstruction was applied to the accelerated scans; image quality measurements and radiologist ratings were compared with conventional scans.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Scan time decreased by 29% pre-contrast and 41% post-contrast. Deep-learning reconstruction gave lower noise, higher SNR and CNR, better overall image quality and fewer artifacts than conventional scans.</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Deep-learning reconstruction shortened 3D T1 acquisitions and improved image quality in this small, single-scanner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Deeplasia bone age in rare growth disorders, against multiple experts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Skaf et al., Frontiers in Endocrinology 2026 (open access); external validation of Rassmann et al., Pediatr Radiol 2023</a:t>
            </a:r>
          </a:p>
        </p:txBody>
      </p:sp>
      <p:pic>
        <p:nvPicPr>
          <p:cNvPr id="5" name="spot_deeplasia_rare" descr="spot_deeplasia_rare.jpg"/>
          <p:cNvPicPr>
            <a:picLocks noChangeAspect="1"/>
          </p:cNvPicPr>
          <p:nvPr/>
        </p:nvPicPr>
        <p:blipFill>
          <a:blip r:embed="rId2"/>
          <a:stretch>
            <a:fillRect/>
          </a:stretch>
        </p:blipFill>
        <p:spPr>
          <a:xfrm>
            <a:off x="1315795" y="1258951"/>
            <a:ext cx="2889426"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Skaf et al., Front Endocrinol 2026, figure 1: Deeplasia bone age vs the expert mean in the endocrine cohort (scatter and Bland-Altman)</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doi.org/10.3389/fendo.2026.1741927</a:t>
            </a:r>
          </a:p>
        </p:txBody>
      </p:sp>
      <p:sp>
        <p:nvSpPr>
          <p:cNvPr id="7" name="TextBox 6"/>
          <p:cNvSpPr txBox="1"/>
          <p:nvPr/>
        </p:nvSpPr>
        <p:spPr>
          <a:xfrm>
            <a:off x="5292419" y="1258951"/>
            <a:ext cx="6264078" cy="251523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bone-age models are trained on ordinary hands; the children who need bone age most have syndromes, endocrine disease or lysosomal storage disorders that distort the skeleton.</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1,138 hand radiographs from several centers: SHOX deficiency, Noonan, Silver-Russell, Turner, CAH, precocious puberty (cohort 1) and mucopolysaccharidoses and other storage disorders (cohort 2); two to five expert Greulich-Pyle readings each.</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the open-source Deeplasia system run unchanged; each human rater and the model scored against the remaining experts.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mean absolute error 6.0 months (cohort 1) and 7.1 months (storage disorders), 1-year accuracy 90% and 81%; the model beat every individual human rater.</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open pediatric model validated on the hardest cases, by an outside group, on external data: the template for how a children's hospital should test any tool.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PET at one fifth of the counts with patch-based deep learning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Han et al., EJNMMI Physics 2026 (open access; Cincinnati Children's)</a:t>
            </a:r>
          </a:p>
        </p:txBody>
      </p:sp>
      <p:pic>
        <p:nvPicPr>
          <p:cNvPr id="5" name="spot_pet_dose" descr="spot_pet_dose.jpg"/>
          <p:cNvPicPr>
            <a:picLocks noChangeAspect="1"/>
          </p:cNvPicPr>
          <p:nvPr/>
        </p:nvPicPr>
        <p:blipFill>
          <a:blip r:embed="rId2"/>
          <a:stretch>
            <a:fillRect/>
          </a:stretch>
        </p:blipFill>
        <p:spPr>
          <a:xfrm>
            <a:off x="1544167" y="1258951"/>
            <a:ext cx="2432685"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Han et al., EJNMMI Phys 2026, figure 5: pediatric whole-body FDG PET, standard 90 s vs 20 s per bed, with and without patch-based deep-learning denoising</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doi.org/10.1186/s40658-026-00876-2</a:t>
            </a:r>
          </a:p>
        </p:txBody>
      </p:sp>
      <p:sp>
        <p:nvSpPr>
          <p:cNvPr id="7" name="TextBox 6"/>
          <p:cNvSpPr txBox="1"/>
          <p:nvPr/>
        </p:nvSpPr>
        <p:spPr>
          <a:xfrm>
            <a:off x="5292419" y="1258951"/>
            <a:ext cx="6264078" cy="217995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PET dose and scan time in children are set by noise; conventional denoising networks need large training sets that pediatric PET does not have.</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one high-quality pediatric exam for training; a NEMA phantom and 88 clinical whole-body FDG exams (under 12 years) with list-mode data truncated from 90 s to 20 s per bed.</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a patch-based network that learns local structure from a single exam and denoises the reduced-count images; blinded observer study and SUV analysis.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20-second images rated equal or better than the standard 90-second images in more than 85% of cases, with resolution, contrast and SUV preserved.</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either a 4.5x shorter scan or about 22% of today's injected activity, from a method trainable on a single local exam.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Validation of adult-trained TotalSegmentator on pediatric CT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Chatterjee et al., Journal of Imaging Informatics in Medicine 2025</a:t>
            </a:r>
          </a:p>
        </p:txBody>
      </p:sp>
      <p:pic>
        <p:nvPicPr>
          <p:cNvPr id="5" name="spot_not_small_adults" descr="spot_not_small_adults.jpg"/>
          <p:cNvPicPr>
            <a:picLocks noChangeAspect="1"/>
          </p:cNvPicPr>
          <p:nvPr/>
        </p:nvPicPr>
        <p:blipFill>
          <a:blip r:embed="rId2"/>
          <a:stretch>
            <a:fillRect/>
          </a:stretch>
        </p:blipFill>
        <p:spPr>
          <a:xfrm>
            <a:off x="1160448" y="1258951"/>
            <a:ext cx="3200122"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Chatterjee et al., J Imaging Inform Med 2025, figure 7: pediatric CT organ labels, ground truth vs adult-trained TotalSegmentator vs pediatric-trained models</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doi.org/10.1007/s10278-024-01273-w</a:t>
            </a:r>
          </a:p>
        </p:txBody>
      </p:sp>
      <p:sp>
        <p:nvSpPr>
          <p:cNvPr id="7" name="TextBox 6"/>
          <p:cNvSpPr txBox="1"/>
          <p:nvPr/>
        </p:nvSpPr>
        <p:spPr>
          <a:xfrm>
            <a:off x="5292419" y="1258951"/>
            <a:ext cx="6264078" cy="201231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abdominal organ segmentation on pediatric CT using an adult-trained model</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300 adult and 359 pediatric abdominal CT scans with expert organ labels for external testing.</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TotalSegmentator, an open-source model trained on adults, was tested on both groups and compared with models trained or fine-tuned on pediatric scans.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Mean Dice score was 0.81 in adults and 0.73 in children, with the largest losses in the adrenals, duodenum and pancreas. Pediatric training or fine-tuning recovered the loss in performance.</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adult-trained segmentation model performed worse in children; training on pediatric data improved performance.</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11 / 36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conference publication count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pic>
        <p:nvPicPr>
          <p:cNvPr id="4" name="venue_works_by_year" descr="venue_works_by_year.png"/>
          <p:cNvPicPr>
            <a:picLocks noChangeAspect="1"/>
          </p:cNvPicPr>
          <p:nvPr/>
        </p:nvPicPr>
        <p:blipFill>
          <a:blip r:embed="rId2"/>
          <a:stretch>
            <a:fillRect/>
          </a:stretch>
        </p:blipFill>
        <p:spPr>
          <a:xfrm>
            <a:off x="1492026" y="877824"/>
            <a:ext cx="9207642"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12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NeurIPS: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Conference on Neural Information Processing Systems</a:t>
            </a:r>
            <a:r>
              <a:rPr sz="1100" b="0" i="0">
                <a:solidFill>
                  <a:srgbClr val="1A1A1A"/>
                </a:solidFill>
                <a:latin typeface="Helvetica Neue"/>
              </a:rPr>
              <a:t>. Radiology-AI works accepted (from the meeting's paper list), 2023–2026: 94 (2023: 12, 2024: 17, 2025: 29, 2026: 36); 1 pediatric (marked ★).</a:t>
            </a:r>
          </a:p>
        </p:txBody>
      </p:sp>
      <p:graphicFrame>
        <p:nvGraphicFramePr>
          <p:cNvPr id="5" name="Table 4"/>
          <p:cNvGraphicFramePr>
            <a:graphicFrameLocks noGrp="1"/>
          </p:cNvGraphicFramePr>
          <p:nvPr/>
        </p:nvGraphicFramePr>
        <p:xfrm>
          <a:off x="411480" y="1426590"/>
          <a:ext cx="11368734" cy="2825496"/>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WASP: Weakly Aligned Spatiotemporal Pairs for Fetal Brain MRI-Ultrasound Learning ★</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3D-RAD: A Comprehensive 3D Radiology Med-VQA Dataset with Multi-Temporal Analysis and Diverse Diagnostic Tasks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Better Tokens for Better 3D: Advancing Vision-Language Modeling in 3D Medical Imaging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47</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r>
                        <a:rPr sz="900" b="0" i="0">
                          <a:solidFill>
                            <a:srgbClr val="1A1A1A"/>
                          </a:solidFill>
                          <a:latin typeface="Helvetica Neue"/>
                        </a:rPr>
                        <a:t>Touchstone Benchmark: Are We on the Right Way for Evaluating AI Algorithms for Medical Segmentation?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26</a:t>
                      </a:r>
                    </a:p>
                  </a:txBody>
                  <a:tcPr marL="45720" marR="45720" marT="18288" marB="18288" anchor="t"/>
                </a:tc>
                <a:tc>
                  <a:txBody>
                    <a:bodyPr wrap="square"/>
                    <a:lstStyle/>
                    <a:p>
                      <a:pPr algn="r"/>
                      <a:r>
                        <a:rPr sz="900" b="0" i="0">
                          <a:solidFill>
                            <a:srgbClr val="1A1A1A"/>
                          </a:solidFill>
                          <a:latin typeface="Helvetica Neue"/>
                        </a:rPr>
                        <a:t>0.9</a:t>
                      </a:r>
                    </a:p>
                  </a:txBody>
                  <a:tcPr marL="45720" marR="45720" marT="18288" marB="18288" anchor="t"/>
                </a:tc>
                <a:tc>
                  <a:txBody>
                    <a:bodyPr wrap="square"/>
                    <a:lstStyle/>
                    <a:p>
                      <a:r>
                        <a:rPr sz="900" b="0" i="0">
                          <a:solidFill>
                            <a:srgbClr val="1A1A1A"/>
                          </a:solidFill>
                          <a:latin typeface="Helvetica Neue"/>
                        </a:rPr>
                        <a:t>Eye-gaze Guided Multi-modal Alignment for Medical Representation Learning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25</a:t>
                      </a:r>
                    </a:p>
                  </a:txBody>
                  <a:tcPr marL="45720" marR="45720" marT="18288" marB="18288" anchor="t"/>
                </a:tc>
                <a:tc>
                  <a:txBody>
                    <a:bodyPr wrap="square"/>
                    <a:lstStyle/>
                    <a:p>
                      <a:pPr algn="r"/>
                      <a:r>
                        <a:rPr sz="900" b="0" i="0">
                          <a:solidFill>
                            <a:srgbClr val="1A1A1A"/>
                          </a:solidFill>
                          <a:latin typeface="Helvetica Neue"/>
                        </a:rPr>
                        <a:t>1.2</a:t>
                      </a:r>
                    </a:p>
                  </a:txBody>
                  <a:tcPr marL="45720" marR="45720" marT="18288" marB="18288" anchor="t"/>
                </a:tc>
                <a:tc>
                  <a:txBody>
                    <a:bodyPr wrap="square"/>
                    <a:lstStyle/>
                    <a:p>
                      <a:r>
                        <a:rPr sz="900" b="0" i="0">
                          <a:solidFill>
                            <a:srgbClr val="1A1A1A"/>
                          </a:solidFill>
                          <a:latin typeface="Helvetica Neue"/>
                        </a:rPr>
                        <a:t>Enhancing vision-language models for medical imaging: bridging the 3D gap with innovative slice selection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DiffusionBlend: Learning 3D Image Prior through Position-aware Diffusion Score Blending for 3D Computed Tomography Reconstruction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SegVol: Universal and Interactive Volumetric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LVM-Med: Learning Large-Scale Self-Supervised Vision Models for Medical Imaging via Second-order Graph Matching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EHRXQA: A Multi-Modal Question Answering Dataset for Electronic Health Records with Chest X-ray Images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66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SwiFT: Swin 4D fMRI Transformer</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64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NeuroGraph: Benchmarks for Graph Machine Learning in Brain Connectomics</a:t>
                      </a:r>
                    </a:p>
                  </a:txBody>
                  <a:tcPr marL="45720" marR="45720" marT="18288" marB="18288" anchor="t"/>
                </a:tc>
              </a:tr>
              <a:tr h="32918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Knowledge-based in silico models and dataset for the comparative evaluation of mammography AI for a range of breast characteristics, lesion conspicuities and doses</a:t>
                      </a:r>
                    </a:p>
                  </a:txBody>
                  <a:tcPr marL="45720" marR="45720" marT="18288" marB="18288" anchor="t"/>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ICLR: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International Conference on Learning Representations</a:t>
            </a:r>
            <a:r>
              <a:rPr sz="1100" b="0" i="0">
                <a:solidFill>
                  <a:srgbClr val="1A1A1A"/>
                </a:solidFill>
                <a:latin typeface="Helvetica Neue"/>
              </a:rPr>
              <a:t>. Radiology-AI works accepted (from the meeting's paper list), 2023–2026: 42 (2023: 6, 2024: 3, 2025: 7, 2026: 26); 1 pediatric (marked ★).</a:t>
            </a:r>
          </a:p>
        </p:txBody>
      </p:sp>
      <p:graphicFrame>
        <p:nvGraphicFramePr>
          <p:cNvPr id="5" name="Table 4"/>
          <p:cNvGraphicFramePr>
            <a:graphicFrameLocks noGrp="1"/>
          </p:cNvGraphicFramePr>
          <p:nvPr/>
        </p:nvGraphicFramePr>
        <p:xfrm>
          <a:off x="411480" y="1426590"/>
          <a:ext cx="11368734" cy="2688336"/>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70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Large-scale and Fine-grained Vision-language Pre-training for Enhanced CT Image Understanding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SimXRD-4M: Big Simulated X-ray Diffraction Data and Crystal Symmetry Classification Benchmark</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Self-Supervised Diffusion MRI Denoising via Iterative and Stable Refinement</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Score-based Self-supervised MRI Denoising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MMed-RAG: Versatile Multimodal RAG System for Medical Vision Language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MediConfusion: Can you trust your AI radiologist? Probing the reliability of multimodal medical foundation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The Effect of Intrinsic Dataset Properties on Generalization: Unraveling Learning Differences Between Natural and Medical Images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LeFusion: Controllable Pathology Synthesis via Lesion-Focused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Advancing Radiograph Representation Learning with Masked Record Modeling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DDM2: Self-Supervised Diffusion MRI Denoising with Generative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40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AE-FLOW: Autoencoders with Normalizing Flows for Medical Images Anomaly Detection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Improved Training of Physics-Informed Neural Networks Using Energy-Based Priors: a Study on Electrical Impedance Tomography</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Fetal-Gauge: A Benchmark For Assessing Vision-Language Models In Fetal Ultrasound ★</a:t>
                      </a:r>
                    </a:p>
                  </a:txBody>
                  <a:tcPr marL="45720" marR="45720" marT="18288" marB="18288" anchor="t"/>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ICML: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International Conference on Machine Learning</a:t>
            </a:r>
            <a:r>
              <a:rPr sz="1100" b="0" i="0">
                <a:solidFill>
                  <a:srgbClr val="1A1A1A"/>
                </a:solidFill>
                <a:latin typeface="Helvetica Neue"/>
              </a:rPr>
              <a:t>. Radiology-AI works accepted (from the meeting's paper list), 2023–2026: 27 (2023: 2, 2024: 3, 2025: 7, 2026: 15); 0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CLIMB: Data Foundations for Large Scale Multimodal Clinical Foundation Models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MindLLM: A Subject-Agnostic and Versatile Model for fMRI-to-Text Decoding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Raptor: Scalable Train-Free Embeddings for 3D Medical Volumes Leveraging Pretrained 2D Foundation Models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Efficient Noise Calculation in Deep Learning-based MRI Reconstructions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LangDAug: Langevin Data Augmentation for Multi-Source Domain Generalization in Medical Image Segmentation</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Staged and Physics-Grounded Learning Framework with Hyperintensity Prior for Pre-Contrast MRI Synthesis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Unsupervised Domain Adaptation for Anatomical Structure Detection in Ultrasound Images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Adaptive Sampling of k-Space in Magnetic Resonance for Rapid Pathology Prediction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ACAT: Adversarial Counterfactual Attention for Classification and Detection in Medical Imaging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Robustness of Deep Learning for Accelerated MRI: Benefits of Diverse Training Data</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Learning High-Order Relationships of Brain Regions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Contextualized Policy Recovery: Modeling and Interpreting Medical Decisions with Adaptive Imitation Learning</a:t>
                      </a:r>
                    </a:p>
                  </a:txBody>
                  <a:tcPr marL="45720" marR="45720" marT="18288" marB="18288" anchor="t"/>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CVPR: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IEEE/CVF Conference on Computer Vision and Pattern Recognition</a:t>
            </a:r>
            <a:r>
              <a:rPr sz="1100" b="0" i="0">
                <a:solidFill>
                  <a:srgbClr val="1A1A1A"/>
                </a:solidFill>
                <a:latin typeface="Helvetica Neue"/>
              </a:rPr>
              <a:t>. Radiology-AI works accepted (from the meeting's paper list), 2023–2026: 154 (2023: 18, 2024: 35, 2025: 42, 2026: 59); 1 pediatric (marked ★).</a:t>
            </a:r>
          </a:p>
        </p:txBody>
      </p:sp>
      <p:graphicFrame>
        <p:nvGraphicFramePr>
          <p:cNvPr id="5" name="Table 4"/>
          <p:cNvGraphicFramePr>
            <a:graphicFrameLocks noGrp="1"/>
          </p:cNvGraphicFramePr>
          <p:nvPr/>
        </p:nvGraphicFramePr>
        <p:xfrm>
          <a:off x="411480" y="1426590"/>
          <a:ext cx="11368734" cy="2688336"/>
        </p:xfrm>
        <a:graphic>
          <a:graphicData uri="http://schemas.openxmlformats.org/drawingml/2006/table">
            <a:tbl>
              <a:tblPr firstRow="1" bandRow="1">
                <a:tableStyleId>{5C22544A-7EE6-4342-B048-85BDC9FD1C3A}</a:tableStyleId>
              </a:tblPr>
              <a:tblGrid>
                <a:gridCol w="409651"/>
                <a:gridCol w="480060"/>
                <a:gridCol w="448056"/>
                <a:gridCol w="10030967"/>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68</a:t>
                      </a:r>
                    </a:p>
                  </a:txBody>
                  <a:tcPr marL="45720" marR="45720" marT="18288" marB="18288" anchor="t"/>
                </a:tc>
                <a:tc>
                  <a:txBody>
                    <a:bodyPr wrap="square"/>
                    <a:lstStyle/>
                    <a:p>
                      <a:pPr algn="r"/>
                      <a:r>
                        <a:rPr sz="900" b="0" i="0">
                          <a:solidFill>
                            <a:srgbClr val="1A1A1A"/>
                          </a:solidFill>
                          <a:latin typeface="Helvetica Neue"/>
                        </a:rPr>
                        <a:t>265.4</a:t>
                      </a:r>
                    </a:p>
                  </a:txBody>
                  <a:tcPr marL="45720" marR="45720" marT="18288" marB="18288" anchor="t"/>
                </a:tc>
                <a:tc>
                  <a:txBody>
                    <a:bodyPr wrap="square"/>
                    <a:lstStyle/>
                    <a:p>
                      <a:r>
                        <a:rPr sz="900" b="0" i="0">
                          <a:solidFill>
                            <a:srgbClr val="1A1A1A"/>
                          </a:solidFill>
                          <a:latin typeface="Helvetica Neue"/>
                        </a:rPr>
                        <a:t>Enhanced Contrastive Learning with Multi-view Longitudinal Data for Chest X-ray Report Generation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84</a:t>
                      </a:r>
                    </a:p>
                  </a:txBody>
                  <a:tcPr marL="45720" marR="45720" marT="18288" marB="18288" anchor="t"/>
                </a:tc>
                <a:tc>
                  <a:txBody>
                    <a:bodyPr wrap="square"/>
                    <a:lstStyle/>
                    <a:p>
                      <a:pPr algn="r"/>
                      <a:r>
                        <a:rPr sz="900" b="0" i="0">
                          <a:solidFill>
                            <a:srgbClr val="1A1A1A"/>
                          </a:solidFill>
                          <a:latin typeface="Helvetica Neue"/>
                        </a:rPr>
                        <a:t>47.9</a:t>
                      </a:r>
                    </a:p>
                  </a:txBody>
                  <a:tcPr marL="45720" marR="45720" marT="18288" marB="18288" anchor="t"/>
                </a:tc>
                <a:tc>
                  <a:txBody>
                    <a:bodyPr wrap="square"/>
                    <a:lstStyle/>
                    <a:p>
                      <a:r>
                        <a:rPr sz="900" b="0" i="0">
                          <a:solidFill>
                            <a:srgbClr val="1A1A1A"/>
                          </a:solidFill>
                          <a:latin typeface="Helvetica Neue"/>
                        </a:rPr>
                        <a:t>Towards Generalizable Tumor Synthesis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81</a:t>
                      </a:r>
                    </a:p>
                  </a:txBody>
                  <a:tcPr marL="45720" marR="45720" marT="18288" marB="18288" anchor="t"/>
                </a:tc>
                <a:tc>
                  <a:txBody>
                    <a:bodyPr wrap="square"/>
                    <a:lstStyle/>
                    <a:p>
                      <a:pPr algn="r"/>
                      <a:r>
                        <a:rPr sz="900" b="0" i="0">
                          <a:solidFill>
                            <a:srgbClr val="1A1A1A"/>
                          </a:solidFill>
                          <a:latin typeface="Helvetica Neue"/>
                        </a:rPr>
                        <a:t>14.6</a:t>
                      </a:r>
                    </a:p>
                  </a:txBody>
                  <a:tcPr marL="45720" marR="45720" marT="18288" marB="18288" anchor="t"/>
                </a:tc>
                <a:tc>
                  <a:txBody>
                    <a:bodyPr wrap="square"/>
                    <a:lstStyle/>
                    <a:p>
                      <a:r>
                        <a:rPr sz="900" b="0" i="0">
                          <a:solidFill>
                            <a:srgbClr val="1A1A1A"/>
                          </a:solidFill>
                          <a:latin typeface="Helvetica Neue"/>
                        </a:rPr>
                        <a:t>Rethinking Diffusion Model for Multi-Contrast MRI Super-Resolution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pPr algn="r"/>
                      <a:r>
                        <a:rPr sz="900" b="0" i="0">
                          <a:solidFill>
                            <a:srgbClr val="1A1A1A"/>
                          </a:solidFill>
                          <a:latin typeface="Helvetica Neue"/>
                        </a:rPr>
                        <a:t>13.8</a:t>
                      </a:r>
                    </a:p>
                  </a:txBody>
                  <a:tcPr marL="45720" marR="45720" marT="18288" marB="18288" anchor="t"/>
                </a:tc>
                <a:tc>
                  <a:txBody>
                    <a:bodyPr wrap="square"/>
                    <a:lstStyle/>
                    <a:p>
                      <a:r>
                        <a:rPr sz="900" b="0" i="0">
                          <a:solidFill>
                            <a:srgbClr val="1A1A1A"/>
                          </a:solidFill>
                          <a:latin typeface="Helvetica Neue"/>
                        </a:rPr>
                        <a:t>MemSAM: Taming Segment Anything Model for Echocardiography Video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243</a:t>
                      </a:r>
                    </a:p>
                  </a:txBody>
                  <a:tcPr marL="45720" marR="45720" marT="18288" marB="18288" anchor="t"/>
                </a:tc>
                <a:tc>
                  <a:txBody>
                    <a:bodyPr wrap="square"/>
                    <a:lstStyle/>
                    <a:p>
                      <a:pPr algn="r"/>
                      <a:r>
                        <a:rPr sz="900" b="0" i="0">
                          <a:solidFill>
                            <a:srgbClr val="1A1A1A"/>
                          </a:solidFill>
                          <a:latin typeface="Helvetica Neue"/>
                        </a:rPr>
                        <a:t>20.2</a:t>
                      </a:r>
                    </a:p>
                  </a:txBody>
                  <a:tcPr marL="45720" marR="45720" marT="18288" marB="18288" anchor="t"/>
                </a:tc>
                <a:tc>
                  <a:txBody>
                    <a:bodyPr wrap="square"/>
                    <a:lstStyle/>
                    <a:p>
                      <a:r>
                        <a:rPr sz="900" b="0" i="0">
                          <a:solidFill>
                            <a:srgbClr val="1A1A1A"/>
                          </a:solidFill>
                          <a:latin typeface="Helvetica Neue"/>
                        </a:rPr>
                        <a:t>Dynamic Graph Enhanced Contrastive Learning for Chest X-Ray Report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222</a:t>
                      </a:r>
                    </a:p>
                  </a:txBody>
                  <a:tcPr marL="45720" marR="45720" marT="18288" marB="18288" anchor="t"/>
                </a:tc>
                <a:tc>
                  <a:txBody>
                    <a:bodyPr wrap="square"/>
                    <a:lstStyle/>
                    <a:p>
                      <a:pPr algn="r"/>
                      <a:r>
                        <a:rPr sz="900" b="0" i="0">
                          <a:solidFill>
                            <a:srgbClr val="1A1A1A"/>
                          </a:solidFill>
                          <a:latin typeface="Helvetica Neue"/>
                        </a:rPr>
                        <a:t>75.5</a:t>
                      </a:r>
                    </a:p>
                  </a:txBody>
                  <a:tcPr marL="45720" marR="45720" marT="18288" marB="18288" anchor="t"/>
                </a:tc>
                <a:tc>
                  <a:txBody>
                    <a:bodyPr wrap="square"/>
                    <a:lstStyle/>
                    <a:p>
                      <a:r>
                        <a:rPr sz="900" b="0" i="0">
                          <a:solidFill>
                            <a:srgbClr val="1A1A1A"/>
                          </a:solidFill>
                          <a:latin typeface="Helvetica Neue"/>
                        </a:rPr>
                        <a:t>Ambiguous Medical Image Segmentation Using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217</a:t>
                      </a:r>
                    </a:p>
                  </a:txBody>
                  <a:tcPr marL="45720" marR="45720" marT="18288" marB="18288" anchor="t"/>
                </a:tc>
                <a:tc>
                  <a:txBody>
                    <a:bodyPr wrap="square"/>
                    <a:lstStyle/>
                    <a:p>
                      <a:pPr algn="r"/>
                      <a:r>
                        <a:rPr sz="900" b="0" i="0">
                          <a:solidFill>
                            <a:srgbClr val="1A1A1A"/>
                          </a:solidFill>
                          <a:latin typeface="Helvetica Neue"/>
                        </a:rPr>
                        <a:t>18.7</a:t>
                      </a:r>
                    </a:p>
                  </a:txBody>
                  <a:tcPr marL="45720" marR="45720" marT="18288" marB="18288" anchor="t"/>
                </a:tc>
                <a:tc>
                  <a:txBody>
                    <a:bodyPr wrap="square"/>
                    <a:lstStyle/>
                    <a:p>
                      <a:r>
                        <a:rPr sz="900" b="0" i="0">
                          <a:solidFill>
                            <a:srgbClr val="1A1A1A"/>
                          </a:solidFill>
                          <a:latin typeface="Helvetica Neue"/>
                        </a:rPr>
                        <a:t>METransformer: Radiology Report Generation by Transformer with Multiple Learnable Expert Tokens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164</a:t>
                      </a:r>
                    </a:p>
                  </a:txBody>
                  <a:tcPr marL="45720" marR="45720" marT="18288" marB="18288" anchor="t"/>
                </a:tc>
                <a:tc>
                  <a:txBody>
                    <a:bodyPr wrap="square"/>
                    <a:lstStyle/>
                    <a:p>
                      <a:pPr algn="r"/>
                      <a:r>
                        <a:rPr sz="900" b="0" i="0">
                          <a:solidFill>
                            <a:srgbClr val="1A1A1A"/>
                          </a:solidFill>
                          <a:latin typeface="Helvetica Neue"/>
                        </a:rPr>
                        <a:t>21.9</a:t>
                      </a:r>
                    </a:p>
                  </a:txBody>
                  <a:tcPr marL="45720" marR="45720" marT="18288" marB="18288" anchor="t"/>
                </a:tc>
                <a:tc>
                  <a:txBody>
                    <a:bodyPr wrap="square"/>
                    <a:lstStyle/>
                    <a:p>
                      <a:r>
                        <a:rPr sz="900" b="0" i="0">
                          <a:solidFill>
                            <a:srgbClr val="1A1A1A"/>
                          </a:solidFill>
                          <a:latin typeface="Helvetica Neue"/>
                        </a:rPr>
                        <a:t>MCF: Mutual Correction Framework for Semi-Supervised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133</a:t>
                      </a:r>
                    </a:p>
                  </a:txBody>
                  <a:tcPr marL="45720" marR="45720" marT="18288" marB="18288" anchor="t"/>
                </a:tc>
                <a:tc>
                  <a:txBody>
                    <a:bodyPr wrap="square"/>
                    <a:lstStyle/>
                    <a:p>
                      <a:pPr algn="r"/>
                      <a:r>
                        <a:rPr sz="900" b="0" i="0">
                          <a:solidFill>
                            <a:srgbClr val="1A1A1A"/>
                          </a:solidFill>
                          <a:latin typeface="Helvetica Neue"/>
                        </a:rPr>
                        <a:t>14.4</a:t>
                      </a:r>
                    </a:p>
                  </a:txBody>
                  <a:tcPr marL="45720" marR="45720" marT="18288" marB="18288" anchor="t"/>
                </a:tc>
                <a:tc>
                  <a:txBody>
                    <a:bodyPr wrap="square"/>
                    <a:lstStyle/>
                    <a:p>
                      <a:r>
                        <a:rPr sz="900" b="0" i="0">
                          <a:solidFill>
                            <a:srgbClr val="1A1A1A"/>
                          </a:solidFill>
                          <a:latin typeface="Helvetica Neue"/>
                        </a:rPr>
                        <a:t>KiUT: Knowledge-injected U-Transformer for Radiology Report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117</a:t>
                      </a:r>
                    </a:p>
                  </a:txBody>
                  <a:tcPr marL="45720" marR="45720" marT="18288" marB="18288" anchor="t"/>
                </a:tc>
                <a:tc>
                  <a:txBody>
                    <a:bodyPr wrap="square"/>
                    <a:lstStyle/>
                    <a:p>
                      <a:pPr algn="r"/>
                      <a:r>
                        <a:rPr sz="900" b="0" i="0">
                          <a:solidFill>
                            <a:srgbClr val="1A1A1A"/>
                          </a:solidFill>
                          <a:latin typeface="Helvetica Neue"/>
                        </a:rPr>
                        <a:t>67.2</a:t>
                      </a:r>
                    </a:p>
                  </a:txBody>
                  <a:tcPr marL="45720" marR="45720" marT="18288" marB="18288" anchor="t"/>
                </a:tc>
                <a:tc>
                  <a:txBody>
                    <a:bodyPr wrap="square"/>
                    <a:lstStyle/>
                    <a:p>
                      <a:r>
                        <a:rPr sz="900" b="0" i="0">
                          <a:solidFill>
                            <a:srgbClr val="1A1A1A"/>
                          </a:solidFill>
                          <a:latin typeface="Helvetica Neue"/>
                        </a:rPr>
                        <a:t>Structure-Aware Sparse-View X-Ray 3D Reconstruction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103</a:t>
                      </a:r>
                    </a:p>
                  </a:txBody>
                  <a:tcPr marL="45720" marR="45720" marT="18288" marB="18288" anchor="t"/>
                </a:tc>
                <a:tc>
                  <a:txBody>
                    <a:bodyPr wrap="square"/>
                    <a:lstStyle/>
                    <a:p>
                      <a:pPr algn="r"/>
                      <a:r>
                        <a:rPr sz="900" b="0" i="0">
                          <a:solidFill>
                            <a:srgbClr val="1A1A1A"/>
                          </a:solidFill>
                          <a:latin typeface="Helvetica Neue"/>
                        </a:rPr>
                        <a:t>11.0</a:t>
                      </a:r>
                    </a:p>
                  </a:txBody>
                  <a:tcPr marL="45720" marR="45720" marT="18288" marB="18288" anchor="t"/>
                </a:tc>
                <a:tc>
                  <a:txBody>
                    <a:bodyPr wrap="square"/>
                    <a:lstStyle/>
                    <a:p>
                      <a:r>
                        <a:rPr sz="900" b="0" i="0">
                          <a:solidFill>
                            <a:srgbClr val="1A1A1A"/>
                          </a:solidFill>
                          <a:latin typeface="Helvetica Neue"/>
                        </a:rPr>
                        <a:t>Label-Free Liver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75</a:t>
                      </a:r>
                    </a:p>
                  </a:txBody>
                  <a:tcPr marL="45720" marR="45720" marT="18288" marB="18288" anchor="t"/>
                </a:tc>
                <a:tc>
                  <a:txBody>
                    <a:bodyPr wrap="square"/>
                    <a:lstStyle/>
                    <a:p>
                      <a:pPr algn="r"/>
                      <a:r>
                        <a:rPr sz="900" b="0" i="0">
                          <a:solidFill>
                            <a:srgbClr val="1A1A1A"/>
                          </a:solidFill>
                          <a:latin typeface="Helvetica Neue"/>
                        </a:rPr>
                        <a:t>14.1</a:t>
                      </a:r>
                    </a:p>
                  </a:txBody>
                  <a:tcPr marL="45720" marR="45720" marT="18288" marB="18288" anchor="t"/>
                </a:tc>
                <a:tc>
                  <a:txBody>
                    <a:bodyPr wrap="square"/>
                    <a:lstStyle/>
                    <a:p>
                      <a:r>
                        <a:rPr sz="900" b="0" i="0">
                          <a:solidFill>
                            <a:srgbClr val="1A1A1A"/>
                          </a:solidFill>
                          <a:latin typeface="Helvetica Neue"/>
                        </a:rPr>
                        <a:t>Learning Federated Visual Prompt in Null Space for MRI Reconstruction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M3-UDA: A New Benchmark for Unsupervised Domain Adaptive Fetal Cardiac Structure Detection ★</a:t>
                      </a:r>
                    </a:p>
                  </a:txBody>
                  <a:tcPr marL="45720" marR="45720" marT="18288" marB="18288" anchor="t"/>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MICCAI: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Medical Image Computing and Computer-Assisted Intervention</a:t>
            </a:r>
            <a:r>
              <a:rPr sz="1100" b="0" i="0">
                <a:solidFill>
                  <a:srgbClr val="1A1A1A"/>
                </a:solidFill>
                <a:latin typeface="Helvetica Neue"/>
              </a:rPr>
              <a:t>. Radiology-AI works accepted (from the meeting's paper list), 2023–2026: 1,191 (2023: 236, 2024: 298, 2025: 320, 2026: 337); 38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208</a:t>
                      </a:r>
                    </a:p>
                  </a:txBody>
                  <a:tcPr marL="45720" marR="45720" marT="18288" marB="18288" anchor="t"/>
                </a:tc>
                <a:tc>
                  <a:txBody>
                    <a:bodyPr wrap="square"/>
                    <a:lstStyle/>
                    <a:p>
                      <a:pPr algn="r"/>
                      <a:r>
                        <a:rPr sz="900" b="0" i="0">
                          <a:solidFill>
                            <a:srgbClr val="1A1A1A"/>
                          </a:solidFill>
                          <a:latin typeface="Helvetica Neue"/>
                        </a:rPr>
                        <a:t>1.1</a:t>
                      </a:r>
                    </a:p>
                  </a:txBody>
                  <a:tcPr marL="45720" marR="45720" marT="18288" marB="18288" anchor="t"/>
                </a:tc>
                <a:tc>
                  <a:txBody>
                    <a:bodyPr wrap="square"/>
                    <a:lstStyle/>
                    <a:p>
                      <a:r>
                        <a:rPr sz="900" b="0" i="0">
                          <a:solidFill>
                            <a:srgbClr val="1A1A1A"/>
                          </a:solidFill>
                          <a:latin typeface="Helvetica Neue"/>
                        </a:rPr>
                        <a:t>MedVLM-R1: Incentivizing Medical Reasoning Capability of Vision-Language Models (VLMs) via Reinforcement Learning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133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CT2Rep: Automated Radiology Report Generation for 3D Medical Imaging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102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Anatomically-Controllable Medical Image Generation with Segmentation-Guided Diffusion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MedCLIP-SAM: Bridging Text and Image Towards Universal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462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MedNeXt: Transformer-driven Scaling of ConvNets for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128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CoLa-Diff: Conditional Latent Diffusion Model for Multi-Modal MRI Synthesis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DiffMIC: Dual-Guidance Diffusion Network for Medical Image Classification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97</a:t>
                      </a:r>
                    </a:p>
                  </a:txBody>
                  <a:tcPr marL="45720" marR="45720" marT="18288" marB="18288" anchor="t"/>
                </a:tc>
                <a:tc>
                  <a:txBody>
                    <a:bodyPr wrap="square"/>
                    <a:lstStyle/>
                    <a:p>
                      <a:pPr algn="r"/>
                      <a:r>
                        <a:rPr sz="900" b="0" i="0">
                          <a:solidFill>
                            <a:srgbClr val="1A1A1A"/>
                          </a:solidFill>
                          <a:latin typeface="Helvetica Neue"/>
                        </a:rPr>
                        <a:t>13.9</a:t>
                      </a:r>
                    </a:p>
                  </a:txBody>
                  <a:tcPr marL="45720" marR="45720" marT="18288" marB="18288" anchor="t"/>
                </a:tc>
                <a:tc>
                  <a:txBody>
                    <a:bodyPr wrap="square"/>
                    <a:lstStyle/>
                    <a:p>
                      <a:r>
                        <a:rPr sz="900" b="0" i="0">
                          <a:solidFill>
                            <a:srgbClr val="1A1A1A"/>
                          </a:solidFill>
                          <a:latin typeface="Helvetica Neue"/>
                        </a:rPr>
                        <a:t>Beyond Adapting SAM: Towards End-to-End Ultrasound Image Segmentation via Auto Prompting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95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Self-Supervised MRI Reconstruction with Unrolled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Make-A-Volume: Leveraging Latent Diffusion Models for Cross-Modality 3D Brain MRI Synthesis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72</a:t>
                      </a:r>
                    </a:p>
                  </a:txBody>
                  <a:tcPr marL="45720" marR="45720" marT="18288" marB="18288" anchor="t"/>
                </a:tc>
                <a:tc>
                  <a:txBody>
                    <a:bodyPr wrap="square"/>
                    <a:lstStyle/>
                    <a:p>
                      <a:pPr algn="r"/>
                      <a:r>
                        <a:rPr sz="900" b="0" i="0">
                          <a:solidFill>
                            <a:srgbClr val="1A1A1A"/>
                          </a:solidFill>
                          <a:latin typeface="Helvetica Neue"/>
                        </a:rPr>
                        <a:t>19.0</a:t>
                      </a:r>
                    </a:p>
                  </a:txBody>
                  <a:tcPr marL="45720" marR="45720" marT="18288" marB="18288" anchor="t"/>
                </a:tc>
                <a:tc>
                  <a:txBody>
                    <a:bodyPr wrap="square"/>
                    <a:lstStyle/>
                    <a:p>
                      <a:r>
                        <a:rPr sz="900" b="0" i="0">
                          <a:solidFill>
                            <a:srgbClr val="1A1A1A"/>
                          </a:solidFill>
                          <a:latin typeface="Helvetica Neue"/>
                        </a:rPr>
                        <a:t>BerDiff: Conditional Bernoulli Diffusion Model for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Ariadne's Thread: Using Text Prompts to Improve Segmentation of Infected Areas from Chest X-ray images</a:t>
                      </a:r>
                    </a:p>
                  </a:txBody>
                  <a:tcPr marL="45720" marR="45720" marT="18288" marB="18288" anchor="t"/>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MICCAI: pediatric radiology AI works, 2024–2026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graphicFrame>
        <p:nvGraphicFramePr>
          <p:cNvPr id="4" name="Table 3"/>
          <p:cNvGraphicFramePr>
            <a:graphicFrameLocks noGrp="1"/>
          </p:cNvGraphicFramePr>
          <p:nvPr/>
        </p:nvGraphicFramePr>
        <p:xfrm>
          <a:off x="411480" y="877824"/>
          <a:ext cx="11368733" cy="5409573"/>
        </p:xfrm>
        <a:graphic>
          <a:graphicData uri="http://schemas.openxmlformats.org/drawingml/2006/table">
            <a:tbl>
              <a:tblPr firstRow="1" bandRow="1">
                <a:tableStyleId>{5C22544A-7EE6-4342-B048-85BDC9FD1C3A}</a:tableStyleId>
              </a:tblPr>
              <a:tblGrid>
                <a:gridCol w="398385"/>
                <a:gridCol w="1172626"/>
                <a:gridCol w="9797722"/>
              </a:tblGrid>
              <a:tr h="186537">
                <a:tc>
                  <a:txBody>
                    <a:bodyPr wrap="square"/>
                    <a:lstStyle/>
                    <a:p>
                      <a:pPr algn="r"/>
                      <a:r>
                        <a:rPr sz="864" b="1" i="0">
                          <a:solidFill>
                            <a:srgbClr val="FFFFFF"/>
                          </a:solidFill>
                          <a:latin typeface="Helvetica Neue"/>
                        </a:rPr>
                        <a:t>Year</a:t>
                      </a:r>
                    </a:p>
                  </a:txBody>
                  <a:tcPr marL="45720" marR="45720" marT="18288" marB="18288" anchor="t"/>
                </a:tc>
                <a:tc>
                  <a:txBody>
                    <a:bodyPr wrap="square"/>
                    <a:lstStyle/>
                    <a:p>
                      <a:pPr algn="r"/>
                      <a:r>
                        <a:rPr sz="864" b="1" i="0">
                          <a:solidFill>
                            <a:srgbClr val="FFFFFF"/>
                          </a:solidFill>
                          <a:latin typeface="Helvetica Neue"/>
                        </a:rPr>
                        <a:t>Population</a:t>
                      </a:r>
                    </a:p>
                  </a:txBody>
                  <a:tcPr marL="45720" marR="45720" marT="18288" marB="18288" anchor="t"/>
                </a:tc>
                <a:tc>
                  <a:txBody>
                    <a:bodyPr wrap="square"/>
                    <a:lstStyle/>
                    <a:p>
                      <a:r>
                        <a:rPr sz="864" b="1" i="0">
                          <a:solidFill>
                            <a:srgbClr val="FFFFFF"/>
                          </a:solidFill>
                          <a:latin typeface="Helvetica Neue"/>
                        </a:rPr>
                        <a:t>Paper</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Anomaly Detection in Fetal Echocardiography via Cross-Modal Translation and Region-Discriminated Error Calibration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BDFR-Net: Boundary-Aware Dual-Domain Feature Reconstruction Network for Fetal Ultrasound Image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Pediatric</a:t>
                      </a:r>
                    </a:p>
                  </a:txBody>
                  <a:tcPr marL="45720" marR="45720" marT="18288" marB="18288" anchor="t"/>
                </a:tc>
                <a:tc>
                  <a:txBody>
                    <a:bodyPr wrap="square"/>
                    <a:lstStyle/>
                    <a:p>
                      <a:r>
                        <a:rPr sz="864" b="0" i="0">
                          <a:solidFill>
                            <a:srgbClr val="1A1A1A"/>
                          </a:solidFill>
                          <a:latin typeface="Helvetica Neue"/>
                        </a:rPr>
                        <a:t>Coarse-to-Fine Meta-Reweighting with Dynamic Retrieval for Adult-to-Pediatric Domain Adaptation in Tumor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DeformTTA: Morphology-Aware Controllable Deformation for Test-Time Adaptation in Fetal Cardiac Ultrasound Image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Dual Agreement Consistency Learning for Semi-supervised Fetal Ultrasound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Dual-Domain Meta Conditioning Network for Fetal Head and Pubic Symphysis Segmentation in Ultrasound Images Analysis</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Foundation Model-Driven Key Anatomy Frame Selection for Blind-Sweep Ultrasound Fetal Birth Weight Estimation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G3R: Gaussian-Based Geometry-Guided Reconstruction for Fetal Brain MRI</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Maximizing Domain Generalization in Automated Fetal Brain Biometry</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Visual-Query Curriculum Learning for Rare Fetal Biometry Plane Detection in Blind-Sweep Ultrasound Video</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Accurate and Efficient Fetal Birth Weight Estimation from 3D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Adaptive Frame Selection for Gestational Age Estimation from Blind Sweep Fetal Ultrasound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Infant / neonatal</a:t>
                      </a:r>
                    </a:p>
                  </a:txBody>
                  <a:tcPr marL="45720" marR="45720" marT="18288" marB="18288" anchor="t"/>
                </a:tc>
                <a:tc>
                  <a:txBody>
                    <a:bodyPr wrap="square"/>
                    <a:lstStyle/>
                    <a:p>
                      <a:r>
                        <a:rPr sz="864" b="0" i="0">
                          <a:solidFill>
                            <a:srgbClr val="1A1A1A"/>
                          </a:solidFill>
                          <a:latin typeface="Helvetica Neue"/>
                        </a:rPr>
                        <a:t>Flexibly Distilled 3D Rectified Flow with Anatomical Constraints for Developmental Infant Brain MRI Prediction</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Fusing Radiomic Features with Deep Representations for Gestational Age Estimation in Fetal Ultrasound Images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General Methods Make Great Domain-specific Foundation Models: A Case-study on Fetal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Influence of Classification Task and Distribution Shift Type on OOD Detection in Fetal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Latent Motion Profiling for Annotation-free Cardiac Phase Detection in Adult and Fetal Echocardiography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Robust Fetal Pose Estimation across Gestational Ages via Cross-Population Augmentation</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Self-supervised Normality Learning and Divergence Vector-guided Model Merging for Zero-shot Congenital Heart Disease Detection in Fetal Ultrasound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You Can Detect It: Fetal Biometric Estimation Using Ellipse Detection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Cycle-consistent Learning for Fetal Cortical Surface Reconstruction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Pediatric</a:t>
                      </a:r>
                    </a:p>
                  </a:txBody>
                  <a:tcPr marL="45720" marR="45720" marT="18288" marB="18288" anchor="t"/>
                </a:tc>
                <a:tc>
                  <a:txBody>
                    <a:bodyPr wrap="square"/>
                    <a:lstStyle/>
                    <a:p>
                      <a:r>
                        <a:rPr sz="864" b="0" i="0">
                          <a:solidFill>
                            <a:srgbClr val="1A1A1A"/>
                          </a:solidFill>
                          <a:latin typeface="Helvetica Neue"/>
                        </a:rPr>
                        <a:t>Efficient and Gender-adaptive Graph Vision Mamba for Pediatric Bone Age Assessment</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Fetal MRI Reconstruction by Global Diffusion and Consistent Implicit Representation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Geometric Transformation Uncertainty for Improving 3D Fetal Brain Pose Prediction from Freehand 2D Ultrasound Videos</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Improving cross-domain brain tissue segmentation in fetal MRI with synthetic data</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Intrapartum Ultrasound Image Segmentation of Pubic Symphysis and Fetal Head Using Dual Student-Teacher Framework with CNN-ViT Collaborative Learning</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Pose-GuideNet: Automatic Scanning Guidance for Fetal Head Ultrasound from Pose Estimation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Infant / neonatal</a:t>
                      </a:r>
                    </a:p>
                  </a:txBody>
                  <a:tcPr marL="45720" marR="45720" marT="18288" marB="18288" anchor="t"/>
                </a:tc>
                <a:tc>
                  <a:txBody>
                    <a:bodyPr wrap="square"/>
                    <a:lstStyle/>
                    <a:p>
                      <a:r>
                        <a:rPr sz="864" b="0" i="0">
                          <a:solidFill>
                            <a:srgbClr val="1A1A1A"/>
                          </a:solidFill>
                          <a:latin typeface="Helvetica Neue"/>
                        </a:rPr>
                        <a:t>Super-Field MRI Synthesis for Infant Brains Enhanced by Dual Channel Latent Diffusion</a:t>
                      </a:r>
                    </a:p>
                  </a:txBody>
                  <a:tcPr marL="45720" marR="45720" marT="18288" marB="18288" anchor="t"/>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MIDL: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Medical Imaging with Deep Learning</a:t>
            </a:r>
            <a:r>
              <a:rPr sz="1100" b="0" i="0">
                <a:solidFill>
                  <a:srgbClr val="1A1A1A"/>
                </a:solidFill>
                <a:latin typeface="Helvetica Neue"/>
              </a:rPr>
              <a:t>. Radiology-AI works accepted (from the meeting's paper list), 2023–2026: 200 (2023: 47, 2024: 39, 2025: 40, 2026: 74); 9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Imbalance-aware loss functions improve medical image classification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Patched Diffusion Models for Unsupervised Anomaly Detection in Brain MRI</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39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MMCFormer: Missing Modality Compensation Transformer for Brain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Medical diffusion on a budget: textual inversion for medical image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MProtoNet: A Case-Based Interpretable Model for Brain Tumor Classification with 3D Multi-parametric Magnetic Resonance Imaging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Diffusion Models for Contrast Harmonization of Magnetic Resonance Images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Exploring Image Augmentations for Siamese Representation Learning with Chest X-Rays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3D Medical Axial Transformer: A Lightweight Transformer Model for 3D Brain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Vision-Language Modelling For Radiological Imaging and Reports In The Low Data Regime</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E(3) x SO(3)-Equivariant Networks for Spherical Deconvolution in Diffusion MRI</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Amortized Normalizing Flows for Transcranial Ultrasound with Uncertainty Quantification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Selective experience replay compression using coresets for lifelong deep reinforcement learning in medical imaging</a:t>
                      </a:r>
                    </a:p>
                  </a:txBody>
                  <a:tcPr marL="45720" marR="45720" marT="18288" marB="18288" anchor="t"/>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MIDL: pediatric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graphicFrame>
        <p:nvGraphicFramePr>
          <p:cNvPr id="4" name="Table 3"/>
          <p:cNvGraphicFramePr>
            <a:graphicFrameLocks noGrp="1"/>
          </p:cNvGraphicFramePr>
          <p:nvPr/>
        </p:nvGraphicFramePr>
        <p:xfrm>
          <a:off x="411480" y="877824"/>
          <a:ext cx="11368735" cy="1920240"/>
        </p:xfrm>
        <a:graphic>
          <a:graphicData uri="http://schemas.openxmlformats.org/drawingml/2006/table">
            <a:tbl>
              <a:tblPr firstRow="1" bandRow="1">
                <a:tableStyleId>{5C22544A-7EE6-4342-B048-85BDC9FD1C3A}</a:tableStyleId>
              </a:tblPr>
              <a:tblGrid>
                <a:gridCol w="409651"/>
                <a:gridCol w="832104"/>
                <a:gridCol w="10126980"/>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Population</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Calibration-Aware Semi-Supervised Fetal Head Segmentation with Boundary-Positive Contrast</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Orientation-Aware Diffusion Super-Resolution for 3T-Like Fetal MRI from Routine 1.5T Scans</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SuD-CoTAN: Sulcal Depth-guided Anatomically Consistent Fetal Cortical Surface Reconstruction</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Ultra-ECP: Ellipse-Constrained and Point-Robust Foundation Model Adaptation for Fetal Cardiac Ultrasound Segmentation</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WristMIR: Coarse-to-Fine Region-Aware Retrieval of Pediatric Wrist Radiographs with Radiology Report-Driven Learning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FERN: A Fetal Echocardiography Registration Network for 2D-to-3D Alignment</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GAMBAS: Generalised-Hilbert Mamba for Super-resolution of Paediatric Ultra-Low-Field MRI</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Joint Motion Estimation with Geometric Deformation Correction for Fetal Echo Planar Images Via Deep Learning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FUSQA: Fetal Ultrasound Segmentation Quality Assessment</a:t>
                      </a:r>
                    </a:p>
                  </a:txBody>
                  <a:tcPr marL="45720" marR="45720" marT="18288" marB="18288" anchor="t"/>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The biggest public pediatric radiology datasets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DATASETS</a:t>
            </a:r>
          </a:p>
        </p:txBody>
      </p:sp>
      <p:graphicFrame>
        <p:nvGraphicFramePr>
          <p:cNvPr id="4" name="Table 3"/>
          <p:cNvGraphicFramePr>
            <a:graphicFrameLocks noGrp="1"/>
          </p:cNvGraphicFramePr>
          <p:nvPr/>
        </p:nvGraphicFramePr>
        <p:xfrm>
          <a:off x="411480" y="877824"/>
          <a:ext cx="11368732" cy="3922776"/>
        </p:xfrm>
        <a:graphic>
          <a:graphicData uri="http://schemas.openxmlformats.org/drawingml/2006/table">
            <a:tbl>
              <a:tblPr firstRow="1" bandRow="1">
                <a:tableStyleId>{5C22544A-7EE6-4342-B048-85BDC9FD1C3A}</a:tableStyleId>
              </a:tblPr>
              <a:tblGrid>
                <a:gridCol w="3031816"/>
                <a:gridCol w="832104"/>
                <a:gridCol w="2017652"/>
                <a:gridCol w="3031816"/>
                <a:gridCol w="1014164"/>
                <a:gridCol w="1441180"/>
              </a:tblGrid>
              <a:tr h="192024">
                <a:tc>
                  <a:txBody>
                    <a:bodyPr wrap="square"/>
                    <a:lstStyle/>
                    <a:p>
                      <a:r>
                        <a:rPr sz="900" b="1" i="0">
                          <a:solidFill>
                            <a:srgbClr val="FFFFFF"/>
                          </a:solidFill>
                          <a:latin typeface="Helvetica Neue"/>
                        </a:rPr>
                        <a:t>Dataset</a:t>
                      </a:r>
                    </a:p>
                  </a:txBody>
                  <a:tcPr marL="45720" marR="45720" marT="18288" marB="18288" anchor="t"/>
                </a:tc>
                <a:tc>
                  <a:txBody>
                    <a:bodyPr wrap="square"/>
                    <a:lstStyle/>
                    <a:p>
                      <a:pPr algn="r"/>
                      <a:r>
                        <a:rPr sz="900" b="1" i="0">
                          <a:solidFill>
                            <a:srgbClr val="FFFFFF"/>
                          </a:solidFill>
                          <a:latin typeface="Helvetica Neue"/>
                        </a:rPr>
                        <a:t>Year</a:t>
                      </a:r>
                    </a:p>
                  </a:txBody>
                  <a:tcPr marL="45720" marR="45720" marT="18288" marB="18288" anchor="t"/>
                </a:tc>
                <a:tc>
                  <a:txBody>
                    <a:bodyPr wrap="square"/>
                    <a:lstStyle/>
                    <a:p>
                      <a:r>
                        <a:rPr sz="900" b="1" i="0">
                          <a:solidFill>
                            <a:srgbClr val="FFFFFF"/>
                          </a:solidFill>
                          <a:latin typeface="Helvetica Neue"/>
                        </a:rPr>
                        <a:t>Modality</a:t>
                      </a:r>
                    </a:p>
                  </a:txBody>
                  <a:tcPr marL="45720" marR="45720" marT="18288" marB="18288" anchor="t"/>
                </a:tc>
                <a:tc>
                  <a:txBody>
                    <a:bodyPr wrap="square"/>
                    <a:lstStyle/>
                    <a:p>
                      <a:r>
                        <a:rPr sz="900" b="1" i="0">
                          <a:solidFill>
                            <a:srgbClr val="FFFFFF"/>
                          </a:solidFill>
                          <a:latin typeface="Helvetica Neue"/>
                        </a:rPr>
                        <a:t>Size</a:t>
                      </a:r>
                    </a:p>
                  </a:txBody>
                  <a:tcPr marL="45720" marR="45720" marT="18288" marB="18288" anchor="t"/>
                </a:tc>
                <a:tc>
                  <a:txBody>
                    <a:bodyPr wrap="square"/>
                    <a:lstStyle/>
                    <a:p>
                      <a:r>
                        <a:rPr sz="900" b="1" i="0">
                          <a:solidFill>
                            <a:srgbClr val="FFFFFF"/>
                          </a:solidFill>
                          <a:latin typeface="Helvetica Neue"/>
                        </a:rPr>
                        <a:t>Ages</a:t>
                      </a:r>
                    </a:p>
                  </a:txBody>
                  <a:tcPr marL="45720" marR="45720" marT="18288" marB="18288" anchor="t"/>
                </a:tc>
                <a:tc>
                  <a:txBody>
                    <a:bodyPr wrap="square"/>
                    <a:lstStyle/>
                    <a:p>
                      <a:r>
                        <a:rPr sz="900" b="1" i="0">
                          <a:solidFill>
                            <a:srgbClr val="FFFFFF"/>
                          </a:solidFill>
                          <a:latin typeface="Helvetica Neue"/>
                        </a:rPr>
                        <a:t>Access</a:t>
                      </a:r>
                    </a:p>
                  </a:txBody>
                  <a:tcPr marL="45720" marR="45720" marT="18288" marB="18288" anchor="t"/>
                </a:tc>
              </a:tr>
              <a:tr h="329184">
                <a:tc>
                  <a:txBody>
                    <a:bodyPr wrap="square"/>
                    <a:lstStyle/>
                    <a:p>
                      <a:r>
                        <a:rPr sz="900" b="0" i="0">
                          <a:solidFill>
                            <a:srgbClr val="1A1A1A"/>
                          </a:solidFill>
                          <a:latin typeface="Helvetica Neue"/>
                        </a:rPr>
                        <a:t>CBTN clinical MRI (Children's Brain Tumor Network)</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brain / spine tumor MRI</a:t>
                      </a:r>
                    </a:p>
                  </a:txBody>
                  <a:tcPr marL="45720" marR="45720" marT="18288" marB="18288" anchor="t"/>
                </a:tc>
                <a:tc>
                  <a:txBody>
                    <a:bodyPr wrap="square"/>
                    <a:lstStyle/>
                    <a:p>
                      <a:r>
                        <a:rPr sz="900" b="0" i="0">
                          <a:solidFill>
                            <a:srgbClr val="1A1A1A"/>
                          </a:solidFill>
                          <a:latin typeface="Helvetica Neue"/>
                        </a:rPr>
                        <a:t>23,101 exams (1,526 patients); tumor masks for 370</a:t>
                      </a:r>
                    </a:p>
                  </a:txBody>
                  <a:tcPr marL="45720" marR="45720" marT="18288" marB="18288" anchor="t"/>
                </a:tc>
                <a:tc>
                  <a:txBody>
                    <a:bodyPr wrap="square"/>
                    <a:lstStyle/>
                    <a:p>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application (NCI CCDI)</a:t>
                      </a:r>
                    </a:p>
                  </a:txBody>
                  <a:tcPr marL="45720" marR="45720" marT="18288" marB="18288" anchor="t"/>
                </a:tc>
              </a:tr>
              <a:tr h="192024">
                <a:tc>
                  <a:txBody>
                    <a:bodyPr wrap="square"/>
                    <a:lstStyle/>
                    <a:p>
                      <a:r>
                        <a:rPr sz="900" b="0" i="0">
                          <a:solidFill>
                            <a:srgbClr val="1A1A1A"/>
                          </a:solidFill>
                          <a:latin typeface="Helvetica Neue"/>
                        </a:rPr>
                        <a:t>GRAZPEDWRI-DX</a:t>
                      </a:r>
                    </a:p>
                  </a:txBody>
                  <a:tcPr marL="45720" marR="45720" marT="18288" marB="18288" anchor="t"/>
                </a:tc>
                <a:tc>
                  <a:txBody>
                    <a:bodyPr wrap="square"/>
                    <a:lstStyle/>
                    <a:p>
                      <a:pPr algn="r"/>
                      <a:r>
                        <a:rPr sz="900" b="0" i="0">
                          <a:solidFill>
                            <a:srgbClr val="1A1A1A"/>
                          </a:solidFill>
                          <a:latin typeface="Helvetica Neue"/>
                        </a:rPr>
                        <a:t>2022</a:t>
                      </a:r>
                    </a:p>
                  </a:txBody>
                  <a:tcPr marL="45720" marR="45720" marT="18288" marB="18288" anchor="t"/>
                </a:tc>
                <a:tc>
                  <a:txBody>
                    <a:bodyPr wrap="square"/>
                    <a:lstStyle/>
                    <a:p>
                      <a:r>
                        <a:rPr sz="900" b="0" i="0">
                          <a:solidFill>
                            <a:srgbClr val="1A1A1A"/>
                          </a:solidFill>
                          <a:latin typeface="Helvetica Neue"/>
                        </a:rPr>
                        <a:t>wrist radiographs (trauma)</a:t>
                      </a:r>
                    </a:p>
                  </a:txBody>
                  <a:tcPr marL="45720" marR="45720" marT="18288" marB="18288" anchor="t"/>
                </a:tc>
                <a:tc>
                  <a:txBody>
                    <a:bodyPr wrap="square"/>
                    <a:lstStyle/>
                    <a:p>
                      <a:r>
                        <a:rPr sz="900" b="0" i="0">
                          <a:solidFill>
                            <a:srgbClr val="1A1A1A"/>
                          </a:solidFill>
                          <a:latin typeface="Helvetica Neue"/>
                        </a:rPr>
                        <a:t>20,327 images (6,091 patients)</a:t>
                      </a:r>
                    </a:p>
                  </a:txBody>
                  <a:tcPr marL="45720" marR="45720" marT="18288" marB="18288" anchor="t"/>
                </a:tc>
                <a:tc>
                  <a:txBody>
                    <a:bodyPr wrap="square"/>
                    <a:lstStyle/>
                    <a:p>
                      <a:r>
                        <a:rPr sz="900" b="0" i="0">
                          <a:solidFill>
                            <a:srgbClr val="1A1A1A"/>
                          </a:solidFill>
                          <a:latin typeface="Helvetica Neue"/>
                        </a:rPr>
                        <a:t>0.2–19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192024">
                <a:tc>
                  <a:txBody>
                    <a:bodyPr wrap="square"/>
                    <a:lstStyle/>
                    <a:p>
                      <a:r>
                        <a:rPr sz="900" b="0" i="0">
                          <a:solidFill>
                            <a:srgbClr val="1A1A1A"/>
                          </a:solidFill>
                          <a:latin typeface="Helvetica Neue"/>
                        </a:rPr>
                        <a:t>RSNA Pediatric Bone Age Challenge</a:t>
                      </a:r>
                    </a:p>
                  </a:txBody>
                  <a:tcPr marL="45720" marR="45720" marT="18288" marB="18288" anchor="t"/>
                </a:tc>
                <a:tc>
                  <a:txBody>
                    <a:bodyPr wrap="square"/>
                    <a:lstStyle/>
                    <a:p>
                      <a:pPr algn="r"/>
                      <a:r>
                        <a:rPr sz="900" b="0" i="0">
                          <a:solidFill>
                            <a:srgbClr val="1A1A1A"/>
                          </a:solidFill>
                          <a:latin typeface="Helvetica Neue"/>
                        </a:rPr>
                        <a:t>2017</a:t>
                      </a:r>
                    </a:p>
                  </a:txBody>
                  <a:tcPr marL="45720" marR="45720" marT="18288" marB="18288" anchor="t"/>
                </a:tc>
                <a:tc>
                  <a:txBody>
                    <a:bodyPr wrap="square"/>
                    <a:lstStyle/>
                    <a:p>
                      <a:r>
                        <a:rPr sz="900" b="0" i="0">
                          <a:solidFill>
                            <a:srgbClr val="1A1A1A"/>
                          </a:solidFill>
                          <a:latin typeface="Helvetica Neue"/>
                        </a:rPr>
                        <a:t>hand radiographs</a:t>
                      </a:r>
                    </a:p>
                  </a:txBody>
                  <a:tcPr marL="45720" marR="45720" marT="18288" marB="18288" anchor="t"/>
                </a:tc>
                <a:tc>
                  <a:txBody>
                    <a:bodyPr wrap="square"/>
                    <a:lstStyle/>
                    <a:p>
                      <a:r>
                        <a:rPr sz="900" b="0" i="0">
                          <a:solidFill>
                            <a:srgbClr val="1A1A1A"/>
                          </a:solidFill>
                          <a:latin typeface="Helvetica Neue"/>
                        </a:rPr>
                        <a:t>14,236 images (bone age + sex)</a:t>
                      </a:r>
                    </a:p>
                  </a:txBody>
                  <a:tcPr marL="45720" marR="45720" marT="18288" marB="18288" anchor="t"/>
                </a:tc>
                <a:tc>
                  <a:txBody>
                    <a:bodyPr wrap="square"/>
                    <a:lstStyle/>
                    <a:p>
                      <a:r>
                        <a:rPr sz="900" b="0" i="0">
                          <a:solidFill>
                            <a:srgbClr val="1A1A1A"/>
                          </a:solidFill>
                          <a:latin typeface="Helvetica Neue"/>
                        </a:rPr>
                        <a:t>mean 10.6 y</a:t>
                      </a:r>
                    </a:p>
                  </a:txBody>
                  <a:tcPr marL="45720" marR="45720" marT="18288" marB="18288" anchor="t"/>
                </a:tc>
                <a:tc>
                  <a:txBody>
                    <a:bodyPr wrap="square"/>
                    <a:lstStyle/>
                    <a:p>
                      <a:r>
                        <a:rPr sz="900" b="0" i="0">
                          <a:solidFill>
                            <a:srgbClr val="1A1A1A"/>
                          </a:solidFill>
                          <a:latin typeface="Helvetica Neue"/>
                        </a:rPr>
                        <a:t>open (RSNA terms)</a:t>
                      </a:r>
                    </a:p>
                  </a:txBody>
                  <a:tcPr marL="45720" marR="45720" marT="18288" marB="18288" anchor="t"/>
                </a:tc>
              </a:tr>
              <a:tr h="329184">
                <a:tc>
                  <a:txBody>
                    <a:bodyPr wrap="square"/>
                    <a:lstStyle/>
                    <a:p>
                      <a:r>
                        <a:rPr sz="900" b="0" i="0">
                          <a:solidFill>
                            <a:srgbClr val="1A1A1A"/>
                          </a:solidFill>
                          <a:latin typeface="Helvetica Neue"/>
                        </a:rPr>
                        <a:t>FETAL_PLANES_DB</a:t>
                      </a:r>
                    </a:p>
                  </a:txBody>
                  <a:tcPr marL="45720" marR="45720" marT="18288" marB="18288" anchor="t"/>
                </a:tc>
                <a:tc>
                  <a:txBody>
                    <a:bodyPr wrap="square"/>
                    <a:lstStyle/>
                    <a:p>
                      <a:pPr algn="r"/>
                      <a:r>
                        <a:rPr sz="900" b="0" i="0">
                          <a:solidFill>
                            <a:srgbClr val="1A1A1A"/>
                          </a:solidFill>
                          <a:latin typeface="Helvetica Neue"/>
                        </a:rPr>
                        <a:t>2020</a:t>
                      </a:r>
                    </a:p>
                  </a:txBody>
                  <a:tcPr marL="45720" marR="45720" marT="18288" marB="18288" anchor="t"/>
                </a:tc>
                <a:tc>
                  <a:txBody>
                    <a:bodyPr wrap="square"/>
                    <a:lstStyle/>
                    <a:p>
                      <a:r>
                        <a:rPr sz="900" b="0" i="0">
                          <a:solidFill>
                            <a:srgbClr val="1A1A1A"/>
                          </a:solidFill>
                          <a:latin typeface="Helvetica Neue"/>
                        </a:rPr>
                        <a:t>fetal ultrasound (standard planes)</a:t>
                      </a:r>
                    </a:p>
                  </a:txBody>
                  <a:tcPr marL="45720" marR="45720" marT="18288" marB="18288" anchor="t"/>
                </a:tc>
                <a:tc>
                  <a:txBody>
                    <a:bodyPr wrap="square"/>
                    <a:lstStyle/>
                    <a:p>
                      <a:r>
                        <a:rPr sz="900" b="0" i="0">
                          <a:solidFill>
                            <a:srgbClr val="1A1A1A"/>
                          </a:solidFill>
                          <a:latin typeface="Helvetica Neue"/>
                        </a:rPr>
                        <a:t>12,400 images (1,792 pregnancies)</a:t>
                      </a:r>
                    </a:p>
                  </a:txBody>
                  <a:tcPr marL="45720" marR="45720" marT="18288" marB="18288" anchor="t"/>
                </a:tc>
                <a:tc>
                  <a:txBody>
                    <a:bodyPr wrap="square"/>
                    <a:lstStyle/>
                    <a:p>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ABCD Study</a:t>
                      </a:r>
                    </a:p>
                  </a:txBody>
                  <a:tcPr marL="45720" marR="45720" marT="18288" marB="18288" anchor="t"/>
                </a:tc>
                <a:tc>
                  <a:txBody>
                    <a:bodyPr wrap="square"/>
                    <a:lstStyle/>
                    <a:p>
                      <a:pPr algn="r"/>
                      <a:r>
                        <a:rPr sz="900" b="0" i="0">
                          <a:solidFill>
                            <a:srgbClr val="1A1A1A"/>
                          </a:solidFill>
                          <a:latin typeface="Helvetica Neue"/>
                        </a:rPr>
                        <a:t>2018–</a:t>
                      </a:r>
                    </a:p>
                  </a:txBody>
                  <a:tcPr marL="45720" marR="45720" marT="18288" marB="18288" anchor="t"/>
                </a:tc>
                <a:tc>
                  <a:txBody>
                    <a:bodyPr wrap="square"/>
                    <a:lstStyle/>
                    <a:p>
                      <a:r>
                        <a:rPr sz="900" b="0" i="0">
                          <a:solidFill>
                            <a:srgbClr val="1A1A1A"/>
                          </a:solidFill>
                          <a:latin typeface="Helvetica Neue"/>
                        </a:rPr>
                        <a:t>brain MRI, longitudinal</a:t>
                      </a:r>
                    </a:p>
                  </a:txBody>
                  <a:tcPr marL="45720" marR="45720" marT="18288" marB="18288" anchor="t"/>
                </a:tc>
                <a:tc>
                  <a:txBody>
                    <a:bodyPr wrap="square"/>
                    <a:lstStyle/>
                    <a:p>
                      <a:r>
                        <a:rPr sz="900" b="0" i="0">
                          <a:solidFill>
                            <a:srgbClr val="1A1A1A"/>
                          </a:solidFill>
                          <a:latin typeface="Helvetica Neue"/>
                        </a:rPr>
                        <a:t>11,878 participants, up to 7 follow-ups</a:t>
                      </a:r>
                    </a:p>
                  </a:txBody>
                  <a:tcPr marL="45720" marR="45720" marT="18288" marB="18288" anchor="t"/>
                </a:tc>
                <a:tc>
                  <a:txBody>
                    <a:bodyPr wrap="square"/>
                    <a:lstStyle/>
                    <a:p>
                      <a:r>
                        <a:rPr sz="900" b="0" i="0">
                          <a:solidFill>
                            <a:srgbClr val="1A1A1A"/>
                          </a:solidFill>
                          <a:latin typeface="Helvetica Neue"/>
                        </a:rPr>
                        <a:t>9–10 y at baseline</a:t>
                      </a:r>
                    </a:p>
                  </a:txBody>
                  <a:tcPr marL="45720" marR="45720" marT="18288" marB="18288" anchor="t"/>
                </a:tc>
                <a:tc>
                  <a:txBody>
                    <a:bodyPr wrap="square"/>
                    <a:lstStyle/>
                    <a:p>
                      <a:r>
                        <a:rPr sz="900" b="0" i="0">
                          <a:solidFill>
                            <a:srgbClr val="1A1A1A"/>
                          </a:solidFill>
                          <a:latin typeface="Helvetica Neue"/>
                        </a:rPr>
                        <a:t>application (NBDC)</a:t>
                      </a:r>
                    </a:p>
                  </a:txBody>
                  <a:tcPr marL="45720" marR="45720" marT="18288" marB="18288" anchor="t"/>
                </a:tc>
              </a:tr>
              <a:tr h="329184">
                <a:tc>
                  <a:txBody>
                    <a:bodyPr wrap="square"/>
                    <a:lstStyle/>
                    <a:p>
                      <a:r>
                        <a:rPr sz="900" b="0" i="0">
                          <a:solidFill>
                            <a:srgbClr val="1A1A1A"/>
                          </a:solidFill>
                          <a:latin typeface="Helvetica Neue"/>
                        </a:rPr>
                        <a:t>PediCXR / VinDr-PCXR</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chest radiographs</a:t>
                      </a:r>
                    </a:p>
                  </a:txBody>
                  <a:tcPr marL="45720" marR="45720" marT="18288" marB="18288" anchor="t"/>
                </a:tc>
                <a:tc>
                  <a:txBody>
                    <a:bodyPr wrap="square"/>
                    <a:lstStyle/>
                    <a:p>
                      <a:r>
                        <a:rPr sz="900" b="0" i="0">
                          <a:solidFill>
                            <a:srgbClr val="1A1A1A"/>
                          </a:solidFill>
                          <a:latin typeface="Helvetica Neue"/>
                        </a:rPr>
                        <a:t>9,125 studies; 36 findings, 15 diagnoses</a:t>
                      </a:r>
                    </a:p>
                  </a:txBody>
                  <a:tcPr marL="45720" marR="45720" marT="18288" marB="18288" anchor="t"/>
                </a:tc>
                <a:tc>
                  <a:txBody>
                    <a:bodyPr wrap="square"/>
                    <a:lstStyle/>
                    <a:p>
                      <a:r>
                        <a:rPr sz="900" b="0" i="0">
                          <a:solidFill>
                            <a:srgbClr val="1A1A1A"/>
                          </a:solidFill>
                          <a:latin typeface="Helvetica Neue"/>
                        </a:rPr>
                        <a:t>10 y</a:t>
                      </a:r>
                    </a:p>
                  </a:txBody>
                  <a:tcPr marL="45720" marR="45720" marT="18288" marB="18288" anchor="t"/>
                </a:tc>
                <a:tc>
                  <a:txBody>
                    <a:bodyPr wrap="square"/>
                    <a:lstStyle/>
                    <a:p>
                      <a:r>
                        <a:rPr sz="900" b="0" i="0">
                          <a:solidFill>
                            <a:srgbClr val="1A1A1A"/>
                          </a:solidFill>
                          <a:latin typeface="Helvetica Neue"/>
                        </a:rPr>
                        <a:t>credentialed (PhysioNet)</a:t>
                      </a:r>
                    </a:p>
                  </a:txBody>
                  <a:tcPr marL="45720" marR="45720" marT="18288" marB="18288" anchor="t"/>
                </a:tc>
              </a:tr>
              <a:tr h="329184">
                <a:tc>
                  <a:txBody>
                    <a:bodyPr wrap="square"/>
                    <a:lstStyle/>
                    <a:p>
                      <a:r>
                        <a:rPr sz="900" b="0" i="0">
                          <a:solidFill>
                            <a:srgbClr val="1A1A1A"/>
                          </a:solidFill>
                          <a:latin typeface="Helvetica Neue"/>
                        </a:rPr>
                        <a:t>Guangzhou pediatric chest X-ray (Kermany)</a:t>
                      </a:r>
                    </a:p>
                  </a:txBody>
                  <a:tcPr marL="45720" marR="45720" marT="18288" marB="18288" anchor="t"/>
                </a:tc>
                <a:tc>
                  <a:txBody>
                    <a:bodyPr wrap="square"/>
                    <a:lstStyle/>
                    <a:p>
                      <a:pPr algn="r"/>
                      <a:r>
                        <a:rPr sz="900" b="0" i="0">
                          <a:solidFill>
                            <a:srgbClr val="1A1A1A"/>
                          </a:solidFill>
                          <a:latin typeface="Helvetica Neue"/>
                        </a:rPr>
                        <a:t>2018</a:t>
                      </a:r>
                    </a:p>
                  </a:txBody>
                  <a:tcPr marL="45720" marR="45720" marT="18288" marB="18288" anchor="t"/>
                </a:tc>
                <a:tc>
                  <a:txBody>
                    <a:bodyPr wrap="square"/>
                    <a:lstStyle/>
                    <a:p>
                      <a:r>
                        <a:rPr sz="900" b="0" i="0">
                          <a:solidFill>
                            <a:srgbClr val="1A1A1A"/>
                          </a:solidFill>
                          <a:latin typeface="Helvetica Neue"/>
                        </a:rPr>
                        <a:t>chest radiographs</a:t>
                      </a:r>
                    </a:p>
                  </a:txBody>
                  <a:tcPr marL="45720" marR="45720" marT="18288" marB="18288" anchor="t"/>
                </a:tc>
                <a:tc>
                  <a:txBody>
                    <a:bodyPr wrap="square"/>
                    <a:lstStyle/>
                    <a:p>
                      <a:r>
                        <a:rPr sz="900" b="0" i="0">
                          <a:solidFill>
                            <a:srgbClr val="1A1A1A"/>
                          </a:solidFill>
                          <a:latin typeface="Helvetica Neue"/>
                        </a:rPr>
                        <a:t>5,856 images (normal / bacterial / viral pneumonia)</a:t>
                      </a:r>
                    </a:p>
                  </a:txBody>
                  <a:tcPr marL="45720" marR="45720" marT="18288" marB="18288" anchor="t"/>
                </a:tc>
                <a:tc>
                  <a:txBody>
                    <a:bodyPr wrap="square"/>
                    <a:lstStyle/>
                    <a:p>
                      <a:r>
                        <a:rPr sz="900" b="0" i="0">
                          <a:solidFill>
                            <a:srgbClr val="1A1A1A"/>
                          </a:solidFill>
                          <a:latin typeface="Helvetica Neue"/>
                        </a:rPr>
                        <a:t>1–5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ABIDE I + II (autism)</a:t>
                      </a:r>
                    </a:p>
                  </a:txBody>
                  <a:tcPr marL="45720" marR="45720" marT="18288" marB="18288" anchor="t"/>
                </a:tc>
                <a:tc>
                  <a:txBody>
                    <a:bodyPr wrap="square"/>
                    <a:lstStyle/>
                    <a:p>
                      <a:pPr algn="r"/>
                      <a:r>
                        <a:rPr sz="900" b="0" i="0">
                          <a:solidFill>
                            <a:srgbClr val="1A1A1A"/>
                          </a:solidFill>
                          <a:latin typeface="Helvetica Neue"/>
                        </a:rPr>
                        <a:t>2012 / 2016</a:t>
                      </a:r>
                    </a:p>
                  </a:txBody>
                  <a:tcPr marL="45720" marR="45720" marT="18288" marB="18288" anchor="t"/>
                </a:tc>
                <a:tc>
                  <a:txBody>
                    <a:bodyPr wrap="square"/>
                    <a:lstStyle/>
                    <a:p>
                      <a:r>
                        <a:rPr sz="900" b="0" i="0">
                          <a:solidFill>
                            <a:srgbClr val="1A1A1A"/>
                          </a:solidFill>
                          <a:latin typeface="Helvetica Neue"/>
                        </a:rPr>
                        <a:t>brain MRI (structural, resting fMRI)</a:t>
                      </a:r>
                    </a:p>
                  </a:txBody>
                  <a:tcPr marL="45720" marR="45720" marT="18288" marB="18288" anchor="t"/>
                </a:tc>
                <a:tc>
                  <a:txBody>
                    <a:bodyPr wrap="square"/>
                    <a:lstStyle/>
                    <a:p>
                      <a:r>
                        <a:rPr sz="900" b="0" i="0">
                          <a:solidFill>
                            <a:srgbClr val="1A1A1A"/>
                          </a:solidFill>
                          <a:latin typeface="Helvetica Neue"/>
                        </a:rPr>
                        <a:t>2,156 subjects</a:t>
                      </a:r>
                    </a:p>
                  </a:txBody>
                  <a:tcPr marL="45720" marR="45720" marT="18288" marB="18288" anchor="t"/>
                </a:tc>
                <a:tc>
                  <a:txBody>
                    <a:bodyPr wrap="square"/>
                    <a:lstStyle/>
                    <a:p>
                      <a:r>
                        <a:rPr sz="900" b="0" i="0">
                          <a:solidFill>
                            <a:srgbClr val="1A1A1A"/>
                          </a:solidFill>
                          <a:latin typeface="Helvetica Neue"/>
                        </a:rPr>
                        <a:t>5–64 y (mostly children)</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192024">
                <a:tc>
                  <a:txBody>
                    <a:bodyPr wrap="square"/>
                    <a:lstStyle/>
                    <a:p>
                      <a:r>
                        <a:rPr sz="900" b="0" i="0">
                          <a:solidFill>
                            <a:srgbClr val="1A1A1A"/>
                          </a:solidFill>
                          <a:latin typeface="Helvetica Neue"/>
                        </a:rPr>
                        <a:t>Regensburg Pediatric Appendicitis</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abdominal ultrasound + labs</a:t>
                      </a:r>
                    </a:p>
                  </a:txBody>
                  <a:tcPr marL="45720" marR="45720" marT="18288" marB="18288" anchor="t"/>
                </a:tc>
                <a:tc>
                  <a:txBody>
                    <a:bodyPr wrap="square"/>
                    <a:lstStyle/>
                    <a:p>
                      <a:r>
                        <a:rPr sz="900" b="0" i="0">
                          <a:solidFill>
                            <a:srgbClr val="1A1A1A"/>
                          </a:solidFill>
                          <a:latin typeface="Helvetica Neue"/>
                        </a:rPr>
                        <a:t>1,709 images (579 patients)</a:t>
                      </a:r>
                    </a:p>
                  </a:txBody>
                  <a:tcPr marL="45720" marR="45720" marT="18288" marB="18288" anchor="t"/>
                </a:tc>
                <a:tc>
                  <a:txBody>
                    <a:bodyPr wrap="square"/>
                    <a:lstStyle/>
                    <a:p>
                      <a:r>
                        <a:rPr sz="900" b="0" i="0">
                          <a:solidFill>
                            <a:srgbClr val="1A1A1A"/>
                          </a:solidFill>
                          <a:latin typeface="Helvetica Neue"/>
                        </a:rPr>
                        <a:t>0–18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dHCP (Developing Human Connectome Project)</a:t>
                      </a:r>
                    </a:p>
                  </a:txBody>
                  <a:tcPr marL="45720" marR="45720" marT="18288" marB="18288" anchor="t"/>
                </a:tc>
                <a:tc>
                  <a:txBody>
                    <a:bodyPr wrap="square"/>
                    <a:lstStyle/>
                    <a:p>
                      <a:pPr algn="r"/>
                      <a:r>
                        <a:rPr sz="900" b="0" i="0">
                          <a:solidFill>
                            <a:srgbClr val="1A1A1A"/>
                          </a:solidFill>
                          <a:latin typeface="Helvetica Neue"/>
                        </a:rPr>
                        <a:t>2022–24</a:t>
                      </a:r>
                    </a:p>
                  </a:txBody>
                  <a:tcPr marL="45720" marR="45720" marT="18288" marB="18288" anchor="t"/>
                </a:tc>
                <a:tc>
                  <a:txBody>
                    <a:bodyPr wrap="square"/>
                    <a:lstStyle/>
                    <a:p>
                      <a:r>
                        <a:rPr sz="900" b="0" i="0">
                          <a:solidFill>
                            <a:srgbClr val="1A1A1A"/>
                          </a:solidFill>
                          <a:latin typeface="Helvetica Neue"/>
                        </a:rPr>
                        <a:t>neonatal + fetal brain MRI</a:t>
                      </a:r>
                    </a:p>
                  </a:txBody>
                  <a:tcPr marL="45720" marR="45720" marT="18288" marB="18288" anchor="t"/>
                </a:tc>
                <a:tc>
                  <a:txBody>
                    <a:bodyPr wrap="square"/>
                    <a:lstStyle/>
                    <a:p>
                      <a:r>
                        <a:rPr sz="900" b="0" i="0">
                          <a:solidFill>
                            <a:srgbClr val="1A1A1A"/>
                          </a:solidFill>
                          <a:latin typeface="Helvetica Neue"/>
                        </a:rPr>
                        <a:t>886 neonatal + 297 fetal datasets, with segmentations</a:t>
                      </a:r>
                    </a:p>
                  </a:txBody>
                  <a:tcPr marL="45720" marR="45720" marT="18288" marB="18288" anchor="t"/>
                </a:tc>
                <a:tc>
                  <a:txBody>
                    <a:bodyPr wrap="square"/>
                    <a:lstStyle/>
                    <a:p>
                      <a:r>
                        <a:rPr sz="900" b="0" i="0">
                          <a:solidFill>
                            <a:srgbClr val="1A1A1A"/>
                          </a:solidFill>
                          <a:latin typeface="Helvetica Neue"/>
                        </a:rPr>
                        <a:t>20–45 weeks</a:t>
                      </a:r>
                    </a:p>
                  </a:txBody>
                  <a:tcPr marL="45720" marR="45720" marT="18288" marB="18288" anchor="t"/>
                </a:tc>
                <a:tc>
                  <a:txBody>
                    <a:bodyPr wrap="square"/>
                    <a:lstStyle/>
                    <a:p>
                      <a:r>
                        <a:rPr sz="900" b="0" i="0">
                          <a:solidFill>
                            <a:srgbClr val="1A1A1A"/>
                          </a:solidFill>
                          <a:latin typeface="Helvetica Neue"/>
                        </a:rPr>
                        <a:t>open (NDA)</a:t>
                      </a:r>
                    </a:p>
                  </a:txBody>
                  <a:tcPr marL="45720" marR="45720" marT="18288" marB="18288" anchor="t"/>
                </a:tc>
              </a:tr>
              <a:tr h="192024">
                <a:tc>
                  <a:txBody>
                    <a:bodyPr wrap="square"/>
                    <a:lstStyle/>
                    <a:p>
                      <a:r>
                        <a:rPr sz="900" b="0" i="0">
                          <a:solidFill>
                            <a:srgbClr val="1A1A1A"/>
                          </a:solidFill>
                          <a:latin typeface="Helvetica Neue"/>
                        </a:rPr>
                        <a:t>Pediatric-CT-SEG (TCIA)</a:t>
                      </a:r>
                    </a:p>
                  </a:txBody>
                  <a:tcPr marL="45720" marR="45720" marT="18288" marB="18288" anchor="t"/>
                </a:tc>
                <a:tc>
                  <a:txBody>
                    <a:bodyPr wrap="square"/>
                    <a:lstStyle/>
                    <a:p>
                      <a:pPr algn="r"/>
                      <a:r>
                        <a:rPr sz="900" b="0" i="0">
                          <a:solidFill>
                            <a:srgbClr val="1A1A1A"/>
                          </a:solidFill>
                          <a:latin typeface="Helvetica Neue"/>
                        </a:rPr>
                        <a:t>2022</a:t>
                      </a:r>
                    </a:p>
                  </a:txBody>
                  <a:tcPr marL="45720" marR="45720" marT="18288" marB="18288" anchor="t"/>
                </a:tc>
                <a:tc>
                  <a:txBody>
                    <a:bodyPr wrap="square"/>
                    <a:lstStyle/>
                    <a:p>
                      <a:r>
                        <a:rPr sz="900" b="0" i="0">
                          <a:solidFill>
                            <a:srgbClr val="1A1A1A"/>
                          </a:solidFill>
                          <a:latin typeface="Helvetica Neue"/>
                        </a:rPr>
                        <a:t>chest / abdomen / pelvis CT</a:t>
                      </a:r>
                    </a:p>
                  </a:txBody>
                  <a:tcPr marL="45720" marR="45720" marT="18288" marB="18288" anchor="t"/>
                </a:tc>
                <a:tc>
                  <a:txBody>
                    <a:bodyPr wrap="square"/>
                    <a:lstStyle/>
                    <a:p>
                      <a:r>
                        <a:rPr sz="900" b="0" i="0">
                          <a:solidFill>
                            <a:srgbClr val="1A1A1A"/>
                          </a:solidFill>
                          <a:latin typeface="Helvetica Neue"/>
                        </a:rPr>
                        <a:t>718 series (359 patients); 29 organ contours</a:t>
                      </a:r>
                    </a:p>
                  </a:txBody>
                  <a:tcPr marL="45720" marR="45720" marT="18288" marB="18288" anchor="t"/>
                </a:tc>
                <a:tc>
                  <a:txBody>
                    <a:bodyPr wrap="square"/>
                    <a:lstStyle/>
                    <a:p>
                      <a:r>
                        <a:rPr sz="900" b="0" i="0">
                          <a:solidFill>
                            <a:srgbClr val="1A1A1A"/>
                          </a:solidFill>
                          <a:latin typeface="Helvetica Neue"/>
                        </a:rPr>
                        <a:t>5 days – 16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BraTS-PEDs (pediatric brain tumor challenge)</a:t>
                      </a:r>
                    </a:p>
                  </a:txBody>
                  <a:tcPr marL="45720" marR="45720" marT="18288" marB="18288" anchor="t"/>
                </a:tc>
                <a:tc>
                  <a:txBody>
                    <a:bodyPr wrap="square"/>
                    <a:lstStyle/>
                    <a:p>
                      <a:pPr algn="r"/>
                      <a:r>
                        <a:rPr sz="900" b="0" i="0">
                          <a:solidFill>
                            <a:srgbClr val="1A1A1A"/>
                          </a:solidFill>
                          <a:latin typeface="Helvetica Neue"/>
                        </a:rPr>
                        <a:t>2023–25</a:t>
                      </a:r>
                    </a:p>
                  </a:txBody>
                  <a:tcPr marL="45720" marR="45720" marT="18288" marB="18288" anchor="t"/>
                </a:tc>
                <a:tc>
                  <a:txBody>
                    <a:bodyPr wrap="square"/>
                    <a:lstStyle/>
                    <a:p>
                      <a:r>
                        <a:rPr sz="900" b="0" i="0">
                          <a:solidFill>
                            <a:srgbClr val="1A1A1A"/>
                          </a:solidFill>
                          <a:latin typeface="Helvetica Neue"/>
                        </a:rPr>
                        <a:t>brain tumor MRI</a:t>
                      </a:r>
                    </a:p>
                  </a:txBody>
                  <a:tcPr marL="45720" marR="45720" marT="18288" marB="18288" anchor="t"/>
                </a:tc>
                <a:tc>
                  <a:txBody>
                    <a:bodyPr wrap="square"/>
                    <a:lstStyle/>
                    <a:p>
                      <a:r>
                        <a:rPr sz="900" b="0" i="0">
                          <a:solidFill>
                            <a:srgbClr val="1A1A1A"/>
                          </a:solidFill>
                          <a:latin typeface="Helvetica Neue"/>
                        </a:rPr>
                        <a:t>464 patients (2024 challenge); 1,649 series on TCIA</a:t>
                      </a:r>
                    </a:p>
                  </a:txBody>
                  <a:tcPr marL="45720" marR="45720" marT="18288" marB="18288" anchor="t"/>
                </a:tc>
                <a:tc>
                  <a:txBody>
                    <a:bodyPr wrap="square"/>
                    <a:lstStyle/>
                    <a:p>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registration / TCIA</a:t>
                      </a:r>
                    </a:p>
                  </a:txBody>
                  <a:tcPr marL="45720" marR="45720" marT="18288" marB="18288" anchor="t"/>
                </a:tc>
              </a:tr>
              <a:tr h="329184">
                <a:tc>
                  <a:txBody>
                    <a:bodyPr wrap="square"/>
                    <a:lstStyle/>
                    <a:p>
                      <a:r>
                        <a:rPr sz="900" b="0" i="0">
                          <a:solidFill>
                            <a:srgbClr val="1A1A1A"/>
                          </a:solidFill>
                          <a:latin typeface="Helvetica Neue"/>
                        </a:rPr>
                        <a:t>FeTA (fetal brain tissue annotation)</a:t>
                      </a:r>
                    </a:p>
                  </a:txBody>
                  <a:tcPr marL="45720" marR="45720" marT="18288" marB="18288" anchor="t"/>
                </a:tc>
                <a:tc>
                  <a:txBody>
                    <a:bodyPr wrap="square"/>
                    <a:lstStyle/>
                    <a:p>
                      <a:pPr algn="r"/>
                      <a:r>
                        <a:rPr sz="900" b="0" i="0">
                          <a:solidFill>
                            <a:srgbClr val="1A1A1A"/>
                          </a:solidFill>
                          <a:latin typeface="Helvetica Neue"/>
                        </a:rPr>
                        <a:t>2021–24</a:t>
                      </a:r>
                    </a:p>
                  </a:txBody>
                  <a:tcPr marL="45720" marR="45720" marT="18288" marB="18288" anchor="t"/>
                </a:tc>
                <a:tc>
                  <a:txBody>
                    <a:bodyPr wrap="square"/>
                    <a:lstStyle/>
                    <a:p>
                      <a:r>
                        <a:rPr sz="900" b="0" i="0">
                          <a:solidFill>
                            <a:srgbClr val="1A1A1A"/>
                          </a:solidFill>
                          <a:latin typeface="Helvetica Neue"/>
                        </a:rPr>
                        <a:t>fetal brain MRI</a:t>
                      </a:r>
                    </a:p>
                  </a:txBody>
                  <a:tcPr marL="45720" marR="45720" marT="18288" marB="18288" anchor="t"/>
                </a:tc>
                <a:tc>
                  <a:txBody>
                    <a:bodyPr wrap="square"/>
                    <a:lstStyle/>
                    <a:p>
                      <a:r>
                        <a:rPr sz="900" b="0" i="0">
                          <a:solidFill>
                            <a:srgbClr val="1A1A1A"/>
                          </a:solidFill>
                          <a:latin typeface="Helvetica Neue"/>
                        </a:rPr>
                        <a:t>280 volumes (120 train + 160 test); 7 tissue labels</a:t>
                      </a:r>
                    </a:p>
                  </a:txBody>
                  <a:tcPr marL="45720" marR="45720" marT="18288" marB="18288" anchor="t"/>
                </a:tc>
                <a:tc>
                  <a:txBody>
                    <a:bodyPr wrap="square"/>
                    <a:lstStyle/>
                    <a:p>
                      <a:r>
                        <a:rPr sz="900" b="0" i="0">
                          <a:solidFill>
                            <a:srgbClr val="1A1A1A"/>
                          </a:solidFill>
                          <a:latin typeface="Helvetica Neue"/>
                        </a:rPr>
                        <a:t>18–35 weeks</a:t>
                      </a:r>
                    </a:p>
                  </a:txBody>
                  <a:tcPr marL="45720" marR="45720" marT="18288" marB="18288" anchor="t"/>
                </a:tc>
                <a:tc>
                  <a:txBody>
                    <a:bodyPr wrap="square"/>
                    <a:lstStyle/>
                    <a:p>
                      <a:r>
                        <a:rPr sz="900" b="0" i="0">
                          <a:solidFill>
                            <a:srgbClr val="1A1A1A"/>
                          </a:solidFill>
                          <a:latin typeface="Helvetica Neue"/>
                        </a:rPr>
                        <a:t>registration</a:t>
                      </a:r>
                    </a:p>
                  </a:txBody>
                  <a:tcPr marL="45720" marR="45720" marT="18288" marB="18288" anchor="t"/>
                </a:tc>
              </a:tr>
            </a:tbl>
          </a:graphicData>
        </a:graphic>
      </p:graphicFrame>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13 / 36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newsletter story count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pic>
        <p:nvPicPr>
          <p:cNvPr id="4" name="newsletter_by_source" descr="newsletter_by_source.png"/>
          <p:cNvPicPr>
            <a:picLocks noChangeAspect="1"/>
          </p:cNvPicPr>
          <p:nvPr/>
        </p:nvPicPr>
        <p:blipFill>
          <a:blip r:embed="rId2"/>
          <a:stretch>
            <a:fillRect/>
          </a:stretch>
        </p:blipFill>
        <p:spPr>
          <a:xfrm>
            <a:off x="1492026" y="877824"/>
            <a:ext cx="9207642"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14 / 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2023 (23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5020056"/>
        </p:xfrm>
        <a:graphic>
          <a:graphicData uri="http://schemas.openxmlformats.org/drawingml/2006/table">
            <a:tbl>
              <a:tblPr firstRow="1" bandRow="1">
                <a:tableStyleId>{5C22544A-7EE6-4342-B048-85BDC9FD1C3A}</a:tableStyleId>
              </a:tblPr>
              <a:tblGrid>
                <a:gridCol w="768096"/>
                <a:gridCol w="1152144"/>
                <a:gridCol w="6450735"/>
                <a:gridCol w="2997759"/>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2023-01-08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Gestational Age AI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2023-03-01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Fetal Ultrasound AI Generalizability</a:t>
                      </a:r>
                    </a:p>
                  </a:txBody>
                  <a:tcPr marL="45720" marR="45720" marT="18288" marB="18288" anchor="t"/>
                </a:tc>
                <a:tc>
                  <a:txBody>
                    <a:bodyPr wrap="square"/>
                    <a:lstStyle/>
                    <a:p>
                      <a:r>
                        <a:rPr sz="900" b="0" i="0">
                          <a:solidFill>
                            <a:srgbClr val="1A1A1A"/>
                          </a:solidFill>
                          <a:latin typeface="Helvetica Neue"/>
                        </a:rPr>
                        <a:t>Sendra-Balcells et al., 2023 (Scientific Reports)</a:t>
                      </a:r>
                    </a:p>
                  </a:txBody>
                  <a:tcPr marL="45720" marR="45720" marT="18288" marB="18288" anchor="t"/>
                </a:tc>
              </a:tr>
              <a:tr h="192024">
                <a:tc>
                  <a:txBody>
                    <a:bodyPr wrap="square"/>
                    <a:lstStyle/>
                    <a:p>
                      <a:pPr algn="r"/>
                      <a:r>
                        <a:rPr sz="900" b="0" i="0">
                          <a:solidFill>
                            <a:srgbClr val="1A1A1A"/>
                          </a:solidFill>
                          <a:latin typeface="Helvetica Neue"/>
                        </a:rPr>
                        <a:t>2023-03-08</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ECR 2023 – A true celebration of the cycle of life.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2023-03-17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Sao Paolo's Diagnosticos da America (DASA, the world's fourth largest diagn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Ultrasound Spots Breech Pregnancies</a:t>
                      </a:r>
                    </a:p>
                  </a:txBody>
                  <a:tcPr marL="45720" marR="45720" marT="18288" marB="18288" anchor="t"/>
                </a:tc>
                <a:tc>
                  <a:txBody>
                    <a:bodyPr wrap="square"/>
                    <a:lstStyle/>
                    <a:p>
                      <a:r>
                        <a:rPr sz="900" b="0" i="0">
                          <a:solidFill>
                            <a:srgbClr val="1A1A1A"/>
                          </a:solidFill>
                          <a:latin typeface="Helvetica Neue"/>
                        </a:rPr>
                        <a:t>Knights et al., 2023 (PLOS Medicine)</a:t>
                      </a:r>
                    </a:p>
                  </a:txBody>
                  <a:tcPr marL="45720" marR="45720" marT="18288" marB="18288" anchor="t"/>
                </a:tc>
              </a:tr>
              <a:tr h="192024">
                <a:tc>
                  <a:txBody>
                    <a:bodyPr wrap="square"/>
                    <a:lstStyle/>
                    <a:p>
                      <a:pPr algn="r"/>
                      <a:r>
                        <a:rPr sz="900" b="0" i="0">
                          <a:solidFill>
                            <a:srgbClr val="1A1A1A"/>
                          </a:solidFill>
                          <a:latin typeface="Helvetica Neue"/>
                        </a:rPr>
                        <a:t>2023-04-07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Sao Paolo's Diagnosticos da America SA (DASA, the world's fourth largest di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2023-04-12</a:t>
                      </a:r>
                    </a:p>
                  </a:txBody>
                  <a:tcPr marL="45720" marR="45720" marT="18288" marB="18288" anchor="t"/>
                </a:tc>
                <a:tc>
                  <a:txBody>
                    <a:bodyPr wrap="square"/>
                    <a:lstStyle/>
                    <a:p>
                      <a:pPr algn="r"/>
                      <a:r>
                        <a:rPr sz="900" b="0" i="0">
                          <a:solidFill>
                            <a:srgbClr val="1A1A1A"/>
                          </a:solidFill>
                          <a:latin typeface="Helvetica Neue"/>
                        </a:rPr>
                        <a:t>Signify Research</a:t>
                      </a:r>
                    </a:p>
                  </a:txBody>
                  <a:tcPr marL="45720" marR="45720" marT="18288" marB="18288" anchor="t"/>
                </a:tc>
                <a:tc>
                  <a:txBody>
                    <a:bodyPr wrap="square"/>
                    <a:lstStyle/>
                    <a:p>
                      <a:r>
                        <a:rPr sz="900" b="0" i="0">
                          <a:solidFill>
                            <a:srgbClr val="1A1A1A"/>
                          </a:solidFill>
                          <a:latin typeface="Helvetica Neue"/>
                        </a:rPr>
                        <a:t>Where do opportunities exist?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2023-04-12</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RSNA Webinar to Examine Impact of Large Language Models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2023-05-07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New C-Arm Launched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BrightHeart's Fetal Heart AI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2023-06-12</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Understanding the Imaging Spectrum of non-Hodgkin Lymphoma in Children, Adolescents and Young Adults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2023-06-19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Better Together at SIIM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Child Abuse on CT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2023-07-07</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Survivors of Childhood Cancer: Risk of Future Disease, Screening Needs and the Role of Radiology</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2023-08-02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MRI Radiomics Hones in on Crohn's</a:t>
                      </a:r>
                    </a:p>
                  </a:txBody>
                  <a:tcPr marL="45720" marR="45720" marT="18288" marB="18288" anchor="t"/>
                </a:tc>
                <a:tc>
                  <a:txBody>
                    <a:bodyPr wrap="square"/>
                    <a:lstStyle/>
                    <a:p>
                      <a:r>
                        <a:rPr sz="900" b="0" i="0">
                          <a:solidFill>
                            <a:srgbClr val="1A1A1A"/>
                          </a:solidFill>
                          <a:latin typeface="Helvetica Neue"/>
                        </a:rPr>
                        <a:t>Liu et al., 2024 (American Journal of Roentgenology)</a:t>
                      </a:r>
                    </a:p>
                  </a:txBody>
                  <a:tcPr marL="45720" marR="45720" marT="18288" marB="18288" anchor="t"/>
                </a:tc>
              </a:tr>
              <a:tr h="192024">
                <a:tc>
                  <a:txBody>
                    <a:bodyPr wrap="square"/>
                    <a:lstStyle/>
                    <a:p>
                      <a:pPr algn="r"/>
                      <a:r>
                        <a:rPr sz="900" b="0" i="0">
                          <a:solidFill>
                            <a:srgbClr val="1A1A1A"/>
                          </a:solidFill>
                          <a:latin typeface="Helvetica Neue"/>
                        </a:rPr>
                        <a:t>2023-08-02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Sonio Gets FDA Nod for Fetal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2023-09-20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 Lands $44M AI Ultrasound Grant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2023-10-08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ChatGPT Reports for Patients</a:t>
                      </a:r>
                    </a:p>
                  </a:txBody>
                  <a:tcPr marL="45720" marR="45720" marT="18288" marB="18288" anchor="t"/>
                </a:tc>
                <a:tc>
                  <a:txBody>
                    <a:bodyPr wrap="square"/>
                    <a:lstStyle/>
                    <a:p>
                      <a:r>
                        <a:rPr sz="900" b="0" i="0">
                          <a:solidFill>
                            <a:srgbClr val="1A1A1A"/>
                          </a:solidFill>
                          <a:latin typeface="Helvetica Neue"/>
                        </a:rPr>
                        <a:t>Jeblick et al., 2023 (European Radiology)</a:t>
                      </a:r>
                    </a:p>
                  </a:txBody>
                  <a:tcPr marL="45720" marR="45720" marT="18288" marB="18288" anchor="t"/>
                </a:tc>
              </a:tr>
              <a:tr h="192024">
                <a:tc>
                  <a:txBody>
                    <a:bodyPr wrap="square"/>
                    <a:lstStyle/>
                    <a:p>
                      <a:pPr algn="r"/>
                      <a:r>
                        <a:rPr sz="900" b="0" i="0">
                          <a:solidFill>
                            <a:srgbClr val="1A1A1A"/>
                          </a:solidFill>
                          <a:latin typeface="Helvetica Neue"/>
                        </a:rPr>
                        <a:t>2023-11-08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Philips to Expand AI-Powered POCUS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Stories of Success in Cloud and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2023-11-12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Uneven Success Against Breast Cancer | Pediatric Radiation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2023-11-26</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of MRI Diagnoses Autism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2023-12-11</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Revolutionising paediatric radiology: the future impact of AI</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2024 (25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5266944"/>
        </p:xfrm>
        <a:graphic>
          <a:graphicData uri="http://schemas.openxmlformats.org/drawingml/2006/table">
            <a:tbl>
              <a:tblPr firstRow="1" bandRow="1">
                <a:tableStyleId>{5C22544A-7EE6-4342-B048-85BDC9FD1C3A}</a:tableStyleId>
              </a:tblPr>
              <a:tblGrid>
                <a:gridCol w="768096"/>
                <a:gridCol w="1152144"/>
                <a:gridCol w="6448972"/>
                <a:gridCol w="2999522"/>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2024-01-10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Models Go Head-to-Head in Project AIR Study</a:t>
                      </a:r>
                    </a:p>
                  </a:txBody>
                  <a:tcPr marL="45720" marR="45720" marT="18288" marB="18288" anchor="t"/>
                </a:tc>
                <a:tc>
                  <a:txBody>
                    <a:bodyPr wrap="square"/>
                    <a:lstStyle/>
                    <a:p>
                      <a:r>
                        <a:rPr sz="900" b="0" i="0">
                          <a:solidFill>
                            <a:srgbClr val="1A1A1A"/>
                          </a:solidFill>
                          <a:latin typeface="Helvetica Neue"/>
                        </a:rPr>
                        <a:t>van Leeuwen et al., 2024 (Radiology)</a:t>
                      </a:r>
                    </a:p>
                  </a:txBody>
                  <a:tcPr marL="45720" marR="45720" marT="18288" marB="18288" anchor="t"/>
                </a:tc>
              </a:tr>
              <a:tr h="192024">
                <a:tc>
                  <a:txBody>
                    <a:bodyPr wrap="square"/>
                    <a:lstStyle/>
                    <a:p>
                      <a:pPr algn="r"/>
                      <a:r>
                        <a:rPr sz="900" b="0" i="0">
                          <a:solidFill>
                            <a:srgbClr val="1A1A1A"/>
                          </a:solidFill>
                          <a:latin typeface="Helvetica Neue"/>
                        </a:rPr>
                        <a:t>2024-01-15</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Hidden health risks of endocrine disruptors?</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2024-01-17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Echo AI's RHD Impact</a:t>
                      </a:r>
                    </a:p>
                  </a:txBody>
                  <a:tcPr marL="45720" marR="45720" marT="18288" marB="18288" anchor="t"/>
                </a:tc>
                <a:tc>
                  <a:txBody>
                    <a:bodyPr wrap="square"/>
                    <a:lstStyle/>
                    <a:p>
                      <a:r>
                        <a:rPr sz="900" b="0" i="0">
                          <a:solidFill>
                            <a:srgbClr val="1A1A1A"/>
                          </a:solidFill>
                          <a:latin typeface="Helvetica Neue"/>
                        </a:rPr>
                        <a:t>Brown et al., 2024 (Journal of the American Heart Association)</a:t>
                      </a:r>
                    </a:p>
                  </a:txBody>
                  <a:tcPr marL="45720" marR="45720" marT="18288" marB="18288" anchor="t"/>
                </a:tc>
              </a:tr>
              <a:tr h="192024">
                <a:tc>
                  <a:txBody>
                    <a:bodyPr wrap="square"/>
                    <a:lstStyle/>
                    <a:p>
                      <a:pPr algn="r"/>
                      <a:r>
                        <a:rPr sz="900" b="0" i="0">
                          <a:solidFill>
                            <a:srgbClr val="1A1A1A"/>
                          </a:solidFill>
                          <a:latin typeface="Helvetica Neue"/>
                        </a:rPr>
                        <a:t>2024-01-20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Us2.ai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2024-02-07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Meet Gleamer at ECR 2024</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2024-03-20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Helps Residents Detect Fractures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2024-04-22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 Launches US Scanners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2024-05-19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Early Preeclampsia Risk Screening</a:t>
                      </a:r>
                    </a:p>
                  </a:txBody>
                  <a:tcPr marL="45720" marR="45720" marT="18288" marB="18288" anchor="t"/>
                </a:tc>
                <a:tc>
                  <a:txBody>
                    <a:bodyPr wrap="square"/>
                    <a:lstStyle/>
                    <a:p>
                      <a:r>
                        <a:rPr sz="900" b="0" i="0">
                          <a:solidFill>
                            <a:srgbClr val="1A1A1A"/>
                          </a:solidFill>
                          <a:latin typeface="Helvetica Neue"/>
                        </a:rPr>
                        <a:t>Guerby et al., 2024 (Hypertension)</a:t>
                      </a:r>
                    </a:p>
                  </a:txBody>
                  <a:tcPr marL="45720" marR="45720" marT="18288" marB="18288" anchor="t"/>
                </a:tc>
              </a:tr>
              <a:tr h="192024">
                <a:tc>
                  <a:txBody>
                    <a:bodyPr wrap="square"/>
                    <a:lstStyle/>
                    <a:p>
                      <a:pPr algn="r"/>
                      <a:r>
                        <a:rPr sz="900" b="0" i="0">
                          <a:solidFill>
                            <a:srgbClr val="1A1A1A"/>
                          </a:solidFill>
                          <a:latin typeface="Helvetica Neue"/>
                        </a:rPr>
                        <a:t>2024-06-29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FDA Clears New Clarius Prenatal App</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2024-07-01</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AI applications in musculoskeletal imaging</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2024-07-10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Experts Outline Considerations to Deploy AI in Radiology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2024-08-14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Cardiac Ultrasound Scanner Cleared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Follow-Up Falls Short | Pediatric CT Use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MAUI Emerges from Stealth</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2024-09-04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Samsung Finalizes Sonio Acquisition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2024-09-08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AZmed AI Extended to Kids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2024-10-03</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On Artificial Intelligence: An interview with Susan Shelmerdine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2024-10-06</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Fracture AI Improves Over Time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Low-Dose CT in Kids | Hinton Nabs Nobel, Cancels MRI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2024-10-10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Low-Dose CT Confounds CAD in Kids</a:t>
                      </a:r>
                    </a:p>
                  </a:txBody>
                  <a:tcPr marL="45720" marR="45720" marT="18288" marB="18288" anchor="t"/>
                </a:tc>
                <a:tc>
                  <a:txBody>
                    <a:bodyPr wrap="square"/>
                    <a:lstStyle/>
                    <a:p>
                      <a:r>
                        <a:rPr sz="900" b="0" i="0">
                          <a:solidFill>
                            <a:srgbClr val="1A1A1A"/>
                          </a:solidFill>
                          <a:latin typeface="Helvetica Neue"/>
                        </a:rPr>
                        <a:t>Hardie et al., 2025 (American Journal of Roentgenology)</a:t>
                      </a:r>
                    </a:p>
                  </a:txBody>
                  <a:tcPr marL="45720" marR="45720" marT="18288" marB="18288" anchor="t"/>
                </a:tc>
              </a:tr>
              <a:tr h="192024">
                <a:tc>
                  <a:txBody>
                    <a:bodyPr wrap="square"/>
                    <a:lstStyle/>
                    <a:p>
                      <a:pPr algn="r"/>
                      <a:r>
                        <a:rPr sz="900" b="0" i="0">
                          <a:solidFill>
                            <a:srgbClr val="1A1A1A"/>
                          </a:solidFill>
                          <a:latin typeface="Helvetica Neue"/>
                        </a:rPr>
                        <a:t>2024-10-17</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On Artificial Intelligence: An interview with Brendan Kelly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2024-11-19</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Incorrect AI Advice Influences Diagnostic Decisions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2024-11-25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Fetal Ultrasound AI Cleared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2024-12-02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Milvue Joins deepc AI Platform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2024-12-15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Researchers Study AI for Pediatric Fractures</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2025 (22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4553712"/>
        </p:xfrm>
        <a:graphic>
          <a:graphicData uri="http://schemas.openxmlformats.org/drawingml/2006/table">
            <a:tbl>
              <a:tblPr firstRow="1" bandRow="1">
                <a:tableStyleId>{5C22544A-7EE6-4342-B048-85BDC9FD1C3A}</a:tableStyleId>
              </a:tblPr>
              <a:tblGrid>
                <a:gridCol w="768096"/>
                <a:gridCol w="1152144"/>
                <a:gridCol w="6450735"/>
                <a:gridCol w="2997759"/>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for Pediatric Fracture Detection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Children's National taps Microsoft to prototype AI tools .</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2025-01-29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Samsung Launches OB/GYN Ultrasound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2025-02-02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Ultrasound AI Detects Fetal Defects</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2025-02-06</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Philips at #ECR2025: New AI-enabled systems, intelligent software, and imaging cloud services streamline radiology workflows, advance clinical insights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2025-02-14</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Learn more about FUJIFILM's latest innovations at ECR!</a:t>
                      </a:r>
                    </a:p>
                  </a:txBody>
                  <a:tcPr marL="45720" marR="45720" marT="18288" marB="18288" anchor="t"/>
                </a:tc>
                <a:tc>
                  <a:txBody>
                    <a:bodyPr wrap="square"/>
                    <a:lstStyle/>
                    <a:p>
                      <a:r>
                        <a:rPr sz="900" b="0" i="0">
                          <a:solidFill>
                            <a:srgbClr val="1A1A1A"/>
                          </a:solidFill>
                          <a:latin typeface="Helvetica Neue"/>
                        </a:rPr>
                        <a:t>Iwan et al., 2020 (European Radiology)</a:t>
                      </a:r>
                    </a:p>
                  </a:txBody>
                  <a:tcPr marL="45720" marR="45720" marT="18288" marB="18288" anchor="t"/>
                </a:tc>
              </a:tr>
              <a:tr h="192024">
                <a:tc>
                  <a:txBody>
                    <a:bodyPr wrap="square"/>
                    <a:lstStyle/>
                    <a:p>
                      <a:pPr algn="r"/>
                      <a:r>
                        <a:rPr sz="900" b="0" i="0">
                          <a:solidFill>
                            <a:srgbClr val="1A1A1A"/>
                          </a:solidFill>
                          <a:latin typeface="Helvetica Neue"/>
                        </a:rPr>
                        <a:t>2025-02-27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Pediatric Epilepsy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2025-03-04</a:t>
                      </a:r>
                    </a:p>
                  </a:txBody>
                  <a:tcPr marL="45720" marR="45720" marT="18288" marB="18288" anchor="t"/>
                </a:tc>
                <a:tc>
                  <a:txBody>
                    <a:bodyPr wrap="square"/>
                    <a:lstStyle/>
                    <a:p>
                      <a:pPr algn="r"/>
                      <a:r>
                        <a:rPr sz="900" b="0" i="0">
                          <a:solidFill>
                            <a:srgbClr val="1A1A1A"/>
                          </a:solidFill>
                          <a:latin typeface="Helvetica Neue"/>
                        </a:rPr>
                        <a:t>TLDR AI</a:t>
                      </a:r>
                    </a:p>
                  </a:txBody>
                  <a:tcPr marL="45720" marR="45720" marT="18288" marB="18288" anchor="t"/>
                </a:tc>
                <a:tc>
                  <a:txBody>
                    <a:bodyPr wrap="square"/>
                    <a:lstStyle/>
                    <a:p>
                      <a:r>
                        <a:rPr sz="900" b="0" i="0">
                          <a:solidFill>
                            <a:srgbClr val="1A1A1A"/>
                          </a:solidFill>
                          <a:latin typeface="Helvetica Neue"/>
                        </a:rPr>
                        <a:t>AI to diagnose invisible brain abnormalities in children with epilepsy (4 minute read)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2025-04-02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AZmed Gets New Chest AI Clearances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2025-04-13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GE's Cincinnati Pediatric Partnership</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2025-05-14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Philips Partners with NVIDIA on AI for MRI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2025-05-18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New GE Clearances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2025-05-20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Radiologists Share Tips to Prevent AI Bias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2025-06-01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BrightHeart's 3rd FDA Clearance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2025-07-03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DeepEcho Gets FDA Nod for Fetal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2025-07-10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How Is AI Being Used in Daily Neuroradiology Practice?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2025-08-03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Radiologist Pay Jumps Nearly 8% in New Survey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2025-08-13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AI-Assisted Fracture Detection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2025-08-27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Sonio Launches New Maternal-Fetal AI Options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2025-10-01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Carebot Expands AI Portfolio</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2025-10-08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Reducing CT Radiation Dose System-Wide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2025-11-09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Pediatric Elbow Fractures</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2026 (year to date) (14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3840480"/>
        </p:xfrm>
        <a:graphic>
          <a:graphicData uri="http://schemas.openxmlformats.org/drawingml/2006/table">
            <a:tbl>
              <a:tblPr firstRow="1" bandRow="1">
                <a:tableStyleId>{5C22544A-7EE6-4342-B048-85BDC9FD1C3A}</a:tableStyleId>
              </a:tblPr>
              <a:tblGrid>
                <a:gridCol w="910336"/>
                <a:gridCol w="1379728"/>
                <a:gridCol w="6196553"/>
                <a:gridCol w="2882117"/>
              </a:tblGrid>
              <a:tr h="222504">
                <a:tc>
                  <a:txBody>
                    <a:bodyPr wrap="square"/>
                    <a:lstStyle/>
                    <a:p>
                      <a:pPr algn="r"/>
                      <a:r>
                        <a:rPr sz="1100" b="1" i="0">
                          <a:solidFill>
                            <a:srgbClr val="FFFFFF"/>
                          </a:solidFill>
                          <a:latin typeface="Helvetica Neue"/>
                        </a:rPr>
                        <a:t>Date</a:t>
                      </a:r>
                    </a:p>
                  </a:txBody>
                  <a:tcPr marL="45720" marR="45720" marT="18288" marB="18288" anchor="t"/>
                </a:tc>
                <a:tc>
                  <a:txBody>
                    <a:bodyPr wrap="square"/>
                    <a:lstStyle/>
                    <a:p>
                      <a:pPr algn="r"/>
                      <a:r>
                        <a:rPr sz="1100" b="1" i="0">
                          <a:solidFill>
                            <a:srgbClr val="FFFFFF"/>
                          </a:solidFill>
                          <a:latin typeface="Helvetica Neue"/>
                        </a:rPr>
                        <a:t>Newsletter</a:t>
                      </a:r>
                    </a:p>
                  </a:txBody>
                  <a:tcPr marL="45720" marR="45720" marT="18288" marB="18288" anchor="t"/>
                </a:tc>
                <a:tc>
                  <a:txBody>
                    <a:bodyPr wrap="square"/>
                    <a:lstStyle/>
                    <a:p>
                      <a:r>
                        <a:rPr sz="1100" b="1" i="0">
                          <a:solidFill>
                            <a:srgbClr val="FFFFFF"/>
                          </a:solidFill>
                          <a:latin typeface="Helvetica Neue"/>
                        </a:rPr>
                        <a:t>Story</a:t>
                      </a:r>
                    </a:p>
                  </a:txBody>
                  <a:tcPr marL="45720" marR="45720" marT="18288" marB="18288" anchor="t"/>
                </a:tc>
                <a:tc>
                  <a:txBody>
                    <a:bodyPr wrap="square"/>
                    <a:lstStyle/>
                    <a:p>
                      <a:r>
                        <a:rPr sz="1100" b="1" i="0">
                          <a:solidFill>
                            <a:srgbClr val="FFFFFF"/>
                          </a:solidFill>
                          <a:latin typeface="Helvetica Neue"/>
                        </a:rPr>
                        <a:t>Paper</a:t>
                      </a:r>
                    </a:p>
                  </a:txBody>
                  <a:tcPr marL="45720" marR="45720" marT="18288" marB="18288" anchor="t"/>
                </a:tc>
              </a:tr>
              <a:tr h="222504">
                <a:tc>
                  <a:txBody>
                    <a:bodyPr wrap="square"/>
                    <a:lstStyle/>
                    <a:p>
                      <a:pPr algn="r"/>
                      <a:r>
                        <a:rPr sz="1100" b="0" i="0">
                          <a:solidFill>
                            <a:srgbClr val="1A1A1A"/>
                          </a:solidFill>
                          <a:latin typeface="Helvetica Neue"/>
                        </a:rPr>
                        <a:t>2026-01-07</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BrightHeart Raises EUR 11M</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2026-01-28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AHA Publishes New Stroke Guidelines</a:t>
                      </a:r>
                    </a:p>
                  </a:txBody>
                  <a:tcPr marL="45720" marR="45720" marT="18288" marB="18288" anchor="t"/>
                </a:tc>
                <a:tc>
                  <a:txBody>
                    <a:bodyPr wrap="square"/>
                    <a:lstStyle/>
                    <a:p>
                      <a:r>
                        <a:rPr sz="1100" b="0" i="0">
                          <a:solidFill>
                            <a:srgbClr val="1A1A1A"/>
                          </a:solidFill>
                          <a:latin typeface="Helvetica Neue"/>
                        </a:rPr>
                        <a:t>Prabhakaran et al., 2026 (Stroke)</a:t>
                      </a:r>
                    </a:p>
                  </a:txBody>
                  <a:tcPr marL="45720" marR="45720" marT="18288" marB="18288" anchor="t"/>
                </a:tc>
              </a:tr>
              <a:tr h="222504">
                <a:tc>
                  <a:txBody>
                    <a:bodyPr wrap="square"/>
                    <a:lstStyle/>
                    <a:p>
                      <a:pPr algn="r"/>
                      <a:r>
                        <a:rPr sz="1100" b="0" i="0">
                          <a:solidFill>
                            <a:srgbClr val="1A1A1A"/>
                          </a:solidFill>
                          <a:latin typeface="Helvetica Neue"/>
                        </a:rPr>
                        <a:t>2026-01-28</a:t>
                      </a:r>
                    </a:p>
                  </a:txBody>
                  <a:tcPr marL="45720" marR="45720" marT="18288" marB="18288" anchor="t"/>
                </a:tc>
                <a:tc>
                  <a:txBody>
                    <a:bodyPr wrap="square"/>
                    <a:lstStyle/>
                    <a:p>
                      <a:pPr algn="r"/>
                      <a:r>
                        <a:rPr sz="1100" b="0" i="0">
                          <a:solidFill>
                            <a:srgbClr val="1A1A1A"/>
                          </a:solidFill>
                          <a:latin typeface="Helvetica Neue"/>
                        </a:rPr>
                        <a:t>ESR / ECR</a:t>
                      </a:r>
                    </a:p>
                  </a:txBody>
                  <a:tcPr marL="45720" marR="45720" marT="18288" marB="18288" anchor="t"/>
                </a:tc>
                <a:tc>
                  <a:txBody>
                    <a:bodyPr wrap="square"/>
                    <a:lstStyle/>
                    <a:p>
                      <a:r>
                        <a:rPr sz="1100" b="0" i="0">
                          <a:solidFill>
                            <a:srgbClr val="1A1A1A"/>
                          </a:solidFill>
                          <a:latin typeface="Helvetica Neue"/>
                        </a:rPr>
                        <a:t>Guerbet: Innovation and French Cooperation in the Spotlight at ECR 2026</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2026-02-01</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DL-Based CT Reduces Radiation Dose</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2026-02-08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GE Bolsters Ultrasound with Fetal AI</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2026-02-26</a:t>
                      </a:r>
                    </a:p>
                  </a:txBody>
                  <a:tcPr marL="45720" marR="45720" marT="18288" marB="18288" anchor="t"/>
                </a:tc>
                <a:tc>
                  <a:txBody>
                    <a:bodyPr wrap="square"/>
                    <a:lstStyle/>
                    <a:p>
                      <a:pPr algn="r"/>
                      <a:r>
                        <a:rPr sz="1100" b="0" i="0">
                          <a:solidFill>
                            <a:srgbClr val="1A1A1A"/>
                          </a:solidFill>
                          <a:latin typeface="Helvetica Neue"/>
                        </a:rPr>
                        <a:t>ESR / ECR</a:t>
                      </a:r>
                    </a:p>
                  </a:txBody>
                  <a:tcPr marL="45720" marR="45720" marT="18288" marB="18288" anchor="t"/>
                </a:tc>
                <a:tc>
                  <a:txBody>
                    <a:bodyPr wrap="square"/>
                    <a:lstStyle/>
                    <a:p>
                      <a:r>
                        <a:rPr sz="1100" b="0" i="0">
                          <a:solidFill>
                            <a:srgbClr val="1A1A1A"/>
                          </a:solidFill>
                          <a:latin typeface="Helvetica Neue"/>
                        </a:rPr>
                        <a:t>MRI Unveiling at the European Congress of Radiology (ECR) 2026</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2026-03-29</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Ultrasound AI Gets Breakthrough Nod</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2026-05-10</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Pediatric MRI Safety, RTs and Remote Radiology, and PSMA-PET</a:t>
                      </a:r>
                    </a:p>
                  </a:txBody>
                  <a:tcPr marL="45720" marR="45720" marT="18288" marB="18288" anchor="t"/>
                </a:tc>
                <a:tc>
                  <a:txBody>
                    <a:bodyPr wrap="square"/>
                    <a:lstStyle/>
                    <a:p/>
                  </a:txBody>
                  <a:tcPr marL="45720" marR="45720" marT="18288" marB="18288" anchor="t"/>
                </a:tc>
              </a:tr>
              <a:tr h="390144">
                <a:tc>
                  <a:txBody>
                    <a:bodyPr wrap="square"/>
                    <a:lstStyle/>
                    <a:p>
                      <a:pPr algn="r"/>
                      <a:r>
                        <a:rPr sz="1100" b="0" i="0">
                          <a:solidFill>
                            <a:srgbClr val="1A1A1A"/>
                          </a:solidFill>
                          <a:latin typeface="Helvetica Neue"/>
                        </a:rPr>
                        <a:t>2026-06-22</a:t>
                      </a:r>
                    </a:p>
                  </a:txBody>
                  <a:tcPr marL="45720" marR="45720" marT="18288" marB="18288" anchor="t"/>
                </a:tc>
                <a:tc>
                  <a:txBody>
                    <a:bodyPr wrap="square"/>
                    <a:lstStyle/>
                    <a:p>
                      <a:pPr algn="r"/>
                      <a:r>
                        <a:rPr sz="1100" b="0" i="0">
                          <a:solidFill>
                            <a:srgbClr val="1A1A1A"/>
                          </a:solidFill>
                          <a:latin typeface="Helvetica Neue"/>
                        </a:rPr>
                        <a:t>RSNA News</a:t>
                      </a:r>
                    </a:p>
                  </a:txBody>
                  <a:tcPr marL="45720" marR="45720" marT="18288" marB="18288" anchor="t"/>
                </a:tc>
                <a:tc>
                  <a:txBody>
                    <a:bodyPr wrap="square"/>
                    <a:lstStyle/>
                    <a:p>
                      <a:r>
                        <a:rPr sz="1100" b="0" i="0">
                          <a:solidFill>
                            <a:srgbClr val="1A1A1A"/>
                          </a:solidFill>
                          <a:latin typeface="Helvetica Neue"/>
                        </a:rPr>
                        <a:t>Researchers Use AI to Establish Body Charts for CT Imaging Across the Adult Lifespan</a:t>
                      </a:r>
                    </a:p>
                  </a:txBody>
                  <a:tcPr marL="45720" marR="45720" marT="18288" marB="18288" anchor="t"/>
                </a:tc>
                <a:tc>
                  <a:txBody>
                    <a:bodyPr wrap="square"/>
                    <a:lstStyle/>
                    <a:p/>
                  </a:txBody>
                  <a:tcPr marL="45720" marR="45720" marT="18288" marB="18288" anchor="t"/>
                </a:tc>
              </a:tr>
              <a:tr h="390144">
                <a:tc>
                  <a:txBody>
                    <a:bodyPr wrap="square"/>
                    <a:lstStyle/>
                    <a:p>
                      <a:pPr algn="r"/>
                      <a:r>
                        <a:rPr sz="1100" b="0" i="0">
                          <a:solidFill>
                            <a:srgbClr val="1A1A1A"/>
                          </a:solidFill>
                          <a:latin typeface="Helvetica Neue"/>
                        </a:rPr>
                        <a:t>2026-06-28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BrightHeart's Bright Future</a:t>
                      </a:r>
                    </a:p>
                  </a:txBody>
                  <a:tcPr marL="45720" marR="45720" marT="18288" marB="18288" anchor="t"/>
                </a:tc>
                <a:tc>
                  <a:txBody>
                    <a:bodyPr wrap="square"/>
                    <a:lstStyle/>
                    <a:p>
                      <a:r>
                        <a:rPr sz="1100" b="0" i="0">
                          <a:solidFill>
                            <a:srgbClr val="1A1A1A"/>
                          </a:solidFill>
                          <a:latin typeface="Helvetica Neue"/>
                        </a:rPr>
                        <a:t>Zelop et al., 2025 (Obstetrics &amp; Gynecology)</a:t>
                      </a:r>
                    </a:p>
                  </a:txBody>
                  <a:tcPr marL="45720" marR="45720" marT="18288" marB="18288" anchor="t"/>
                </a:tc>
              </a:tr>
              <a:tr h="390144">
                <a:tc>
                  <a:txBody>
                    <a:bodyPr wrap="square"/>
                    <a:lstStyle/>
                    <a:p>
                      <a:pPr algn="r"/>
                      <a:r>
                        <a:rPr sz="1100" b="0" i="0">
                          <a:solidFill>
                            <a:srgbClr val="1A1A1A"/>
                          </a:solidFill>
                          <a:latin typeface="Helvetica Neue"/>
                        </a:rPr>
                        <a:t>2026-07-12</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AI's Rise in Pediatric Imaging</a:t>
                      </a:r>
                    </a:p>
                  </a:txBody>
                  <a:tcPr marL="45720" marR="45720" marT="18288" marB="18288" anchor="t"/>
                </a:tc>
                <a:tc>
                  <a:txBody>
                    <a:bodyPr wrap="square"/>
                    <a:lstStyle/>
                    <a:p>
                      <a:r>
                        <a:rPr sz="1100" b="0" i="0">
                          <a:solidFill>
                            <a:srgbClr val="1A1A1A"/>
                          </a:solidFill>
                          <a:latin typeface="Helvetica Neue"/>
                        </a:rPr>
                        <a:t>Shah et al., 2026 (European Radiology)</a:t>
                      </a:r>
                    </a:p>
                  </a:txBody>
                  <a:tcPr marL="45720" marR="45720" marT="18288" marB="18288" anchor="t"/>
                </a:tc>
              </a:tr>
              <a:tr h="222504">
                <a:tc>
                  <a:txBody>
                    <a:bodyPr wrap="square"/>
                    <a:lstStyle/>
                    <a:p>
                      <a:pPr algn="r"/>
                      <a:r>
                        <a:rPr sz="1100" b="0" i="0">
                          <a:solidFill>
                            <a:srgbClr val="1A1A1A"/>
                          </a:solidFill>
                          <a:latin typeface="Helvetica Neue"/>
                        </a:rPr>
                        <a:t>2026-08-16</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CT vs. MRI for Pediatric TBI, Helium Vulnerability, and Ditching the Disk</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2026-08-25</a:t>
                      </a:r>
                    </a:p>
                  </a:txBody>
                  <a:tcPr marL="45720" marR="45720" marT="18288" marB="18288" anchor="t"/>
                </a:tc>
                <a:tc>
                  <a:txBody>
                    <a:bodyPr wrap="square"/>
                    <a:lstStyle/>
                    <a:p>
                      <a:pPr algn="r"/>
                      <a:r>
                        <a:rPr sz="1100" b="0" i="0">
                          <a:solidFill>
                            <a:srgbClr val="1A1A1A"/>
                          </a:solidFill>
                          <a:latin typeface="Helvetica Neue"/>
                        </a:rPr>
                        <a:t>RSNA News</a:t>
                      </a:r>
                    </a:p>
                  </a:txBody>
                  <a:tcPr marL="45720" marR="45720" marT="18288" marB="18288" anchor="t"/>
                </a:tc>
                <a:tc>
                  <a:txBody>
                    <a:bodyPr wrap="square"/>
                    <a:lstStyle/>
                    <a:p>
                      <a:r>
                        <a:rPr sz="1100" b="0" i="0">
                          <a:solidFill>
                            <a:srgbClr val="1A1A1A"/>
                          </a:solidFill>
                          <a:latin typeface="Helvetica Neue"/>
                        </a:rPr>
                        <a:t>AI Challenges Fuel Innovation Beyond the Leaderboard</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2026-09-23</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Repeat MRI Scans Take Operational Toll</a:t>
                      </a:r>
                    </a:p>
                  </a:txBody>
                  <a:tcPr marL="45720" marR="45720" marT="18288" marB="18288" anchor="t"/>
                </a:tc>
                <a:tc>
                  <a:txBody>
                    <a:bodyPr wrap="square"/>
                    <a:lstStyle/>
                    <a:p/>
                  </a:txBody>
                  <a:tcPr marL="45720" marR="45720" marT="18288" marB="18288" anchor="t"/>
                </a:tc>
              </a:tr>
            </a:tbl>
          </a:graphicData>
        </a:graphic>
      </p:graphicFrame>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15 / 36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DeepEcho receives FDA Breakthrough Device Designation for blind sweep prenatal ultrasound platform</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29 March 2026: “Ultrasound AI Gets Breakthrough Nod” (</a:t>
            </a:r>
            <a:r>
              <a:rPr sz="1100" b="0" i="0">
                <a:solidFill>
                  <a:srgbClr val="1A1A1A"/>
                </a:solidFill>
                <a:latin typeface="Helvetica Neue"/>
                <a:hlinkClick r:id="rId2"/>
              </a:rPr>
              <a:t>theimagingwire.com</a:t>
            </a:r>
            <a:r>
              <a:rPr sz="1100" b="0" i="0">
                <a:solidFill>
                  <a:srgbClr val="1A1A1A"/>
                </a:solidFill>
                <a:latin typeface="Helvetica Neue"/>
              </a:rPr>
              <a:t>)</a:t>
            </a:r>
          </a:p>
        </p:txBody>
      </p:sp>
      <p:sp>
        <p:nvSpPr>
          <p:cNvPr id="5" name="TextBox 4"/>
          <p:cNvSpPr txBox="1"/>
          <p:nvPr/>
        </p:nvSpPr>
        <p:spPr>
          <a:xfrm>
            <a:off x="411480" y="1258951"/>
            <a:ext cx="11368735" cy="106934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The FDA granted </a:t>
            </a:r>
            <a:r>
              <a:rPr sz="1400" b="1" i="0">
                <a:solidFill>
                  <a:srgbClr val="1A1A1A"/>
                </a:solidFill>
                <a:latin typeface="Helvetica Neue"/>
              </a:rPr>
              <a:t>Breakthrough Device Designation</a:t>
            </a:r>
            <a:r>
              <a:rPr sz="1400" b="0" i="0">
                <a:solidFill>
                  <a:srgbClr val="1A1A1A"/>
                </a:solidFill>
                <a:latin typeface="Helvetica Neue"/>
              </a:rPr>
              <a:t> to DeepEcho's Blind Sweep Platform, a prenatal ultrasound AI that talks the operator through a set of blind sweeps and then reads them.</a:t>
            </a:r>
          </a:p>
          <a:p>
            <a:pPr algn="l" marL="256032" indent="-256032">
              <a:spcAft>
                <a:spcPts val="489"/>
              </a:spcAft>
              <a:buChar char="•"/>
            </a:pPr>
            <a:r>
              <a:rPr sz="1400" b="0" i="0">
                <a:solidFill>
                  <a:srgbClr val="1A1A1A"/>
                </a:solidFill>
                <a:latin typeface="Helvetica Neue"/>
              </a:rPr>
              <a:t>It automates fetal presentation, placental location, amniotic fluid, fetal heart rate, gestational age, and estimated fetal weight.</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16 / 36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Fetal cardiac AI reaches the clinic</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28 June 2026: “BrightHeart's Bright Future” (</a:t>
            </a:r>
            <a:r>
              <a:rPr sz="1100" b="0" i="0">
                <a:solidFill>
                  <a:srgbClr val="1A1A1A"/>
                </a:solidFill>
                <a:latin typeface="Helvetica Neue"/>
                <a:hlinkClick r:id="rId2"/>
              </a:rPr>
              <a:t>theimagingwire.com</a:t>
            </a:r>
            <a:r>
              <a:rPr sz="1100" b="0" i="0">
                <a:solidFill>
                  <a:srgbClr val="1A1A1A"/>
                </a:solidFill>
                <a:latin typeface="Helvetica Neue"/>
              </a:rPr>
              <a:t>)</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happened</a:t>
            </a:r>
            <a:r>
              <a:rPr sz="1400" b="0" i="0">
                <a:solidFill>
                  <a:srgbClr val="1A1A1A"/>
                </a:solidFill>
                <a:latin typeface="Helvetica Neue"/>
              </a:rPr>
              <a:t>: BrightHeart received the CE mark and debuted its fetal ultrasound AI in the EU at FMF 2026. It now holds </a:t>
            </a:r>
            <a:r>
              <a:rPr sz="1400" b="1" i="0">
                <a:solidFill>
                  <a:srgbClr val="1A1A1A"/>
                </a:solidFill>
                <a:latin typeface="Helvetica Neue"/>
              </a:rPr>
              <a:t>five FDA clearances</a:t>
            </a:r>
            <a:r>
              <a:rPr sz="1400" b="0" i="0">
                <a:solidFill>
                  <a:srgbClr val="1A1A1A"/>
                </a:solidFill>
                <a:latin typeface="Helvetica Neue"/>
              </a:rPr>
              <a:t>, raised a EUR 11M Series A in January 2026, and is installed at Mount Sinai.</a:t>
            </a:r>
          </a:p>
          <a:p>
            <a:pPr algn="l" marL="256032" indent="-256032">
              <a:spcAft>
                <a:spcPts val="489"/>
              </a:spcAft>
              <a:buChar char="•"/>
            </a:pPr>
            <a:r>
              <a:rPr sz="1400" b="1" i="0">
                <a:solidFill>
                  <a:srgbClr val="1A1A1A"/>
                </a:solidFill>
                <a:latin typeface="Helvetica Neue"/>
              </a:rPr>
              <a:t>The evidence behind it</a:t>
            </a:r>
            <a:r>
              <a:rPr sz="1400" b="0" i="0">
                <a:solidFill>
                  <a:srgbClr val="1A1A1A"/>
                </a:solidFill>
                <a:latin typeface="Helvetica Neue"/>
              </a:rPr>
              <a:t>: Zelop et al., </a:t>
            </a:r>
            <a:r>
              <a:rPr sz="1400" b="0" i="1">
                <a:solidFill>
                  <a:srgbClr val="1A1A1A"/>
                </a:solidFill>
                <a:latin typeface="Helvetica Neue"/>
              </a:rPr>
              <a:t>Obstetrics &amp; Gynecology</a:t>
            </a:r>
            <a:r>
              <a:rPr sz="1400" b="0" i="0">
                <a:solidFill>
                  <a:srgbClr val="1A1A1A"/>
                </a:solidFill>
                <a:latin typeface="Helvetica Neue"/>
              </a:rPr>
              <a:t> 2025 — 877 second-trimester examinations from 11 centers, read for eight morphologic findings of severe congenital heart disease; </a:t>
            </a:r>
            <a:r>
              <a:rPr sz="1400" b="1" i="0">
                <a:solidFill>
                  <a:srgbClr val="1A1A1A"/>
                </a:solidFill>
                <a:latin typeface="Helvetica Neue"/>
              </a:rPr>
              <a:t>sensitivity 0.97</a:t>
            </a:r>
            <a:r>
              <a:rPr sz="1400" b="0" i="0">
                <a:solidFill>
                  <a:srgbClr val="1A1A1A"/>
                </a:solidFill>
                <a:latin typeface="Helvetica Neue"/>
              </a:rPr>
              <a:t> for severe CHD, and 0.99 sensitivity / 0.98 specificity against fetal cardiologists for any suspicious finding.</a:t>
            </a:r>
          </a:p>
          <a:p>
            <a:pPr algn="l" marL="256032" indent="-256032">
              <a:spcAft>
                <a:spcPts val="489"/>
              </a:spcAft>
              <a:buChar char="•"/>
            </a:pPr>
            <a:r>
              <a:rPr sz="1400" b="1" i="0">
                <a:solidFill>
                  <a:srgbClr val="1A1A1A"/>
                </a:solidFill>
                <a:latin typeface="Helvetica Neue"/>
              </a:rPr>
              <a:t>The gap it targets</a:t>
            </a:r>
            <a:r>
              <a:rPr sz="1400" b="0" i="0">
                <a:solidFill>
                  <a:srgbClr val="1A1A1A"/>
                </a:solidFill>
                <a:latin typeface="Helvetica Neue"/>
              </a:rPr>
              <a:t>: up to half of major congenital anomalies still go undetected antenatally, and prenatal detection of CHD changes delivery planning and neonatal survival.</a:t>
            </a:r>
          </a:p>
          <a:p>
            <a:pPr algn="l" marL="256032" indent="-256032">
              <a:spcAft>
                <a:spcPts val="489"/>
              </a:spcAft>
              <a:buChar char="•"/>
            </a:pPr>
            <a:r>
              <a:rPr sz="1400" b="1" i="0">
                <a:solidFill>
                  <a:srgbClr val="1A1A1A"/>
                </a:solidFill>
                <a:latin typeface="Helvetica Neue"/>
              </a:rPr>
              <a:t>What is still missing</a:t>
            </a:r>
            <a:r>
              <a:rPr sz="1400" b="0" i="0">
                <a:solidFill>
                  <a:srgbClr val="1A1A1A"/>
                </a:solidFill>
                <a:latin typeface="Helvetica Neue"/>
              </a:rPr>
              <a:t>: the study is retrospective, not prospective. Nobody has yet shown detection rates rise in routine screening practice.</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this is the pediatric AI story furthest along the path from paper to product — and it is fetal, not pediatric. The pattern to watch is peer-reviewed multicenter accuracy first, clearances second, funding third.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 use in pediatric radiology departments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12 July 2026: “AI's Rise in Pediatric Imaging” — Shah et al., </a:t>
            </a:r>
            <a:r>
              <a:rPr sz="1100" b="0" i="1">
                <a:solidFill>
                  <a:srgbClr val="1A1A1A"/>
                </a:solidFill>
                <a:latin typeface="Helvetica Neue"/>
              </a:rPr>
              <a:t>European Radiology</a:t>
            </a:r>
            <a:r>
              <a:rPr sz="1100" b="0" i="0">
                <a:solidFill>
                  <a:srgbClr val="1A1A1A"/>
                </a:solidFill>
                <a:latin typeface="Helvetica Neue"/>
              </a:rPr>
              <a:t> 2026 (</a:t>
            </a:r>
            <a:r>
              <a:rPr sz="1100" b="0" i="0">
                <a:solidFill>
                  <a:srgbClr val="1A1A1A"/>
                </a:solidFill>
                <a:latin typeface="Helvetica Neue"/>
                <a:hlinkClick r:id="rId2"/>
              </a:rPr>
              <a:t>doi 10.1007/s00330-026-12728-9</a:t>
            </a:r>
            <a:r>
              <a:rPr sz="1100" b="0" i="0">
                <a:solidFill>
                  <a:srgbClr val="1A1A1A"/>
                </a:solidFill>
                <a:latin typeface="Helvetica Neue"/>
              </a:rPr>
              <a:t>)</a:t>
            </a:r>
          </a:p>
        </p:txBody>
      </p:sp>
      <p:sp>
        <p:nvSpPr>
          <p:cNvPr id="5" name="TextBox 4"/>
          <p:cNvSpPr txBox="1"/>
          <p:nvPr/>
        </p:nvSpPr>
        <p:spPr>
          <a:xfrm>
            <a:off x="411480" y="1258951"/>
            <a:ext cx="11368735" cy="134493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An international survey of </a:t>
            </a:r>
            <a:r>
              <a:rPr sz="1400" b="1" i="0">
                <a:solidFill>
                  <a:srgbClr val="1A1A1A"/>
                </a:solidFill>
                <a:latin typeface="Helvetica Neue"/>
              </a:rPr>
              <a:t>18 academic pediatric radiology centers</a:t>
            </a:r>
            <a:r>
              <a:rPr sz="1400" b="0" i="0">
                <a:solidFill>
                  <a:srgbClr val="1A1A1A"/>
                </a:solidFill>
                <a:latin typeface="Helvetica Neue"/>
              </a:rPr>
              <a:t> (69% response rate) asked which AI tools departments were using.</a:t>
            </a:r>
          </a:p>
          <a:p>
            <a:pPr algn="l" marL="256032" indent="-256032">
              <a:spcAft>
                <a:spcPts val="489"/>
              </a:spcAft>
              <a:buChar char="•"/>
            </a:pPr>
            <a:r>
              <a:rPr sz="1400" b="1" i="0">
                <a:solidFill>
                  <a:srgbClr val="1A1A1A"/>
                </a:solidFill>
                <a:latin typeface="Helvetica Neue"/>
              </a:rPr>
              <a:t>88.9%</a:t>
            </a:r>
            <a:r>
              <a:rPr sz="1400" b="0" i="0">
                <a:solidFill>
                  <a:srgbClr val="1A1A1A"/>
                </a:solidFill>
                <a:latin typeface="Helvetica Neue"/>
              </a:rPr>
              <a:t> reported using at least one AI tool. The most common uses were bone age (44.4%) and segmentation / quantification (22.2%). Only </a:t>
            </a:r>
            <a:r>
              <a:rPr sz="1400" b="1" i="0">
                <a:solidFill>
                  <a:srgbClr val="1A1A1A"/>
                </a:solidFill>
                <a:latin typeface="Helvetica Neue"/>
              </a:rPr>
              <a:t>16.7%</a:t>
            </a:r>
            <a:r>
              <a:rPr sz="1400" b="0" i="0">
                <a:solidFill>
                  <a:srgbClr val="1A1A1A"/>
                </a:solidFill>
                <a:latin typeface="Helvetica Neue"/>
              </a:rPr>
              <a:t> described AI as “transformational”.</a:t>
            </a:r>
          </a:p>
          <a:p>
            <a:pPr algn="l" marL="256032" indent="-256032">
              <a:spcAft>
                <a:spcPts val="489"/>
              </a:spcAft>
              <a:buChar char="•"/>
            </a:pPr>
            <a:r>
              <a:rPr sz="1400" b="0" i="0">
                <a:solidFill>
                  <a:srgbClr val="1A1A1A"/>
                </a:solidFill>
                <a:latin typeface="Helvetica Neue"/>
              </a:rPr>
              <a:t>The main barriers were a lack of pediatric datasets (83.3%), PACS and workflow integration (66.7%), and cost (50%).</a:t>
            </a:r>
          </a:p>
        </p:txBody>
      </p:sp>
      <p:sp>
        <p:nvSpPr>
          <p:cNvPr id="6" name="TextBox 5"/>
          <p:cNvSpPr txBox="1"/>
          <p:nvPr/>
        </p:nvSpPr>
        <p:spPr>
          <a:xfrm>
            <a:off x="411480" y="267703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Departments commonly reported using AI, but pediatric data and workflow integration remain barriers to broader use.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17 / 36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Public datasets from pediatric AI challenges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RSNA News, 25 August 2026: “AI Challenges Fuel Innovation Beyond the Leaderboard” (</a:t>
            </a:r>
            <a:r>
              <a:rPr sz="1100" b="0" i="0">
                <a:solidFill>
                  <a:srgbClr val="1A1A1A"/>
                </a:solidFill>
                <a:latin typeface="Helvetica Neue"/>
                <a:hlinkClick r:id="rId2"/>
              </a:rPr>
              <a:t>rsna.org</a:t>
            </a:r>
            <a:r>
              <a:rPr sz="1100" b="0" i="0">
                <a:solidFill>
                  <a:srgbClr val="1A1A1A"/>
                </a:solidFill>
                <a:latin typeface="Helvetica Neue"/>
              </a:rPr>
              <a:t>)</a:t>
            </a:r>
          </a:p>
        </p:txBody>
      </p:sp>
      <p:sp>
        <p:nvSpPr>
          <p:cNvPr id="5" name="TextBox 4"/>
          <p:cNvSpPr txBox="1"/>
          <p:nvPr/>
        </p:nvSpPr>
        <p:spPr>
          <a:xfrm>
            <a:off x="411480" y="1258951"/>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RSNA reviewed a decade of its Kaggle AI Challenges. The datasets, expert annotations, and open-source top solutions remain available after each competition ends.</a:t>
            </a:r>
          </a:p>
          <a:p>
            <a:pPr algn="l" marL="256032" indent="-256032">
              <a:spcAft>
                <a:spcPts val="489"/>
              </a:spcAft>
              <a:buChar char="•"/>
            </a:pPr>
            <a:r>
              <a:rPr sz="1400" b="0" i="0">
                <a:solidFill>
                  <a:srgbClr val="1A1A1A"/>
                </a:solidFill>
                <a:latin typeface="Helvetica Neue"/>
              </a:rPr>
              <a:t>The </a:t>
            </a:r>
            <a:r>
              <a:rPr sz="1400" b="1" i="0">
                <a:solidFill>
                  <a:srgbClr val="1A1A1A"/>
                </a:solidFill>
                <a:latin typeface="Helvetica Neue"/>
              </a:rPr>
              <a:t>2017 Pediatric Bone Age Challenge</a:t>
            </a:r>
            <a:r>
              <a:rPr sz="1400" b="0" i="0">
                <a:solidFill>
                  <a:srgbClr val="1A1A1A"/>
                </a:solidFill>
                <a:latin typeface="Helvetica Neue"/>
              </a:rPr>
              <a:t> drew 700+ entries and provided 14,236 hand radiographs, one of the largest open pediatric imaging datasets.</a:t>
            </a:r>
          </a:p>
          <a:p>
            <a:pPr algn="l" marL="256032" indent="-256032">
              <a:spcAft>
                <a:spcPts val="489"/>
              </a:spcAft>
              <a:buChar char="•"/>
            </a:pPr>
            <a:r>
              <a:rPr sz="1400" b="0" i="0">
                <a:solidFill>
                  <a:srgbClr val="1A1A1A"/>
                </a:solidFill>
                <a:latin typeface="Helvetica Neue"/>
              </a:rPr>
              <a:t>Kitamura's team placed third, but performance changed when they tested the model on Brazilian data. Results from one population may not transfer to another.</a:t>
            </a:r>
          </a:p>
          <a:p>
            <a:pPr algn="l" marL="256032" indent="-256032">
              <a:spcAft>
                <a:spcPts val="489"/>
              </a:spcAft>
              <a:buChar char="•"/>
            </a:pPr>
            <a:r>
              <a:rPr sz="1400" b="0" i="0">
                <a:solidFill>
                  <a:srgbClr val="1A1A1A"/>
                </a:solidFill>
                <a:latin typeface="Helvetica Neue"/>
              </a:rPr>
              <a:t>Pan notes that these algorithms generally target a single urgent finding for triage. Competition rankings alone do not establish clinical usefulness.</a:t>
            </a:r>
          </a:p>
        </p:txBody>
      </p:sp>
      <p:sp>
        <p:nvSpPr>
          <p:cNvPr id="6" name="TextBox 5"/>
          <p:cNvSpPr txBox="1"/>
          <p:nvPr/>
        </p:nvSpPr>
        <p:spPr>
          <a:xfrm>
            <a:off x="411480" y="337934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Hospitals can support this work by contributing carefully annotated pediatric cases.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leads in FDA AI authorizations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14 September 2026: FDA AI-enabled device list, updated through June 2026</a:t>
            </a:r>
          </a:p>
        </p:txBody>
      </p:sp>
      <p:pic>
        <p:nvPicPr>
          <p:cNvPr id="5" name="imagingwire_fda_top10_2026q2" descr="imagingwire_fda_top10_2026q2.png"/>
          <p:cNvPicPr>
            <a:picLocks noChangeAspect="1"/>
          </p:cNvPicPr>
          <p:nvPr/>
        </p:nvPicPr>
        <p:blipFill>
          <a:blip r:embed="rId2"/>
          <a:stretch>
            <a:fillRect/>
          </a:stretch>
        </p:blipFill>
        <p:spPr>
          <a:xfrm>
            <a:off x="833601" y="1258951"/>
            <a:ext cx="5196117" cy="3705514"/>
          </a:xfrm>
          <a:prstGeom prst="rect">
            <a:avLst/>
          </a:prstGeom>
        </p:spPr>
      </p:pic>
      <p:sp>
        <p:nvSpPr>
          <p:cNvPr id="6" name="TextBox 5"/>
          <p:cNvSpPr txBox="1"/>
          <p:nvPr/>
        </p:nvSpPr>
        <p:spPr>
          <a:xfrm>
            <a:off x="411480" y="5037617"/>
            <a:ext cx="6040361"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Top 10 vendors by radiology FDA authorizations, counts include acquisitions</a:t>
            </a:r>
          </a:p>
        </p:txBody>
      </p:sp>
      <p:sp>
        <p:nvSpPr>
          <p:cNvPr id="7" name="TextBox 6"/>
          <p:cNvSpPr txBox="1"/>
          <p:nvPr/>
        </p:nvSpPr>
        <p:spPr>
          <a:xfrm>
            <a:off x="411480" y="5379374"/>
            <a:ext cx="6040361"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source: theimagingwire.com</a:t>
            </a:r>
          </a:p>
        </p:txBody>
      </p:sp>
      <p:sp>
        <p:nvSpPr>
          <p:cNvPr id="8" name="TextBox 7"/>
          <p:cNvSpPr txBox="1"/>
          <p:nvPr/>
        </p:nvSpPr>
        <p:spPr>
          <a:xfrm>
            <a:off x="6634721" y="1258951"/>
            <a:ext cx="4921776" cy="1795780"/>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The FDA list</a:t>
            </a:r>
            <a:r>
              <a:rPr sz="1100" b="0" i="0">
                <a:solidFill>
                  <a:srgbClr val="1A1A1A"/>
                </a:solidFill>
                <a:latin typeface="Helvetica Neue"/>
              </a:rPr>
              <a:t>: the FDA's public list of AI-enabled devices authorized for the US market (510(k), De Novo, PMA). One row per authorization, scanners included; updated a few times a year, so it trails the newest decisions.</a:t>
            </a:r>
          </a:p>
          <a:p>
            <a:pPr algn="l" marL="256032" indent="-256032">
              <a:spcAft>
                <a:spcPts val="384"/>
              </a:spcAft>
              <a:buChar char="•"/>
            </a:pPr>
            <a:r>
              <a:rPr sz="1100" b="1" i="0">
                <a:solidFill>
                  <a:srgbClr val="1A1A1A"/>
                </a:solidFill>
                <a:latin typeface="Helvetica Neue"/>
              </a:rPr>
              <a:t>1,614</a:t>
            </a:r>
            <a:r>
              <a:rPr sz="1100" b="0" i="0">
                <a:solidFill>
                  <a:srgbClr val="1A1A1A"/>
                </a:solidFill>
                <a:latin typeface="Helvetica Neue"/>
              </a:rPr>
              <a:t> AI-enabled devices authorized since the FDA began tracking, up 5.9% from Q1 2026.</a:t>
            </a:r>
          </a:p>
          <a:p>
            <a:pPr algn="l" marL="256032" indent="-256032">
              <a:spcAft>
                <a:spcPts val="384"/>
              </a:spcAft>
              <a:buChar char="•"/>
            </a:pPr>
            <a:r>
              <a:rPr sz="1100" b="1" i="0">
                <a:solidFill>
                  <a:srgbClr val="1A1A1A"/>
                </a:solidFill>
                <a:latin typeface="Helvetica Neue"/>
              </a:rPr>
              <a:t>1,230</a:t>
            </a:r>
            <a:r>
              <a:rPr sz="1100" b="0" i="0">
                <a:solidFill>
                  <a:srgbClr val="1A1A1A"/>
                </a:solidFill>
                <a:latin typeface="Helvetica Neue"/>
              </a:rPr>
              <a:t> of them (76%) are radiology.</a:t>
            </a:r>
          </a:p>
          <a:p>
            <a:pPr algn="l" marL="256032" indent="-256032">
              <a:spcAft>
                <a:spcPts val="384"/>
              </a:spcAft>
              <a:buChar char="•"/>
            </a:pPr>
            <a:r>
              <a:rPr sz="1100" b="0" i="0">
                <a:solidFill>
                  <a:srgbClr val="1A1A1A"/>
                </a:solidFill>
                <a:latin typeface="Helvetica Neue"/>
              </a:rPr>
              <a:t>Q2 2026: 89 authorizations, 66 (74%) radiology. Rules for generative AI in direct care are still pending.</a:t>
            </a:r>
          </a:p>
        </p:txBody>
      </p:sp>
      <p:sp>
        <p:nvSpPr>
          <p:cNvPr id="9"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18 / 36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European radiology AI products: the Health AI Register</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Health AI Register, radiology products (</a:t>
            </a:r>
            <a:r>
              <a:rPr sz="1100" b="0" i="0">
                <a:solidFill>
                  <a:srgbClr val="1A1A1A"/>
                </a:solidFill>
                <a:latin typeface="Helvetica Neue"/>
                <a:hlinkClick r:id="rId2"/>
              </a:rPr>
              <a:t>healthairegister.com</a:t>
            </a:r>
            <a:r>
              <a:rPr sz="1100" b="0" i="0">
                <a:solidFill>
                  <a:srgbClr val="1A1A1A"/>
                </a:solidFill>
                <a:latin typeface="Helvetica Neue"/>
              </a:rPr>
              <a:t>), accessed 2 October 2026, matched against this deck's FDA radiology-panel list</a:t>
            </a:r>
          </a:p>
        </p:txBody>
      </p:sp>
      <p:sp>
        <p:nvSpPr>
          <p:cNvPr id="5" name="TextBox 4"/>
          <p:cNvSpPr txBox="1"/>
          <p:nvPr/>
        </p:nvSpPr>
        <p:spPr>
          <a:xfrm>
            <a:off x="411480" y="1258951"/>
            <a:ext cx="11368735" cy="2186939"/>
          </a:xfrm>
          <a:prstGeom prst="rect">
            <a:avLst/>
          </a:prstGeom>
          <a:noFill/>
        </p:spPr>
        <p:txBody>
          <a:bodyPr wrap="square" lIns="45720" rIns="45720" tIns="27432" bIns="27432" anchor="t">
            <a:spAutoFit/>
          </a:bodyPr>
          <a:lstStyle/>
          <a:p>
            <a:pPr algn="l" marL="256032" indent="-256032">
              <a:spcAft>
                <a:spcPts val="419"/>
              </a:spcAft>
              <a:buChar char="•"/>
            </a:pPr>
            <a:r>
              <a:rPr sz="1200" b="1" i="0">
                <a:solidFill>
                  <a:srgbClr val="1A1A1A"/>
                </a:solidFill>
                <a:latin typeface="Helvetica Neue"/>
              </a:rPr>
              <a:t>The register</a:t>
            </a:r>
            <a:r>
              <a:rPr sz="1200" b="0" i="0">
                <a:solidFill>
                  <a:srgbClr val="1A1A1A"/>
                </a:solidFill>
                <a:latin typeface="Helvetica Neue"/>
              </a:rPr>
              <a:t>: an independent list of CE-marked radiology AI </a:t>
            </a:r>
            <a:r>
              <a:rPr sz="1200" b="0" i="1">
                <a:solidFill>
                  <a:srgbClr val="1A1A1A"/>
                </a:solidFill>
                <a:latin typeface="Helvetica Neue"/>
              </a:rPr>
              <a:t>software</a:t>
            </a:r>
            <a:r>
              <a:rPr sz="1200" b="0" i="0">
                <a:solidFill>
                  <a:srgbClr val="1A1A1A"/>
                </a:solidFill>
                <a:latin typeface="Helvetica Neue"/>
              </a:rPr>
              <a:t>: </a:t>
            </a:r>
            <a:r>
              <a:rPr sz="1200" b="1" i="0">
                <a:solidFill>
                  <a:srgbClr val="1A1A1A"/>
                </a:solidFill>
                <a:latin typeface="Helvetica Neue"/>
              </a:rPr>
              <a:t>309 products from 121 companies</a:t>
            </a:r>
            <a:r>
              <a:rPr sz="1200" b="0" i="0">
                <a:solidFill>
                  <a:srgbClr val="1A1A1A"/>
                </a:solidFill>
                <a:latin typeface="Helvetica Neue"/>
              </a:rPr>
              <a:t>, each with its CE class, intended use and any FDA clearance. Unlike the FDA list, it excludes scanners.</a:t>
            </a:r>
          </a:p>
          <a:p>
            <a:pPr algn="l" marL="256032" indent="-256032">
              <a:spcAft>
                <a:spcPts val="419"/>
              </a:spcAft>
              <a:buChar char="•"/>
            </a:pPr>
            <a:r>
              <a:rPr sz="1200" b="1" i="0">
                <a:solidFill>
                  <a:srgbClr val="1A1A1A"/>
                </a:solidFill>
                <a:latin typeface="Helvetica Neue"/>
              </a:rPr>
              <a:t>Overlap</a:t>
            </a:r>
            <a:r>
              <a:rPr sz="1200" b="0" i="0">
                <a:solidFill>
                  <a:srgbClr val="1A1A1A"/>
                </a:solidFill>
                <a:latin typeface="Helvetica Neue"/>
              </a:rPr>
              <a:t>: 163 of the 309 (53%) also report FDA clearance. About 135 match a specific authorization in the FDA list (35 by submission number, the rest by company and product name). The other 146 are CE-marked only.</a:t>
            </a:r>
          </a:p>
          <a:p>
            <a:pPr algn="l" marL="256032" indent="-256032">
              <a:spcAft>
                <a:spcPts val="419"/>
              </a:spcAft>
              <a:buChar char="•"/>
            </a:pPr>
            <a:r>
              <a:rPr sz="1200" b="1" i="0">
                <a:solidFill>
                  <a:srgbClr val="1A1A1A"/>
                </a:solidFill>
                <a:latin typeface="Helvetica Neue"/>
              </a:rPr>
              <a:t>FDA coverage</a:t>
            </a:r>
            <a:r>
              <a:rPr sz="1200" b="0" i="0">
                <a:solidFill>
                  <a:srgbClr val="1A1A1A"/>
                </a:solidFill>
                <a:latin typeface="Helvetica Neue"/>
              </a:rPr>
              <a:t>: companies in the register hold about 40% of the 1,230 FDA radiology authorizations. Most of the rest are scanners and US- or Asia-only vendors.</a:t>
            </a:r>
          </a:p>
          <a:p>
            <a:pPr algn="l" marL="256032" indent="-256032">
              <a:spcAft>
                <a:spcPts val="419"/>
              </a:spcAft>
              <a:buChar char="•"/>
            </a:pPr>
            <a:r>
              <a:rPr sz="1200" b="1" i="0">
                <a:solidFill>
                  <a:srgbClr val="1A1A1A"/>
                </a:solidFill>
                <a:latin typeface="Helvetica Neue"/>
              </a:rPr>
              <a:t>Recent updates</a:t>
            </a:r>
            <a:r>
              <a:rPr sz="1200" b="0" i="0">
                <a:solidFill>
                  <a:srgbClr val="1A1A1A"/>
                </a:solidFill>
                <a:latin typeface="Helvetica Neue"/>
              </a:rPr>
              <a:t>: BoneXpert was FDA-cleared on 22 September 2026 (K262390) and is not yet on the FDA list. The register still shows no US clearance for five products that the FDA list has (e.g., Gleamer BoneMetrics, Viz ANEURYSM).</a:t>
            </a:r>
          </a:p>
          <a:p>
            <a:pPr algn="l" marL="256032" indent="-256032">
              <a:spcAft>
                <a:spcPts val="419"/>
              </a:spcAft>
              <a:buChar char="•"/>
            </a:pPr>
            <a:r>
              <a:rPr sz="1200" b="1" i="0">
                <a:solidFill>
                  <a:srgbClr val="1A1A1A"/>
                </a:solidFill>
                <a:latin typeface="Helvetica Neue"/>
              </a:rPr>
              <a:t>Pediatric</a:t>
            </a:r>
            <a:r>
              <a:rPr sz="1200" b="0" i="0">
                <a:solidFill>
                  <a:srgbClr val="1A1A1A"/>
                </a:solidFill>
                <a:latin typeface="Helvetica Neue"/>
              </a:rPr>
              <a:t>: four of the 35 number-matched products carry a pediatric label in the FDA list (AZtrauma, MediAI-BA, EchoConfidence, 1CMR PRO). Several pediatric tools are CE-marked only: Gleamer BoneAge, AZboneage, Milvue TechCare Kids, Med-BoneAge.</a:t>
            </a:r>
          </a:p>
        </p:txBody>
      </p:sp>
      <p:sp>
        <p:nvSpPr>
          <p:cNvPr id="6" name="TextBox 5"/>
          <p:cNvSpPr txBox="1"/>
          <p:nvPr/>
        </p:nvSpPr>
        <p:spPr>
          <a:xfrm>
            <a:off x="411480" y="3519043"/>
            <a:ext cx="11368735" cy="327659"/>
          </a:xfrm>
          <a:prstGeom prst="rect">
            <a:avLst/>
          </a:prstGeom>
          <a:noFill/>
        </p:spPr>
        <p:txBody>
          <a:bodyPr wrap="square" lIns="45720" rIns="45720" tIns="27432" bIns="27432" anchor="t">
            <a:spAutoFit/>
          </a:bodyPr>
          <a:lstStyle/>
          <a:p>
            <a:pPr algn="l">
              <a:spcAft>
                <a:spcPts val="419"/>
              </a:spcAft>
            </a:pPr>
            <a:r>
              <a:rPr sz="1200" b="0" i="0">
                <a:solidFill>
                  <a:srgbClr val="1A1A1A"/>
                </a:solidFill>
                <a:latin typeface="Helvetica Neue"/>
              </a:rPr>
              <a:t>Check both lists when reviewing a European product; either may be missing recent authorizations.</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19 / 36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How many FDA authorizations include pediatric labeling?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fda_pediatric_prisma" descr="fda_pediatric_prisma.png"/>
          <p:cNvPicPr>
            <a:picLocks noChangeAspect="1"/>
          </p:cNvPicPr>
          <p:nvPr/>
        </p:nvPicPr>
        <p:blipFill>
          <a:blip r:embed="rId2"/>
          <a:stretch>
            <a:fillRect/>
          </a:stretch>
        </p:blipFill>
        <p:spPr>
          <a:xfrm>
            <a:off x="3752885" y="877824"/>
            <a:ext cx="4685923" cy="4042379"/>
          </a:xfrm>
          <a:prstGeom prst="rect">
            <a:avLst/>
          </a:prstGeom>
        </p:spPr>
      </p:pic>
      <p:sp>
        <p:nvSpPr>
          <p:cNvPr id="5" name="TextBox 4"/>
          <p:cNvSpPr txBox="1"/>
          <p:nvPr/>
        </p:nvSpPr>
        <p:spPr>
          <a:xfrm>
            <a:off x="411480" y="4993355"/>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230 of the 1,230 radiology-panel authorizations (19%) name a pediatric or fetal population in the labeling passage reviewed.</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20 / 36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Who is building commercial radiology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commercial_companies_by_year" descr="commercial_companies_by_year.png"/>
          <p:cNvPicPr>
            <a:picLocks noChangeAspect="1"/>
          </p:cNvPicPr>
          <p:nvPr/>
        </p:nvPicPr>
        <p:blipFill>
          <a:blip r:embed="rId2"/>
          <a:stretch>
            <a:fillRect/>
          </a:stretch>
        </p:blipFill>
        <p:spPr>
          <a:xfrm>
            <a:off x="2839486" y="877824"/>
            <a:ext cx="6512722" cy="3256361"/>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commercial products, stratified by medical problem</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commercial_problems" descr="commercial_problems.png"/>
          <p:cNvPicPr>
            <a:picLocks noChangeAspect="1"/>
          </p:cNvPicPr>
          <p:nvPr/>
        </p:nvPicPr>
        <p:blipFill>
          <a:blip r:embed="rId2"/>
          <a:stretch>
            <a:fillRect/>
          </a:stretch>
        </p:blipFill>
        <p:spPr>
          <a:xfrm>
            <a:off x="1454898" y="877824"/>
            <a:ext cx="9281897"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21 / 36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Commercial products for pediatric imaging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2953512"/>
        </p:xfrm>
        <a:graphic>
          <a:graphicData uri="http://schemas.openxmlformats.org/drawingml/2006/table">
            <a:tbl>
              <a:tblPr firstRow="1" bandRow="1">
                <a:tableStyleId>{5C22544A-7EE6-4342-B048-85BDC9FD1C3A}</a:tableStyleId>
              </a:tblPr>
              <a:tblGrid>
                <a:gridCol w="2526385"/>
                <a:gridCol w="3915897"/>
                <a:gridCol w="4926451"/>
              </a:tblGrid>
              <a:tr h="222504">
                <a:tc>
                  <a:txBody>
                    <a:bodyPr wrap="square"/>
                    <a:lstStyle/>
                    <a:p>
                      <a:r>
                        <a:rPr sz="1100" b="1" i="0">
                          <a:solidFill>
                            <a:srgbClr val="FFFFFF"/>
                          </a:solidFill>
                          <a:latin typeface="Helvetica Neue"/>
                        </a:rPr>
                        <a:t>Clinical application</a:t>
                      </a:r>
                    </a:p>
                  </a:txBody>
                  <a:tcPr marL="45720" marR="45720" marT="18288" marB="18288" anchor="t"/>
                </a:tc>
                <a:tc>
                  <a:txBody>
                    <a:bodyPr wrap="square"/>
                    <a:lstStyle/>
                    <a:p>
                      <a:r>
                        <a:rPr sz="1100" b="1" i="0">
                          <a:solidFill>
                            <a:srgbClr val="FFFFFF"/>
                          </a:solidFill>
                          <a:latin typeface="Helvetica Neue"/>
                        </a:rPr>
                        <a:t>Representative products</a:t>
                      </a:r>
                    </a:p>
                  </a:txBody>
                  <a:tcPr marL="45720" marR="45720" marT="18288" marB="18288" anchor="t"/>
                </a:tc>
                <a:tc>
                  <a:txBody>
                    <a:bodyPr wrap="square"/>
                    <a:lstStyle/>
                    <a:p>
                      <a:r>
                        <a:rPr sz="1100" b="1" i="0">
                          <a:solidFill>
                            <a:srgbClr val="FFFFFF"/>
                          </a:solidFill>
                          <a:latin typeface="Helvetica Neue"/>
                        </a:rPr>
                        <a:t>Pediatric scope / key limitation</a:t>
                      </a:r>
                    </a:p>
                  </a:txBody>
                  <a:tcPr marL="45720" marR="45720" marT="18288" marB="18288" anchor="t"/>
                </a:tc>
              </a:tr>
              <a:tr h="390144">
                <a:tc>
                  <a:txBody>
                    <a:bodyPr wrap="square"/>
                    <a:lstStyle/>
                    <a:p>
                      <a:r>
                        <a:rPr sz="1100" b="0" i="0">
                          <a:solidFill>
                            <a:srgbClr val="1A1A1A"/>
                          </a:solidFill>
                          <a:latin typeface="Helvetica Neue"/>
                        </a:rPr>
                        <a:t>Bone age / growth</a:t>
                      </a:r>
                    </a:p>
                  </a:txBody>
                  <a:tcPr marL="45720" marR="45720" marT="18288" marB="18288" anchor="t"/>
                </a:tc>
                <a:tc>
                  <a:txBody>
                    <a:bodyPr wrap="square"/>
                    <a:lstStyle/>
                    <a:p>
                      <a:r>
                        <a:rPr sz="1100" b="0" i="0">
                          <a:solidFill>
                            <a:srgbClr val="1A1A1A"/>
                          </a:solidFill>
                          <a:latin typeface="Helvetica Neue"/>
                        </a:rPr>
                        <a:t>BoneXpert; EFAI Bone Age Pro; Physis</a:t>
                      </a:r>
                    </a:p>
                  </a:txBody>
                  <a:tcPr marL="45720" marR="45720" marT="18288" marB="18288" anchor="t"/>
                </a:tc>
                <a:tc>
                  <a:txBody>
                    <a:bodyPr wrap="square"/>
                    <a:lstStyle/>
                    <a:p>
                      <a:r>
                        <a:rPr sz="1100" b="0" i="0">
                          <a:solidFill>
                            <a:srgbClr val="1A1A1A"/>
                          </a:solidFill>
                          <a:latin typeface="Helvetica Neue"/>
                        </a:rPr>
                        <a:t>Built for children; authorized ages and US availability vary by product.</a:t>
                      </a:r>
                    </a:p>
                  </a:txBody>
                  <a:tcPr marL="45720" marR="45720" marT="18288" marB="18288" anchor="t"/>
                </a:tc>
              </a:tr>
              <a:tr h="390144">
                <a:tc>
                  <a:txBody>
                    <a:bodyPr wrap="square"/>
                    <a:lstStyle/>
                    <a:p>
                      <a:r>
                        <a:rPr sz="1100" b="0" i="0">
                          <a:solidFill>
                            <a:srgbClr val="1A1A1A"/>
                          </a:solidFill>
                          <a:latin typeface="Helvetica Neue"/>
                        </a:rPr>
                        <a:t>Fracture detection</a:t>
                      </a:r>
                    </a:p>
                  </a:txBody>
                  <a:tcPr marL="45720" marR="45720" marT="18288" marB="18288" anchor="t"/>
                </a:tc>
                <a:tc>
                  <a:txBody>
                    <a:bodyPr wrap="square"/>
                    <a:lstStyle/>
                    <a:p>
                      <a:r>
                        <a:rPr sz="1100" b="0" i="0">
                          <a:solidFill>
                            <a:srgbClr val="1A1A1A"/>
                          </a:solidFill>
                          <a:latin typeface="Helvetica Neue"/>
                        </a:rPr>
                        <a:t>BoneView; Rayvolve; TechCare Trauma</a:t>
                      </a:r>
                    </a:p>
                  </a:txBody>
                  <a:tcPr marL="45720" marR="45720" marT="18288" marB="18288" anchor="t"/>
                </a:tc>
                <a:tc>
                  <a:txBody>
                    <a:bodyPr wrap="square"/>
                    <a:lstStyle/>
                    <a:p>
                      <a:r>
                        <a:rPr sz="1100" b="0" i="0">
                          <a:solidFill>
                            <a:srgbClr val="1A1A1A"/>
                          </a:solidFill>
                          <a:latin typeface="Helvetica Neue"/>
                        </a:rPr>
                        <a:t>Pediatric labeling varies by age and anatomy; BoneView and Rayvolve start at age 2.</a:t>
                      </a:r>
                    </a:p>
                  </a:txBody>
                  <a:tcPr marL="45720" marR="45720" marT="18288" marB="18288" anchor="t"/>
                </a:tc>
              </a:tr>
              <a:tr h="390144">
                <a:tc>
                  <a:txBody>
                    <a:bodyPr wrap="square"/>
                    <a:lstStyle/>
                    <a:p>
                      <a:r>
                        <a:rPr sz="1100" b="0" i="0">
                          <a:solidFill>
                            <a:srgbClr val="1A1A1A"/>
                          </a:solidFill>
                          <a:latin typeface="Helvetica Neue"/>
                        </a:rPr>
                        <a:t>Fetal ultrasound</a:t>
                      </a:r>
                    </a:p>
                  </a:txBody>
                  <a:tcPr marL="45720" marR="45720" marT="18288" marB="18288" anchor="t"/>
                </a:tc>
                <a:tc>
                  <a:txBody>
                    <a:bodyPr wrap="square"/>
                    <a:lstStyle/>
                    <a:p>
                      <a:r>
                        <a:rPr sz="1100" b="0" i="0">
                          <a:solidFill>
                            <a:srgbClr val="1A1A1A"/>
                          </a:solidFill>
                          <a:latin typeface="Helvetica Neue"/>
                        </a:rPr>
                        <a:t>Fetal EchoScan; Sonio Detect / Suspect; Delivery Date AI</a:t>
                      </a:r>
                    </a:p>
                  </a:txBody>
                  <a:tcPr marL="45720" marR="45720" marT="18288" marB="18288" anchor="t"/>
                </a:tc>
                <a:tc>
                  <a:txBody>
                    <a:bodyPr wrap="square"/>
                    <a:lstStyle/>
                    <a:p>
                      <a:r>
                        <a:rPr sz="1100" b="0" i="0">
                          <a:solidFill>
                            <a:srgbClr val="1A1A1A"/>
                          </a:solidFill>
                          <a:latin typeface="Helvetica Neue"/>
                        </a:rPr>
                        <a:t>Prenatal tools for different tasks: anomaly detection, view quality, or delivery prediction.</a:t>
                      </a:r>
                    </a:p>
                  </a:txBody>
                  <a:tcPr marL="45720" marR="45720" marT="18288" marB="18288" anchor="t"/>
                </a:tc>
              </a:tr>
              <a:tr h="390144">
                <a:tc>
                  <a:txBody>
                    <a:bodyPr wrap="square"/>
                    <a:lstStyle/>
                    <a:p>
                      <a:r>
                        <a:rPr sz="1100" b="0" i="0">
                          <a:solidFill>
                            <a:srgbClr val="1A1A1A"/>
                          </a:solidFill>
                          <a:latin typeface="Helvetica Neue"/>
                        </a:rPr>
                        <a:t>Faster MRI / lower-dose CT</a:t>
                      </a:r>
                    </a:p>
                  </a:txBody>
                  <a:tcPr marL="45720" marR="45720" marT="18288" marB="18288" anchor="t"/>
                </a:tc>
                <a:tc>
                  <a:txBody>
                    <a:bodyPr wrap="square"/>
                    <a:lstStyle/>
                    <a:p>
                      <a:r>
                        <a:rPr sz="1100" b="0" i="0">
                          <a:solidFill>
                            <a:srgbClr val="1A1A1A"/>
                          </a:solidFill>
                          <a:latin typeface="Helvetica Neue"/>
                        </a:rPr>
                        <a:t>GE, Siemens, Canon, Philips reconstruction; SubtleMR / SwiftMR</a:t>
                      </a:r>
                    </a:p>
                  </a:txBody>
                  <a:tcPr marL="45720" marR="45720" marT="18288" marB="18288" anchor="t"/>
                </a:tc>
                <a:tc>
                  <a:txBody>
                    <a:bodyPr wrap="square"/>
                    <a:lstStyle/>
                    <a:p>
                      <a:r>
                        <a:rPr sz="1100" b="0" i="0">
                          <a:solidFill>
                            <a:srgbClr val="1A1A1A"/>
                          </a:solidFill>
                          <a:latin typeface="Helvetica Neue"/>
                        </a:rPr>
                        <a:t>Pediatric protocols and evidence vary by product and version.</a:t>
                      </a:r>
                    </a:p>
                  </a:txBody>
                  <a:tcPr marL="45720" marR="45720" marT="18288" marB="18288" anchor="t"/>
                </a:tc>
              </a:tr>
              <a:tr h="390144">
                <a:tc>
                  <a:txBody>
                    <a:bodyPr wrap="square"/>
                    <a:lstStyle/>
                    <a:p>
                      <a:r>
                        <a:rPr sz="1100" b="0" i="0">
                          <a:solidFill>
                            <a:srgbClr val="1A1A1A"/>
                          </a:solidFill>
                          <a:latin typeface="Helvetica Neue"/>
                        </a:rPr>
                        <a:t>Spine / scoliosis</a:t>
                      </a:r>
                    </a:p>
                  </a:txBody>
                  <a:tcPr marL="45720" marR="45720" marT="18288" marB="18288" anchor="t"/>
                </a:tc>
                <a:tc>
                  <a:txBody>
                    <a:bodyPr wrap="square"/>
                    <a:lstStyle/>
                    <a:p>
                      <a:r>
                        <a:rPr sz="1100" b="0" i="0">
                          <a:solidFill>
                            <a:srgbClr val="1A1A1A"/>
                          </a:solidFill>
                          <a:latin typeface="Helvetica Neue"/>
                        </a:rPr>
                        <a:t>spineEOS / VEA Align; CoLumbo; Acorn 3D</a:t>
                      </a:r>
                    </a:p>
                  </a:txBody>
                  <a:tcPr marL="45720" marR="45720" marT="18288" marB="18288" anchor="t"/>
                </a:tc>
                <a:tc>
                  <a:txBody>
                    <a:bodyPr wrap="square"/>
                    <a:lstStyle/>
                    <a:p>
                      <a:r>
                        <a:rPr sz="1100" b="0" i="0">
                          <a:solidFill>
                            <a:srgbClr val="1A1A1A"/>
                          </a:solidFill>
                          <a:latin typeface="Helvetica Neue"/>
                        </a:rPr>
                        <a:t>Measurement and planning tools; pediatric labeling does not establish pediatric performance.</a:t>
                      </a:r>
                    </a:p>
                  </a:txBody>
                  <a:tcPr marL="45720" marR="45720" marT="18288" marB="18288" anchor="t"/>
                </a:tc>
              </a:tr>
              <a:tr h="390144">
                <a:tc>
                  <a:txBody>
                    <a:bodyPr wrap="square"/>
                    <a:lstStyle/>
                    <a:p>
                      <a:r>
                        <a:rPr sz="1100" b="0" i="0">
                          <a:solidFill>
                            <a:srgbClr val="1A1A1A"/>
                          </a:solidFill>
                          <a:latin typeface="Helvetica Neue"/>
                        </a:rPr>
                        <a:t>CT / CTA triage</a:t>
                      </a:r>
                    </a:p>
                  </a:txBody>
                  <a:tcPr marL="45720" marR="45720" marT="18288" marB="18288" anchor="t"/>
                </a:tc>
                <a:tc>
                  <a:txBody>
                    <a:bodyPr wrap="square"/>
                    <a:lstStyle/>
                    <a:p>
                      <a:r>
                        <a:rPr sz="1100" b="0" i="0">
                          <a:solidFill>
                            <a:srgbClr val="1A1A1A"/>
                          </a:solidFill>
                          <a:latin typeface="Helvetica Neue"/>
                        </a:rPr>
                        <a:t>Aidoc BriefCase; Viz LVO / ICH</a:t>
                      </a:r>
                    </a:p>
                  </a:txBody>
                  <a:tcPr marL="45720" marR="45720" marT="18288" marB="18288" anchor="t"/>
                </a:tc>
                <a:tc>
                  <a:txBody>
                    <a:bodyPr wrap="square"/>
                    <a:lstStyle/>
                    <a:p>
                      <a:r>
                        <a:rPr sz="1100" b="0" i="0">
                          <a:solidFill>
                            <a:srgbClr val="1A1A1A"/>
                          </a:solidFill>
                          <a:latin typeface="Helvetica Neue"/>
                        </a:rPr>
                        <a:t>Aidoc: pediatric statements, adult performance data. Viz: no pediatric statement found in reviewed summaries.</a:t>
                      </a:r>
                    </a:p>
                  </a:txBody>
                  <a:tcPr marL="45720" marR="45720" marT="18288" marB="18288" anchor="t"/>
                </a:tc>
              </a:tr>
              <a:tr h="390144">
                <a:tc>
                  <a:txBody>
                    <a:bodyPr wrap="square"/>
                    <a:lstStyle/>
                    <a:p>
                      <a:r>
                        <a:rPr sz="1100" b="0" i="0">
                          <a:solidFill>
                            <a:srgbClr val="1A1A1A"/>
                          </a:solidFill>
                          <a:latin typeface="Helvetica Neue"/>
                        </a:rPr>
                        <a:t>Cardiac MRI</a:t>
                      </a:r>
                    </a:p>
                  </a:txBody>
                  <a:tcPr marL="45720" marR="45720" marT="18288" marB="18288" anchor="t"/>
                </a:tc>
                <a:tc>
                  <a:txBody>
                    <a:bodyPr wrap="square"/>
                    <a:lstStyle/>
                    <a:p>
                      <a:r>
                        <a:rPr sz="1100" b="0" i="0">
                          <a:solidFill>
                            <a:srgbClr val="1A1A1A"/>
                          </a:solidFill>
                          <a:latin typeface="Helvetica Neue"/>
                        </a:rPr>
                        <a:t>Arterys Cardio DL</a:t>
                      </a:r>
                    </a:p>
                  </a:txBody>
                  <a:tcPr marL="45720" marR="45720" marT="18288" marB="18288" anchor="t"/>
                </a:tc>
                <a:tc>
                  <a:txBody>
                    <a:bodyPr wrap="square"/>
                    <a:lstStyle/>
                    <a:p>
                      <a:r>
                        <a:rPr sz="1100" b="0" i="0">
                          <a:solidFill>
                            <a:srgbClr val="1A1A1A"/>
                          </a:solidFill>
                          <a:latin typeface="Helvetica Neue"/>
                        </a:rPr>
                        <a:t>Segmentation and quantification; US labeling includes neonates through adolescents.</a:t>
                      </a:r>
                    </a:p>
                  </a:txBody>
                  <a:tcPr marL="45720" marR="45720" marT="18288" marB="18288" anchor="t"/>
                </a:tc>
              </a:tr>
            </a:tbl>
          </a:graphicData>
        </a:graphic>
      </p:graphicFrame>
      <p:sp>
        <p:nvSpPr>
          <p:cNvPr id="5" name="TextBox 4"/>
          <p:cNvSpPr txBox="1"/>
          <p:nvPr/>
        </p:nvSpPr>
        <p:spPr>
          <a:xfrm>
            <a:off x="411480" y="3904487"/>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Selected examples; scope varies by product/version, age, and anatomy. Full inventory and FDA references: PowerPoint backup slides.</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22 / 36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BoneXpert: automated bone age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Visiana, Denmark (</a:t>
            </a:r>
            <a:r>
              <a:rPr sz="1100" b="0" i="0">
                <a:solidFill>
                  <a:srgbClr val="1A1A1A"/>
                </a:solidFill>
                <a:latin typeface="Helvetica Neue"/>
                <a:hlinkClick r:id="rId2"/>
              </a:rPr>
              <a:t>bonexpert.com</a:t>
            </a:r>
            <a:r>
              <a:rPr sz="1100" b="0" i="0">
                <a:solidFill>
                  <a:srgbClr val="1A1A1A"/>
                </a:solidFill>
                <a:latin typeface="Helvetica Neue"/>
              </a:rPr>
              <a:t>) — bone age / growth</a:t>
            </a:r>
          </a:p>
        </p:txBody>
      </p:sp>
      <p:sp>
        <p:nvSpPr>
          <p:cNvPr id="5" name="TextBox 4"/>
          <p:cNvSpPr txBox="1"/>
          <p:nvPr/>
        </p:nvSpPr>
        <p:spPr>
          <a:xfrm>
            <a:off x="411480" y="1258951"/>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Function</a:t>
            </a:r>
            <a:r>
              <a:rPr sz="1400" b="0" i="0">
                <a:solidFill>
                  <a:srgbClr val="1A1A1A"/>
                </a:solidFill>
                <a:latin typeface="Helvetica Neue"/>
              </a:rPr>
              <a:t>: estimates bone age from a hand radiograph using Greulich–Pyle or Tanner–Whitehouse methods. Additional features include a Bone Health Index and adult-height prediction; availability varies by market.</a:t>
            </a:r>
          </a:p>
          <a:p>
            <a:pPr algn="l" marL="256032" indent="-256032">
              <a:spcAft>
                <a:spcPts val="489"/>
              </a:spcAft>
              <a:buChar char="•"/>
            </a:pPr>
            <a:r>
              <a:rPr sz="1400" b="1" i="0">
                <a:solidFill>
                  <a:srgbClr val="1A1A1A"/>
                </a:solidFill>
                <a:latin typeface="Helvetica Neue"/>
              </a:rPr>
              <a:t>Clinical use</a:t>
            </a:r>
            <a:r>
              <a:rPr sz="1400" b="0" i="0">
                <a:solidFill>
                  <a:srgbClr val="1A1A1A"/>
                </a:solidFill>
                <a:latin typeface="Helvetica Neue"/>
              </a:rPr>
              <a:t>: developed for children and used routinely in Europe since 2009; often used as a comparator in bone-age studies.</a:t>
            </a:r>
          </a:p>
          <a:p>
            <a:pPr algn="l" marL="256032" indent="-256032">
              <a:spcAft>
                <a:spcPts val="489"/>
              </a:spcAft>
              <a:buChar char="•"/>
            </a:pPr>
            <a:r>
              <a:rPr sz="1400" b="1" i="0">
                <a:solidFill>
                  <a:srgbClr val="1A1A1A"/>
                </a:solidFill>
                <a:latin typeface="Helvetica Neue"/>
              </a:rPr>
              <a:t>US clearance</a:t>
            </a:r>
            <a:r>
              <a:rPr sz="1400" b="0" i="0">
                <a:solidFill>
                  <a:srgbClr val="1A1A1A"/>
                </a:solidFill>
                <a:latin typeface="Helvetica Neue"/>
              </a:rPr>
              <a:t>: Visiana announced FDA 510(k) clearance in September 2026 (K262390) for Greulich–Pyle bone-age assessment in patients aged </a:t>
            </a:r>
            <a:r>
              <a:rPr sz="1400" b="1" i="0">
                <a:solidFill>
                  <a:srgbClr val="1A1A1A"/>
                </a:solidFill>
                <a:latin typeface="Helvetica Neue"/>
              </a:rPr>
              <a:t>2–21 years</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US availability</a:t>
            </a:r>
            <a:r>
              <a:rPr sz="1400" b="0" i="0">
                <a:solidFill>
                  <a:srgbClr val="1A1A1A"/>
                </a:solidFill>
                <a:latin typeface="Helvetica Neue"/>
              </a:rPr>
              <a:t>: release is planned for early October. The vendor states that some features, including the Bone Health Index, are unavailable in the US.</a:t>
            </a:r>
          </a:p>
        </p:txBody>
      </p:sp>
      <p:sp>
        <p:nvSpPr>
          <p:cNvPr id="6" name="TextBox 5"/>
          <p:cNvSpPr txBox="1"/>
          <p:nvPr/>
        </p:nvSpPr>
        <p:spPr>
          <a:xfrm>
            <a:off x="411480" y="3379343"/>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Source: </a:t>
            </a:r>
            <a:r>
              <a:rPr sz="1100" b="0" i="0">
                <a:solidFill>
                  <a:srgbClr val="1A1A1A"/>
                </a:solidFill>
                <a:latin typeface="Helvetica Neue"/>
                <a:hlinkClick r:id="rId3"/>
              </a:rPr>
              <a:t>Visiana clearance announcement, 30 September 2026</a:t>
            </a:r>
            <a:r>
              <a:rPr sz="1100" b="0" i="0">
                <a:solidFill>
                  <a:srgbClr val="1A1A1A"/>
                </a:solidFill>
                <a:latin typeface="Helvetica Neue"/>
              </a:rPr>
              <a:t>.</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23 / 36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Rayvolve: pediatric fracture detection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AZmed, France (</a:t>
            </a:r>
            <a:r>
              <a:rPr sz="1100" b="0" i="0">
                <a:solidFill>
                  <a:srgbClr val="1A1A1A"/>
                </a:solidFill>
                <a:latin typeface="Helvetica Neue"/>
                <a:hlinkClick r:id="rId2"/>
              </a:rPr>
              <a:t>azmed.co</a:t>
            </a:r>
            <a:r>
              <a:rPr sz="1100" b="0" i="0">
                <a:solidFill>
                  <a:srgbClr val="1A1A1A"/>
                </a:solidFill>
                <a:latin typeface="Helvetica Neue"/>
              </a:rPr>
              <a:t>) — fracture / trauma; US pediatric fracture indication K240845 (2024)</a:t>
            </a:r>
          </a:p>
        </p:txBody>
      </p:sp>
      <p:sp>
        <p:nvSpPr>
          <p:cNvPr id="5" name="TextBox 4"/>
          <p:cNvSpPr txBox="1"/>
          <p:nvPr/>
        </p:nvSpPr>
        <p:spPr>
          <a:xfrm>
            <a:off x="411480" y="1258951"/>
            <a:ext cx="11368735" cy="2473959"/>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flags fractures on trauma radiographs; sibling modules add chest findings, orthopedic measurements (leg alignment, Cobb angle, hip angles) and bone age. </a:t>
            </a:r>
            <a:r>
              <a:rPr sz="1400" b="1" i="0">
                <a:solidFill>
                  <a:srgbClr val="1A1A1A"/>
                </a:solidFill>
                <a:latin typeface="Helvetica Neue"/>
              </a:rPr>
              <a:t>US pediatric clearance is fracture detection from age 2</a:t>
            </a:r>
            <a:r>
              <a:rPr sz="1400" b="0" i="0">
                <a:solidFill>
                  <a:srgbClr val="1A1A1A"/>
                </a:solidFill>
                <a:latin typeface="Helvetica Neue"/>
              </a:rPr>
              <a:t>; bone age is CE-marked only.</a:t>
            </a:r>
          </a:p>
          <a:p>
            <a:pPr algn="l" marL="256032" indent="-256032">
              <a:spcAft>
                <a:spcPts val="489"/>
              </a:spcAft>
              <a:buChar char="•"/>
            </a:pPr>
            <a:r>
              <a:rPr sz="1400" b="1" i="0">
                <a:solidFill>
                  <a:srgbClr val="1A1A1A"/>
                </a:solidFill>
                <a:latin typeface="Helvetica Neue"/>
              </a:rPr>
              <a:t>Pediatric validation</a:t>
            </a:r>
            <a:r>
              <a:rPr sz="1400" b="0" i="0">
                <a:solidFill>
                  <a:srgbClr val="1A1A1A"/>
                </a:solidFill>
                <a:latin typeface="Helvetica Neue"/>
              </a:rPr>
              <a:t>: 2,549 children in a pediatric ED (Dupuis et al., </a:t>
            </a:r>
            <a:r>
              <a:rPr sz="1400" b="0" i="1">
                <a:solidFill>
                  <a:srgbClr val="1A1A1A"/>
                </a:solidFill>
                <a:latin typeface="Helvetica Neue"/>
              </a:rPr>
              <a:t>Diagn Interv Imaging</a:t>
            </a:r>
            <a:r>
              <a:rPr sz="1400" b="0" i="0">
                <a:solidFill>
                  <a:srgbClr val="1A1A1A"/>
                </a:solidFill>
                <a:latin typeface="Helvetica Neue"/>
              </a:rPr>
              <a:t> 2022): sensitivity 95.7%, specificity 91.2%; sensitivity was </a:t>
            </a:r>
            <a:r>
              <a:rPr sz="1400" b="1" i="0">
                <a:solidFill>
                  <a:srgbClr val="1A1A1A"/>
                </a:solidFill>
                <a:latin typeface="Helvetica Neue"/>
              </a:rPr>
              <a:t>significantly lower in children under 5 and in casted limbs</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Comparison with BoneView</a:t>
            </a:r>
            <a:r>
              <a:rPr sz="1400" b="0" i="0">
                <a:solidFill>
                  <a:srgbClr val="1A1A1A"/>
                </a:solidFill>
                <a:latin typeface="Helvetica Neue"/>
              </a:rPr>
              <a:t> (Robin et al., </a:t>
            </a:r>
            <a:r>
              <a:rPr sz="1400" b="0" i="1">
                <a:solidFill>
                  <a:srgbClr val="1A1A1A"/>
                </a:solidFill>
                <a:latin typeface="Helvetica Neue"/>
              </a:rPr>
              <a:t>Pediatr Radiol</a:t>
            </a:r>
            <a:r>
              <a:rPr sz="1400" b="0" i="0">
                <a:solidFill>
                  <a:srgbClr val="1A1A1A"/>
                </a:solidFill>
                <a:latin typeface="Helvetica Neue"/>
              </a:rPr>
              <a:t> 2026, 366 children): AUC 0.87 vs 0.86; Rayvolve more specific (93% vs 87%), BoneView more sensitive (85% vs 81%); both helped junior residents. BoneView's US pediatric label excludes pelvis, hip, femur, ribs and spine.</a:t>
            </a:r>
          </a:p>
          <a:p>
            <a:pPr algn="l" marL="256032" indent="-256032">
              <a:spcAft>
                <a:spcPts val="489"/>
              </a:spcAft>
              <a:buChar char="•"/>
            </a:pPr>
            <a:r>
              <a:rPr sz="1400" b="1" i="0">
                <a:solidFill>
                  <a:srgbClr val="1A1A1A"/>
                </a:solidFill>
                <a:latin typeface="Helvetica Neue"/>
              </a:rPr>
              <a:t>Reader errors</a:t>
            </a:r>
            <a:r>
              <a:rPr sz="1400" b="0" i="0">
                <a:solidFill>
                  <a:srgbClr val="1A1A1A"/>
                </a:solidFill>
                <a:latin typeface="Helvetica Neue"/>
              </a:rPr>
              <a:t>: in a pediatric ED, readers abandoned a correct diagnosis after seeing AI output in 2% of cases (Ziegner et al., </a:t>
            </a:r>
            <a:r>
              <a:rPr sz="1400" b="0" i="1">
                <a:solidFill>
                  <a:srgbClr val="1A1A1A"/>
                </a:solidFill>
                <a:latin typeface="Helvetica Neue"/>
              </a:rPr>
              <a:t>Eur Radiol</a:t>
            </a:r>
            <a:r>
              <a:rPr sz="1400" b="0" i="0">
                <a:solidFill>
                  <a:srgbClr val="1A1A1A"/>
                </a:solidFill>
                <a:latin typeface="Helvetica Neue"/>
              </a:rPr>
              <a:t> 2025).</a:t>
            </a:r>
          </a:p>
        </p:txBody>
      </p:sp>
      <p:sp>
        <p:nvSpPr>
          <p:cNvPr id="6" name="TextBox 5"/>
          <p:cNvSpPr txBox="1"/>
          <p:nvPr/>
        </p:nvSpPr>
        <p:spPr>
          <a:xfrm>
            <a:off x="411480" y="380606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Test fracture detection locally by age and anatomy, and decide how readers should handle disagreements with AI.</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24 / 36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BoneView: pediatric indications and performance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Gleamer, France — fracture / trauma; US clearance K222176 (BoneView 1.1-US, 2023)</a:t>
            </a:r>
          </a:p>
        </p:txBody>
      </p:sp>
      <p:sp>
        <p:nvSpPr>
          <p:cNvPr id="5" name="TextBox 4"/>
          <p:cNvSpPr txBox="1"/>
          <p:nvPr/>
        </p:nvSpPr>
        <p:spPr>
          <a:xfrm>
            <a:off x="411480" y="1258951"/>
            <a:ext cx="11368735" cy="183388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flags suspected fractures on trauma radiographs as regions of interest beside the image. The international suite also covers dislocations, effusions and focal bone lesions; </a:t>
            </a:r>
            <a:r>
              <a:rPr sz="1400" b="1" i="0">
                <a:solidFill>
                  <a:srgbClr val="1A1A1A"/>
                </a:solidFill>
                <a:latin typeface="Helvetica Neue"/>
              </a:rPr>
              <a:t>the US clearance is fracture detection only</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Pediatric indication</a:t>
            </a:r>
            <a:r>
              <a:rPr sz="1400" b="0" i="0">
                <a:solidFill>
                  <a:srgbClr val="1A1A1A"/>
                </a:solidFill>
                <a:latin typeface="Helvetica Neue"/>
              </a:rPr>
              <a:t>: K222176 covers ages 2–21 for </a:t>
            </a:r>
            <a:r>
              <a:rPr sz="1400" b="1" i="0">
                <a:solidFill>
                  <a:srgbClr val="1A1A1A"/>
                </a:solidFill>
                <a:latin typeface="Helvetica Neue"/>
              </a:rPr>
              <a:t>specified extremity views</a:t>
            </a:r>
            <a:r>
              <a:rPr sz="1400" b="0" i="0">
                <a:solidFill>
                  <a:srgbClr val="1A1A1A"/>
                </a:solidFill>
                <a:latin typeface="Helvetica Neue"/>
              </a:rPr>
              <a:t>, including the clavicle. Pelvis, hip, femur, ribs and spine are </a:t>
            </a:r>
            <a:r>
              <a:rPr sz="1400" b="1" i="0">
                <a:solidFill>
                  <a:srgbClr val="1A1A1A"/>
                </a:solidFill>
                <a:latin typeface="Helvetica Neue"/>
              </a:rPr>
              <a:t>adult-only</a:t>
            </a:r>
            <a:r>
              <a:rPr sz="1400" b="0" i="0">
                <a:solidFill>
                  <a:srgbClr val="1A1A1A"/>
                </a:solidFill>
                <a:latin typeface="Helvetica Neue"/>
              </a:rPr>
              <a:t> in that summary.</a:t>
            </a:r>
          </a:p>
          <a:p>
            <a:pPr algn="l" marL="256032" indent="-256032">
              <a:spcAft>
                <a:spcPts val="489"/>
              </a:spcAft>
              <a:buChar char="•"/>
            </a:pPr>
            <a:r>
              <a:rPr sz="1400" b="1" i="0">
                <a:solidFill>
                  <a:srgbClr val="1A1A1A"/>
                </a:solidFill>
                <a:latin typeface="Helvetica Neue"/>
              </a:rPr>
              <a:t>Pediatric ED study</a:t>
            </a:r>
            <a:r>
              <a:rPr sz="1400" b="0" i="0">
                <a:solidFill>
                  <a:srgbClr val="1A1A1A"/>
                </a:solidFill>
                <a:latin typeface="Helvetica Neue"/>
              </a:rPr>
              <a:t>: Ziegner et al. (</a:t>
            </a:r>
            <a:r>
              <a:rPr sz="1400" b="0" i="1">
                <a:solidFill>
                  <a:srgbClr val="1A1A1A"/>
                </a:solidFill>
                <a:latin typeface="Helvetica Neue"/>
              </a:rPr>
              <a:t>Eur Radiol</a:t>
            </a:r>
            <a:r>
              <a:rPr sz="1400" b="0" i="0">
                <a:solidFill>
                  <a:srgbClr val="1A1A1A"/>
                </a:solidFill>
                <a:latin typeface="Helvetica Neue"/>
              </a:rPr>
              <a:t> 2025, 1,672 radiographs) reported 92% stand-alone sensitivity, falling to </a:t>
            </a:r>
            <a:r>
              <a:rPr sz="1400" b="1" i="0">
                <a:solidFill>
                  <a:srgbClr val="1A1A1A"/>
                </a:solidFill>
                <a:latin typeface="Helvetica Neue"/>
              </a:rPr>
              <a:t>68% for radial condyle fractures</a:t>
            </a:r>
            <a:r>
              <a:rPr sz="1400" b="0" i="0">
                <a:solidFill>
                  <a:srgbClr val="1A1A1A"/>
                </a:solidFill>
                <a:latin typeface="Helvetica Neue"/>
              </a:rPr>
              <a:t>. Residents' accuracy rose from 88% to 90%.</a:t>
            </a:r>
          </a:p>
          <a:p>
            <a:pPr algn="l" marL="256032" indent="-256032">
              <a:spcAft>
                <a:spcPts val="489"/>
              </a:spcAft>
              <a:buChar char="•"/>
            </a:pPr>
            <a:r>
              <a:rPr sz="1400" b="1" i="0">
                <a:solidFill>
                  <a:srgbClr val="1A1A1A"/>
                </a:solidFill>
                <a:latin typeface="Helvetica Neue"/>
              </a:rPr>
              <a:t>Reader errors</a:t>
            </a:r>
            <a:r>
              <a:rPr sz="1400" b="0" i="0">
                <a:solidFill>
                  <a:srgbClr val="1A1A1A"/>
                </a:solidFill>
                <a:latin typeface="Helvetica Neue"/>
              </a:rPr>
              <a:t>: in 2% of cases readers abandoned a correct diagnosis after seeing the AI.</a:t>
            </a:r>
          </a:p>
        </p:txBody>
      </p:sp>
      <p:sp>
        <p:nvSpPr>
          <p:cNvPr id="6" name="TextBox 5"/>
          <p:cNvSpPr txBox="1"/>
          <p:nvPr/>
        </p:nvSpPr>
        <p:spPr>
          <a:xfrm>
            <a:off x="411480" y="316598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Check performance by anatomy and agree on how readers should handle disagreements with AI.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Aidoc BriefCase: pediatric labeling and validation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Aidoc, Israel — CT/CTA triage and worklist prioritization; e.g.\ K253578 (2026)</a:t>
            </a:r>
          </a:p>
        </p:txBody>
      </p:sp>
      <p:sp>
        <p:nvSpPr>
          <p:cNvPr id="5" name="TextBox 4"/>
          <p:cNvSpPr txBox="1"/>
          <p:nvPr/>
        </p:nvSpPr>
        <p:spPr>
          <a:xfrm>
            <a:off x="411480" y="1258951"/>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Function</a:t>
            </a:r>
            <a:r>
              <a:rPr sz="1400" b="0" i="0">
                <a:solidFill>
                  <a:srgbClr val="1A1A1A"/>
                </a:solidFill>
                <a:latin typeface="Helvetica Neue"/>
              </a:rPr>
              <a:t>: analyzes incoming CT and CTA studies to prioritize the worklist. Findings include intracranial hemorrhage, pulmonary embolism, pneumothorax, cervical-spine and rib fractures, and free gas.</a:t>
            </a:r>
          </a:p>
          <a:p>
            <a:pPr algn="l" marL="256032" indent="-256032">
              <a:spcAft>
                <a:spcPts val="489"/>
              </a:spcAft>
              <a:buChar char="•"/>
            </a:pPr>
            <a:r>
              <a:rPr sz="1400" b="1" i="0">
                <a:solidFill>
                  <a:srgbClr val="1A1A1A"/>
                </a:solidFill>
                <a:latin typeface="Helvetica Neue"/>
              </a:rPr>
              <a:t>FDA review</a:t>
            </a:r>
            <a:r>
              <a:rPr sz="1400" b="0" i="0">
                <a:solidFill>
                  <a:srgbClr val="1A1A1A"/>
                </a:solidFill>
                <a:latin typeface="Helvetica Neue"/>
              </a:rPr>
              <a:t>: Aidoc holds </a:t>
            </a:r>
            <a:r>
              <a:rPr sz="1400" b="1" i="0">
                <a:solidFill>
                  <a:srgbClr val="1A1A1A"/>
                </a:solidFill>
                <a:latin typeface="Helvetica Neue"/>
              </a:rPr>
              <a:t>23 of the 230 radiology authorizations with pediatric labeling</a:t>
            </a:r>
            <a:r>
              <a:rPr sz="1400" b="0" i="0">
                <a:solidFill>
                  <a:srgbClr val="1A1A1A"/>
                </a:solidFill>
                <a:latin typeface="Helvetica Neue"/>
              </a:rPr>
              <a:t> in our screen, more than any other company.</a:t>
            </a:r>
          </a:p>
          <a:p>
            <a:pPr algn="l" marL="256032" indent="-256032">
              <a:spcAft>
                <a:spcPts val="489"/>
              </a:spcAft>
              <a:buChar char="•"/>
            </a:pPr>
            <a:r>
              <a:rPr sz="1400" b="1" i="0">
                <a:solidFill>
                  <a:srgbClr val="1A1A1A"/>
                </a:solidFill>
                <a:latin typeface="Helvetica Neue"/>
              </a:rPr>
              <a:t>Evidence</a:t>
            </a:r>
            <a:r>
              <a:rPr sz="1400" b="0" i="0">
                <a:solidFill>
                  <a:srgbClr val="1A1A1A"/>
                </a:solidFill>
                <a:latin typeface="Helvetica Neue"/>
              </a:rPr>
              <a:t>: the decision summaries include a pediatric population, but the </a:t>
            </a:r>
            <a:r>
              <a:rPr sz="1400" b="1" i="0">
                <a:solidFill>
                  <a:srgbClr val="1A1A1A"/>
                </a:solidFill>
                <a:latin typeface="Helvetica Neue"/>
              </a:rPr>
              <a:t>supporting performance data are from adults</a:t>
            </a:r>
            <a:r>
              <a:rPr sz="1400" b="0" i="0">
                <a:solidFill>
                  <a:srgbClr val="1A1A1A"/>
                </a:solidFill>
                <a:latin typeface="Helvetica Neue"/>
              </a:rPr>
              <a:t>. The population statement alone does not establish performance in children.</a:t>
            </a:r>
          </a:p>
          <a:p>
            <a:pPr algn="l" marL="256032" indent="-256032">
              <a:spcAft>
                <a:spcPts val="489"/>
              </a:spcAft>
              <a:buChar char="•"/>
            </a:pPr>
            <a:r>
              <a:rPr sz="1400" b="1" i="0">
                <a:solidFill>
                  <a:srgbClr val="1A1A1A"/>
                </a:solidFill>
                <a:latin typeface="Helvetica Neue"/>
              </a:rPr>
              <a:t>Workflow</a:t>
            </a:r>
            <a:r>
              <a:rPr sz="1400" b="0" i="0">
                <a:solidFill>
                  <a:srgbClr val="1A1A1A"/>
                </a:solidFill>
                <a:latin typeface="Helvetica Neue"/>
              </a:rPr>
              <a:t>: triage changes which cases are read first. Priorities learned from adult populations may be inappropriate for a pediatric worklist.</a:t>
            </a:r>
          </a:p>
        </p:txBody>
      </p:sp>
      <p:sp>
        <p:nvSpPr>
          <p:cNvPr id="6" name="TextBox 5"/>
          <p:cNvSpPr txBox="1"/>
          <p:nvPr/>
        </p:nvSpPr>
        <p:spPr>
          <a:xfrm>
            <a:off x="411480" y="337934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Ask for pediatric subgroup results and assess the effect on the local worklist.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Deep-learning reconstruction: scan time and dose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GE AIR Recon DL / TrueFidelity; Siemens Deep Resolve; Canon AiCE; Philips SmartSpeed / Precise Image</a:t>
            </a:r>
          </a:p>
        </p:txBody>
      </p:sp>
      <p:sp>
        <p:nvSpPr>
          <p:cNvPr id="5" name="TextBox 4"/>
          <p:cNvSpPr txBox="1"/>
          <p:nvPr/>
        </p:nvSpPr>
        <p:spPr>
          <a:xfrm>
            <a:off x="411480" y="1258951"/>
            <a:ext cx="11368735" cy="183388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Function</a:t>
            </a:r>
            <a:r>
              <a:rPr sz="1400" b="0" i="0">
                <a:solidFill>
                  <a:srgbClr val="1A1A1A"/>
                </a:solidFill>
                <a:latin typeface="Helvetica Neue"/>
              </a:rPr>
              <a:t>: reconstructs MRI and CT images from faster acquisitions or lower-dose data while aiming to preserve diagnostic image quality.</a:t>
            </a:r>
          </a:p>
          <a:p>
            <a:pPr algn="l" marL="256032" indent="-256032">
              <a:spcAft>
                <a:spcPts val="489"/>
              </a:spcAft>
              <a:buChar char="•"/>
            </a:pPr>
            <a:r>
              <a:rPr sz="1400" b="1" i="0">
                <a:solidFill>
                  <a:srgbClr val="1A1A1A"/>
                </a:solidFill>
                <a:latin typeface="Helvetica Neue"/>
              </a:rPr>
              <a:t>Potential pediatric benefits</a:t>
            </a:r>
            <a:r>
              <a:rPr sz="1400" b="0" i="0">
                <a:solidFill>
                  <a:srgbClr val="1A1A1A"/>
                </a:solidFill>
                <a:latin typeface="Helvetica Neue"/>
              </a:rPr>
              <a:t>: shorter MRI scans may reduce sedation needs; lower-dose CT reduces radiation exposure.</a:t>
            </a:r>
          </a:p>
          <a:p>
            <a:pPr algn="l" marL="256032" indent="-256032">
              <a:spcAft>
                <a:spcPts val="489"/>
              </a:spcAft>
              <a:buChar char="•"/>
            </a:pPr>
            <a:r>
              <a:rPr sz="1400" b="1" i="0">
                <a:solidFill>
                  <a:srgbClr val="1A1A1A"/>
                </a:solidFill>
                <a:latin typeface="Helvetica Neue"/>
              </a:rPr>
              <a:t>Labeling</a:t>
            </a:r>
            <a:r>
              <a:rPr sz="1400" b="0" i="0">
                <a:solidFill>
                  <a:srgbClr val="1A1A1A"/>
                </a:solidFill>
                <a:latin typeface="Helvetica Neue"/>
              </a:rPr>
              <a:t>: these products are sold across ages as part of the scanner, with vendor-published pediatric protocols. Of Philips' 28 entries with pediatric labeling, </a:t>
            </a:r>
            <a:r>
              <a:rPr sz="1400" b="1" i="0">
                <a:solidFill>
                  <a:srgbClr val="1A1A1A"/>
                </a:solidFill>
                <a:latin typeface="Helvetica Neue"/>
              </a:rPr>
              <a:t>one</a:t>
            </a:r>
            <a:r>
              <a:rPr sz="1400" b="0" i="0">
                <a:solidFill>
                  <a:srgbClr val="1A1A1A"/>
                </a:solidFill>
                <a:latin typeface="Helvetica Neue"/>
              </a:rPr>
              <a:t> is software; the others are scanners listing pediatric imaging as an application.</a:t>
            </a:r>
          </a:p>
          <a:p>
            <a:pPr algn="l" marL="256032" indent="-256032">
              <a:spcAft>
                <a:spcPts val="489"/>
              </a:spcAft>
              <a:buChar char="•"/>
            </a:pPr>
            <a:r>
              <a:rPr sz="1400" b="1" i="0">
                <a:solidFill>
                  <a:srgbClr val="1A1A1A"/>
                </a:solidFill>
                <a:latin typeface="Helvetica Neue"/>
              </a:rPr>
              <a:t>Local assessment</a:t>
            </a:r>
            <a:r>
              <a:rPr sz="1400" b="0" i="0">
                <a:solidFill>
                  <a:srgbClr val="1A1A1A"/>
                </a:solidFill>
                <a:latin typeface="Helvetica Neue"/>
              </a:rPr>
              <a:t>: dose and scan-time reductions depend on the task, patient size, and scanner configuration.</a:t>
            </a:r>
          </a:p>
        </p:txBody>
      </p:sp>
      <p:sp>
        <p:nvSpPr>
          <p:cNvPr id="6" name="TextBox 5"/>
          <p:cNvSpPr txBox="1"/>
          <p:nvPr/>
        </p:nvSpPr>
        <p:spPr>
          <a:xfrm>
            <a:off x="411480" y="316598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Reconstruction tools already in use are a practical place to begin measuring local AI performance.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Kamran review: pediatric AI research and gaps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Kamran et al., </a:t>
            </a:r>
            <a:r>
              <a:rPr sz="1100" b="0" i="1">
                <a:solidFill>
                  <a:srgbClr val="1A1A1A"/>
                </a:solidFill>
                <a:latin typeface="Helvetica Neue"/>
              </a:rPr>
              <a:t>Pediatric Radiology</a:t>
            </a:r>
            <a:r>
              <a:rPr sz="1100" b="0" i="0">
                <a:solidFill>
                  <a:srgbClr val="1A1A1A"/>
                </a:solidFill>
                <a:latin typeface="Helvetica Neue"/>
              </a:rPr>
              <a:t> 2026 (</a:t>
            </a:r>
            <a:r>
              <a:rPr sz="1100" b="0" i="0">
                <a:solidFill>
                  <a:srgbClr val="1A1A1A"/>
                </a:solidFill>
                <a:latin typeface="Helvetica Neue"/>
                <a:hlinkClick r:id="rId2"/>
              </a:rPr>
              <a:t>doi 10.1007/s00247-025-06462-5</a:t>
            </a:r>
            <a:r>
              <a:rPr sz="1100" b="0" i="0">
                <a:solidFill>
                  <a:srgbClr val="1A1A1A"/>
                </a:solidFill>
                <a:latin typeface="Helvetica Neue"/>
              </a:rPr>
              <a:t>)</a:t>
            </a:r>
          </a:p>
        </p:txBody>
      </p:sp>
      <p:sp>
        <p:nvSpPr>
          <p:cNvPr id="5" name="TextBox 4"/>
          <p:cNvSpPr txBox="1"/>
          <p:nvPr/>
        </p:nvSpPr>
        <p:spPr>
          <a:xfrm>
            <a:off x="411480" y="1258951"/>
            <a:ext cx="11368735" cy="155829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Studies reviewed</a:t>
            </a:r>
            <a:r>
              <a:rPr sz="1400" b="0" i="0">
                <a:solidFill>
                  <a:srgbClr val="1A1A1A"/>
                </a:solidFill>
                <a:latin typeface="Helvetica Neue"/>
              </a:rPr>
              <a:t>: 789 pediatric-focused original articles (2005–August 2024); 91% addressed image interpretation/diagnosis. Leading applications were bone age (88), pneumonia (65), and brain lesions/tumors (54).</a:t>
            </a:r>
          </a:p>
          <a:p>
            <a:pPr algn="l" marL="256032" indent="-256032">
              <a:spcAft>
                <a:spcPts val="489"/>
              </a:spcAft>
              <a:buChar char="•"/>
            </a:pPr>
            <a:r>
              <a:rPr sz="1400" b="1" i="0">
                <a:solidFill>
                  <a:srgbClr val="1A1A1A"/>
                </a:solidFill>
                <a:latin typeface="Helvetica Neue"/>
              </a:rPr>
              <a:t>Validation</a:t>
            </a:r>
            <a:r>
              <a:rPr sz="1400" b="0" i="0">
                <a:solidFill>
                  <a:srgbClr val="1A1A1A"/>
                </a:solidFill>
                <a:latin typeface="Helvetica Neue"/>
              </a:rPr>
              <a:t>: 65% relied on local hospital datasets. The authors call for diverse, multicenter datasets and prospective validation across pediatric ages, sites, and disease-prevalence settings.</a:t>
            </a:r>
          </a:p>
          <a:p>
            <a:pPr algn="l" marL="256032" indent="-256032">
              <a:spcAft>
                <a:spcPts val="489"/>
              </a:spcAft>
              <a:buChar char="•"/>
            </a:pPr>
            <a:r>
              <a:rPr sz="1400" b="1" i="0">
                <a:solidFill>
                  <a:srgbClr val="1A1A1A"/>
                </a:solidFill>
                <a:latin typeface="Helvetica Neue"/>
              </a:rPr>
              <a:t>Research gaps</a:t>
            </a:r>
            <a:r>
              <a:rPr sz="1400" b="0" i="0">
                <a:solidFill>
                  <a:srgbClr val="1A1A1A"/>
                </a:solidFill>
                <a:latin typeface="Helvetica Neue"/>
              </a:rPr>
              <a:t>: few studies addressed communication, education, policy, or the views of children, families, and clinical teams. The authors recommend involving these groups in development and evaluation.</a:t>
            </a:r>
          </a:p>
        </p:txBody>
      </p:sp>
      <p:sp>
        <p:nvSpPr>
          <p:cNvPr id="6" name="TextBox 5"/>
          <p:cNvSpPr txBox="1"/>
          <p:nvPr/>
        </p:nvSpPr>
        <p:spPr>
          <a:xfrm>
            <a:off x="411480" y="2890393"/>
            <a:ext cx="11368735" cy="58039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The review describes what has been studied. It does not compare model accuracy or determine which tools are ready for clinical use.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25 / 36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ACR white paper: limited access to pediatric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Sammer et al., </a:t>
            </a:r>
            <a:r>
              <a:rPr sz="1100" b="0" i="1">
                <a:solidFill>
                  <a:srgbClr val="1A1A1A"/>
                </a:solidFill>
                <a:latin typeface="Helvetica Neue"/>
              </a:rPr>
              <a:t>J Am Coll Radiol</a:t>
            </a:r>
            <a:r>
              <a:rPr sz="1100" b="0" i="0">
                <a:solidFill>
                  <a:srgbClr val="1A1A1A"/>
                </a:solidFill>
                <a:latin typeface="Helvetica Neue"/>
              </a:rPr>
              <a:t> 2023;20:730–737 (</a:t>
            </a:r>
            <a:r>
              <a:rPr sz="1100" b="0" i="0">
                <a:solidFill>
                  <a:srgbClr val="1A1A1A"/>
                </a:solidFill>
                <a:latin typeface="Helvetica Neue"/>
                <a:hlinkClick r:id="rId2"/>
              </a:rPr>
              <a:t>doi 10.1016/j.jacr.2023.06.003</a:t>
            </a:r>
            <a:r>
              <a:rPr sz="1100" b="0" i="0">
                <a:solidFill>
                  <a:srgbClr val="1A1A1A"/>
                </a:solidFill>
                <a:latin typeface="Helvetica Neue"/>
              </a:rPr>
              <a:t>)</a:t>
            </a:r>
          </a:p>
        </p:txBody>
      </p:sp>
      <p:sp>
        <p:nvSpPr>
          <p:cNvPr id="5" name="TextBox 4"/>
          <p:cNvSpPr txBox="1"/>
          <p:nvPr/>
        </p:nvSpPr>
        <p:spPr>
          <a:xfrm>
            <a:off x="411480" y="1258951"/>
            <a:ext cx="11368735" cy="232283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Scope</a:t>
            </a:r>
            <a:r>
              <a:rPr sz="1400" b="0" i="0">
                <a:solidFill>
                  <a:srgbClr val="1A1A1A"/>
                </a:solidFill>
                <a:latin typeface="Helvetica Neue"/>
              </a:rPr>
              <a:t>: the ACR Pediatric AI Workgroup describes limited access to pediatric AI as a health equity issue.</a:t>
            </a:r>
          </a:p>
          <a:p>
            <a:pPr algn="l" marL="256032" indent="-256032">
              <a:spcAft>
                <a:spcPts val="489"/>
              </a:spcAft>
              <a:buChar char="•"/>
            </a:pPr>
            <a:r>
              <a:rPr sz="1400" b="1" i="0">
                <a:solidFill>
                  <a:srgbClr val="1A1A1A"/>
                </a:solidFill>
                <a:latin typeface="Helvetica Neue"/>
              </a:rPr>
              <a:t>Availability</a:t>
            </a:r>
            <a:r>
              <a:rPr sz="1400" b="0" i="0">
                <a:solidFill>
                  <a:srgbClr val="1A1A1A"/>
                </a:solidFill>
                <a:latin typeface="Helvetica Neue"/>
              </a:rPr>
              <a:t>: at the time of the review, only 6 of more than 200 FDA-cleared tools in the ACR catalog indicated pediatric use (about 3%).</a:t>
            </a:r>
          </a:p>
          <a:p>
            <a:pPr algn="l" marL="256032" indent="-256032">
              <a:spcAft>
                <a:spcPts val="489"/>
              </a:spcAft>
              <a:buChar char="•"/>
            </a:pPr>
            <a:r>
              <a:rPr sz="1400" b="1" i="0">
                <a:solidFill>
                  <a:srgbClr val="1A1A1A"/>
                </a:solidFill>
                <a:latin typeface="Helvetica Neue"/>
              </a:rPr>
              <a:t>Why adult AI may fail</a:t>
            </a:r>
            <a:r>
              <a:rPr sz="1400" b="0" i="0">
                <a:solidFill>
                  <a:srgbClr val="1A1A1A"/>
                </a:solidFill>
                <a:latin typeface="Helvetica Neue"/>
              </a:rPr>
              <a:t>: growth, disease patterns, and imaging protocols differ; published studies show uneven performance across pediatric subgroups.</a:t>
            </a:r>
          </a:p>
          <a:p>
            <a:pPr algn="l" marL="256032" indent="-256032">
              <a:spcAft>
                <a:spcPts val="489"/>
              </a:spcAft>
              <a:buChar char="•"/>
            </a:pPr>
            <a:r>
              <a:rPr sz="1400" b="1" i="0">
                <a:solidFill>
                  <a:srgbClr val="1A1A1A"/>
                </a:solidFill>
                <a:latin typeface="Helvetica Neue"/>
              </a:rPr>
              <a:t>Barriers</a:t>
            </a:r>
            <a:r>
              <a:rPr sz="1400" b="0" i="0">
                <a:solidFill>
                  <a:srgbClr val="1A1A1A"/>
                </a:solidFill>
                <a:latin typeface="Helvetica Neue"/>
              </a:rPr>
              <a:t>: scarce labeled pediatric data, consent and privacy concerns, and limited financial incentives in a smaller pediatric market.</a:t>
            </a:r>
          </a:p>
          <a:p>
            <a:pPr algn="l" marL="256032" indent="-256032">
              <a:spcAft>
                <a:spcPts val="489"/>
              </a:spcAft>
              <a:buChar char="•"/>
            </a:pPr>
            <a:r>
              <a:rPr sz="1400" b="1" i="0">
                <a:solidFill>
                  <a:srgbClr val="1A1A1A"/>
                </a:solidFill>
                <a:latin typeface="Helvetica Neue"/>
              </a:rPr>
              <a:t>Recommendations</a:t>
            </a:r>
            <a:r>
              <a:rPr sz="1400" b="0" i="0">
                <a:solidFill>
                  <a:srgbClr val="1A1A1A"/>
                </a:solidFill>
                <a:latin typeface="Helvetica Neue"/>
              </a:rPr>
              <a:t>: validate in children, disclose age-specific evidence, fund pediatric development, involve families, and account for pediatric workflows. The paper introduces the </a:t>
            </a:r>
            <a:r>
              <a:rPr sz="1400" b="0" i="1">
                <a:solidFill>
                  <a:srgbClr val="1A1A1A"/>
                </a:solidFill>
                <a:latin typeface="Helvetica Neue"/>
              </a:rPr>
              <a:t>Image IntelliGently</a:t>
            </a:r>
            <a:r>
              <a:rPr sz="1400" b="0" i="0">
                <a:solidFill>
                  <a:srgbClr val="1A1A1A"/>
                </a:solidFill>
                <a:latin typeface="Helvetica Neue"/>
              </a:rPr>
              <a:t> initiative.</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26 / 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Multisociety statement: safe pediatric AI implementation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Shelmerdine et al., </a:t>
            </a:r>
            <a:r>
              <a:rPr sz="1100" b="0" i="1">
                <a:solidFill>
                  <a:srgbClr val="1A1A1A"/>
                </a:solidFill>
                <a:latin typeface="Helvetica Neue"/>
              </a:rPr>
              <a:t>J Am Coll Radiol</a:t>
            </a:r>
            <a:r>
              <a:rPr sz="1100" b="0" i="0">
                <a:solidFill>
                  <a:srgbClr val="1A1A1A"/>
                </a:solidFill>
                <a:latin typeface="Helvetica Neue"/>
              </a:rPr>
              <a:t> 2026;23:89–101 (</a:t>
            </a:r>
            <a:r>
              <a:rPr sz="1100" b="0" i="0">
                <a:solidFill>
                  <a:srgbClr val="1A1A1A"/>
                </a:solidFill>
                <a:latin typeface="Helvetica Neue"/>
                <a:hlinkClick r:id="rId2"/>
              </a:rPr>
              <a:t>doi 10.1016/j.jacr.2025.08.019</a:t>
            </a:r>
            <a:r>
              <a:rPr sz="1100" b="0" i="0">
                <a:solidFill>
                  <a:srgbClr val="1A1A1A"/>
                </a:solidFill>
                <a:latin typeface="Helvetica Neue"/>
              </a:rPr>
              <a:t>)</a:t>
            </a:r>
          </a:p>
        </p:txBody>
      </p:sp>
      <p:sp>
        <p:nvSpPr>
          <p:cNvPr id="5" name="TextBox 4"/>
          <p:cNvSpPr txBox="1"/>
          <p:nvPr/>
        </p:nvSpPr>
        <p:spPr>
          <a:xfrm>
            <a:off x="411480" y="1258951"/>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ACR, ESPR, SPR, SLARP, AOSPR, and SPIN make recommendations in four areas:</a:t>
            </a:r>
          </a:p>
        </p:txBody>
      </p:sp>
      <p:sp>
        <p:nvSpPr>
          <p:cNvPr id="6" name="TextBox 5"/>
          <p:cNvSpPr txBox="1"/>
          <p:nvPr/>
        </p:nvSpPr>
        <p:spPr>
          <a:xfrm>
            <a:off x="411480" y="1699133"/>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Regulation and purchasing</a:t>
            </a:r>
            <a:r>
              <a:rPr sz="1400" b="0" i="0">
                <a:solidFill>
                  <a:srgbClr val="1A1A1A"/>
                </a:solidFill>
                <a:latin typeface="Helvetica Neue"/>
              </a:rPr>
              <a:t>: review pediatric labeling, proposed safety ratings, training data, subgroup performance, transparency, and cybersecurity.</a:t>
            </a:r>
          </a:p>
          <a:p>
            <a:pPr algn="l" marL="256032" indent="-256032">
              <a:spcAft>
                <a:spcPts val="489"/>
              </a:spcAft>
              <a:buChar char="•"/>
            </a:pPr>
            <a:r>
              <a:rPr sz="1400" b="1" i="0">
                <a:solidFill>
                  <a:srgbClr val="1A1A1A"/>
                </a:solidFill>
                <a:latin typeface="Helvetica Neue"/>
              </a:rPr>
              <a:t>Implementation</a:t>
            </a:r>
            <a:r>
              <a:rPr sz="1400" b="0" i="0">
                <a:solidFill>
                  <a:srgbClr val="1A1A1A"/>
                </a:solidFill>
                <a:latin typeface="Helvetica Neue"/>
              </a:rPr>
              <a:t>: identify a clinical need, choose tools validated in children, run a local pilot, and involve pediatric specialists and families.</a:t>
            </a:r>
          </a:p>
          <a:p>
            <a:pPr algn="l" marL="256032" indent="-256032">
              <a:spcAft>
                <a:spcPts val="489"/>
              </a:spcAft>
              <a:buChar char="•"/>
            </a:pPr>
            <a:r>
              <a:rPr sz="1400" b="1" i="0">
                <a:solidFill>
                  <a:srgbClr val="1A1A1A"/>
                </a:solidFill>
                <a:latin typeface="Helvetica Neue"/>
              </a:rPr>
              <a:t>Monitoring after adoption</a:t>
            </a:r>
            <a:r>
              <a:rPr sz="1400" b="0" i="0">
                <a:solidFill>
                  <a:srgbClr val="1A1A1A"/>
                </a:solidFill>
                <a:latin typeface="Helvetica Neue"/>
              </a:rPr>
              <a:t>: keep clinicians responsible for interpretation, track performance and patient outcomes, review disagreements, report adverse events, and watch for overreliance on AI.</a:t>
            </a:r>
          </a:p>
          <a:p>
            <a:pPr algn="l" marL="256032" indent="-256032">
              <a:spcAft>
                <a:spcPts val="489"/>
              </a:spcAft>
              <a:buChar char="•"/>
            </a:pPr>
            <a:r>
              <a:rPr sz="1400" b="1" i="0">
                <a:solidFill>
                  <a:srgbClr val="1A1A1A"/>
                </a:solidFill>
                <a:latin typeface="Helvetica Neue"/>
              </a:rPr>
              <a:t>Education</a:t>
            </a:r>
            <a:r>
              <a:rPr sz="1400" b="0" i="0">
                <a:solidFill>
                  <a:srgbClr val="1A1A1A"/>
                </a:solidFill>
                <a:latin typeface="Helvetica Neue"/>
              </a:rPr>
              <a:t>: teach staff AI basics and pediatric applications, provide ongoing training, and involve patients and the public.</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27 / 36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Why is pediatric radiology AI difficult?</a:t>
            </a:r>
          </a:p>
        </p:txBody>
      </p:sp>
      <p:sp>
        <p:nvSpPr>
          <p:cNvPr id="3" name="TextBox 2"/>
          <p:cNvSpPr txBox="1"/>
          <p:nvPr/>
        </p:nvSpPr>
        <p:spPr>
          <a:xfrm>
            <a:off x="411480" y="877824"/>
            <a:ext cx="11368735" cy="261112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Small datasets</a:t>
            </a:r>
          </a:p>
          <a:p>
            <a:pPr algn="l" marL="256032" indent="-256032">
              <a:spcAft>
                <a:spcPts val="560"/>
              </a:spcAft>
              <a:buChar char="•"/>
            </a:pPr>
            <a:r>
              <a:rPr sz="1600" b="0" i="0">
                <a:solidFill>
                  <a:srgbClr val="1A1A1A"/>
                </a:solidFill>
                <a:latin typeface="Helvetica Neue"/>
              </a:rPr>
              <a:t>Additional protections for children make clinical trials more complex</a:t>
            </a:r>
          </a:p>
          <a:p>
            <a:pPr algn="l" marL="256032" indent="-256032">
              <a:spcAft>
                <a:spcPts val="560"/>
              </a:spcAft>
              <a:buChar char="•"/>
            </a:pPr>
            <a:r>
              <a:rPr sz="1600" b="0" i="0">
                <a:solidFill>
                  <a:srgbClr val="1A1A1A"/>
                </a:solidFill>
                <a:latin typeface="Helvetica Neue"/>
              </a:rPr>
              <a:t>Shortage of pediatric radiologists</a:t>
            </a:r>
          </a:p>
          <a:p>
            <a:pPr algn="l" marL="256032" indent="-256032">
              <a:spcAft>
                <a:spcPts val="560"/>
              </a:spcAft>
              <a:buChar char="•"/>
            </a:pPr>
            <a:r>
              <a:rPr sz="1600" b="0" i="0">
                <a:solidFill>
                  <a:srgbClr val="1A1A1A"/>
                </a:solidFill>
                <a:latin typeface="Helvetica Neue"/>
              </a:rPr>
              <a:t>Lower expected financial return</a:t>
            </a:r>
          </a:p>
          <a:p>
            <a:pPr algn="l" marL="256032" indent="-256032">
              <a:spcAft>
                <a:spcPts val="560"/>
              </a:spcAft>
              <a:buChar char="•"/>
            </a:pPr>
            <a:r>
              <a:rPr sz="1600" b="0" i="0">
                <a:solidFill>
                  <a:srgbClr val="1A1A1A"/>
                </a:solidFill>
                <a:latin typeface="Helvetica Neue"/>
              </a:rPr>
              <a:t>Adult-trained models may perform poorly in children itemize</a:t>
            </a:r>
          </a:p>
          <a:p>
            <a:pPr algn="l" marL="256032" indent="-256032">
              <a:spcAft>
                <a:spcPts val="560"/>
              </a:spcAft>
              <a:buChar char="•"/>
            </a:pPr>
            <a:r>
              <a:rPr sz="1600" b="0" i="0">
                <a:solidFill>
                  <a:srgbClr val="1A1A1A"/>
                </a:solidFill>
                <a:latin typeface="Helvetica Neue"/>
              </a:rPr>
              <a:t>Different and more variable body sizes compared with adults</a:t>
            </a:r>
          </a:p>
          <a:p>
            <a:pPr algn="l" marL="256032" indent="-256032">
              <a:spcAft>
                <a:spcPts val="560"/>
              </a:spcAft>
              <a:buChar char="•"/>
            </a:pPr>
            <a:r>
              <a:rPr sz="1600" b="0" i="0">
                <a:solidFill>
                  <a:srgbClr val="1A1A1A"/>
                </a:solidFill>
                <a:latin typeface="Helvetica Neue"/>
              </a:rPr>
              <a:t>Different diseases</a:t>
            </a:r>
          </a:p>
          <a:p>
            <a:pPr algn="l" marL="256032" indent="-256032">
              <a:spcAft>
                <a:spcPts val="560"/>
              </a:spcAft>
              <a:buChar char="•"/>
            </a:pPr>
            <a:r>
              <a:rPr sz="1600" b="0" i="0">
                <a:solidFill>
                  <a:srgbClr val="1A1A1A"/>
                </a:solidFill>
                <a:latin typeface="Helvetica Neue"/>
              </a:rPr>
              <a:t>Different imaging protocols itemize</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28 / 36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 radiology AI is developed for adults</a:t>
            </a:r>
          </a:p>
        </p:txBody>
      </p:sp>
      <p:sp>
        <p:nvSpPr>
          <p:cNvPr id="3" name="TextBox 2"/>
          <p:cNvSpPr txBox="1"/>
          <p:nvPr/>
        </p:nvSpPr>
        <p:spPr>
          <a:xfrm>
            <a:off x="411480" y="877824"/>
            <a:ext cx="5369210" cy="475614"/>
          </a:xfrm>
          <a:prstGeom prst="rect">
            <a:avLst/>
          </a:prstGeom>
          <a:noFill/>
        </p:spPr>
        <p:txBody>
          <a:bodyPr wrap="square" lIns="45720" rIns="45720" tIns="27432" bIns="27432" anchor="t">
            <a:spAutoFit/>
          </a:bodyPr>
          <a:lstStyle/>
          <a:p>
            <a:pPr algn="ctr">
              <a:spcAft>
                <a:spcPts val="384"/>
              </a:spcAft>
            </a:pPr>
            <a:r>
              <a:rPr sz="1100" b="1" i="0">
                <a:solidFill>
                  <a:srgbClr val="1A1A1A"/>
                </a:solidFill>
                <a:latin typeface="Helvetica Neue"/>
                <a:hlinkClick r:id="rId2"/>
              </a:rPr>
              <a:t>Safe for kids? AI medical devices in radiology overlook paediatric suitability</a:t>
            </a:r>
          </a:p>
        </p:txBody>
      </p:sp>
      <p:sp>
        <p:nvSpPr>
          <p:cNvPr id="4" name="TextBox 3"/>
          <p:cNvSpPr txBox="1"/>
          <p:nvPr/>
        </p:nvSpPr>
        <p:spPr>
          <a:xfrm>
            <a:off x="411480" y="1426590"/>
            <a:ext cx="5369210"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Kelly et al., European Radiology 2026</a:t>
            </a:r>
          </a:p>
        </p:txBody>
      </p:sp>
      <p:pic>
        <p:nvPicPr>
          <p:cNvPr id="5" name="kelly2026_intended_population" descr="kelly2026_intended_population.png"/>
          <p:cNvPicPr>
            <a:picLocks noChangeAspect="1"/>
          </p:cNvPicPr>
          <p:nvPr/>
        </p:nvPicPr>
        <p:blipFill>
          <a:blip r:embed="rId3"/>
          <a:stretch>
            <a:fillRect/>
          </a:stretch>
        </p:blipFill>
        <p:spPr>
          <a:xfrm>
            <a:off x="1769769" y="1768348"/>
            <a:ext cx="2652631" cy="2694919"/>
          </a:xfrm>
          <a:prstGeom prst="rect">
            <a:avLst/>
          </a:prstGeom>
        </p:spPr>
      </p:pic>
      <p:sp>
        <p:nvSpPr>
          <p:cNvPr id="6" name="TextBox 5"/>
          <p:cNvSpPr txBox="1"/>
          <p:nvPr/>
        </p:nvSpPr>
        <p:spPr>
          <a:xfrm>
            <a:off x="411480" y="4536419"/>
            <a:ext cx="5369210" cy="68008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Intended population of all 213 regulator-approved radiology AI devices in the Health AI Register (European approvals). Only 4 (2%) are labeled for children only; 41% do not state a population, and after checking literature and marketing, 41 of those 88 were still unclear.</a:t>
            </a:r>
          </a:p>
        </p:txBody>
      </p:sp>
      <p:sp>
        <p:nvSpPr>
          <p:cNvPr id="7" name="TextBox 6"/>
          <p:cNvSpPr txBox="1"/>
          <p:nvPr/>
        </p:nvSpPr>
        <p:spPr>
          <a:xfrm>
            <a:off x="5963570" y="877824"/>
            <a:ext cx="5592927"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hlinkClick r:id="rId4"/>
              </a:rPr>
              <a:t>Performance of adult-trained AI models in paediatric imaging: a scoping review</a:t>
            </a:r>
          </a:p>
        </p:txBody>
      </p:sp>
      <p:sp>
        <p:nvSpPr>
          <p:cNvPr id="8" name="TextBox 7"/>
          <p:cNvSpPr txBox="1"/>
          <p:nvPr/>
        </p:nvSpPr>
        <p:spPr>
          <a:xfrm>
            <a:off x="5963570" y="1426590"/>
            <a:ext cx="5592927"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Laborie et al., European Radiology 2026</a:t>
            </a:r>
          </a:p>
        </p:txBody>
      </p:sp>
      <p:sp>
        <p:nvSpPr>
          <p:cNvPr id="9" name="TextBox 8"/>
          <p:cNvSpPr txBox="1"/>
          <p:nvPr/>
        </p:nvSpPr>
        <p:spPr>
          <a:xfrm>
            <a:off x="5963570" y="1768348"/>
            <a:ext cx="5592927" cy="1893569"/>
          </a:xfrm>
          <a:prstGeom prst="rect">
            <a:avLst/>
          </a:prstGeom>
          <a:noFill/>
        </p:spPr>
        <p:txBody>
          <a:bodyPr wrap="square" lIns="45720" rIns="45720" tIns="27432" bIns="27432" anchor="t">
            <a:spAutoFit/>
          </a:bodyPr>
          <a:lstStyle/>
          <a:p>
            <a:pPr algn="l" marL="256032" indent="-256032">
              <a:spcAft>
                <a:spcPts val="384"/>
              </a:spcAft>
              <a:buChar char="•"/>
            </a:pPr>
            <a:r>
              <a:rPr sz="1100" b="0" i="0">
                <a:solidFill>
                  <a:srgbClr val="1A1A1A"/>
                </a:solidFill>
                <a:latin typeface="Helvetica Neue"/>
              </a:rPr>
              <a:t>20 studies (2014–2025) tested unmodified adult-trained models on pediatric images: radiography, CT, MRI, DEXA, ultrasound</a:t>
            </a:r>
          </a:p>
          <a:p>
            <a:pPr algn="l" marL="256032" indent="-256032">
              <a:spcAft>
                <a:spcPts val="384"/>
              </a:spcAft>
              <a:buChar char="•"/>
            </a:pPr>
            <a:r>
              <a:rPr sz="1100" b="0" i="0">
                <a:solidFill>
                  <a:srgbClr val="1A1A1A"/>
                </a:solidFill>
                <a:latin typeface="Helvetica Neue"/>
              </a:rPr>
              <a:t>18 of 20 found worse performance in children</a:t>
            </a:r>
          </a:p>
          <a:p>
            <a:pPr algn="l" marL="256032" indent="-256032">
              <a:spcAft>
                <a:spcPts val="384"/>
              </a:spcAft>
              <a:buChar char="•"/>
            </a:pPr>
            <a:r>
              <a:rPr sz="1100" b="0" i="0">
                <a:solidFill>
                  <a:srgbClr val="1A1A1A"/>
                </a:solidFill>
                <a:latin typeface="Helvetica Neue"/>
              </a:rPr>
              <a:t>The largest declines were in detection: pulmonary nodule sensitivity fell from 68–100% in adults to 26–68% in children</a:t>
            </a:r>
          </a:p>
          <a:p>
            <a:pPr algn="l" marL="256032" indent="-256032">
              <a:spcAft>
                <a:spcPts val="384"/>
              </a:spcAft>
              <a:buChar char="•"/>
            </a:pPr>
            <a:r>
              <a:rPr sz="1100" b="0" i="0">
                <a:solidFill>
                  <a:srgbClr val="1A1A1A"/>
                </a:solidFill>
                <a:latin typeface="Helvetica Neue"/>
              </a:rPr>
              <a:t>Segmentation: Dice scores fell by &gt;0.10 across organs and modalities</a:t>
            </a:r>
          </a:p>
          <a:p>
            <a:pPr algn="l" marL="256032" indent="-256032">
              <a:spcAft>
                <a:spcPts val="384"/>
              </a:spcAft>
              <a:buChar char="•"/>
            </a:pPr>
            <a:r>
              <a:rPr sz="1100" b="0" i="0">
                <a:solidFill>
                  <a:srgbClr val="1A1A1A"/>
                </a:solidFill>
                <a:latin typeface="Helvetica Neue"/>
              </a:rPr>
              <a:t>Performance declined most in children ≤2 years across all task types</a:t>
            </a:r>
          </a:p>
          <a:p>
            <a:pPr algn="l" marL="256032" indent="-256032">
              <a:spcAft>
                <a:spcPts val="384"/>
              </a:spcAft>
              <a:buChar char="•"/>
            </a:pPr>
            <a:r>
              <a:rPr sz="1100" b="0" i="0">
                <a:solidFill>
                  <a:srgbClr val="1A1A1A"/>
                </a:solidFill>
                <a:latin typeface="Helvetica Neue"/>
              </a:rPr>
              <a:t>Test adult-trained tools in children before use; fine-tuning or retraining may be needed</a:t>
            </a:r>
          </a:p>
        </p:txBody>
      </p:sp>
      <p:sp>
        <p:nvSpPr>
          <p:cNvPr id="10"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29 / 36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What the ACR says</a:t>
            </a:r>
          </a:p>
        </p:txBody>
      </p:sp>
      <p:sp>
        <p:nvSpPr>
          <p:cNvPr id="3" name="TextBox 2"/>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hlinkClick r:id="rId2"/>
              </a:rPr>
              <a:t>https://www.acr.org/Data-Science-and-Informatics/Informatics/pediatric-radiology-ai-resources</a:t>
            </a:r>
          </a:p>
        </p:txBody>
      </p:sp>
      <p:sp>
        <p:nvSpPr>
          <p:cNvPr id="4" name="TextBox 3"/>
          <p:cNvSpPr txBox="1"/>
          <p:nvPr/>
        </p:nvSpPr>
        <p:spPr>
          <a:xfrm>
            <a:off x="411480" y="1258951"/>
            <a:ext cx="11368735" cy="189611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Children have limited access to AI-assisted triage</a:t>
            </a:r>
          </a:p>
          <a:p>
            <a:pPr algn="l" marL="256032" indent="-256032">
              <a:spcAft>
                <a:spcPts val="489"/>
              </a:spcAft>
              <a:buChar char="•"/>
            </a:pPr>
            <a:r>
              <a:rPr sz="1400" b="0" i="0">
                <a:solidFill>
                  <a:srgbClr val="1A1A1A"/>
                </a:solidFill>
                <a:latin typeface="Helvetica Neue"/>
              </a:rPr>
              <a:t>Pediatric payments through CHIP are historically 30% lower than adult Medicare, which may discourage pediatric AI development</a:t>
            </a:r>
          </a:p>
          <a:p>
            <a:pPr algn="l" marL="256032" indent="-256032">
              <a:spcAft>
                <a:spcPts val="489"/>
              </a:spcAft>
              <a:buChar char="•"/>
            </a:pPr>
            <a:r>
              <a:rPr sz="1400" b="0" i="0">
                <a:solidFill>
                  <a:srgbClr val="1A1A1A"/>
                </a:solidFill>
                <a:latin typeface="Helvetica Neue"/>
              </a:rPr>
              <a:t>Adult-trained AI has shown mixed results in pediatric cases</a:t>
            </a:r>
          </a:p>
          <a:p>
            <a:pPr algn="l" marL="256032" indent="-256032">
              <a:spcAft>
                <a:spcPts val="489"/>
              </a:spcAft>
              <a:buChar char="•"/>
            </a:pPr>
            <a:r>
              <a:rPr sz="1400" b="0" i="0">
                <a:solidFill>
                  <a:srgbClr val="1A1A1A"/>
                </a:solidFill>
                <a:latin typeface="Helvetica Neue"/>
              </a:rPr>
              <a:t>In 2023, only six of more than 200 FDA-cleared AI tools in the ACR Data Science Institute catalog (3%) were intended for pediatric use</a:t>
            </a:r>
          </a:p>
          <a:p>
            <a:pPr algn="l" marL="256032" indent="-256032">
              <a:spcAft>
                <a:spcPts val="489"/>
              </a:spcAft>
              <a:buChar char="•"/>
            </a:pPr>
            <a:r>
              <a:rPr sz="1400" b="0" i="0">
                <a:solidFill>
                  <a:srgbClr val="1A1A1A"/>
                </a:solidFill>
                <a:latin typeface="Helvetica Neue"/>
              </a:rPr>
              <a:t>See the website for videos about reimbursement, challenges, and developments</a:t>
            </a:r>
          </a:p>
        </p:txBody>
      </p:sp>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30 / 36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What the ACR says</a:t>
            </a:r>
          </a:p>
        </p:txBody>
      </p:sp>
      <p:pic>
        <p:nvPicPr>
          <p:cNvPr id="3" name="acr_takehome" descr="acr_takehome.png"/>
          <p:cNvPicPr>
            <a:picLocks noChangeAspect="1"/>
          </p:cNvPicPr>
          <p:nvPr/>
        </p:nvPicPr>
        <p:blipFill>
          <a:blip r:embed="rId2"/>
          <a:stretch>
            <a:fillRect/>
          </a:stretch>
        </p:blipFill>
        <p:spPr>
          <a:xfrm>
            <a:off x="2069800" y="877824"/>
            <a:ext cx="8052092" cy="4491532"/>
          </a:xfrm>
          <a:prstGeom prst="rect">
            <a:avLst/>
          </a:prstGeom>
        </p:spPr>
      </p:pic>
      <p:sp>
        <p:nvSpPr>
          <p:cNvPr id="4" name="TextBox 3"/>
          <p:cNvSpPr txBox="1"/>
          <p:nvPr/>
        </p:nvSpPr>
        <p:spPr>
          <a:xfrm>
            <a:off x="411480" y="5442508"/>
            <a:ext cx="11368735"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Equitable Use of AI: How Reimbursement may be Key to a More Equitable Future: A Focus on Pediatric AI. ACR.</a:t>
            </a:r>
          </a:p>
        </p:txBody>
      </p:sp>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31 / 36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Resources for radiologists</a:t>
            </a:r>
          </a:p>
        </p:txBody>
      </p:sp>
      <p:sp>
        <p:nvSpPr>
          <p:cNvPr id="3" name="TextBox 2"/>
          <p:cNvSpPr txBox="1"/>
          <p:nvPr/>
        </p:nvSpPr>
        <p:spPr>
          <a:xfrm>
            <a:off x="411480" y="877824"/>
            <a:ext cx="11368735" cy="347916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hlinkClick r:id="rId2"/>
              </a:rPr>
              <a:t>Deep Learning: A Primer for Radiologists</a:t>
            </a:r>
            <a:r>
              <a:rPr sz="1100" b="0" i="0">
                <a:solidFill>
                  <a:srgbClr val="1A1A1A"/>
                </a:solidFill>
                <a:latin typeface="Helvetica Neue"/>
              </a:rPr>
              <a:t> (Radiographics paper, 2017): an introduction to how deep learning works, its radiology applications, and its limitations</a:t>
            </a:r>
          </a:p>
          <a:p>
            <a:pPr algn="l" marL="256032" indent="-256032">
              <a:spcAft>
                <a:spcPts val="384"/>
              </a:spcAft>
              <a:buChar char="•"/>
            </a:pPr>
            <a:r>
              <a:rPr sz="1100" b="1" i="0">
                <a:solidFill>
                  <a:srgbClr val="1A1A1A"/>
                </a:solidFill>
                <a:latin typeface="Helvetica Neue"/>
                <a:hlinkClick r:id="rId3"/>
              </a:rPr>
              <a:t>RSNA Pediatric Bone Age Challenge (2017)</a:t>
            </a:r>
            <a:r>
              <a:rPr sz="1100" b="0" i="0">
                <a:solidFill>
                  <a:srgbClr val="1A1A1A"/>
                </a:solidFill>
                <a:latin typeface="Helvetica Neue"/>
              </a:rPr>
              <a:t> (benchmark / dataset): a public dataset and benchmark for testing automated bone-age assessment</a:t>
            </a:r>
          </a:p>
          <a:p>
            <a:pPr algn="l" marL="256032" indent="-256032">
              <a:spcAft>
                <a:spcPts val="384"/>
              </a:spcAft>
              <a:buChar char="•"/>
            </a:pPr>
            <a:r>
              <a:rPr sz="1100" b="1" i="0">
                <a:solidFill>
                  <a:srgbClr val="1A1A1A"/>
                </a:solidFill>
                <a:latin typeface="Helvetica Neue"/>
                <a:hlinkClick r:id="rId4"/>
              </a:rPr>
              <a:t>Gleamer BoneView</a:t>
            </a:r>
            <a:r>
              <a:rPr sz="1100" b="1" i="0">
                <a:solidFill>
                  <a:srgbClr val="1A1A1A"/>
                </a:solidFill>
                <a:latin typeface="Helvetica Neue"/>
              </a:rPr>
              <a:t> / </a:t>
            </a:r>
            <a:r>
              <a:rPr sz="1100" b="1" i="0">
                <a:solidFill>
                  <a:srgbClr val="1A1A1A"/>
                </a:solidFill>
                <a:latin typeface="Helvetica Neue"/>
                <a:hlinkClick r:id="rId5"/>
              </a:rPr>
              <a:t>AZmed Rayvolve</a:t>
            </a:r>
            <a:r>
              <a:rPr sz="1100" b="0" i="0">
                <a:solidFill>
                  <a:srgbClr val="1A1A1A"/>
                </a:solidFill>
                <a:latin typeface="Helvetica Neue"/>
              </a:rPr>
              <a:t> (clinical products): examples of fracture-detection assistance with pediatric indications; eligibility depends on age, anatomy, and product version</a:t>
            </a:r>
          </a:p>
          <a:p>
            <a:pPr algn="l" marL="256032" indent="-256032">
              <a:spcAft>
                <a:spcPts val="384"/>
              </a:spcAft>
              <a:buChar char="•"/>
            </a:pPr>
            <a:r>
              <a:rPr sz="1100" b="1" i="0">
                <a:solidFill>
                  <a:srgbClr val="1A1A1A"/>
                </a:solidFill>
                <a:latin typeface="Helvetica Neue"/>
                <a:hlinkClick r:id="rId6"/>
              </a:rPr>
              <a:t>FDA AI-enabled device list and linked labeling</a:t>
            </a:r>
            <a:r>
              <a:rPr sz="1100" b="0" i="0">
                <a:solidFill>
                  <a:srgbClr val="1A1A1A"/>
                </a:solidFill>
                <a:latin typeface="Helvetica Neue"/>
              </a:rPr>
              <a:t> (regulatory resource): a starting point for checking authorized use and pediatric age ranges; the list is not exhaustive</a:t>
            </a:r>
          </a:p>
          <a:p>
            <a:pPr algn="l" marL="256032" indent="-256032">
              <a:spcAft>
                <a:spcPts val="384"/>
              </a:spcAft>
              <a:buChar char="•"/>
            </a:pPr>
            <a:r>
              <a:rPr sz="1100" b="1" i="0">
                <a:solidFill>
                  <a:srgbClr val="1A1A1A"/>
                </a:solidFill>
                <a:latin typeface="Helvetica Neue"/>
                <a:hlinkClick r:id="rId7"/>
              </a:rPr>
              <a:t>Health AI Register</a:t>
            </a:r>
            <a:r>
              <a:rPr sz="1100" b="0" i="0">
                <a:solidFill>
                  <a:srgbClr val="1A1A1A"/>
                </a:solidFill>
                <a:latin typeface="Helvetica Neue"/>
              </a:rPr>
              <a:t> (product directory): commercial radiology AI products with CE / FDA status and intended use; confirm pediatric use in the labeling</a:t>
            </a:r>
          </a:p>
          <a:p>
            <a:pPr algn="l" marL="256032" indent="-256032">
              <a:spcAft>
                <a:spcPts val="384"/>
              </a:spcAft>
              <a:buChar char="•"/>
            </a:pPr>
            <a:r>
              <a:rPr sz="1100" b="1" i="0">
                <a:solidFill>
                  <a:srgbClr val="1A1A1A"/>
                </a:solidFill>
                <a:latin typeface="Helvetica Neue"/>
                <a:hlinkClick r:id="rId8"/>
              </a:rPr>
              <a:t>CLAIM checklist (2024 update)</a:t>
            </a:r>
            <a:r>
              <a:rPr sz="1100" b="0" i="0">
                <a:solidFill>
                  <a:srgbClr val="1A1A1A"/>
                </a:solidFill>
                <a:latin typeface="Helvetica Neue"/>
              </a:rPr>
              <a:t> (reporting guideline): check whether data, reference standards, and testing are adequately described; reporting completeness alone does not establish clinical benefit</a:t>
            </a:r>
          </a:p>
          <a:p>
            <a:pPr algn="l" marL="256032" indent="-256032">
              <a:spcAft>
                <a:spcPts val="384"/>
              </a:spcAft>
              <a:buChar char="•"/>
            </a:pPr>
            <a:r>
              <a:rPr sz="1100" b="1" i="0">
                <a:solidFill>
                  <a:srgbClr val="1A1A1A"/>
                </a:solidFill>
                <a:latin typeface="Helvetica Neue"/>
                <a:hlinkClick r:id="rId9"/>
              </a:rPr>
              <a:t>TotalSegmentator</a:t>
            </a:r>
            <a:r>
              <a:rPr sz="1100" b="0" i="0">
                <a:solidFill>
                  <a:srgbClr val="1A1A1A"/>
                </a:solidFill>
                <a:latin typeface="Helvetica Neue"/>
              </a:rPr>
              <a:t> (research tool): automated CT / MR organ segmentation for volumes and body composition; check accuracy in children before trusting measurements</a:t>
            </a:r>
          </a:p>
          <a:p>
            <a:pPr algn="l" marL="256032" indent="-256032">
              <a:spcAft>
                <a:spcPts val="384"/>
              </a:spcAft>
              <a:buChar char="•"/>
            </a:pPr>
            <a:r>
              <a:rPr sz="1100" b="1" i="0">
                <a:solidFill>
                  <a:srgbClr val="1A1A1A"/>
                </a:solidFill>
                <a:latin typeface="Helvetica Neue"/>
                <a:hlinkClick r:id="rId10"/>
              </a:rPr>
              <a:t>nnU-Net</a:t>
            </a:r>
            <a:r>
              <a:rPr sz="1100" b="0" i="0">
                <a:solidFill>
                  <a:srgbClr val="1A1A1A"/>
                </a:solidFill>
                <a:latin typeface="Helvetica Neue"/>
              </a:rPr>
              <a:t> (research framework): a framework for training segmentation models and comparing new methods with an established baseline</a:t>
            </a:r>
          </a:p>
          <a:p>
            <a:pPr algn="l" marL="256032" indent="-256032">
              <a:spcAft>
                <a:spcPts val="384"/>
              </a:spcAft>
              <a:buChar char="•"/>
            </a:pPr>
            <a:r>
              <a:rPr sz="1100" b="1" i="0">
                <a:solidFill>
                  <a:srgbClr val="1A1A1A"/>
                </a:solidFill>
                <a:latin typeface="Helvetica Neue"/>
                <a:hlinkClick r:id="rId11"/>
              </a:rPr>
              <a:t>MedSAM / segment-anything models</a:t>
            </a:r>
            <a:r>
              <a:rPr sz="1100" b="0" i="0">
                <a:solidFill>
                  <a:srgbClr val="1A1A1A"/>
                </a:solidFill>
                <a:latin typeface="Helvetica Neue"/>
              </a:rPr>
              <a:t> (research models): prompt-guided contours can assist annotation; radiologists still need to review and correct the output</a:t>
            </a:r>
          </a:p>
          <a:p>
            <a:pPr algn="l" marL="256032" indent="-256032">
              <a:spcAft>
                <a:spcPts val="384"/>
              </a:spcAft>
              <a:buChar char="•"/>
            </a:pPr>
            <a:r>
              <a:rPr sz="1100" b="1" i="0">
                <a:solidFill>
                  <a:srgbClr val="1A1A1A"/>
                </a:solidFill>
                <a:latin typeface="Helvetica Neue"/>
                <a:hlinkClick r:id="rId12"/>
              </a:rPr>
              <a:t>MONAI</a:t>
            </a:r>
            <a:r>
              <a:rPr sz="1100" b="0" i="0">
                <a:solidFill>
                  <a:srgbClr val="1A1A1A"/>
                </a:solidFill>
                <a:latin typeface="Helvetica Neue"/>
              </a:rPr>
              <a:t> (research framework): software for developing and testing medical imaging AI with a research team</a:t>
            </a:r>
          </a:p>
          <a:p>
            <a:pPr algn="l" marL="256032" indent="-256032">
              <a:spcAft>
                <a:spcPts val="384"/>
              </a:spcAft>
              <a:buChar char="•"/>
            </a:pPr>
            <a:r>
              <a:rPr sz="1100" b="1" i="0">
                <a:solidFill>
                  <a:srgbClr val="1A1A1A"/>
                </a:solidFill>
                <a:latin typeface="Helvetica Neue"/>
                <a:hlinkClick r:id="rId13"/>
              </a:rPr>
              <a:t>NVIDIA NV-Reason-CT</a:t>
            </a:r>
            <a:r>
              <a:rPr sz="1100" b="0" i="0">
                <a:solidFill>
                  <a:srgbClr val="1A1A1A"/>
                </a:solidFill>
                <a:latin typeface="Helvetica Neue"/>
              </a:rPr>
              <a:t> (open research model, Sept 2026): a 3D CT vision-language model that drafts chest / abdominal CT findings with step-by-step reasoning and answers questions; open weights, research use only, not FDA-cleared, and no pediatric data or age range reported</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32 / 36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Explore our database: https://pedrad-ai.vercel.app</a:t>
            </a:r>
          </a:p>
        </p:txBody>
      </p:sp>
      <p:pic>
        <p:nvPicPr>
          <p:cNvPr id="3" name="explore_database" descr="explore_database.png"/>
          <p:cNvPicPr>
            <a:picLocks noChangeAspect="1"/>
          </p:cNvPicPr>
          <p:nvPr/>
        </p:nvPicPr>
        <p:blipFill>
          <a:blip r:embed="rId2"/>
          <a:stretch>
            <a:fillRect/>
          </a:stretch>
        </p:blipFill>
        <p:spPr>
          <a:xfrm>
            <a:off x="2008831" y="877824"/>
            <a:ext cx="8174030" cy="4491532"/>
          </a:xfrm>
          <a:prstGeom prst="rect">
            <a:avLst/>
          </a:prstGeom>
        </p:spPr>
      </p:pic>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33 / 36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Recommendations for pediatric radiologists</a:t>
            </a:r>
          </a:p>
        </p:txBody>
      </p:sp>
      <p:sp>
        <p:nvSpPr>
          <p:cNvPr id="3" name="TextBox 2"/>
          <p:cNvSpPr txBox="1"/>
          <p:nvPr/>
        </p:nvSpPr>
        <p:spPr>
          <a:xfrm>
            <a:off x="411480" y="877824"/>
            <a:ext cx="11368735" cy="288544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Pediatric AI studies often have few cases, especially for rare diseases, with data spread across hospitals and inconsistent reporting.</a:t>
            </a:r>
          </a:p>
          <a:p>
            <a:pPr algn="l" marL="256032" indent="-256032">
              <a:spcAft>
                <a:spcPts val="560"/>
              </a:spcAft>
              <a:buChar char="•"/>
            </a:pPr>
            <a:r>
              <a:rPr sz="1600" b="0" i="0">
                <a:solidFill>
                  <a:srgbClr val="1A1A1A"/>
                </a:solidFill>
                <a:latin typeface="Helvetica Neue"/>
              </a:rPr>
              <a:t>Start with a specific task in your practice: bone-age measurements, fracture detection, or reducing CT dose / MRI scan time.</a:t>
            </a:r>
          </a:p>
          <a:p>
            <a:pPr algn="l" marL="256032" indent="-256032">
              <a:spcAft>
                <a:spcPts val="560"/>
              </a:spcAft>
              <a:buChar char="•"/>
            </a:pPr>
            <a:r>
              <a:rPr sz="1600" b="0" i="0">
                <a:solidFill>
                  <a:srgbClr val="1A1A1A"/>
                </a:solidFill>
                <a:latin typeface="Helvetica Neue"/>
              </a:rPr>
              <a:t>Before adopting a tool, ask which children it was tested on. Check the intended age range and test it on your own cases, including younger children and unusual anatomy.</a:t>
            </a:r>
          </a:p>
          <a:p>
            <a:pPr algn="l" marL="256032" indent="-256032">
              <a:spcAft>
                <a:spcPts val="560"/>
              </a:spcAft>
              <a:buChar char="•"/>
            </a:pPr>
            <a:r>
              <a:rPr sz="1600" b="0" i="0">
                <a:solidFill>
                  <a:srgbClr val="1A1A1A"/>
                </a:solidFill>
                <a:latin typeface="Helvetica Neue"/>
              </a:rPr>
              <a:t>In a local pilot, measure what changes with AI: reading time, missed findings, false alarms, dose, or scan time. Review errors and keep checking after rollout.</a:t>
            </a:r>
          </a:p>
          <a:p>
            <a:pPr algn="l" marL="256032" indent="-256032">
              <a:spcAft>
                <a:spcPts val="560"/>
              </a:spcAft>
              <a:buChar char="•"/>
            </a:pPr>
            <a:r>
              <a:rPr sz="1600" b="0" i="0">
                <a:solidFill>
                  <a:srgbClr val="1A1A1A"/>
                </a:solidFill>
                <a:latin typeface="Helvetica Neue"/>
              </a:rPr>
              <a:t>For research, choose a pediatric problem you see often, label cases carefully, and work with other hospitals to test whether a model works beyond the site that built it.</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34 / 36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Will pediatric radiologists be replaced by AI?</a:t>
            </a:r>
          </a:p>
        </p:txBody>
      </p:sp>
      <p:sp>
        <p:nvSpPr>
          <p:cNvPr id="3" name="TextBox 2"/>
          <p:cNvSpPr txBox="1"/>
          <p:nvPr/>
        </p:nvSpPr>
        <p:spPr>
          <a:xfrm>
            <a:off x="411480" y="877824"/>
            <a:ext cx="11368735" cy="406400"/>
          </a:xfrm>
          <a:prstGeom prst="rect">
            <a:avLst/>
          </a:prstGeom>
          <a:noFill/>
        </p:spPr>
        <p:txBody>
          <a:bodyPr wrap="square" lIns="45720" rIns="45720" tIns="27432" bIns="27432" anchor="t">
            <a:spAutoFit/>
          </a:bodyPr>
          <a:lstStyle/>
          <a:p>
            <a:pPr algn="l">
              <a:spcAft>
                <a:spcPts val="560"/>
              </a:spcAft>
            </a:pPr>
            <a:r>
              <a:rPr sz="1600" b="0" i="0">
                <a:solidFill>
                  <a:srgbClr val="1A1A1A"/>
                </a:solidFill>
                <a:latin typeface="Helvetica Neue"/>
              </a:rPr>
              <a:t>No</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35 / 36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Commercial product inventory: backup (part 1)</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5003590"/>
        </p:xfrm>
        <a:graphic>
          <a:graphicData uri="http://schemas.openxmlformats.org/drawingml/2006/table">
            <a:tbl>
              <a:tblPr firstRow="1" bandRow="1">
                <a:tableStyleId>{5C22544A-7EE6-4342-B048-85BDC9FD1C3A}</a:tableStyleId>
              </a:tblPr>
              <a:tblGrid>
                <a:gridCol w="1278343"/>
                <a:gridCol w="1107897"/>
                <a:gridCol w="1499923"/>
                <a:gridCol w="3221425"/>
                <a:gridCol w="2761222"/>
                <a:gridCol w="1499923"/>
              </a:tblGrid>
              <a:tr h="181051">
                <a:tc>
                  <a:txBody>
                    <a:bodyPr wrap="square"/>
                    <a:lstStyle/>
                    <a:p>
                      <a:r>
                        <a:rPr sz="828" b="1" i="0">
                          <a:solidFill>
                            <a:srgbClr val="FFFFFF"/>
                          </a:solidFill>
                          <a:latin typeface="Helvetica Neue"/>
                        </a:rPr>
                        <a:t>Product</a:t>
                      </a:r>
                    </a:p>
                  </a:txBody>
                  <a:tcPr marL="45720" marR="45720" marT="18288" marB="18288" anchor="t"/>
                </a:tc>
                <a:tc>
                  <a:txBody>
                    <a:bodyPr wrap="square"/>
                    <a:lstStyle/>
                    <a:p>
                      <a:r>
                        <a:rPr sz="828" b="1" i="0">
                          <a:solidFill>
                            <a:srgbClr val="FFFFFF"/>
                          </a:solidFill>
                          <a:latin typeface="Helvetica Neue"/>
                        </a:rPr>
                        <a:t>Vendor</a:t>
                      </a:r>
                    </a:p>
                  </a:txBody>
                  <a:tcPr marL="45720" marR="45720" marT="18288" marB="18288" anchor="t"/>
                </a:tc>
                <a:tc>
                  <a:txBody>
                    <a:bodyPr wrap="square"/>
                    <a:lstStyle/>
                    <a:p>
                      <a:r>
                        <a:rPr sz="828" b="1" i="0">
                          <a:solidFill>
                            <a:srgbClr val="FFFFFF"/>
                          </a:solidFill>
                          <a:latin typeface="Helvetica Neue"/>
                        </a:rPr>
                        <a:t>Clinical problem</a:t>
                      </a:r>
                    </a:p>
                  </a:txBody>
                  <a:tcPr marL="45720" marR="45720" marT="18288" marB="18288" anchor="t"/>
                </a:tc>
                <a:tc>
                  <a:txBody>
                    <a:bodyPr wrap="square"/>
                    <a:lstStyle/>
                    <a:p>
                      <a:r>
                        <a:rPr sz="828" b="1" i="0">
                          <a:solidFill>
                            <a:srgbClr val="FFFFFF"/>
                          </a:solidFill>
                          <a:latin typeface="Helvetica Neue"/>
                        </a:rPr>
                        <a:t>What it does</a:t>
                      </a:r>
                    </a:p>
                  </a:txBody>
                  <a:tcPr marL="45720" marR="45720" marT="18288" marB="18288" anchor="t"/>
                </a:tc>
                <a:tc>
                  <a:txBody>
                    <a:bodyPr wrap="square"/>
                    <a:lstStyle/>
                    <a:p>
                      <a:r>
                        <a:rPr sz="828" b="1" i="0">
                          <a:solidFill>
                            <a:srgbClr val="FFFFFF"/>
                          </a:solidFill>
                          <a:latin typeface="Helvetica Neue"/>
                        </a:rPr>
                        <a:t>Pediatric scope</a:t>
                      </a:r>
                    </a:p>
                  </a:txBody>
                  <a:tcPr marL="45720" marR="45720" marT="18288" marB="18288" anchor="t"/>
                </a:tc>
                <a:tc>
                  <a:txBody>
                    <a:bodyPr wrap="square"/>
                    <a:lstStyle/>
                    <a:p>
                      <a:r>
                        <a:rPr sz="828" b="1" i="0">
                          <a:solidFill>
                            <a:srgbClr val="FFFFFF"/>
                          </a:solidFill>
                          <a:latin typeface="Helvetica Neue"/>
                        </a:rPr>
                        <a:t>Clinical use</a:t>
                      </a:r>
                    </a:p>
                  </a:txBody>
                  <a:tcPr marL="45720" marR="45720" marT="18288" marB="18288" anchor="t"/>
                </a:tc>
              </a:tr>
              <a:tr h="433425">
                <a:tc>
                  <a:txBody>
                    <a:bodyPr wrap="square"/>
                    <a:lstStyle/>
                    <a:p>
                      <a:r>
                        <a:rPr sz="828" b="0" i="0">
                          <a:solidFill>
                            <a:srgbClr val="1A1A1A"/>
                          </a:solidFill>
                          <a:latin typeface="Helvetica Neue"/>
                        </a:rPr>
                        <a:t>BoneXpert</a:t>
                      </a:r>
                    </a:p>
                  </a:txBody>
                  <a:tcPr marL="45720" marR="45720" marT="18288" marB="18288" anchor="t"/>
                </a:tc>
                <a:tc>
                  <a:txBody>
                    <a:bodyPr wrap="square"/>
                    <a:lstStyle/>
                    <a:p>
                      <a:r>
                        <a:rPr sz="828" b="0" i="0">
                          <a:solidFill>
                            <a:srgbClr val="1A1A1A"/>
                          </a:solidFill>
                          <a:latin typeface="Helvetica Neue"/>
                        </a:rPr>
                        <a:t>Visiana</a:t>
                      </a:r>
                    </a:p>
                  </a:txBody>
                  <a:tcPr marL="45720" marR="45720" marT="18288" marB="18288" anchor="t"/>
                </a:tc>
                <a:tc>
                  <a:txBody>
                    <a:bodyPr wrap="square"/>
                    <a:lstStyle/>
                    <a:p>
                      <a:r>
                        <a:rPr sz="828" b="0" i="0">
                          <a:solidFill>
                            <a:srgbClr val="1A1A1A"/>
                          </a:solidFill>
                          <a:latin typeface="Helvetica Neue"/>
                        </a:rPr>
                        <a:t>bone age / growth</a:t>
                      </a:r>
                    </a:p>
                  </a:txBody>
                  <a:tcPr marL="45720" marR="45720" marT="18288" marB="18288" anchor="t"/>
                </a:tc>
                <a:tc>
                  <a:txBody>
                    <a:bodyPr wrap="square"/>
                    <a:lstStyle/>
                    <a:p>
                      <a:r>
                        <a:rPr sz="828" b="0" i="0">
                          <a:solidFill>
                            <a:srgbClr val="1A1A1A"/>
                          </a:solidFill>
                          <a:latin typeface="Helvetica Neue"/>
                        </a:rPr>
                        <a:t>Automated Greulich–Pyle and Tanner–Whitehouse bone age plus a Bone Health Index, from a hand radiograph</a:t>
                      </a:r>
                    </a:p>
                  </a:txBody>
                  <a:tcPr marL="45720" marR="45720" marT="18288" marB="18288" anchor="t"/>
                </a:tc>
                <a:tc>
                  <a:txBody>
                    <a:bodyPr wrap="square"/>
                    <a:lstStyle/>
                    <a:p>
                      <a:r>
                        <a:rPr sz="828" b="0" i="0">
                          <a:solidFill>
                            <a:srgbClr val="1A1A1A"/>
                          </a:solidFill>
                          <a:latin typeface="Helvetica Neue"/>
                        </a:rPr>
                        <a:t>Built for children; CE-marked and in routine European use; FDA 510(k) cleared September 2026 [K262390, 2026]</a:t>
                      </a:r>
                    </a:p>
                  </a:txBody>
                  <a:tcPr marL="45720" marR="45720" marT="18288" marB="18288" anchor="t"/>
                </a:tc>
                <a:tc>
                  <a:txBody>
                    <a:bodyPr wrap="square"/>
                    <a:lstStyle/>
                    <a:p>
                      <a:r>
                        <a:rPr sz="828" b="0" i="0">
                          <a:solidFill>
                            <a:srgbClr val="1A1A1A"/>
                          </a:solidFill>
                          <a:latin typeface="Helvetica Neue"/>
                        </a:rPr>
                        <a:t>Widely deployed (Europe)</a:t>
                      </a:r>
                    </a:p>
                  </a:txBody>
                  <a:tcPr marL="45720" marR="45720" marT="18288" marB="18288" anchor="t"/>
                </a:tc>
              </a:tr>
              <a:tr h="433425">
                <a:tc>
                  <a:txBody>
                    <a:bodyPr wrap="square"/>
                    <a:lstStyle/>
                    <a:p>
                      <a:r>
                        <a:rPr sz="828" b="0" i="0">
                          <a:solidFill>
                            <a:srgbClr val="1A1A1A"/>
                          </a:solidFill>
                          <a:latin typeface="Helvetica Neue"/>
                        </a:rPr>
                        <a:t>BoneView</a:t>
                      </a:r>
                    </a:p>
                  </a:txBody>
                  <a:tcPr marL="45720" marR="45720" marT="18288" marB="18288" anchor="t"/>
                </a:tc>
                <a:tc>
                  <a:txBody>
                    <a:bodyPr wrap="square"/>
                    <a:lstStyle/>
                    <a:p>
                      <a:r>
                        <a:rPr sz="828" b="0" i="0">
                          <a:solidFill>
                            <a:srgbClr val="1A1A1A"/>
                          </a:solidFill>
                          <a:latin typeface="Helvetica Neue"/>
                        </a:rPr>
                        <a:t>Gleamer</a:t>
                      </a:r>
                    </a:p>
                  </a:txBody>
                  <a:tcPr marL="45720" marR="45720" marT="18288" marB="18288" anchor="t"/>
                </a:tc>
                <a:tc>
                  <a:txBody>
                    <a:bodyPr wrap="square"/>
                    <a:lstStyle/>
                    <a:p>
                      <a:r>
                        <a:rPr sz="828" b="0" i="0">
                          <a:solidFill>
                            <a:srgbClr val="1A1A1A"/>
                          </a:solidFill>
                          <a:latin typeface="Helvetica Neue"/>
                        </a:rPr>
                        <a:t>fracture / trauma</a:t>
                      </a:r>
                    </a:p>
                  </a:txBody>
                  <a:tcPr marL="45720" marR="45720" marT="18288" marB="18288" anchor="t"/>
                </a:tc>
                <a:tc>
                  <a:txBody>
                    <a:bodyPr wrap="square"/>
                    <a:lstStyle/>
                    <a:p>
                      <a:r>
                        <a:rPr sz="828" b="0" i="0">
                          <a:solidFill>
                            <a:srgbClr val="1A1A1A"/>
                          </a:solidFill>
                          <a:latin typeface="Helvetica Neue"/>
                        </a:rPr>
                        <a:t>Fracture detection on trauma radiographs, presented as regions of interest alongside the image</a:t>
                      </a:r>
                    </a:p>
                  </a:txBody>
                  <a:tcPr marL="45720" marR="45720" marT="18288" marB="18288" anchor="t"/>
                </a:tc>
                <a:tc>
                  <a:txBody>
                    <a:bodyPr wrap="square"/>
                    <a:lstStyle/>
                    <a:p>
                      <a:r>
                        <a:rPr sz="828" b="0" i="0">
                          <a:solidFill>
                            <a:srgbClr val="1A1A1A"/>
                          </a:solidFill>
                          <a:latin typeface="Helvetica Neue"/>
                        </a:rPr>
                        <a:t>US indication covers ages 2–21 for specified extremity views; pelvis, hip, femur, ribs and spine are adult-only [K222176, 2023]</a:t>
                      </a:r>
                    </a:p>
                  </a:txBody>
                  <a:tcPr marL="45720" marR="45720" marT="18288" marB="18288" anchor="t"/>
                </a:tc>
                <a:tc>
                  <a:txBody>
                    <a:bodyPr wrap="square"/>
                    <a:lstStyle/>
                    <a:p>
                      <a:r>
                        <a:rPr sz="828" b="0" i="0">
                          <a:solidFill>
                            <a:srgbClr val="1A1A1A"/>
                          </a:solidFill>
                          <a:latin typeface="Helvetica Neue"/>
                        </a:rPr>
                        <a:t>Widely deployed</a:t>
                      </a:r>
                    </a:p>
                  </a:txBody>
                  <a:tcPr marL="45720" marR="45720" marT="18288" marB="18288" anchor="t"/>
                </a:tc>
              </a:tr>
              <a:tr h="433425">
                <a:tc>
                  <a:txBody>
                    <a:bodyPr wrap="square"/>
                    <a:lstStyle/>
                    <a:p>
                      <a:r>
                        <a:rPr sz="828" b="0" i="0">
                          <a:solidFill>
                            <a:srgbClr val="1A1A1A"/>
                          </a:solidFill>
                          <a:latin typeface="Helvetica Neue"/>
                        </a:rPr>
                        <a:t>Rayvolve (AZtrauma)</a:t>
                      </a:r>
                    </a:p>
                  </a:txBody>
                  <a:tcPr marL="45720" marR="45720" marT="18288" marB="18288" anchor="t"/>
                </a:tc>
                <a:tc>
                  <a:txBody>
                    <a:bodyPr wrap="square"/>
                    <a:lstStyle/>
                    <a:p>
                      <a:r>
                        <a:rPr sz="828" b="0" i="0">
                          <a:solidFill>
                            <a:srgbClr val="1A1A1A"/>
                          </a:solidFill>
                          <a:latin typeface="Helvetica Neue"/>
                        </a:rPr>
                        <a:t>AZmed</a:t>
                      </a:r>
                    </a:p>
                  </a:txBody>
                  <a:tcPr marL="45720" marR="45720" marT="18288" marB="18288" anchor="t"/>
                </a:tc>
                <a:tc>
                  <a:txBody>
                    <a:bodyPr wrap="square"/>
                    <a:lstStyle/>
                    <a:p>
                      <a:r>
                        <a:rPr sz="828" b="0" i="0">
                          <a:solidFill>
                            <a:srgbClr val="1A1A1A"/>
                          </a:solidFill>
                          <a:latin typeface="Helvetica Neue"/>
                        </a:rPr>
                        <a:t>fracture / trauma</a:t>
                      </a:r>
                    </a:p>
                  </a:txBody>
                  <a:tcPr marL="45720" marR="45720" marT="18288" marB="18288" anchor="t"/>
                </a:tc>
                <a:tc>
                  <a:txBody>
                    <a:bodyPr wrap="square"/>
                    <a:lstStyle/>
                    <a:p>
                      <a:r>
                        <a:rPr sz="828" b="0" i="0">
                          <a:solidFill>
                            <a:srgbClr val="1A1A1A"/>
                          </a:solidFill>
                          <a:latin typeface="Helvetica Neue"/>
                        </a:rPr>
                        <a:t>Fracture and MSK finding detection on radiographs; sibling modules cover chest findings, measurements and bone age</a:t>
                      </a:r>
                    </a:p>
                  </a:txBody>
                  <a:tcPr marL="45720" marR="45720" marT="18288" marB="18288" anchor="t"/>
                </a:tc>
                <a:tc>
                  <a:txBody>
                    <a:bodyPr wrap="square"/>
                    <a:lstStyle/>
                    <a:p>
                      <a:r>
                        <a:rPr sz="828" b="0" i="0">
                          <a:solidFill>
                            <a:srgbClr val="1A1A1A"/>
                          </a:solidFill>
                          <a:latin typeface="Helvetica Neue"/>
                        </a:rPr>
                        <a:t>US fracture indication from age 2; the bone-age module is CE-marked only [K240845, 2024]</a:t>
                      </a:r>
                    </a:p>
                  </a:txBody>
                  <a:tcPr marL="45720" marR="45720" marT="18288" marB="18288" anchor="t"/>
                </a:tc>
                <a:tc>
                  <a:txBody>
                    <a:bodyPr wrap="square"/>
                    <a:lstStyle/>
                    <a:p>
                      <a:r>
                        <a:rPr sz="828" b="0" i="0">
                          <a:solidFill>
                            <a:srgbClr val="1A1A1A"/>
                          </a:solidFill>
                          <a:latin typeface="Helvetica Neue"/>
                        </a:rPr>
                        <a:t>Widely deployed</a:t>
                      </a:r>
                    </a:p>
                  </a:txBody>
                  <a:tcPr marL="45720" marR="45720" marT="18288" marB="18288" anchor="t"/>
                </a:tc>
              </a:tr>
              <a:tr h="307238">
                <a:tc>
                  <a:txBody>
                    <a:bodyPr wrap="square"/>
                    <a:lstStyle/>
                    <a:p>
                      <a:r>
                        <a:rPr sz="828" b="0" i="0">
                          <a:solidFill>
                            <a:srgbClr val="1A1A1A"/>
                          </a:solidFill>
                          <a:latin typeface="Helvetica Neue"/>
                        </a:rPr>
                        <a:t>TechCare Trauma</a:t>
                      </a:r>
                    </a:p>
                  </a:txBody>
                  <a:tcPr marL="45720" marR="45720" marT="18288" marB="18288" anchor="t"/>
                </a:tc>
                <a:tc>
                  <a:txBody>
                    <a:bodyPr wrap="square"/>
                    <a:lstStyle/>
                    <a:p>
                      <a:r>
                        <a:rPr sz="828" b="0" i="0">
                          <a:solidFill>
                            <a:srgbClr val="1A1A1A"/>
                          </a:solidFill>
                          <a:latin typeface="Helvetica Neue"/>
                        </a:rPr>
                        <a:t>Milvue</a:t>
                      </a:r>
                    </a:p>
                  </a:txBody>
                  <a:tcPr marL="45720" marR="45720" marT="18288" marB="18288" anchor="t"/>
                </a:tc>
                <a:tc>
                  <a:txBody>
                    <a:bodyPr wrap="square"/>
                    <a:lstStyle/>
                    <a:p>
                      <a:r>
                        <a:rPr sz="828" b="0" i="0">
                          <a:solidFill>
                            <a:srgbClr val="1A1A1A"/>
                          </a:solidFill>
                          <a:latin typeface="Helvetica Neue"/>
                        </a:rPr>
                        <a:t>fracture / trauma</a:t>
                      </a:r>
                    </a:p>
                  </a:txBody>
                  <a:tcPr marL="45720" marR="45720" marT="18288" marB="18288" anchor="t"/>
                </a:tc>
                <a:tc>
                  <a:txBody>
                    <a:bodyPr wrap="square"/>
                    <a:lstStyle/>
                    <a:p>
                      <a:r>
                        <a:rPr sz="828" b="0" i="0">
                          <a:solidFill>
                            <a:srgbClr val="1A1A1A"/>
                          </a:solidFill>
                          <a:latin typeface="Helvetica Neue"/>
                        </a:rPr>
                        <a:t>Trauma radiograph triage: fractures, effusions and dislocations flagged for the reader</a:t>
                      </a:r>
                    </a:p>
                  </a:txBody>
                  <a:tcPr marL="45720" marR="45720" marT="18288" marB="18288" anchor="t"/>
                </a:tc>
                <a:tc>
                  <a:txBody>
                    <a:bodyPr wrap="square"/>
                    <a:lstStyle/>
                    <a:p>
                      <a:r>
                        <a:rPr sz="828" b="0" i="0">
                          <a:solidFill>
                            <a:srgbClr val="1A1A1A"/>
                          </a:solidFill>
                          <a:latin typeface="Helvetica Neue"/>
                        </a:rPr>
                        <a:t>The decision summary states a pediatric population [K242171, 2025]</a:t>
                      </a:r>
                    </a:p>
                  </a:txBody>
                  <a:tcPr marL="45720" marR="45720" marT="18288" marB="18288" anchor="t"/>
                </a:tc>
                <a:tc>
                  <a:txBody>
                    <a:bodyPr wrap="square"/>
                    <a:lstStyle/>
                    <a:p>
                      <a:r>
                        <a:rPr sz="828" b="0" i="0">
                          <a:solidFill>
                            <a:srgbClr val="1A1A1A"/>
                          </a:solidFill>
                          <a:latin typeface="Helvetica Neue"/>
                        </a:rPr>
                        <a:t>Early US deployments</a:t>
                      </a:r>
                    </a:p>
                  </a:txBody>
                  <a:tcPr marL="45720" marR="45720" marT="18288" marB="18288" anchor="t"/>
                </a:tc>
              </a:tr>
              <a:tr h="433425">
                <a:tc>
                  <a:txBody>
                    <a:bodyPr wrap="square"/>
                    <a:lstStyle/>
                    <a:p>
                      <a:r>
                        <a:rPr sz="828" b="0" i="0">
                          <a:solidFill>
                            <a:srgbClr val="1A1A1A"/>
                          </a:solidFill>
                          <a:latin typeface="Helvetica Neue"/>
                        </a:rPr>
                        <a:t>EFAI Bonesuite XR Bone Age Pro</a:t>
                      </a:r>
                    </a:p>
                  </a:txBody>
                  <a:tcPr marL="45720" marR="45720" marT="18288" marB="18288" anchor="t"/>
                </a:tc>
                <a:tc>
                  <a:txBody>
                    <a:bodyPr wrap="square"/>
                    <a:lstStyle/>
                    <a:p>
                      <a:r>
                        <a:rPr sz="828" b="0" i="0">
                          <a:solidFill>
                            <a:srgbClr val="1A1A1A"/>
                          </a:solidFill>
                          <a:latin typeface="Helvetica Neue"/>
                        </a:rPr>
                        <a:t>Ever Fortune.AI</a:t>
                      </a:r>
                    </a:p>
                  </a:txBody>
                  <a:tcPr marL="45720" marR="45720" marT="18288" marB="18288" anchor="t"/>
                </a:tc>
                <a:tc>
                  <a:txBody>
                    <a:bodyPr wrap="square"/>
                    <a:lstStyle/>
                    <a:p>
                      <a:r>
                        <a:rPr sz="828" b="0" i="0">
                          <a:solidFill>
                            <a:srgbClr val="1A1A1A"/>
                          </a:solidFill>
                          <a:latin typeface="Helvetica Neue"/>
                        </a:rPr>
                        <a:t>bone age / growth</a:t>
                      </a:r>
                    </a:p>
                  </a:txBody>
                  <a:tcPr marL="45720" marR="45720" marT="18288" marB="18288" anchor="t"/>
                </a:tc>
                <a:tc>
                  <a:txBody>
                    <a:bodyPr wrap="square"/>
                    <a:lstStyle/>
                    <a:p>
                      <a:r>
                        <a:rPr sz="828" b="0" i="0">
                          <a:solidFill>
                            <a:srgbClr val="1A1A1A"/>
                          </a:solidFill>
                          <a:latin typeface="Helvetica Neue"/>
                        </a:rPr>
                        <a:t>Greulich–Pyle bone age from a PA left hand and wrist radiograph, as an adjunct to the radiologist</a:t>
                      </a:r>
                    </a:p>
                  </a:txBody>
                  <a:tcPr marL="45720" marR="45720" marT="18288" marB="18288" anchor="t"/>
                </a:tc>
                <a:tc>
                  <a:txBody>
                    <a:bodyPr wrap="square"/>
                    <a:lstStyle/>
                    <a:p>
                      <a:r>
                        <a:rPr sz="828" b="0" i="0">
                          <a:solidFill>
                            <a:srgbClr val="1A1A1A"/>
                          </a:solidFill>
                          <a:latin typeface="Helvetica Neue"/>
                        </a:rPr>
                        <a:t>FDA-cleared for ages 2–16 — a pediatric-specific US bone-age clearance [K234042, 2024]</a:t>
                      </a:r>
                    </a:p>
                  </a:txBody>
                  <a:tcPr marL="45720" marR="45720" marT="18288" marB="18288" anchor="t"/>
                </a:tc>
                <a:tc>
                  <a:txBody>
                    <a:bodyPr wrap="square"/>
                    <a:lstStyle/>
                    <a:p>
                      <a:r>
                        <a:rPr sz="828" b="0" i="0">
                          <a:solidFill>
                            <a:srgbClr val="1A1A1A"/>
                          </a:solidFill>
                          <a:latin typeface="Helvetica Neue"/>
                        </a:rPr>
                        <a:t>FDA-cleared, early adoption</a:t>
                      </a:r>
                    </a:p>
                  </a:txBody>
                  <a:tcPr marL="45720" marR="45720" marT="18288" marB="18288" anchor="t"/>
                </a:tc>
              </a:tr>
              <a:tr h="307238">
                <a:tc>
                  <a:txBody>
                    <a:bodyPr wrap="square"/>
                    <a:lstStyle/>
                    <a:p>
                      <a:r>
                        <a:rPr sz="828" b="0" i="0">
                          <a:solidFill>
                            <a:srgbClr val="1A1A1A"/>
                          </a:solidFill>
                          <a:latin typeface="Helvetica Neue"/>
                        </a:rPr>
                        <a:t>Physis</a:t>
                      </a:r>
                    </a:p>
                  </a:txBody>
                  <a:tcPr marL="45720" marR="45720" marT="18288" marB="18288" anchor="t"/>
                </a:tc>
                <a:tc>
                  <a:txBody>
                    <a:bodyPr wrap="square"/>
                    <a:lstStyle/>
                    <a:p>
                      <a:r>
                        <a:rPr sz="828" b="0" i="0">
                          <a:solidFill>
                            <a:srgbClr val="1A1A1A"/>
                          </a:solidFill>
                          <a:latin typeface="Helvetica Neue"/>
                        </a:rPr>
                        <a:t>16 Bit</a:t>
                      </a:r>
                    </a:p>
                  </a:txBody>
                  <a:tcPr marL="45720" marR="45720" marT="18288" marB="18288" anchor="t"/>
                </a:tc>
                <a:tc>
                  <a:txBody>
                    <a:bodyPr wrap="square"/>
                    <a:lstStyle/>
                    <a:p>
                      <a:r>
                        <a:rPr sz="828" b="0" i="0">
                          <a:solidFill>
                            <a:srgbClr val="1A1A1A"/>
                          </a:solidFill>
                          <a:latin typeface="Helvetica Neue"/>
                        </a:rPr>
                        <a:t>bone age / growth</a:t>
                      </a:r>
                    </a:p>
                  </a:txBody>
                  <a:tcPr marL="45720" marR="45720" marT="18288" marB="18288" anchor="t"/>
                </a:tc>
                <a:tc>
                  <a:txBody>
                    <a:bodyPr wrap="square"/>
                    <a:lstStyle/>
                    <a:p>
                      <a:r>
                        <a:rPr sz="828" b="0" i="0">
                          <a:solidFill>
                            <a:srgbClr val="1A1A1A"/>
                          </a:solidFill>
                          <a:latin typeface="Helvetica Neue"/>
                        </a:rPr>
                        <a:t>Bone-age estimation with Greulich–Pyle atlas matching and draft report text</a:t>
                      </a:r>
                    </a:p>
                  </a:txBody>
                  <a:tcPr marL="45720" marR="45720" marT="18288" marB="18288" anchor="t"/>
                </a:tc>
                <a:tc>
                  <a:txBody>
                    <a:bodyPr wrap="square"/>
                    <a:lstStyle/>
                    <a:p>
                      <a:r>
                        <a:rPr sz="828" b="0" i="0">
                          <a:solidFill>
                            <a:srgbClr val="1A1A1A"/>
                          </a:solidFill>
                          <a:latin typeface="Helvetica Neue"/>
                        </a:rPr>
                        <a:t>Pediatric tool; Health Canada licensed, no FDA authorization identified</a:t>
                      </a:r>
                    </a:p>
                  </a:txBody>
                  <a:tcPr marL="45720" marR="45720" marT="18288" marB="18288" anchor="t"/>
                </a:tc>
                <a:tc>
                  <a:txBody>
                    <a:bodyPr wrap="square"/>
                    <a:lstStyle/>
                    <a:p>
                      <a:r>
                        <a:rPr sz="828" b="0" i="0">
                          <a:solidFill>
                            <a:srgbClr val="1A1A1A"/>
                          </a:solidFill>
                          <a:latin typeface="Helvetica Neue"/>
                        </a:rPr>
                        <a:t>Limited US access</a:t>
                      </a:r>
                    </a:p>
                  </a:txBody>
                  <a:tcPr marL="45720" marR="45720" marT="18288" marB="18288" anchor="t"/>
                </a:tc>
              </a:tr>
              <a:tr h="307238">
                <a:tc>
                  <a:txBody>
                    <a:bodyPr wrap="square"/>
                    <a:lstStyle/>
                    <a:p>
                      <a:r>
                        <a:rPr sz="828" b="0" i="0">
                          <a:solidFill>
                            <a:srgbClr val="1A1A1A"/>
                          </a:solidFill>
                          <a:latin typeface="Helvetica Neue"/>
                        </a:rPr>
                        <a:t>Fetal EchoScan</a:t>
                      </a:r>
                    </a:p>
                  </a:txBody>
                  <a:tcPr marL="45720" marR="45720" marT="18288" marB="18288" anchor="t"/>
                </a:tc>
                <a:tc>
                  <a:txBody>
                    <a:bodyPr wrap="square"/>
                    <a:lstStyle/>
                    <a:p>
                      <a:r>
                        <a:rPr sz="828" b="0" i="0">
                          <a:solidFill>
                            <a:srgbClr val="1A1A1A"/>
                          </a:solidFill>
                          <a:latin typeface="Helvetica Neue"/>
                        </a:rPr>
                        <a:t>BrightHeart</a:t>
                      </a:r>
                    </a:p>
                  </a:txBody>
                  <a:tcPr marL="45720" marR="45720" marT="18288" marB="18288" anchor="t"/>
                </a:tc>
                <a:tc>
                  <a:txBody>
                    <a:bodyPr wrap="square"/>
                    <a:lstStyle/>
                    <a:p>
                      <a:r>
                        <a:rPr sz="828" b="0" i="0">
                          <a:solidFill>
                            <a:srgbClr val="1A1A1A"/>
                          </a:solidFill>
                          <a:latin typeface="Helvetica Neue"/>
                        </a:rPr>
                        <a:t>fetal / obstetric</a:t>
                      </a:r>
                    </a:p>
                  </a:txBody>
                  <a:tcPr marL="45720" marR="45720" marT="18288" marB="18288" anchor="t"/>
                </a:tc>
                <a:tc>
                  <a:txBody>
                    <a:bodyPr wrap="square"/>
                    <a:lstStyle/>
                    <a:p>
                      <a:r>
                        <a:rPr sz="828" b="0" i="0">
                          <a:solidFill>
                            <a:srgbClr val="1A1A1A"/>
                          </a:solidFill>
                          <a:latin typeface="Helvetica Neue"/>
                        </a:rPr>
                        <a:t>Flags eight morphological findings suspicious for congenital heart disease on second-trimester views</a:t>
                      </a:r>
                    </a:p>
                  </a:txBody>
                  <a:tcPr marL="45720" marR="45720" marT="18288" marB="18288" anchor="t"/>
                </a:tc>
                <a:tc>
                  <a:txBody>
                    <a:bodyPr wrap="square"/>
                    <a:lstStyle/>
                    <a:p>
                      <a:r>
                        <a:rPr sz="828" b="0" i="0">
                          <a:solidFill>
                            <a:srgbClr val="1A1A1A"/>
                          </a:solidFill>
                          <a:latin typeface="Helvetica Neue"/>
                        </a:rPr>
                        <a:t>Prenatal: second-trimester exams, maternal age 18+ [K252294, 2025]</a:t>
                      </a:r>
                    </a:p>
                  </a:txBody>
                  <a:tcPr marL="45720" marR="45720" marT="18288" marB="18288" anchor="t"/>
                </a:tc>
                <a:tc>
                  <a:txBody>
                    <a:bodyPr wrap="square"/>
                    <a:lstStyle/>
                    <a:p>
                      <a:r>
                        <a:rPr sz="828" b="0" i="0">
                          <a:solidFill>
                            <a:srgbClr val="1A1A1A"/>
                          </a:solidFill>
                          <a:latin typeface="Helvetica Neue"/>
                        </a:rPr>
                        <a:t>Early deployments / pilots</a:t>
                      </a:r>
                    </a:p>
                  </a:txBody>
                  <a:tcPr marL="45720" marR="45720" marT="18288" marB="18288" anchor="t"/>
                </a:tc>
              </a:tr>
              <a:tr h="433425">
                <a:tc>
                  <a:txBody>
                    <a:bodyPr wrap="square"/>
                    <a:lstStyle/>
                    <a:p>
                      <a:r>
                        <a:rPr sz="828" b="0" i="0">
                          <a:solidFill>
                            <a:srgbClr val="1A1A1A"/>
                          </a:solidFill>
                          <a:latin typeface="Helvetica Neue"/>
                        </a:rPr>
                        <a:t>Sonio Detect / Sonio Suspect</a:t>
                      </a:r>
                    </a:p>
                  </a:txBody>
                  <a:tcPr marL="45720" marR="45720" marT="18288" marB="18288" anchor="t"/>
                </a:tc>
                <a:tc>
                  <a:txBody>
                    <a:bodyPr wrap="square"/>
                    <a:lstStyle/>
                    <a:p>
                      <a:r>
                        <a:rPr sz="828" b="0" i="0">
                          <a:solidFill>
                            <a:srgbClr val="1A1A1A"/>
                          </a:solidFill>
                          <a:latin typeface="Helvetica Neue"/>
                        </a:rPr>
                        <a:t>Sonio</a:t>
                      </a:r>
                    </a:p>
                  </a:txBody>
                  <a:tcPr marL="45720" marR="45720" marT="18288" marB="18288" anchor="t"/>
                </a:tc>
                <a:tc>
                  <a:txBody>
                    <a:bodyPr wrap="square"/>
                    <a:lstStyle/>
                    <a:p>
                      <a:r>
                        <a:rPr sz="828" b="0" i="0">
                          <a:solidFill>
                            <a:srgbClr val="1A1A1A"/>
                          </a:solidFill>
                          <a:latin typeface="Helvetica Neue"/>
                        </a:rPr>
                        <a:t>fetal / obstetric</a:t>
                      </a:r>
                    </a:p>
                  </a:txBody>
                  <a:tcPr marL="45720" marR="45720" marT="18288" marB="18288" anchor="t"/>
                </a:tc>
                <a:tc>
                  <a:txBody>
                    <a:bodyPr wrap="square"/>
                    <a:lstStyle/>
                    <a:p>
                      <a:r>
                        <a:rPr sz="828" b="0" i="0">
                          <a:solidFill>
                            <a:srgbClr val="1A1A1A"/>
                          </a:solidFill>
                          <a:latin typeface="Helvetica Neue"/>
                        </a:rPr>
                        <a:t>Checks that the required fetal views were obtained and are of usable quality (Detect); flags images suspicious for anomalies (Suspect)</a:t>
                      </a:r>
                    </a:p>
                  </a:txBody>
                  <a:tcPr marL="45720" marR="45720" marT="18288" marB="18288" anchor="t"/>
                </a:tc>
                <a:tc>
                  <a:txBody>
                    <a:bodyPr wrap="square"/>
                    <a:lstStyle/>
                    <a:p>
                      <a:r>
                        <a:rPr sz="828" b="0" i="0">
                          <a:solidFill>
                            <a:srgbClr val="1A1A1A"/>
                          </a:solidFill>
                          <a:latin typeface="Helvetica Neue"/>
                        </a:rPr>
                        <a:t>Prenatal; every FDA entry states a fetal population [K252433, 2026]</a:t>
                      </a:r>
                    </a:p>
                  </a:txBody>
                  <a:tcPr marL="45720" marR="45720" marT="18288" marB="18288" anchor="t"/>
                </a:tc>
                <a:tc>
                  <a:txBody>
                    <a:bodyPr wrap="square"/>
                    <a:lstStyle/>
                    <a:p>
                      <a:r>
                        <a:rPr sz="828" b="0" i="0">
                          <a:solidFill>
                            <a:srgbClr val="1A1A1A"/>
                          </a:solidFill>
                          <a:latin typeface="Helvetica Neue"/>
                        </a:rPr>
                        <a:t>Early deployments / pilots</a:t>
                      </a:r>
                    </a:p>
                  </a:txBody>
                  <a:tcPr marL="45720" marR="45720" marT="18288" marB="18288" anchor="t"/>
                </a:tc>
              </a:tr>
              <a:tr h="433425">
                <a:tc>
                  <a:txBody>
                    <a:bodyPr wrap="square"/>
                    <a:lstStyle/>
                    <a:p>
                      <a:r>
                        <a:rPr sz="828" b="0" i="0">
                          <a:solidFill>
                            <a:srgbClr val="1A1A1A"/>
                          </a:solidFill>
                          <a:latin typeface="Helvetica Neue"/>
                        </a:rPr>
                        <a:t>Delivery Date AI</a:t>
                      </a:r>
                    </a:p>
                  </a:txBody>
                  <a:tcPr marL="45720" marR="45720" marT="18288" marB="18288" anchor="t"/>
                </a:tc>
                <a:tc>
                  <a:txBody>
                    <a:bodyPr wrap="square"/>
                    <a:lstStyle/>
                    <a:p>
                      <a:r>
                        <a:rPr sz="828" b="0" i="0">
                          <a:solidFill>
                            <a:srgbClr val="1A1A1A"/>
                          </a:solidFill>
                          <a:latin typeface="Helvetica Neue"/>
                        </a:rPr>
                        <a:t>Ultrasound AI</a:t>
                      </a:r>
                    </a:p>
                  </a:txBody>
                  <a:tcPr marL="45720" marR="45720" marT="18288" marB="18288" anchor="t"/>
                </a:tc>
                <a:tc>
                  <a:txBody>
                    <a:bodyPr wrap="square"/>
                    <a:lstStyle/>
                    <a:p>
                      <a:r>
                        <a:rPr sz="828" b="0" i="0">
                          <a:solidFill>
                            <a:srgbClr val="1A1A1A"/>
                          </a:solidFill>
                          <a:latin typeface="Helvetica Neue"/>
                        </a:rPr>
                        <a:t>fetal / obstetric</a:t>
                      </a:r>
                    </a:p>
                  </a:txBody>
                  <a:tcPr marL="45720" marR="45720" marT="18288" marB="18288" anchor="t"/>
                </a:tc>
                <a:tc>
                  <a:txBody>
                    <a:bodyPr wrap="square"/>
                    <a:lstStyle/>
                    <a:p>
                      <a:r>
                        <a:rPr sz="828" b="0" i="0">
                          <a:solidFill>
                            <a:srgbClr val="1A1A1A"/>
                          </a:solidFill>
                          <a:latin typeface="Helvetica Neue"/>
                        </a:rPr>
                        <a:t>Predicts the delivery date from a second- or third-trimester ultrasound when dating is unreliable</a:t>
                      </a:r>
                    </a:p>
                  </a:txBody>
                  <a:tcPr marL="45720" marR="45720" marT="18288" marB="18288" anchor="t"/>
                </a:tc>
                <a:tc>
                  <a:txBody>
                    <a:bodyPr wrap="square"/>
                    <a:lstStyle/>
                    <a:p>
                      <a:r>
                        <a:rPr sz="828" b="0" i="0">
                          <a:solidFill>
                            <a:srgbClr val="1A1A1A"/>
                          </a:solidFill>
                          <a:latin typeface="Helvetica Neue"/>
                        </a:rPr>
                        <a:t>Prenatal; the first De Novo of its kind (a new device class) [DEN250007, 2026]</a:t>
                      </a:r>
                    </a:p>
                  </a:txBody>
                  <a:tcPr marL="45720" marR="45720" marT="18288" marB="18288" anchor="t"/>
                </a:tc>
                <a:tc>
                  <a:txBody>
                    <a:bodyPr wrap="square"/>
                    <a:lstStyle/>
                    <a:p>
                      <a:r>
                        <a:rPr sz="828" b="0" i="0">
                          <a:solidFill>
                            <a:srgbClr val="1A1A1A"/>
                          </a:solidFill>
                          <a:latin typeface="Helvetica Neue"/>
                        </a:rPr>
                        <a:t>Newly authorized; clinical experience limited</a:t>
                      </a:r>
                    </a:p>
                  </a:txBody>
                  <a:tcPr marL="45720" marR="45720" marT="18288" marB="18288" anchor="t"/>
                </a:tc>
              </a:tr>
              <a:tr h="559612">
                <a:tc>
                  <a:txBody>
                    <a:bodyPr wrap="square"/>
                    <a:lstStyle/>
                    <a:p>
                      <a:r>
                        <a:rPr sz="828" b="0" i="0">
                          <a:solidFill>
                            <a:srgbClr val="1A1A1A"/>
                          </a:solidFill>
                          <a:latin typeface="Helvetica Neue"/>
                        </a:rPr>
                        <a:t>Swoop Portable MR + BrainInsight</a:t>
                      </a:r>
                    </a:p>
                  </a:txBody>
                  <a:tcPr marL="45720" marR="45720" marT="18288" marB="18288" anchor="t"/>
                </a:tc>
                <a:tc>
                  <a:txBody>
                    <a:bodyPr wrap="square"/>
                    <a:lstStyle/>
                    <a:p>
                      <a:r>
                        <a:rPr sz="828" b="0" i="0">
                          <a:solidFill>
                            <a:srgbClr val="1A1A1A"/>
                          </a:solidFill>
                          <a:latin typeface="Helvetica Neue"/>
                        </a:rPr>
                        <a:t>Hyperfine</a:t>
                      </a:r>
                    </a:p>
                  </a:txBody>
                  <a:tcPr marL="45720" marR="45720" marT="18288" marB="18288" anchor="t"/>
                </a:tc>
                <a:tc>
                  <a:txBody>
                    <a:bodyPr wrap="square"/>
                    <a:lstStyle/>
                    <a:p>
                      <a:r>
                        <a:rPr sz="828" b="0" i="0">
                          <a:solidFill>
                            <a:srgbClr val="1A1A1A"/>
                          </a:solidFill>
                          <a:latin typeface="Helvetica Neue"/>
                        </a:rPr>
                        <a:t>brain / neurologic</a:t>
                      </a:r>
                    </a:p>
                  </a:txBody>
                  <a:tcPr marL="45720" marR="45720" marT="18288" marB="18288" anchor="t"/>
                </a:tc>
                <a:tc>
                  <a:txBody>
                    <a:bodyPr wrap="square"/>
                    <a:lstStyle/>
                    <a:p>
                      <a:r>
                        <a:rPr sz="828" b="0" i="0">
                          <a:solidFill>
                            <a:srgbClr val="1A1A1A"/>
                          </a:solidFill>
                          <a:latin typeface="Helvetica Neue"/>
                        </a:rPr>
                        <a:t>Bedside low-field brain MRI with deep-learning reconstruction; BrainInsight measures brain volumes and midline shift</a:t>
                      </a:r>
                    </a:p>
                  </a:txBody>
                  <a:tcPr marL="45720" marR="45720" marT="18288" marB="18288" anchor="t"/>
                </a:tc>
                <a:tc>
                  <a:txBody>
                    <a:bodyPr wrap="square"/>
                    <a:lstStyle/>
                    <a:p>
                      <a:r>
                        <a:rPr sz="828" b="0" i="0">
                          <a:solidFill>
                            <a:srgbClr val="1A1A1A"/>
                          </a:solidFill>
                          <a:latin typeface="Helvetica Neue"/>
                        </a:rPr>
                        <a:t>Decision summaries state a pediatric population; bedside imaging may reduce transport risks in the NICU and PICU [K253489, 2025]</a:t>
                      </a:r>
                    </a:p>
                  </a:txBody>
                  <a:tcPr marL="45720" marR="45720" marT="18288" marB="18288" anchor="t"/>
                </a:tc>
                <a:tc>
                  <a:txBody>
                    <a:bodyPr wrap="square"/>
                    <a:lstStyle/>
                    <a:p>
                      <a:r>
                        <a:rPr sz="828" b="0" i="0">
                          <a:solidFill>
                            <a:srgbClr val="1A1A1A"/>
                          </a:solidFill>
                          <a:latin typeface="Helvetica Neue"/>
                        </a:rPr>
                        <a:t>In pediatric pilots</a:t>
                      </a:r>
                    </a:p>
                  </a:txBody>
                  <a:tcPr marL="45720" marR="45720" marT="18288" marB="18288" anchor="t"/>
                </a:tc>
              </a:tr>
              <a:tr h="307238">
                <a:tc>
                  <a:txBody>
                    <a:bodyPr wrap="square"/>
                    <a:lstStyle/>
                    <a:p>
                      <a:r>
                        <a:rPr sz="828" b="0" i="0">
                          <a:solidFill>
                            <a:srgbClr val="1A1A1A"/>
                          </a:solidFill>
                          <a:latin typeface="Helvetica Neue"/>
                        </a:rPr>
                        <a:t>spineEOS / VEA Align</a:t>
                      </a:r>
                    </a:p>
                  </a:txBody>
                  <a:tcPr marL="45720" marR="45720" marT="18288" marB="18288" anchor="t"/>
                </a:tc>
                <a:tc>
                  <a:txBody>
                    <a:bodyPr wrap="square"/>
                    <a:lstStyle/>
                    <a:p>
                      <a:r>
                        <a:rPr sz="828" b="0" i="0">
                          <a:solidFill>
                            <a:srgbClr val="1A1A1A"/>
                          </a:solidFill>
                          <a:latin typeface="Helvetica Neue"/>
                        </a:rPr>
                        <a:t>EOS imaging (Alphatec)</a:t>
                      </a:r>
                    </a:p>
                  </a:txBody>
                  <a:tcPr marL="45720" marR="45720" marT="18288" marB="18288" anchor="t"/>
                </a:tc>
                <a:tc>
                  <a:txBody>
                    <a:bodyPr wrap="square"/>
                    <a:lstStyle/>
                    <a:p>
                      <a:r>
                        <a:rPr sz="828" b="0" i="0">
                          <a:solidFill>
                            <a:srgbClr val="1A1A1A"/>
                          </a:solidFill>
                          <a:latin typeface="Helvetica Neue"/>
                        </a:rPr>
                        <a:t>spine / scoliosis</a:t>
                      </a:r>
                    </a:p>
                  </a:txBody>
                  <a:tcPr marL="45720" marR="45720" marT="18288" marB="18288" anchor="t"/>
                </a:tc>
                <a:tc>
                  <a:txBody>
                    <a:bodyPr wrap="square"/>
                    <a:lstStyle/>
                    <a:p>
                      <a:r>
                        <a:rPr sz="828" b="0" i="0">
                          <a:solidFill>
                            <a:srgbClr val="1A1A1A"/>
                          </a:solidFill>
                          <a:latin typeface="Helvetica Neue"/>
                        </a:rPr>
                        <a:t>Automated 3D spine and lower-limb modeling from biplanar low-dose full-body radiographs</a:t>
                      </a:r>
                    </a:p>
                  </a:txBody>
                  <a:tcPr marL="45720" marR="45720" marT="18288" marB="18288" anchor="t"/>
                </a:tc>
                <a:tc>
                  <a:txBody>
                    <a:bodyPr wrap="square"/>
                    <a:lstStyle/>
                    <a:p>
                      <a:r>
                        <a:rPr sz="828" b="0" i="0">
                          <a:solidFill>
                            <a:srgbClr val="1A1A1A"/>
                          </a:solidFill>
                          <a:latin typeface="Helvetica Neue"/>
                        </a:rPr>
                        <a:t>Lower-dose imaging for children who need repeated scoliosis follow-up [K251747, 2025]</a:t>
                      </a:r>
                    </a:p>
                  </a:txBody>
                  <a:tcPr marL="45720" marR="45720" marT="18288" marB="18288" anchor="t"/>
                </a:tc>
                <a:tc>
                  <a:txBody>
                    <a:bodyPr wrap="square"/>
                    <a:lstStyle/>
                    <a:p>
                      <a:r>
                        <a:rPr sz="828" b="0" i="0">
                          <a:solidFill>
                            <a:srgbClr val="1A1A1A"/>
                          </a:solidFill>
                          <a:latin typeface="Helvetica Neue"/>
                        </a:rPr>
                        <a:t>Widely deployed (pediatric orthopedics)</a:t>
                      </a:r>
                    </a:p>
                  </a:txBody>
                  <a:tcPr marL="45720" marR="45720" marT="18288" marB="18288" anchor="t"/>
                </a:tc>
              </a:tr>
              <a:tr h="433425">
                <a:tc>
                  <a:txBody>
                    <a:bodyPr wrap="square"/>
                    <a:lstStyle/>
                    <a:p>
                      <a:r>
                        <a:rPr sz="828" b="0" i="0">
                          <a:solidFill>
                            <a:srgbClr val="1A1A1A"/>
                          </a:solidFill>
                          <a:latin typeface="Helvetica Neue"/>
                        </a:rPr>
                        <a:t>CoLumbo</a:t>
                      </a:r>
                    </a:p>
                  </a:txBody>
                  <a:tcPr marL="45720" marR="45720" marT="18288" marB="18288" anchor="t"/>
                </a:tc>
                <a:tc>
                  <a:txBody>
                    <a:bodyPr wrap="square"/>
                    <a:lstStyle/>
                    <a:p>
                      <a:r>
                        <a:rPr sz="828" b="0" i="0">
                          <a:solidFill>
                            <a:srgbClr val="1A1A1A"/>
                          </a:solidFill>
                          <a:latin typeface="Helvetica Neue"/>
                        </a:rPr>
                        <a:t>Smart Soft Healthcare</a:t>
                      </a:r>
                    </a:p>
                  </a:txBody>
                  <a:tcPr marL="45720" marR="45720" marT="18288" marB="18288" anchor="t"/>
                </a:tc>
                <a:tc>
                  <a:txBody>
                    <a:bodyPr wrap="square"/>
                    <a:lstStyle/>
                    <a:p>
                      <a:r>
                        <a:rPr sz="828" b="0" i="0">
                          <a:solidFill>
                            <a:srgbClr val="1A1A1A"/>
                          </a:solidFill>
                          <a:latin typeface="Helvetica Neue"/>
                        </a:rPr>
                        <a:t>spine / scoliosis</a:t>
                      </a:r>
                    </a:p>
                  </a:txBody>
                  <a:tcPr marL="45720" marR="45720" marT="18288" marB="18288" anchor="t"/>
                </a:tc>
                <a:tc>
                  <a:txBody>
                    <a:bodyPr wrap="square"/>
                    <a:lstStyle/>
                    <a:p>
                      <a:r>
                        <a:rPr sz="828" b="0" i="0">
                          <a:solidFill>
                            <a:srgbClr val="1A1A1A"/>
                          </a:solidFill>
                          <a:latin typeface="Helvetica Neue"/>
                        </a:rPr>
                        <a:t>Spine MRI segmentation, measurement and structured reporting, lumbar and cervical</a:t>
                      </a:r>
                    </a:p>
                  </a:txBody>
                  <a:tcPr marL="45720" marR="45720" marT="18288" marB="18288" anchor="t"/>
                </a:tc>
                <a:tc>
                  <a:txBody>
                    <a:bodyPr wrap="square"/>
                    <a:lstStyle/>
                    <a:p>
                      <a:r>
                        <a:rPr sz="828" b="0" i="0">
                          <a:solidFill>
                            <a:srgbClr val="1A1A1A"/>
                          </a:solidFill>
                          <a:latin typeface="Helvetica Neue"/>
                        </a:rPr>
                        <a:t>Decision summaries state a pediatric population; no pediatric-specific performance reported [K254015, 2026]</a:t>
                      </a:r>
                    </a:p>
                  </a:txBody>
                  <a:tcPr marL="45720" marR="45720" marT="18288" marB="18288" anchor="t"/>
                </a:tc>
                <a:tc>
                  <a:txBody>
                    <a:bodyPr wrap="square"/>
                    <a:lstStyle/>
                    <a:p>
                      <a:r>
                        <a:rPr sz="828" b="0" i="0">
                          <a:solidFill>
                            <a:srgbClr val="1A1A1A"/>
                          </a:solidFill>
                          <a:latin typeface="Helvetica Neue"/>
                        </a:rPr>
                        <a:t>Early deployments</a:t>
                      </a:r>
                    </a:p>
                  </a:txBody>
                  <a:tcPr marL="45720" marR="45720" marT="18288" marB="18288" anchor="t"/>
                </a:tc>
              </a:tr>
            </a:tbl>
          </a:graphicData>
        </a:graphic>
      </p:graphicFrame>
      <p:sp>
        <p:nvSpPr>
          <p:cNvPr id="5" name="TextBox 4"/>
          <p:cNvSpPr txBox="1"/>
          <p:nvPr/>
        </p:nvSpPr>
        <p:spPr>
          <a:xfrm>
            <a:off x="411480" y="5954572"/>
            <a:ext cx="11368735" cy="444881"/>
          </a:xfrm>
          <a:prstGeom prst="rect">
            <a:avLst/>
          </a:prstGeom>
          <a:noFill/>
        </p:spPr>
        <p:txBody>
          <a:bodyPr wrap="square" lIns="45720" rIns="45720" tIns="27432" bIns="27432" anchor="t">
            <a:spAutoFit/>
          </a:bodyPr>
          <a:lstStyle/>
          <a:p>
            <a:pPr algn="l">
              <a:spcAft>
                <a:spcPts val="354"/>
              </a:spcAft>
            </a:pPr>
            <a:r>
              <a:rPr sz="1012" b="0" i="0">
                <a:solidFill>
                  <a:srgbClr val="1A1A1A"/>
                </a:solidFill>
                <a:latin typeface="Helvetica Neue"/>
              </a:rPr>
              <a:t>Square brackets identify the FDA submission and decision year supporting the pediatric description. No brackets means no US authorization was identified. Clinical use reflects our assessment, not measured adoption. Many large-vendor authorizations cover whole scanners with pediatric imaging listed as one application.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Commercial product inventory: backup (part 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5058455"/>
        </p:xfrm>
        <a:graphic>
          <a:graphicData uri="http://schemas.openxmlformats.org/drawingml/2006/table">
            <a:tbl>
              <a:tblPr firstRow="1" bandRow="1">
                <a:tableStyleId>{5C22544A-7EE6-4342-B048-85BDC9FD1C3A}</a:tableStyleId>
              </a:tblPr>
              <a:tblGrid>
                <a:gridCol w="1278343"/>
                <a:gridCol w="1107897"/>
                <a:gridCol w="1499923"/>
                <a:gridCol w="3221425"/>
                <a:gridCol w="2761222"/>
                <a:gridCol w="1499923"/>
              </a:tblGrid>
              <a:tr h="175564">
                <a:tc>
                  <a:txBody>
                    <a:bodyPr wrap="square"/>
                    <a:lstStyle/>
                    <a:p>
                      <a:r>
                        <a:rPr sz="792" b="1" i="0">
                          <a:solidFill>
                            <a:srgbClr val="FFFFFF"/>
                          </a:solidFill>
                          <a:latin typeface="Helvetica Neue"/>
                        </a:rPr>
                        <a:t>Product</a:t>
                      </a:r>
                    </a:p>
                  </a:txBody>
                  <a:tcPr marL="45720" marR="45720" marT="18288" marB="18288" anchor="t"/>
                </a:tc>
                <a:tc>
                  <a:txBody>
                    <a:bodyPr wrap="square"/>
                    <a:lstStyle/>
                    <a:p>
                      <a:r>
                        <a:rPr sz="792" b="1" i="0">
                          <a:solidFill>
                            <a:srgbClr val="FFFFFF"/>
                          </a:solidFill>
                          <a:latin typeface="Helvetica Neue"/>
                        </a:rPr>
                        <a:t>Vendor</a:t>
                      </a:r>
                    </a:p>
                  </a:txBody>
                  <a:tcPr marL="45720" marR="45720" marT="18288" marB="18288" anchor="t"/>
                </a:tc>
                <a:tc>
                  <a:txBody>
                    <a:bodyPr wrap="square"/>
                    <a:lstStyle/>
                    <a:p>
                      <a:r>
                        <a:rPr sz="792" b="1" i="0">
                          <a:solidFill>
                            <a:srgbClr val="FFFFFF"/>
                          </a:solidFill>
                          <a:latin typeface="Helvetica Neue"/>
                        </a:rPr>
                        <a:t>Clinical problem</a:t>
                      </a:r>
                    </a:p>
                  </a:txBody>
                  <a:tcPr marL="45720" marR="45720" marT="18288" marB="18288" anchor="t"/>
                </a:tc>
                <a:tc>
                  <a:txBody>
                    <a:bodyPr wrap="square"/>
                    <a:lstStyle/>
                    <a:p>
                      <a:r>
                        <a:rPr sz="792" b="1" i="0">
                          <a:solidFill>
                            <a:srgbClr val="FFFFFF"/>
                          </a:solidFill>
                          <a:latin typeface="Helvetica Neue"/>
                        </a:rPr>
                        <a:t>What it does</a:t>
                      </a:r>
                    </a:p>
                  </a:txBody>
                  <a:tcPr marL="45720" marR="45720" marT="18288" marB="18288" anchor="t"/>
                </a:tc>
                <a:tc>
                  <a:txBody>
                    <a:bodyPr wrap="square"/>
                    <a:lstStyle/>
                    <a:p>
                      <a:r>
                        <a:rPr sz="792" b="1" i="0">
                          <a:solidFill>
                            <a:srgbClr val="FFFFFF"/>
                          </a:solidFill>
                          <a:latin typeface="Helvetica Neue"/>
                        </a:rPr>
                        <a:t>Pediatric scope</a:t>
                      </a:r>
                    </a:p>
                  </a:txBody>
                  <a:tcPr marL="45720" marR="45720" marT="18288" marB="18288" anchor="t"/>
                </a:tc>
                <a:tc>
                  <a:txBody>
                    <a:bodyPr wrap="square"/>
                    <a:lstStyle/>
                    <a:p>
                      <a:r>
                        <a:rPr sz="792" b="1" i="0">
                          <a:solidFill>
                            <a:srgbClr val="FFFFFF"/>
                          </a:solidFill>
                          <a:latin typeface="Helvetica Neue"/>
                        </a:rPr>
                        <a:t>Clinical use</a:t>
                      </a:r>
                    </a:p>
                  </a:txBody>
                  <a:tcPr marL="45720" marR="45720" marT="18288" marB="18288" anchor="t"/>
                </a:tc>
              </a:tr>
              <a:tr h="537667">
                <a:tc>
                  <a:txBody>
                    <a:bodyPr wrap="square"/>
                    <a:lstStyle/>
                    <a:p>
                      <a:r>
                        <a:rPr sz="792" b="0" i="0">
                          <a:solidFill>
                            <a:srgbClr val="1A1A1A"/>
                          </a:solidFill>
                          <a:latin typeface="Helvetica Neue"/>
                        </a:rPr>
                        <a:t>BriefCase-Triage (CARE modules)</a:t>
                      </a:r>
                    </a:p>
                  </a:txBody>
                  <a:tcPr marL="45720" marR="45720" marT="18288" marB="18288" anchor="t"/>
                </a:tc>
                <a:tc>
                  <a:txBody>
                    <a:bodyPr wrap="square"/>
                    <a:lstStyle/>
                    <a:p>
                      <a:r>
                        <a:rPr sz="792" b="0" i="0">
                          <a:solidFill>
                            <a:srgbClr val="1A1A1A"/>
                          </a:solidFill>
                          <a:latin typeface="Helvetica Neue"/>
                        </a:rPr>
                        <a:t>Aidoc</a:t>
                      </a:r>
                    </a:p>
                  </a:txBody>
                  <a:tcPr marL="45720" marR="45720" marT="18288" marB="18288" anchor="t"/>
                </a:tc>
                <a:tc>
                  <a:txBody>
                    <a:bodyPr wrap="square"/>
                    <a:lstStyle/>
                    <a:p>
                      <a:r>
                        <a:rPr sz="792" b="0" i="0">
                          <a:solidFill>
                            <a:srgbClr val="1A1A1A"/>
                          </a:solidFill>
                          <a:latin typeface="Helvetica Neue"/>
                        </a:rPr>
                        <a:t>triage / worklist prioritization</a:t>
                      </a:r>
                    </a:p>
                  </a:txBody>
                  <a:tcPr marL="45720" marR="45720" marT="18288" marB="18288" anchor="t"/>
                </a:tc>
                <a:tc>
                  <a:txBody>
                    <a:bodyPr wrap="square"/>
                    <a:lstStyle/>
                    <a:p>
                      <a:r>
                        <a:rPr sz="792" b="0" i="0">
                          <a:solidFill>
                            <a:srgbClr val="1A1A1A"/>
                          </a:solidFill>
                          <a:latin typeface="Helvetica Neue"/>
                        </a:rPr>
                        <a:t>Worklist triage on CT and CTA: intracranial hemorrhage, pulmonary embolism, pneumothorax, cervical-spine and rib fractures, free gas and more</a:t>
                      </a:r>
                    </a:p>
                  </a:txBody>
                  <a:tcPr marL="45720" marR="45720" marT="18288" marB="18288" anchor="t"/>
                </a:tc>
                <a:tc>
                  <a:txBody>
                    <a:bodyPr wrap="square"/>
                    <a:lstStyle/>
                    <a:p>
                      <a:r>
                        <a:rPr sz="792" b="0" i="0">
                          <a:solidFill>
                            <a:srgbClr val="1A1A1A"/>
                          </a:solidFill>
                          <a:latin typeface="Helvetica Neue"/>
                        </a:rPr>
                        <a:t>Most entries state a pediatric population; the supporting performance data are from adults; pediatric use needs local validation [K253578, 2026]</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Viz LVO / Viz ICH</a:t>
                      </a:r>
                    </a:p>
                  </a:txBody>
                  <a:tcPr marL="45720" marR="45720" marT="18288" marB="18288" anchor="t"/>
                </a:tc>
                <a:tc>
                  <a:txBody>
                    <a:bodyPr wrap="square"/>
                    <a:lstStyle/>
                    <a:p>
                      <a:r>
                        <a:rPr sz="792" b="0" i="0">
                          <a:solidFill>
                            <a:srgbClr val="1A1A1A"/>
                          </a:solidFill>
                          <a:latin typeface="Helvetica Neue"/>
                        </a:rPr>
                        <a:t>Viz.ai</a:t>
                      </a:r>
                    </a:p>
                  </a:txBody>
                  <a:tcPr marL="45720" marR="45720" marT="18288" marB="18288" anchor="t"/>
                </a:tc>
                <a:tc>
                  <a:txBody>
                    <a:bodyPr wrap="square"/>
                    <a:lstStyle/>
                    <a:p>
                      <a:r>
                        <a:rPr sz="792" b="0" i="0">
                          <a:solidFill>
                            <a:srgbClr val="1A1A1A"/>
                          </a:solidFill>
                          <a:latin typeface="Helvetica Neue"/>
                        </a:rPr>
                        <a:t>stroke / intracranial bleed</a:t>
                      </a:r>
                    </a:p>
                  </a:txBody>
                  <a:tcPr marL="45720" marR="45720" marT="18288" marB="18288" anchor="t"/>
                </a:tc>
                <a:tc>
                  <a:txBody>
                    <a:bodyPr wrap="square"/>
                    <a:lstStyle/>
                    <a:p>
                      <a:r>
                        <a:rPr sz="792" b="0" i="0">
                          <a:solidFill>
                            <a:srgbClr val="1A1A1A"/>
                          </a:solidFill>
                          <a:latin typeface="Helvetica Neue"/>
                        </a:rPr>
                        <a:t>Detects large-vessel occlusion and intracranial hemorrhage and alerts the stroke team</a:t>
                      </a:r>
                    </a:p>
                  </a:txBody>
                  <a:tcPr marL="45720" marR="45720" marT="18288" marB="18288" anchor="t"/>
                </a:tc>
                <a:tc>
                  <a:txBody>
                    <a:bodyPr wrap="square"/>
                    <a:lstStyle/>
                    <a:p>
                      <a:r>
                        <a:rPr sz="792" b="0" i="0">
                          <a:solidFill>
                            <a:srgbClr val="1A1A1A"/>
                          </a:solidFill>
                          <a:latin typeface="Helvetica Neue"/>
                        </a:rPr>
                        <a:t>No pediatric population statement found in the screened summaries; pediatric stroke use would be off-label</a:t>
                      </a:r>
                    </a:p>
                  </a:txBody>
                  <a:tcPr marL="45720" marR="45720" marT="18288" marB="18288" anchor="t"/>
                </a:tc>
                <a:tc>
                  <a:txBody>
                    <a:bodyPr wrap="square"/>
                    <a:lstStyle/>
                    <a:p>
                      <a:r>
                        <a:rPr sz="792" b="0" i="0">
                          <a:solidFill>
                            <a:srgbClr val="1A1A1A"/>
                          </a:solidFill>
                          <a:latin typeface="Helvetica Neue"/>
                        </a:rPr>
                        <a:t>Widely deployed (adult)</a:t>
                      </a:r>
                    </a:p>
                  </a:txBody>
                  <a:tcPr marL="45720" marR="45720" marT="18288" marB="18288" anchor="t"/>
                </a:tc>
              </a:tr>
              <a:tr h="296265">
                <a:tc>
                  <a:txBody>
                    <a:bodyPr wrap="square"/>
                    <a:lstStyle/>
                    <a:p>
                      <a:r>
                        <a:rPr sz="792" b="0" i="0">
                          <a:solidFill>
                            <a:srgbClr val="1A1A1A"/>
                          </a:solidFill>
                          <a:latin typeface="Helvetica Neue"/>
                        </a:rPr>
                        <a:t>qXR-TB</a:t>
                      </a:r>
                    </a:p>
                  </a:txBody>
                  <a:tcPr marL="45720" marR="45720" marT="18288" marB="18288" anchor="t"/>
                </a:tc>
                <a:tc>
                  <a:txBody>
                    <a:bodyPr wrap="square"/>
                    <a:lstStyle/>
                    <a:p>
                      <a:r>
                        <a:rPr sz="792" b="0" i="0">
                          <a:solidFill>
                            <a:srgbClr val="1A1A1A"/>
                          </a:solidFill>
                          <a:latin typeface="Helvetica Neue"/>
                        </a:rPr>
                        <a:t>Qure.ai</a:t>
                      </a:r>
                    </a:p>
                  </a:txBody>
                  <a:tcPr marL="45720" marR="45720" marT="18288" marB="18288" anchor="t"/>
                </a:tc>
                <a:tc>
                  <a:txBody>
                    <a:bodyPr wrap="square"/>
                    <a:lstStyle/>
                    <a:p>
                      <a:r>
                        <a:rPr sz="792" b="0" i="0">
                          <a:solidFill>
                            <a:srgbClr val="1A1A1A"/>
                          </a:solidFill>
                          <a:latin typeface="Helvetica Neue"/>
                        </a:rPr>
                        <a:t>chest / lung</a:t>
                      </a:r>
                    </a:p>
                  </a:txBody>
                  <a:tcPr marL="45720" marR="45720" marT="18288" marB="18288" anchor="t"/>
                </a:tc>
                <a:tc>
                  <a:txBody>
                    <a:bodyPr wrap="square"/>
                    <a:lstStyle/>
                    <a:p>
                      <a:r>
                        <a:rPr sz="792" b="0" i="0">
                          <a:solidFill>
                            <a:srgbClr val="1A1A1A"/>
                          </a:solidFill>
                          <a:latin typeface="Helvetica Neue"/>
                        </a:rPr>
                        <a:t>Chest radiograph screening for tuberculosis, built for high-burden settings with few readers</a:t>
                      </a:r>
                    </a:p>
                  </a:txBody>
                  <a:tcPr marL="45720" marR="45720" marT="18288" marB="18288" anchor="t"/>
                </a:tc>
                <a:tc>
                  <a:txBody>
                    <a:bodyPr wrap="square"/>
                    <a:lstStyle/>
                    <a:p>
                      <a:r>
                        <a:rPr sz="792" b="0" i="0">
                          <a:solidFill>
                            <a:srgbClr val="1A1A1A"/>
                          </a:solidFill>
                          <a:latin typeface="Helvetica Neue"/>
                        </a:rPr>
                        <a:t>Vendor reports CE-marked use from age 0–15; US eligibility varies by module</a:t>
                      </a:r>
                    </a:p>
                  </a:txBody>
                  <a:tcPr marL="45720" marR="45720" marT="18288" marB="18288" anchor="t"/>
                </a:tc>
                <a:tc>
                  <a:txBody>
                    <a:bodyPr wrap="square"/>
                    <a:lstStyle/>
                    <a:p>
                      <a:r>
                        <a:rPr sz="792" b="0" i="0">
                          <a:solidFill>
                            <a:srgbClr val="1A1A1A"/>
                          </a:solidFill>
                          <a:latin typeface="Helvetica Neue"/>
                        </a:rPr>
                        <a:t>Deployed in global-health screening</a:t>
                      </a:r>
                    </a:p>
                  </a:txBody>
                  <a:tcPr marL="45720" marR="45720" marT="18288" marB="18288" anchor="t"/>
                </a:tc>
              </a:tr>
              <a:tr h="296265">
                <a:tc>
                  <a:txBody>
                    <a:bodyPr wrap="square"/>
                    <a:lstStyle/>
                    <a:p>
                      <a:r>
                        <a:rPr sz="792" b="0" i="0">
                          <a:solidFill>
                            <a:srgbClr val="1A1A1A"/>
                          </a:solidFill>
                          <a:latin typeface="Helvetica Neue"/>
                        </a:rPr>
                        <a:t>AIR Recon DL / TrueFidelity</a:t>
                      </a:r>
                    </a:p>
                  </a:txBody>
                  <a:tcPr marL="45720" marR="45720" marT="18288" marB="18288" anchor="t"/>
                </a:tc>
                <a:tc>
                  <a:txBody>
                    <a:bodyPr wrap="square"/>
                    <a:lstStyle/>
                    <a:p>
                      <a:r>
                        <a:rPr sz="792" b="0" i="0">
                          <a:solidFill>
                            <a:srgbClr val="1A1A1A"/>
                          </a:solidFill>
                          <a:latin typeface="Helvetica Neue"/>
                        </a:rPr>
                        <a:t>GE HealthCare</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Deep-learning reconstruction: shorter MRI acquisitions at the same quality, and CT images at lower dose</a:t>
                      </a:r>
                    </a:p>
                  </a:txBody>
                  <a:tcPr marL="45720" marR="45720" marT="18288" marB="18288" anchor="t"/>
                </a:tc>
                <a:tc>
                  <a:txBody>
                    <a:bodyPr wrap="square"/>
                    <a:lstStyle/>
                    <a:p>
                      <a:r>
                        <a:rPr sz="792" b="0" i="0">
                          <a:solidFill>
                            <a:srgbClr val="1A1A1A"/>
                          </a:solidFill>
                          <a:latin typeface="Helvetica Neue"/>
                        </a:rPr>
                        <a:t>Sold across ages; potential pediatric benefits include less sedation and lower radiation dose</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296265">
                <a:tc>
                  <a:txBody>
                    <a:bodyPr wrap="square"/>
                    <a:lstStyle/>
                    <a:p>
                      <a:r>
                        <a:rPr sz="792" b="0" i="0">
                          <a:solidFill>
                            <a:srgbClr val="1A1A1A"/>
                          </a:solidFill>
                          <a:latin typeface="Helvetica Neue"/>
                        </a:rPr>
                        <a:t>Deep Resolve</a:t>
                      </a:r>
                    </a:p>
                  </a:txBody>
                  <a:tcPr marL="45720" marR="45720" marT="18288" marB="18288" anchor="t"/>
                </a:tc>
                <a:tc>
                  <a:txBody>
                    <a:bodyPr wrap="square"/>
                    <a:lstStyle/>
                    <a:p>
                      <a:r>
                        <a:rPr sz="792" b="0" i="0">
                          <a:solidFill>
                            <a:srgbClr val="1A1A1A"/>
                          </a:solidFill>
                          <a:latin typeface="Helvetica Neue"/>
                        </a:rPr>
                        <a:t>Siemens Healthineers</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MRI deep-learning denoising and resolution enhancement that supports accelerated acquisition</a:t>
                      </a:r>
                    </a:p>
                  </a:txBody>
                  <a:tcPr marL="45720" marR="45720" marT="18288" marB="18288" anchor="t"/>
                </a:tc>
                <a:tc>
                  <a:txBody>
                    <a:bodyPr wrap="square"/>
                    <a:lstStyle/>
                    <a:p>
                      <a:r>
                        <a:rPr sz="792" b="0" i="0">
                          <a:solidFill>
                            <a:srgbClr val="1A1A1A"/>
                          </a:solidFill>
                          <a:latin typeface="Helvetica Neue"/>
                        </a:rPr>
                        <a:t>Vendor publishes pediatric protocols; shorter scans are the main potential pediatric benefit</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AiCE</a:t>
                      </a:r>
                    </a:p>
                  </a:txBody>
                  <a:tcPr marL="45720" marR="45720" marT="18288" marB="18288" anchor="t"/>
                </a:tc>
                <a:tc>
                  <a:txBody>
                    <a:bodyPr wrap="square"/>
                    <a:lstStyle/>
                    <a:p>
                      <a:r>
                        <a:rPr sz="792" b="0" i="0">
                          <a:solidFill>
                            <a:srgbClr val="1A1A1A"/>
                          </a:solidFill>
                          <a:latin typeface="Helvetica Neue"/>
                        </a:rPr>
                        <a:t>Canon Medical</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Deep-learning reconstruction for both CT (noise, dose) and MRI (noise, resolution, scan time)</a:t>
                      </a:r>
                    </a:p>
                  </a:txBody>
                  <a:tcPr marL="45720" marR="45720" marT="18288" marB="18288" anchor="t"/>
                </a:tc>
                <a:tc>
                  <a:txBody>
                    <a:bodyPr wrap="square"/>
                    <a:lstStyle/>
                    <a:p>
                      <a:r>
                        <a:rPr sz="792" b="0" i="0">
                          <a:solidFill>
                            <a:srgbClr val="1A1A1A"/>
                          </a:solidFill>
                          <a:latin typeface="Helvetica Neue"/>
                        </a:rPr>
                        <a:t>Vendor publishes pediatric CT galleries; protocol and version determine what is available</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SmartSpeed / Precise Image</a:t>
                      </a:r>
                    </a:p>
                  </a:txBody>
                  <a:tcPr marL="45720" marR="45720" marT="18288" marB="18288" anchor="t"/>
                </a:tc>
                <a:tc>
                  <a:txBody>
                    <a:bodyPr wrap="square"/>
                    <a:lstStyle/>
                    <a:p>
                      <a:r>
                        <a:rPr sz="792" b="0" i="0">
                          <a:solidFill>
                            <a:srgbClr val="1A1A1A"/>
                          </a:solidFill>
                          <a:latin typeface="Helvetica Neue"/>
                        </a:rPr>
                        <a:t>Philips</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MRI acceleration with deep-learning reconstruction (SmartSpeed); CT reconstruction at reduced dose (Precise Image)</a:t>
                      </a:r>
                    </a:p>
                  </a:txBody>
                  <a:tcPr marL="45720" marR="45720" marT="18288" marB="18288" anchor="t"/>
                </a:tc>
                <a:tc>
                  <a:txBody>
                    <a:bodyPr wrap="square"/>
                    <a:lstStyle/>
                    <a:p>
                      <a:r>
                        <a:rPr sz="792" b="0" i="0">
                          <a:solidFill>
                            <a:srgbClr val="1A1A1A"/>
                          </a:solidFill>
                          <a:latin typeface="Helvetica Neue"/>
                        </a:rPr>
                        <a:t>Sold across ages; pediatric protocols are the vendor's own, not a separate indication</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SubtleMR / SwiftMR</a:t>
                      </a:r>
                    </a:p>
                  </a:txBody>
                  <a:tcPr marL="45720" marR="45720" marT="18288" marB="18288" anchor="t"/>
                </a:tc>
                <a:tc>
                  <a:txBody>
                    <a:bodyPr wrap="square"/>
                    <a:lstStyle/>
                    <a:p>
                      <a:r>
                        <a:rPr sz="792" b="0" i="0">
                          <a:solidFill>
                            <a:srgbClr val="1A1A1A"/>
                          </a:solidFill>
                          <a:latin typeface="Helvetica Neue"/>
                        </a:rPr>
                        <a:t>Subtle Medical / AIRS Medical</a:t>
                      </a:r>
                    </a:p>
                  </a:txBody>
                  <a:tcPr marL="45720" marR="45720" marT="18288" marB="18288" anchor="t"/>
                </a:tc>
                <a:tc>
                  <a:txBody>
                    <a:bodyPr wrap="square"/>
                    <a:lstStyle/>
                    <a:p>
                      <a:r>
                        <a:rPr sz="792" b="0" i="0">
                          <a:solidFill>
                            <a:srgbClr val="1A1A1A"/>
                          </a:solidFill>
                          <a:latin typeface="Helvetica Neue"/>
                        </a:rPr>
                        <a:t>image quality: dose, noise, speed</a:t>
                      </a:r>
                    </a:p>
                  </a:txBody>
                  <a:tcPr marL="45720" marR="45720" marT="18288" marB="18288" anchor="t"/>
                </a:tc>
                <a:tc>
                  <a:txBody>
                    <a:bodyPr wrap="square"/>
                    <a:lstStyle/>
                    <a:p>
                      <a:r>
                        <a:rPr sz="792" b="0" i="0">
                          <a:solidFill>
                            <a:srgbClr val="1A1A1A"/>
                          </a:solidFill>
                          <a:latin typeface="Helvetica Neue"/>
                        </a:rPr>
                        <a:t>Vendor-neutral MRI post-processing: denoising and sharpening images from shorter acquisitions</a:t>
                      </a:r>
                    </a:p>
                  </a:txBody>
                  <a:tcPr marL="45720" marR="45720" marT="18288" marB="18288" anchor="t"/>
                </a:tc>
                <a:tc>
                  <a:txBody>
                    <a:bodyPr wrap="square"/>
                    <a:lstStyle/>
                    <a:p>
                      <a:r>
                        <a:rPr sz="792" b="0" i="0">
                          <a:solidFill>
                            <a:srgbClr val="1A1A1A"/>
                          </a:solidFill>
                          <a:latin typeface="Helvetica Neue"/>
                        </a:rPr>
                        <a:t>No adult-only restriction in the reviewed US indications; SwiftMR's 2026 validation includes ages 0–21</a:t>
                      </a:r>
                    </a:p>
                  </a:txBody>
                  <a:tcPr marL="45720" marR="45720" marT="18288" marB="18288" anchor="t"/>
                </a:tc>
                <a:tc>
                  <a:txBody>
                    <a:bodyPr wrap="square"/>
                    <a:lstStyle/>
                    <a:p>
                      <a:r>
                        <a:rPr sz="792" b="0" i="0">
                          <a:solidFill>
                            <a:srgbClr val="1A1A1A"/>
                          </a:solidFill>
                          <a:latin typeface="Helvetica Neue"/>
                        </a:rPr>
                        <a:t>Deployed, vendor-neutral retrofit</a:t>
                      </a:r>
                    </a:p>
                  </a:txBody>
                  <a:tcPr marL="45720" marR="45720" marT="18288" marB="18288" anchor="t"/>
                </a:tc>
              </a:tr>
              <a:tr h="658368">
                <a:tc>
                  <a:txBody>
                    <a:bodyPr wrap="square"/>
                    <a:lstStyle/>
                    <a:p>
                      <a:r>
                        <a:rPr sz="792" b="0" i="0">
                          <a:solidFill>
                            <a:srgbClr val="1A1A1A"/>
                          </a:solidFill>
                          <a:latin typeface="Helvetica Neue"/>
                        </a:rPr>
                        <a:t>Butterfly iQ3; Clarius Bladder AI</a:t>
                      </a:r>
                    </a:p>
                  </a:txBody>
                  <a:tcPr marL="45720" marR="45720" marT="18288" marB="18288" anchor="t"/>
                </a:tc>
                <a:tc>
                  <a:txBody>
                    <a:bodyPr wrap="square"/>
                    <a:lstStyle/>
                    <a:p>
                      <a:r>
                        <a:rPr sz="792" b="0" i="0">
                          <a:solidFill>
                            <a:srgbClr val="1A1A1A"/>
                          </a:solidFill>
                          <a:latin typeface="Helvetica Neue"/>
                        </a:rPr>
                        <a:t>Butterfly Network / Clarius</a:t>
                      </a:r>
                    </a:p>
                  </a:txBody>
                  <a:tcPr marL="45720" marR="45720" marT="18288" marB="18288" anchor="t"/>
                </a:tc>
                <a:tc>
                  <a:txBody>
                    <a:bodyPr wrap="square"/>
                    <a:lstStyle/>
                    <a:p>
                      <a:r>
                        <a:rPr sz="792" b="0" i="0">
                          <a:solidFill>
                            <a:srgbClr val="1A1A1A"/>
                          </a:solidFill>
                          <a:latin typeface="Helvetica Neue"/>
                        </a:rPr>
                        <a:t>point-of-care ultrasound</a:t>
                      </a:r>
                    </a:p>
                  </a:txBody>
                  <a:tcPr marL="45720" marR="45720" marT="18288" marB="18288" anchor="t"/>
                </a:tc>
                <a:tc>
                  <a:txBody>
                    <a:bodyPr wrap="square"/>
                    <a:lstStyle/>
                    <a:p>
                      <a:r>
                        <a:rPr sz="792" b="0" i="0">
                          <a:solidFill>
                            <a:srgbClr val="1A1A1A"/>
                          </a:solidFill>
                          <a:latin typeface="Helvetica Neue"/>
                        </a:rPr>
                        <a:t>Handheld ultrasound with on-device AI: bladder volume, gestational age, ejection fraction, lung and nerve tools</a:t>
                      </a:r>
                    </a:p>
                  </a:txBody>
                  <a:tcPr marL="45720" marR="45720" marT="18288" marB="18288" anchor="t"/>
                </a:tc>
                <a:tc>
                  <a:txBody>
                    <a:bodyPr wrap="square"/>
                    <a:lstStyle/>
                    <a:p>
                      <a:r>
                        <a:rPr sz="792" b="0" i="0">
                          <a:solidFill>
                            <a:srgbClr val="1A1A1A"/>
                          </a:solidFill>
                          <a:latin typeface="Helvetica Neue"/>
                        </a:rPr>
                        <a:t>The scanners are labeled for adult and pediatric imaging, but each AI tool carries its own age scope and most are adult-only; Clarius Bladder AI covers ages 2 and over [K232257, 2023]</a:t>
                      </a:r>
                    </a:p>
                  </a:txBody>
                  <a:tcPr marL="45720" marR="45720" marT="18288" marB="18288" anchor="t"/>
                </a:tc>
                <a:tc>
                  <a:txBody>
                    <a:bodyPr wrap="square"/>
                    <a:lstStyle/>
                    <a:p>
                      <a:r>
                        <a:rPr sz="792" b="0" i="0">
                          <a:solidFill>
                            <a:srgbClr val="1A1A1A"/>
                          </a:solidFill>
                          <a:latin typeface="Helvetica Neue"/>
                        </a:rPr>
                        <a:t>Scanners widely deployed; AI tools mostly for adults</a:t>
                      </a:r>
                    </a:p>
                  </a:txBody>
                  <a:tcPr marL="45720" marR="45720" marT="18288" marB="18288" anchor="t"/>
                </a:tc>
              </a:tr>
              <a:tr h="416966">
                <a:tc>
                  <a:txBody>
                    <a:bodyPr wrap="square"/>
                    <a:lstStyle/>
                    <a:p>
                      <a:r>
                        <a:rPr sz="792" b="0" i="0">
                          <a:solidFill>
                            <a:srgbClr val="1A1A1A"/>
                          </a:solidFill>
                          <a:latin typeface="Helvetica Neue"/>
                        </a:rPr>
                        <a:t>Arterys Cardio DL</a:t>
                      </a:r>
                    </a:p>
                  </a:txBody>
                  <a:tcPr marL="45720" marR="45720" marT="18288" marB="18288" anchor="t"/>
                </a:tc>
                <a:tc>
                  <a:txBody>
                    <a:bodyPr wrap="square"/>
                    <a:lstStyle/>
                    <a:p>
                      <a:r>
                        <a:rPr sz="792" b="0" i="0">
                          <a:solidFill>
                            <a:srgbClr val="1A1A1A"/>
                          </a:solidFill>
                          <a:latin typeface="Helvetica Neue"/>
                        </a:rPr>
                        <a:t>Arterys (Tempus)</a:t>
                      </a:r>
                    </a:p>
                  </a:txBody>
                  <a:tcPr marL="45720" marR="45720" marT="18288" marB="18288" anchor="t"/>
                </a:tc>
                <a:tc>
                  <a:txBody>
                    <a:bodyPr wrap="square"/>
                    <a:lstStyle/>
                    <a:p>
                      <a:r>
                        <a:rPr sz="792" b="0" i="0">
                          <a:solidFill>
                            <a:srgbClr val="1A1A1A"/>
                          </a:solidFill>
                          <a:latin typeface="Helvetica Neue"/>
                        </a:rPr>
                        <a:t>cardiac / echo</a:t>
                      </a:r>
                    </a:p>
                  </a:txBody>
                  <a:tcPr marL="45720" marR="45720" marT="18288" marB="18288" anchor="t"/>
                </a:tc>
                <a:tc>
                  <a:txBody>
                    <a:bodyPr wrap="square"/>
                    <a:lstStyle/>
                    <a:p>
                      <a:r>
                        <a:rPr sz="792" b="0" i="0">
                          <a:solidFill>
                            <a:srgbClr val="1A1A1A"/>
                          </a:solidFill>
                          <a:latin typeface="Helvetica Neue"/>
                        </a:rPr>
                        <a:t>Cardiac MRI segmentation, flow and volume quantification with a cloud workflow</a:t>
                      </a:r>
                    </a:p>
                  </a:txBody>
                  <a:tcPr marL="45720" marR="45720" marT="18288" marB="18288" anchor="t"/>
                </a:tc>
                <a:tc>
                  <a:txBody>
                    <a:bodyPr wrap="square"/>
                    <a:lstStyle/>
                    <a:p>
                      <a:r>
                        <a:rPr sz="792" b="0" i="0">
                          <a:solidFill>
                            <a:srgbClr val="1A1A1A"/>
                          </a:solidFill>
                          <a:latin typeface="Helvetica Neue"/>
                        </a:rPr>
                        <a:t>Cleared in 2017 with labeling that includes neonates, infants, children and adolescents [K163253, 2017]</a:t>
                      </a:r>
                    </a:p>
                  </a:txBody>
                  <a:tcPr marL="45720" marR="45720" marT="18288" marB="18288" anchor="t"/>
                </a:tc>
                <a:tc>
                  <a:txBody>
                    <a:bodyPr wrap="square"/>
                    <a:lstStyle/>
                    <a:p>
                      <a:r>
                        <a:rPr sz="792" b="0" i="0">
                          <a:solidFill>
                            <a:srgbClr val="1A1A1A"/>
                          </a:solidFill>
                          <a:latin typeface="Helvetica Neue"/>
                        </a:rPr>
                        <a:t>Now a Tempus product</a:t>
                      </a:r>
                    </a:p>
                  </a:txBody>
                  <a:tcPr marL="45720" marR="45720" marT="18288" marB="18288" anchor="t"/>
                </a:tc>
              </a:tr>
              <a:tr h="416966">
                <a:tc>
                  <a:txBody>
                    <a:bodyPr wrap="square"/>
                    <a:lstStyle/>
                    <a:p>
                      <a:r>
                        <a:rPr sz="792" b="0" i="0">
                          <a:solidFill>
                            <a:srgbClr val="1A1A1A"/>
                          </a:solidFill>
                          <a:latin typeface="Helvetica Neue"/>
                        </a:rPr>
                        <a:t>Acorn 3D</a:t>
                      </a:r>
                    </a:p>
                  </a:txBody>
                  <a:tcPr marL="45720" marR="45720" marT="18288" marB="18288" anchor="t"/>
                </a:tc>
                <a:tc>
                  <a:txBody>
                    <a:bodyPr wrap="square"/>
                    <a:lstStyle/>
                    <a:p>
                      <a:r>
                        <a:rPr sz="792" b="0" i="0">
                          <a:solidFill>
                            <a:srgbClr val="1A1A1A"/>
                          </a:solidFill>
                          <a:latin typeface="Helvetica Neue"/>
                        </a:rPr>
                        <a:t>Mighty Oak Medical</a:t>
                      </a:r>
                    </a:p>
                  </a:txBody>
                  <a:tcPr marL="45720" marR="45720" marT="18288" marB="18288" anchor="t"/>
                </a:tc>
                <a:tc>
                  <a:txBody>
                    <a:bodyPr wrap="square"/>
                    <a:lstStyle/>
                    <a:p>
                      <a:r>
                        <a:rPr sz="792" b="0" i="0">
                          <a:solidFill>
                            <a:srgbClr val="1A1A1A"/>
                          </a:solidFill>
                          <a:latin typeface="Helvetica Neue"/>
                        </a:rPr>
                        <a:t>spine / scoliosis</a:t>
                      </a:r>
                    </a:p>
                  </a:txBody>
                  <a:tcPr marL="45720" marR="45720" marT="18288" marB="18288" anchor="t"/>
                </a:tc>
                <a:tc>
                  <a:txBody>
                    <a:bodyPr wrap="square"/>
                    <a:lstStyle/>
                    <a:p>
                      <a:r>
                        <a:rPr sz="792" b="0" i="0">
                          <a:solidFill>
                            <a:srgbClr val="1A1A1A"/>
                          </a:solidFill>
                          <a:latin typeface="Helvetica Neue"/>
                        </a:rPr>
                        <a:t>Automated vertebral segmentation from CT to build patient-specific 3D models and surgical guides</a:t>
                      </a:r>
                    </a:p>
                  </a:txBody>
                  <a:tcPr marL="45720" marR="45720" marT="18288" marB="18288" anchor="t"/>
                </a:tc>
                <a:tc>
                  <a:txBody>
                    <a:bodyPr wrap="square"/>
                    <a:lstStyle/>
                    <a:p>
                      <a:r>
                        <a:rPr sz="792" b="0" i="0">
                          <a:solidFill>
                            <a:srgbClr val="1A1A1A"/>
                          </a:solidFill>
                          <a:latin typeface="Helvetica Neue"/>
                        </a:rPr>
                        <a:t>Decision summaries state a pediatric population; used for planning pediatric deformity surgery [K260322, 2026]</a:t>
                      </a:r>
                    </a:p>
                  </a:txBody>
                  <a:tcPr marL="45720" marR="45720" marT="18288" marB="18288" anchor="t"/>
                </a:tc>
                <a:tc>
                  <a:txBody>
                    <a:bodyPr wrap="square"/>
                    <a:lstStyle/>
                    <a:p>
                      <a:r>
                        <a:rPr sz="792" b="0" i="0">
                          <a:solidFill>
                            <a:srgbClr val="1A1A1A"/>
                          </a:solidFill>
                          <a:latin typeface="Helvetica Neue"/>
                        </a:rPr>
                        <a:t>Surgical planning</a:t>
                      </a:r>
                    </a:p>
                  </a:txBody>
                  <a:tcPr marL="45720" marR="45720" marT="18288" marB="18288" anchor="t"/>
                </a:tc>
              </a:tr>
              <a:tr h="296265">
                <a:tc>
                  <a:txBody>
                    <a:bodyPr wrap="square"/>
                    <a:lstStyle/>
                    <a:p>
                      <a:r>
                        <a:rPr sz="792" b="0" i="0">
                          <a:solidFill>
                            <a:srgbClr val="1A1A1A"/>
                          </a:solidFill>
                          <a:latin typeface="Helvetica Neue"/>
                        </a:rPr>
                        <a:t>Second Opinion Pediatric</a:t>
                      </a:r>
                    </a:p>
                  </a:txBody>
                  <a:tcPr marL="45720" marR="45720" marT="18288" marB="18288" anchor="t"/>
                </a:tc>
                <a:tc>
                  <a:txBody>
                    <a:bodyPr wrap="square"/>
                    <a:lstStyle/>
                    <a:p>
                      <a:r>
                        <a:rPr sz="792" b="0" i="0">
                          <a:solidFill>
                            <a:srgbClr val="1A1A1A"/>
                          </a:solidFill>
                          <a:latin typeface="Helvetica Neue"/>
                        </a:rPr>
                        <a:t>Pearl</a:t>
                      </a:r>
                    </a:p>
                  </a:txBody>
                  <a:tcPr marL="45720" marR="45720" marT="18288" marB="18288" anchor="t"/>
                </a:tc>
                <a:tc>
                  <a:txBody>
                    <a:bodyPr wrap="square"/>
                    <a:lstStyle/>
                    <a:p>
                      <a:r>
                        <a:rPr sz="792" b="0" i="0">
                          <a:solidFill>
                            <a:srgbClr val="1A1A1A"/>
                          </a:solidFill>
                          <a:latin typeface="Helvetica Neue"/>
                        </a:rPr>
                        <a:t>dental / craniofacial</a:t>
                      </a:r>
                    </a:p>
                  </a:txBody>
                  <a:tcPr marL="45720" marR="45720" marT="18288" marB="18288" anchor="t"/>
                </a:tc>
                <a:tc>
                  <a:txBody>
                    <a:bodyPr wrap="square"/>
                    <a:lstStyle/>
                    <a:p>
                      <a:r>
                        <a:rPr sz="792" b="0" i="0">
                          <a:solidFill>
                            <a:srgbClr val="1A1A1A"/>
                          </a:solidFill>
                          <a:latin typeface="Helvetica Neue"/>
                        </a:rPr>
                        <a:t>Detects caries and other findings on pediatric dental radiographs</a:t>
                      </a:r>
                    </a:p>
                  </a:txBody>
                  <a:tcPr marL="45720" marR="45720" marT="18288" marB="18288" anchor="t"/>
                </a:tc>
                <a:tc>
                  <a:txBody>
                    <a:bodyPr wrap="square"/>
                    <a:lstStyle/>
                    <a:p>
                      <a:r>
                        <a:rPr sz="792" b="0" i="0">
                          <a:solidFill>
                            <a:srgbClr val="1A1A1A"/>
                          </a:solidFill>
                          <a:latin typeface="Helvetica Neue"/>
                        </a:rPr>
                        <a:t>Specifically indicated for pediatric use [K243893, 2025]</a:t>
                      </a:r>
                    </a:p>
                  </a:txBody>
                  <a:tcPr marL="45720" marR="45720" marT="18288" marB="18288" anchor="t"/>
                </a:tc>
                <a:tc>
                  <a:txBody>
                    <a:bodyPr wrap="square"/>
                    <a:lstStyle/>
                    <a:p>
                      <a:r>
                        <a:rPr sz="792" b="0" i="0">
                          <a:solidFill>
                            <a:srgbClr val="1A1A1A"/>
                          </a:solidFill>
                          <a:latin typeface="Helvetica Neue"/>
                        </a:rPr>
                        <a:t>Deployed in dentistry</a:t>
                      </a:r>
                    </a:p>
                  </a:txBody>
                  <a:tcPr marL="45720" marR="45720" marT="18288" marB="18288" anchor="t"/>
                </a:tc>
              </a:tr>
            </a:tbl>
          </a:graphicData>
        </a:graphic>
      </p:graphicFrame>
      <p:sp>
        <p:nvSpPr>
          <p:cNvPr id="5" name="TextBox 4"/>
          <p:cNvSpPr txBox="1"/>
          <p:nvPr/>
        </p:nvSpPr>
        <p:spPr>
          <a:xfrm>
            <a:off x="411480" y="6009436"/>
            <a:ext cx="11368735" cy="429514"/>
          </a:xfrm>
          <a:prstGeom prst="rect">
            <a:avLst/>
          </a:prstGeom>
          <a:noFill/>
        </p:spPr>
        <p:txBody>
          <a:bodyPr wrap="square" lIns="45720" rIns="45720" tIns="27432" bIns="27432" anchor="t">
            <a:spAutoFit/>
          </a:bodyPr>
          <a:lstStyle/>
          <a:p>
            <a:pPr algn="l">
              <a:spcAft>
                <a:spcPts val="338"/>
              </a:spcAft>
            </a:pPr>
            <a:r>
              <a:rPr sz="968" b="0" i="0">
                <a:solidFill>
                  <a:srgbClr val="1A1A1A"/>
                </a:solidFill>
                <a:latin typeface="Helvetica Neue"/>
              </a:rPr>
              <a:t>Square brackets identify the FDA submission and decision year supporting the pediatric description. No brackets means no US authorization was identified. Clinical use reflects our assessment, not measured adoption. Many large-vendor authorizations cover whole scanners with pediatric imaging listed as one application.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Thank you!</a:t>
            </a:r>
          </a:p>
        </p:txBody>
      </p:sp>
      <p:sp>
        <p:nvSpPr>
          <p:cNvPr id="3"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
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194560"/>
            <a:ext cx="9997135" cy="1188720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solidFill>
                  <a:srgbClr val="FFFFFF"/>
                </a:solidFill>
                <a:latin typeface="Helvetica Neue"/>
              </a:rPr>
              <a:t>Artificial Intelligence in Pediatric Radiology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6616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1A1A1A"/>
                </a:solidFill>
                <a:latin typeface="Helvetica Neue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48056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1A1A1A"/>
                </a:solidFill>
                <a:latin typeface="Helvetica Neue"/>
              </a:rPr>
              <a:t>Joseph Rich, Dr. Amit 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6B6B"/>
                </a:solidFill>
                <a:latin typeface="Helvetica Neue"/>
              </a:rPr>
              <a:t>October 8, 2026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 / 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77824"/>
            <a:ext cx="11368735" cy="721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Describe the big players in radiology AI, both general and pediatric</a:t>
            </a:r>
          </a:p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Summarize what radiology AI does well and what remains unresolved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77824"/>
            <a:ext cx="11368735" cy="14693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Journals, Preprints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PubMed, Embase, arXiv, medRxiv</a:t>
            </a:r>
          </a:p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Conferences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NeurIPS, ICLR, ICML, CVPR, MICCAI, MIDL</a:t>
            </a:r>
          </a:p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Datasets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Hand-curated list</a:t>
            </a:r>
          </a:p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Newsletters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The Imaging Wire, RSNA News, TLDR AI, TLDR Tech, Signify Research, ESR / ECR, Radiology Business</a:t>
            </a:r>
          </a:p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Commercial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FDA list of AI-enabled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20366"/>
            <a:ext cx="11368735" cy="3670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Date range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January 1 2008 – September 30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0548"/>
            <a:ext cx="11368735" cy="3670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Search strategy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radiology AND AI [AND pediatric]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00730"/>
            <a:ext cx="11368735" cy="18573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radiology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(radiology[tiab] OR radiological[tiab] OR radiograph*[tiab] OR "medical imaging"[tiab] OR "diagnostic imaging"[tiab] OR tomography[tiab] OR "magnetic resonance"[tiab] OR MRI[tiab] OR "MR imaging"[tiab] OR "MR images"[tiab] OR MRIs[tiab] OR "MR image"[tiab] OR "MR scan"[tiab] OR "MR scans"[tiab] OR "computed tomography"[tiab] OR CT[tiab] OR ultrasound[tiab] OR ultrasonograph*[tiab] OR sonograph*[tiab] OR echocardiograph*[tiab] OR mammograph*[tiab] OR "chest x-ray"[tiab] OR "x-ray"[tiab] OR fluoroscop*[tiab] OR scintigraph*[tiab] OR "positron emission"[tiab] OR PET[tiab] OR SPECT[tiab] OR angiograph*[tiab] OR neuroimaging[tiab] OR tractograph*[tiab] OR elastograph*[tiab] OR "fMRI"[tiab] OR "functional MRI"[tiab] OR "functional magnetic resonance"[tiab] OR connectome*[tiab] OR "diffusion tensor"[tiab] OR DTI[tiab] OR "bone age"[tiab] OR "skeletal age"[tiab] OR "skeletal maturity"[tiab] OR "barium enema"[tiab])</a:t>
            </a:r>
          </a:p>
          <a:p>
            <a:pPr algn="l">
              <a:spcAft>
                <a:spcPts val="315"/>
              </a:spcAft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AI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("artificial intelligence"[tiab] OR "machine learning"[tiab] OR "deep learning"[tiab] OR "convolutional neural network"[tiab] OR "convolutional neural networks"[tiab] OR "neural network"[tiab] OR "neural networks"[tiab] OR "computer-aided diagnosis"[tiab] OR "computer aided diagnosis"[tiab] OR "computer-aided detection"[tiab] OR radiomic*[tiab] OR "computer vision"[tiab] OR "large language model"[tiab] OR "large language models"[tiab] OR "foundation model"[tiab] OR "foundation models"[tiab] OR "transfer learning"[tiab] OR "vision transformer"[tiab] OR "self-supervised"[tiab] OR "random forest"[tiab] OR "support vector machine"[tiab] OR "gradient boosting"[tiab] OR "natural language processing"[tiab])</a:t>
            </a:r>
          </a:p>
          <a:p>
            <a:pPr algn="l">
              <a:spcAft>
                <a:spcPts val="315"/>
              </a:spcAft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pediatric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(pediatric*[tiab] OR paediatric*[tiab] OR child*[tiab] OR infant*[tiab] OR neonat*[tiab] OR adolescen*[tiab] OR fetal[tiab] OR foetal[tiab] OR fetus*[tiab] OR foetus*[tiab] OR newborn*[tiab] OR preterm[tiab] OR "premature infant"[tiab] OR "premature infants"[tiab] OR "premature birth"[tiab] OR "premature neonate"[tiab] OR "premature neonates"[tiab] OR prenatal[tiab] OR antenatal[tiab] OR perinatal[tiab] OR youth[tiab] OR juvenile[tiab] OR "children's hospital"[tiab] OR schoolchild*[tiab] OR toddler*[tiab])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Study selection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pic>
        <p:nvPicPr>
          <p:cNvPr id="4" name="review_prisma" descr="review_pri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135" y="877824"/>
            <a:ext cx="4943425" cy="4266956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Radiology AI publication counts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pic>
        <p:nvPicPr>
          <p:cNvPr id="4" name="radiology_ai_trend" descr="radiology_ai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68" y="877824"/>
            <a:ext cx="8084758" cy="4491532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Which journals publish pediatric radiology AI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pic>
        <p:nvPicPr>
          <p:cNvPr id="4" name="journal_impact" descr="journal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830" y="877824"/>
            <a:ext cx="6764033" cy="3705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56490"/>
            <a:ext cx="11368735" cy="6800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x = OpenAlex 2-year mean citedness (a free JIF analogue; runs below the published JIF). y = cumulative pediatric radiology-AI papers 2015-2026 (PubMed, strict title/abstract query). The 33 journals with at least 25 of them are shown, carrying 1,807 of 5,099; the rest is a long tail. Largest: Pediatric Radiology (196); median impact 3.7, 1 at 10 or above – this work lands mostly in mid-impact specialty and technical journals. A further 3 conference proceedings and preprint servers clear the threshold (94 papers) but have no impact number of any kind and are not plotted. The same chart animated year by year: figures/journal_impact.gif.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publications, stratified by modality and task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pic>
        <p:nvPicPr>
          <p:cNvPr id="4" name="ped_modality_by_task" descr="ped_modality_by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63" y="877824"/>
            <a:ext cx="5074567" cy="2638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589751"/>
            <a:ext cx="11368735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Same construction, restricted to the pediatric subset (10,737 papers incl. 596 preprints). Top pediatric modalities: MRI 41%, CT 16%, ultrasound 13%, x-ray / radiography 12%. Mammography is omitted: its 79 pediatric-query hits (of 10,737) are adult breast-imaging papers whose abstracts mention children.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68668"/>
            <a:ext cx="3630981" cy="103441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detection / diagnosis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is a finding present now, and which one (label or box): fracture, pneumonia, tumor; includes triage and screening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segmentation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outline a structure or lesion (a mask)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measurement / quantification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a number from the image: bone age, Cobb angle, organ volume, fetal biometry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5341" y="4068668"/>
            <a:ext cx="3630981" cy="11715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outcome prediction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a future risk, response, or survival estimate from the image (prognosis, radiomics signatures)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reconstruction / imputation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a better or missing image: lower dose, faster scans, denoising, synthetic CT/MR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report generation / LLM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text: draft, summarize, or extract from radiology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9203" y="4068668"/>
            <a:ext cx="3630981" cy="11715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foundation model / vision-language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a large pretrained model reused across tasks (segment-anything, self-supervised)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agent / autonomous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multi-step actions taken without a human in the loop</a:t>
            </a:r>
          </a:p>
          <a:p>
            <a:pPr algn="l" marL="256032" indent="-256032">
              <a:spcAft>
                <a:spcPts val="315"/>
              </a:spcAft>
              <a:buChar char="•"/>
            </a:pPr>
            <a:r>
              <a:rPr sz="900" b="1" i="0">
                <a:solidFill>
                  <a:srgbClr val="1A1A1A"/>
                </a:solidFill>
                <a:latin typeface="Helvetica Neue"/>
              </a:rPr>
              <a:t>workflow / non-interpretive</a:t>
            </a:r>
            <a:r>
              <a:rPr sz="900" b="0" i="0">
                <a:solidFill>
                  <a:srgbClr val="1A1A1A"/>
                </a:solidFill>
                <a:latin typeface="Helvetica Neue"/>
              </a:rPr>
              <a:t>: protocoling, scheduling, ordering, decision support, education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publications, stratified by medical problem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pic>
        <p:nvPicPr>
          <p:cNvPr id="4" name="ped_problems" descr="ped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112" y="877824"/>
            <a:ext cx="7193470" cy="4603821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radiology AI papers, 2008-2022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/>
                <a:gridCol w="512064"/>
                <a:gridCol w="4748174"/>
                <a:gridCol w="2099955"/>
                <a:gridCol w="3496477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14,326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1023.0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survey on deep learning in medical image analysis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Anal.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can deep learning do across medical imaging? (the field's reference survey)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5,658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446.6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Swin-Unet: Unet-like Pure Transformer for Medical Image Segmentation (2021)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ECCV Workshops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2,990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340.4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in Medical Image Analysis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Annual Review of Biomedical Engineering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does deep learning apply to medical image analysis? (review)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2,553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290.0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Swin UNETR: Swin Transformers for Semantic Segmentation of Brain Tumors in MRI Images (2022)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BrainLes@MICCAI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2,769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272.4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COVID-Net: a tailored deep convolutional neural network design for detection of COVID-19 cases from chest X-ray images (2020)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Scientific Reports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classification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 CNN detect COVID-19 on chest X-ray? (COVID-Net)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3,634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236.9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ChestX-Ray8: Hospital-Scale Chest X-Ray Database and Benchmarks on Weakly-Supervised Classification and Localization of Common Thorax Diseases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Computer Vision and Pattern Recognition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classification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10,044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226.3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nnU-Net: a self-configuring method for deep learning-based biomedical image segmentation (2020)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Methods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one self-configuring method segment any organ or lesion without hand tuning? (nnU-Net)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4,100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170.2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Convolutional neural networks: an overview and application in radiology (2018)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Insights into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tutorial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is a convolutional neural network, explained for radiologists?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5,587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158.4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Computational Radiomics System to Decode the Radiographic Phenotype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Cancer Research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radiomics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standardized image features (radiomics) be extracted reproducibly? (PyRadiomics)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3,322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149.0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in radiology (2018)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Reviews. Cancer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review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will AI change radiology practice? (Hosny et al.)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571999"/>
            <a:ext cx="11368735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FWCI = field-weighted citation impact (OpenAlex): citations relative to the world average for papers of the same field and year (1 = average)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radiology AI papers, 2023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75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797041"/>
                <a:gridCol w="2116341"/>
                <a:gridCol w="3527236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1,608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615.8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Segment anything in medical images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Communications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foundation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 prompt-based 'segment anything' model work on medical images? (MedSAM)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2,099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243.8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Foundation models for generalist medical artificial intelligence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foundation model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would a single generalist medical AI model that handles images, text and records look like? (perspective)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118.5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Redefining Radiology: A Review of Artificial Intelligence Integration in Medical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Diagnostics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Where does AI fit in radiology workflow, from acquisition to reporting? (review)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509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75.2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analysis using deep learning algorithms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in Public Health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562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74.5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Study of CNN and Transfer Learning in Medical Imaging: Advantages, Challenges, Future Scope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Sustainability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861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69.6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Segment Anything Model for medical image analysis: an experimental study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Anal.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well does the unmodified Segment Anything Model work on medical images? (it needs prompts and adaptation)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573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MRI-based brain tumor detection using convolutional deep learning methods and chosen machine learning techniques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BMC Medical Informatics and Decision Making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460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44.5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Tumor Detection Based on Deep Learning Approaches and Magnetic Resonance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Cancers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391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42.2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SAM-Adapter: Adapting Segment Anything in Underperformed Scenes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 IEEE/CVF International Conference on Computer Vision Workshops (ICCVW)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442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37.4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generalist vision–language foundation model for diverse biomedical tasks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radiology AI papers, 2024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75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797041"/>
                <a:gridCol w="2116341"/>
                <a:gridCol w="3527236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1,074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225.2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VM-UNet: Vision Mamba UNet for Medical Image Segmentation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ACM Transactions on Multimedia Computing, Communications, and Applications (TOMCCAP)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Does a state-space (Mamba) backbone beat convolutions and transformers for medical segmentation?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110.3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Generalist foundation models from a multimodal dataset for 3D computed tomography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Biomedical Engineering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282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74.6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in neuro-oncology: advances and challenges in brain tumor diagnosis, prognosis, and precision treatment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npj Precision Oncology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72.6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METhodological RadiomICs Score (METRICS): a quality scoring tool for radiomics research endorsed by EuSoMII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Insights into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radiomics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should the quality of a radiomics study be scored? (METRICS checklist)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47.6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for medical image segmentation: State-of-the-art advancements and challenges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Informatics in Medicine Unlocked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43.4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Advances in Medical Image Segmentation: A Comprehensive Review of Traditional, Deep Learning and Hybrid Approaches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Bioengineering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Employing deep learning and transfer learning for accurate brain tumor detection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Scientific Reports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36.0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semi-supervised learning for medical image segmentation: A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Expert systems with applications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review of deep learning-based information fusion techniques for multimodal medical image classification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Comput. Biol.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298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31.8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Vision-language models for medical report generation and visual question answering: a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Artif. Intell.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report generation / LLM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can vision-language models do for report generation and visual question answering? (review)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radiology AI papers, 2025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792244"/>
                <a:gridCol w="2119445"/>
                <a:gridCol w="3528929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258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Convolutional Neural Networks in Medical Image Analysis: A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Inf.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158.8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Multi-model assurance analysis showing large language models are highly vulnerable to adversarial hallucination attacks during clinical decision support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Communications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LLM / reports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108.2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Multimodal generative AI for medical image interpretation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313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94.9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Towards generalist foundation model for radiology by leveraging web-scale 2D&amp;3D medical data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Communications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foundation model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 radiology foundation model trained on web-scale 2D and 3D scans generalize across modalities and tasks? (RadFM)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87.2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Development and validation of an autonomous artificial intelligence agent for clinical decision-making in oncology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Cancer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agent / autonomous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an autonomous LLM agent that calls imaging and other tools support oncology decisions? (validation study)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65.9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review of deep learning for brain tumor analysis in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npj Precision Oncology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Med-R1: Reinforcement Learning for Generalizable Medical Reasoning in Vision-Language Models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Transactions on Medical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LLM / reports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64.6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in healthcare and medicine: clinical applications, therapeutic advances, and future perspectives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European Journal of Medical Research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54.0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Segmentation: A Comprehensive Review of Deep Learning-Based Methods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Tomography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39.5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Advanced Brain Tumor Classification in MR Images Using Transfer Learning and Pre-Trained Deep CNN Models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Cancers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radiology AI papers, 2026 (year to date)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792244"/>
                <a:gridCol w="2119445"/>
                <a:gridCol w="3528929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102.6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generalizable foundation model for analysis of human brain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Neuroscience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90.5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Reporting checklist for foundation and large language models in medical research (REFINE): an international consensus guideline.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Diagnostic and Interventional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LLM / reports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76.1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Scaling medical AI across clinical contexts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foundation model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can medical AI be scaled across hospitals, populations and tasks without breaking? (perspective)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67.3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Applications and limitations of large language models to integrate medical context: a comprehensive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Iran Journal of Computer Science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62.7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hybrid deep learning framework based on VGG19 and U-Net for accurate brain tumor segmentation in MRI images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Magnetic Resonance Letters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58.8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Explainable artificial intelligence (XAI) in medical imaging: a systematic review of techniques, applications, and challenges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BMC Medical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Which explainability methods are used in medical imaging AI and do they help? (review)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45.3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Explainable AI-driven MRI-based brain tumor classification: a novel deep learning approach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Artif. Intell.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44.2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Agentic AI in Radiology: Evolution from Large Language Models to Future Clinical Integration.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Radiology: Artificial Intelligence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agent / autonomous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are agentic AI systems in radiology and what stands between them and clinical use? (review)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28.4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Leveraging multi-modal foundation models for analysing spatial multi-omic and histopathology data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Biomedical Engineering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BIBSNet: A deep learning baby image brain segmentation network for MRI scans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Developmental Cognitive Neuroscience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one network segment infant brain MRI across the first years of life? (BIBSNet)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pediatric radiology AI papers, 2008-2022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792244"/>
                <a:gridCol w="2119445"/>
                <a:gridCol w="3528929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328.6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Performance of a Deep-Learning Neural Network Model in Assessing Skeletal Maturity on Pediatric Hand Radiographs.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 CNN assess skeletal maturity as accurately as radiologists?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431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321.5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Fully Automated Deep Learning System for Bone Age Assessment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Journal of digital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Fully automated bone age from hand radiographs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403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221.2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for automated skeletal bone age assessment in X-ray images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Anal.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Deep learning for automated bone age (BoNet)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73.0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Computerized Bone Age Estimation Using Deep Learning Based Program: Evaluation of the Accuracy and Efficiency. (2017)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AJR. American journal of roentgenology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Is a commercial deep-learning bone-age program accurate and faster in practice?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57.8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Review on Deep-Learning Algorithms for Fetal Ultrasound-Image Analysis (2022)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Image Anal.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352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57.4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Standard Plane Localization in Fetal Ultrasound via Domain Transferred Deep Neural Networks (2015)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journal of biomedical and health informatics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Automatic Fetal Ultrasound Standard Plane Recognition Based on Deep Learning and IIoT (2021)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Transactions on Industrial Informatics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30.3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Evaluation of deep convolutional neural networks for automatic classification of common maternal fetal ultrasound planes (2020)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Scientific Reports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458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RSNA Pediatric Bone Age Machine Learning Challenge. (2019)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How well can crowdsourced AI estimate bone age? (RSNA challenge, 260 teams)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253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An ensemble of neural networks provides expert-level prenatal detection of complex congenital heart disease (2021)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detection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pediatric radiology AI papers, 2023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3" cy="403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09651"/>
                <a:gridCol w="4814686"/>
                <a:gridCol w="2124126"/>
                <a:gridCol w="3540210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36.6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Assessment Using Artificial Intelligence in Korean Pediatric Population: A Comparison of Deep-Learning Models Trained With Healthy Chronological and Greulich-Pyle Ages as Labels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Korean Journal of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33.6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Standard fetal ultrasound plane classification based on stacked ensemble of deep learning models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Expert systems with applications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ultrasound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an ensemble of networks classify the standard fetal ultrasound planes?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33.5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assessment based on deep neural networks with annotation-free cascaded critical bone region extraction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in Artificial Intelligence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Review on deep learning fetal brain segmentation from Magnetic Resonance images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Artif. Intell.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Transfer learning for accurate fetal organ classification from ultrasound images: a potential tool for maternal healthcare providers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Scientific Reports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Learning-Based Multiclass Brain Tissue Segmentation in Fetal MRIs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Italian National Conference on Sensors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9.7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Deeplasia: deep learning for bone age assessment validated on skeletal dysplasias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for estimation of fetal weight throughout the pregnancy from fetal abdominal ultrasound.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American Journal of Obstetrics &amp; Gynecology MFM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model for prenatal congenital heart disease (CHD) screening can be applied to retrospective imaging from the community setting, outperforming initial clinical detection in a well-annotated cohort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in Obstetrics and Gynecology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ultrasound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Does a prenatal congenital heart disease screening model work on retrospective real-world scans?</a:t>
                      </a:r>
                    </a:p>
                  </a:txBody>
                  <a:tcPr marL="45720" marR="45720" marT="18288" marB="18288" anchor="t"/>
                </a:tc>
              </a:tr>
              <a:tr h="603503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MRI-Based End-To-End Pediatric Low-Grade Glioma Segmentation and Classification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Canadian Association of Radiologists journal = Journal l'Association canadienne des radiologistes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pediatric radiology AI papers, 2024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09651"/>
                <a:gridCol w="4819178"/>
                <a:gridCol w="2121220"/>
                <a:gridCol w="3538625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Intrapartum Ultrasound Image Segmentation of Pubic Symphysis and Fetal Head Using Dual Student-Teacher Framework with CNN-ViT Collaborative Learning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International Conference on Medical Image Computing and Computer-Assisted Intervention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FetalBrainAwareNet: Bridging GANs with anatomical insight for fetal ultrasound brain plane synthesis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Comput. Medical Imaging Graph.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assisted common maternal fetal planes prediction from ultrasound images based on information fusion of customized convolutional neural networks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in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denoising reconstruction for improved image quality in fetal cardiac cine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in Cardiovascular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reconstruction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Does deep-learning denoising improve fetal cardiac cine MRI?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15.1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RTSeg-net: A lightweight network for real-time segmentation of fetal head and pubic symphysis from intrapartum ultrasound images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Comput. Biol. Medicine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FetSAM: Advanced Segmentation Techniques for Fetal Head Biometrics in Ultrasound Imagery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Open Journal of Engineering in Medicine and Biology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learning-based automated lesion segmentation on pediatric focal cortical dysplasia II preoperative MRI: a reliable approach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Insights into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epilepsy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focal cortical dysplasia lesions be found automatically on preoperative pediatric MRI?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Integration of a Deep Convolutional Neural Network With Adaptive Channel Weight Technique for Automated Identification of Standard Fetal Biometry Planes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Transactions on Instrumentation and Measurement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Explainable AI in Deep Learning Based Classification of Fetal Ultrasound Image Planes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Procedia Computer Science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deep learning framework for identifying and segmenting three vessels in fetal heart ultrasound images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BioMedical Engineering OnLine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pediatric radiology AI papers, 2025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758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48056"/>
                <a:gridCol w="4801516"/>
                <a:gridCol w="2113446"/>
                <a:gridCol w="3525656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171.3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 comprehensive review of artificial intelligence - based algorithm towards fetal facial anomalies detection (2013–2024)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survey / review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85.1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M-CNN-RF: A hybrid deep learning model for accurate pediatric skeletal age estimation using hand bone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Alexandria Engineering Journal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Assessment Using Various Medical Imaging Techniques Enhanced by Artificial Intelligence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Diagnostics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Advancing prenatal healthcare by explainable AI enhanced fetal ultrasound image segmentation using U-Net++ with attention mechanisms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Scientific Reports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FetalMovNet: A Novel Deep Learning Model Based on Attention Mechanism for Fetal Movement Classification in US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IEEE Access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Effectiveness and clinical impact of using deep learning for first-trimester fetal ultrasound image quality auditing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BMC Pregnancy and Childbirth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MRI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Association between deep learning radiomics based on placental MRI and preeclampsia with fetal growth restriction: A multicenter study.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European Journal of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radiomics</a:t>
                      </a:r>
                    </a:p>
                  </a:txBody>
                  <a:tcPr marL="45720" marR="45720" marT="18288" marB="18288" anchor="t"/>
                </a:tc>
              </a:tr>
              <a:tr h="603503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8.7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Prenatal detection of congenital heart defects using the deep learning-based image and video analysis: protocol for Clinical Artificial Intelligence in Fetal Echocardiography (CAIFE), an international multicentre multidisciplinary study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BMJ Open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ultrasound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deep learning on prenatal ultrasound video detect congenital heart defects?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Multi-view deep learning framework for the detection of chest X-rays compatible with pediatric pulmonary tuberculosis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Nature Communications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detection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Evaluation of Image Quality and Scan Time Efficiency in Accelerated 3D T1-Weighted Pediatric Brain MRI Using Deep Learning-Based Reconstruction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Korean Journal of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reconstruction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Most-cited pediatric radiology AI papers, 2026 (year to date)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3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"/>
                <a:gridCol w="409651"/>
                <a:gridCol w="4814686"/>
                <a:gridCol w="2124126"/>
                <a:gridCol w="3540210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Venue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answers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34.3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Artificial intelligence and radiomics for pediatric brain tumor classification and molecular characterization: a systematic review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Neuroradiology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oncology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AI and radiomics classify pediatric brain tumors and their molecular subtypes? (review)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27.9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 assessment of fetal brain maturation on 3D ultrasound volumes in early-onset fetal growth restriction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in Obstetrics and Gynecology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fetal ultrasound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deep learning grade fetal brain maturation on 3D ultrasound in growth restriction?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Foundation models in radiology: a primer for pediatric radiologists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foundation model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What should a pediatric radiologist know about foundation models? (primer)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Learning-Based Multi-Class Pediatric Wrist Fracture Subtype Classification: A Pilot Study Comparing Convolutional Neural Network Architectures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Journal of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fracture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17.3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Current applications and challenges of artificial intelligence applied to diagnostics in pediatric musculoskeletal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classification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Data mining in pediatric radiology in the era of artificial intelligence.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other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Acquisition time/dose reduction in pediatric PET imaging using patch-based deep learning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EJNMMI Physics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reconstruction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pediatric PET use one fifth of the counts with patch-based deep-learning denoising?</a:t>
                      </a:r>
                    </a:p>
                  </a:txBody>
                  <a:tcPr marL="45720" marR="45720" marT="18288" marB="18288" anchor="t"/>
                </a:tc>
              </a:tr>
              <a:tr h="46634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Optimizing pediatric chest CT: superior image quality and lower radiation dose with deep learning reconstruction.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European Journal of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reconstruction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Can deep-learning reconstruction lower pediatric chest CT dose while improving image quality?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Enhancing efficiency in pediatric brain tumor segmentation using a pathologically diverse single-center clinical dataset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Neuro-Oncology Advances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segmentation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11.7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Automated bone age assessment in rare pediatric growth disorders: a comparative study using Deeplasia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Frontiers in Endocrinology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1">
                          <a:solidFill>
                            <a:srgbClr val="1A1A1A"/>
                          </a:solidFill>
                          <a:latin typeface="Helvetica Neue"/>
                        </a:rPr>
                        <a:t>bone age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: Does an open bone-age model hold up in rare growth disorders against several experts? (Deeplasia)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Radiology AI works per year, by conference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pic>
        <p:nvPicPr>
          <p:cNvPr id="4" name="venue_works_by_year" descr="venue_work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26" y="877824"/>
            <a:ext cx="9207642" cy="4603821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NeurIPS: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Conference on Neural Information Processing Systems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58 (2023: 12, 2024: 17, 2025: 29); 0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09651"/>
                <a:gridCol w="1006937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3D-RAD: A Comprehensive 3D Radiology Med-VQA Dataset with Multi-Temporal Analysis and Diverse Diagnostic Tasks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Better Tokens for Better 3D: Advancing Vision-Language Modeling in 3D Medical Imaging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Touchstone Benchmark: Are We on the Right Way for Evaluating AI Algorithms for Medical Segmentation?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0.9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Eye-gaze Guided Multi-modal Alignment for Medical Representation Learning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Enhancing vision-language models for medical imaging: bridging the 3D gap with innovative slice selection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DiffusionBlend: Learning 3D Image Prior through Position-aware Diffusion Score Blending for 3D Computed Tomography Reconstruction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SegVol: Universal and Interactive Volumetric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LVM-Med: Learning Large-Scale Self-Supervised Vision Models for Medical Imaging via Second-order Graph Matching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EHRXQA: A Multi-Modal Question Answering Dataset for Electronic Health Records with Chest X-ray Images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SwiFT: Swin 4D fMRI Transformer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NeuroGraph: Benchmarks for Graph Machine Learning in Brain Connectomics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Knowledge-based in silico models and dataset for the comparative evaluation of mammography AI for a range of breast characteristics, lesion conspicuities and doses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ICLR: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International Conference on Learning Representations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42 (2023: 6, 2024: 3, 2025: 7, 2026: 26); 1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09651"/>
                <a:gridCol w="1006937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Large-scale and Fine-grained Vision-language Pre-training for Enhanced CT Image Understanding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SimXRD-4M: Big Simulated X-ray Diffraction Data and Crystal Symmetry Classification Benchmark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Self-Supervised Diffusion MRI Denoising via Iterative and Stable Refinement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Score-based Self-supervised MRI Denoising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MMed-RAG: Versatile Multimodal RAG System for Medical Vision Language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MediConfusion: Can you trust your AI radiologist? Probing the reliability of multimodal medical foundation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Effect of Intrinsic Dataset Properties on Generalization: Unraveling Learning Differences Between Natural and Medical Images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LeFusion: Controllable Pathology Synthesis via Lesion-Focused Diffusion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Advancing Radiograph Representation Learning with Masked Record Modeling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DDM2: Self-Supervised Diffusion MRI Denoising with Generative Diffusion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AE-FLOW: Autoencoders with Normalizing Flows for Medical Images Anomaly Detection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Improved Training of Physics-Informed Neural Networks Using Energy-Based Priors: a Study on Electrical Impedance Tomography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Fetal-Gauge: A Benchmark For Assessing Vision-Language Models In Fetal Ultrasound ★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ICML: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International Conference on Machine Learning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27 (2023: 2, 2024: 3, 2025: 7, 2026: 15); 0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09651"/>
                <a:gridCol w="1006937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CLIMB: Data Foundations for Large Scale Multimodal Clinical Foundation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MindLLM: A Subject-Agnostic and Versatile Model for fMRI-to-Text Decoding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Raptor: Scalable Train-Free Embeddings for 3D Medical Volumes Leveraging Pretrained 2D Foundation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Efficient Noise Calculation in Deep Learning-based MRI Reconstructions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LangDAug: Langevin Data Augmentation for Multi-Source Domain Generalization in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Staged and Physics-Grounded Learning Framework with Hyperintensity Prior for Pre-Contrast MRI Synthesis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Unsupervised Domain Adaptation for Anatomical Structure Detection in Ultrasound Images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Adaptive Sampling of k-Space in Magnetic Resonance for Rapid Pathology Prediction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ACAT: Adversarial Counterfactual Attention for Classification and Detection in Medical Imaging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Robustness of Deep Learning for Accelerated MRI: Benefits of Diverse Training Data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Learning High-Order Relationships of Brain Regions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Contextualized Policy Recovery: Modeling and Interpreting Medical Decisions with Adaptive Imitation Learning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CVPR: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IEEE/CVF Conference on Computer Vision and Pattern Recognition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154 (2023: 18, 2024: 35, 2025: 42, 2026: 59); 1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48056"/>
                <a:gridCol w="10030967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265.4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Enhanced Contrastive Learning with Multi-view Longitudinal Data for Chest X-ray Report Generation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47.9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Towards Generalizable Tumor Synthesis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14.6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Rethinking Diffusion Model for Multi-Contrast MRI Super-Resolution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13.8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MemSAM: Taming Segment Anything Model for Echocardiography Video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243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Dynamic Graph Enhanced Contrastive Learning for Chest X-Ray Report Generation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75.5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Ambiguous Medical Image Segmentation Using Diffusion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18.7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METransformer: Radiology Report Generation by Transformer with Multiple Learnable Expert Tokens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164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21.9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MCF: Mutual Correction Framework for Semi-Supervised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14.4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KiUT: Knowledge-injected U-Transformer for Radiology Report Generation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67.2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Structure-Aware Sparse-View X-Ray 3D Reconstruction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Label-Free Liver Tumor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14.1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Learning Federated Visual Prompt in Null Space for MRI Reconstruction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M3-UDA: A New Benchmark for Unsupervised Domain Adaptive Fetal Cardiac Structure Detection ★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MICCAI: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Medical Image Computing and Computer-Assisted Intervention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854 (2023: 236, 2024: 298, 2025: 320); 26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09651"/>
                <a:gridCol w="1006937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1.1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MedVLM-R1: Incentivizing Medical Reasoning Capability of Vision-Language Models (VLMs) via Reinforcement Learning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CT2Rep: Automated Radiology Report Generation for 3D Medical Imaging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Anatomically-Controllable Medical Image Generation with Segmentation-Guided Diffusion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MedCLIP-SAM: Bridging Text and Image Towards Universal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462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MedNeXt: Transformer-driven Scaling of ConvNets for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CoLa-Diff: Conditional Latent Diffusion Model for Multi-Modal MRI Synthesis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DiffMIC: Dual-Guidance Diffusion Network for Medical Image Classification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13.9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Beyond Adapting SAM: Towards End-to-End Ultrasound Image Segmentation via Auto Prompting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Self-Supervised MRI Reconstruction with Unrolled Diffusion Models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Make-A-Volume: Leveraging Latent Diffusion Models for Cross-Modality 3D Brain MRI Synthesis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19.0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BerDiff: Conditional Bernoulli Diffusion Model for Medical Image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Ariadne's Thread: Using Text Prompts to Improve Segmentation of Infected Areas from Chest X-ray images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MICCAI: pediatric radiology AI works, 2024–2026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5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1216152"/>
                <a:gridCol w="974293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Population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Accurate and Efficient Fetal Birth Weight Estimation from 3D Ultrasound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Adaptive Frame Selection for Gestational Age Estimation from Blind Sweep Fetal Ultrasound Videos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Infant / neonatal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Flexibly Distilled 3D Rectified Flow with Anatomical Constraints for Developmental Infant Brain MRI Prediction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Fusing Radiomic Features with Deep Representations for Gestational Age Estimation in Fetal Ultrasound Images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General Methods Make Great Domain-specific Foundation Models: A Case-study on Fetal Ultrasound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Influence of Classification Task and Distribution Shift Type on OOD Detection in Fetal Ultrasound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Latent Motion Profiling for Annotation-free Cardiac Phase Detection in Adult and Fetal Echocardiography Videos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Robust Fetal Pose Estimation across Gestational Ages via Cross-Population Augmentation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Self-supervised Normality Learning and Divergence Vector-guided Model Merging for Zero-shot Congenital Heart Disease Detection in Fetal Ultrasound Videos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You Can Detect It: Fetal Biometric Estimation Using Ellipse Detection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Cycle-consistent Learning for Fetal Cortical Surface Reconstruction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Efficient and Gender-adaptive Graph Vision Mamba for Pediatric Bone Age Assessment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MRI Reconstruction by Global Diffusion and Consistent Implicit Representation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Geometric Transformation Uncertainty for Improving 3D Fetal Brain Pose Prediction from Freehand 2D Ultrasound Videos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Improving cross-domain brain tissue segmentation in fetal MRI with synthetic data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Intrapartum Ultrasound Image Segmentation of Pubic Symphysis and Fetal Head Using Dual Student-Teacher Framework with CNN-ViT Collaborative Learning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Pose-GuideNet: Automatic Scanning Guidance for Fetal Head Ultrasound from Pose Estimation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Infant / neonatal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Super-Field MRI Synthesis for Infant Brains Enhanced by Dual Channel Latent Diffusion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MIDL: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Medical Imaging with Deep Learning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. Radiology-AI works accepted (from the meeting's paper list), 2023–2026: 200 (2023: 47, 2024: 39, 2025: 40, 2026: 74); 9 pediatric (marked ★).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26590"/>
          <a:ext cx="11368734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480060"/>
                <a:gridCol w="409651"/>
                <a:gridCol w="1006937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Cites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FWCI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Imbalance-aware loss functions improve medical image classification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Patched Diffusion Models for Unsupervised Anomaly Detection in Brain MRI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MMCFormer: Missing Modality Compensation Transformer for Brain Tumor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Medical diffusion on a budget: textual inversion for medical image generation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MProtoNet: A Case-Based Interpretable Model for Brain Tumor Classification with 3D Multi-parametric Magnetic Resonance Imaging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Diffusion Models for Contrast Harmonization of Magnetic Resonance Images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Exploring Image Augmentations for Siamese Representation Learning with Chest X-Rays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3D Medical Axial Transformer: A Lightweight Transformer Model for 3D Brain Tumor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Vision-Language Modelling For Radiological Imaging and Reports In The Low Data Regime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E(3) x SO(3)-Equivariant Networks for Spherical Deconvolution in Diffusion MRI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Amortized Normalizing Flows for Transcranial Ultrasound with Uncertainty Quantification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Selective experience replay compression using coresets for lifelong deep reinforcement learning in medical imaging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MIDL: pediatric radiology AI works, 2023–2026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CONFERENCES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"/>
                <a:gridCol w="832104"/>
                <a:gridCol w="10126980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Population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Calibration-Aware Semi-Supervised Fetal Head Segmentation with Boundary-Positive Contrast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Orientation-Aware Diffusion Super-Resolution for 3T-Like Fetal MRI from Routine 1.5T Scans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SuD-CoTAN: Sulcal Depth-guided Anatomically Consistent Fetal Cortical Surface Reconstruction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Ultra-ECP: Ellipse-Constrained and Point-Robust Foundation Model Adaptation for Fetal Cardiac Ultrasound Segmentation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WristMIR: Coarse-to-Fine Region-Aware Retrieval of Pediatric Wrist Radiographs with Radiology Report-Driven Learning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FERN: A Fetal Echocardiography Registration Network for 2D-to-3D Alignment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GAMBAS: Generalised-Hilbert Mamba for Super-resolution of Paediatric Ultra-Low-Field MRI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Joint Motion Estimation with Geometric Deformation Correction for Fetal Echo Planar Images Via Deep Learning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FUSQA: Fetal Ultrasound Segmentation Quality Assessment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AI fracture detection in a real pediatric emergency department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Ziegner et al., European Radiology 2025 (second most-cited pediatric paper of 2025)</a:t>
            </a:r>
          </a:p>
        </p:txBody>
      </p:sp>
      <p:pic>
        <p:nvPicPr>
          <p:cNvPr id="5" name="spot_fracture_ed" descr="spot_fracture_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58951"/>
            <a:ext cx="4698057" cy="1797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129893"/>
            <a:ext cx="4698059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Ziegner et al., Eur Radiol 2025, figure 4: pediatric fractures the software found, with its per-region sensitivity and specificity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08810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34759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fractures in children are missed most often by the least experienced readers, at night, in the emergency department.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1,672 consecutive radiographs of children under 18 from one tertiary pediatric emergency department, plus a selected medicolegal set (proximal tibia, radial condyle); three pediatric residents read each before and after seeing the AI.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 commercially available, CE-marked deep-learning fracture detector (adult-derived, pediatric extension) run stand-alone and as a second reader.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stand-alone sensitivity 92%, specificity 83%; 100% for proximal tibia but 68% for radial condyle fractures; residents' accuracy rose from 88% to 90%, and in 2% of cases they dropped a correct diagnosis after seeing the AI.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the first real-life pediatric ED evaluation: the gain from a cleared adult tool is real but modest, and the elbow remains the weak spot.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pTBLightNet: pediatric tuberculosis on frontal and lateral chest radiographs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Capellán-Martín et al., Nature Communications 2025 (open access)</a:t>
            </a:r>
          </a:p>
        </p:txBody>
      </p:sp>
      <p:pic>
        <p:nvPicPr>
          <p:cNvPr id="5" name="spot_ped_tb" descr="spot_ped_t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60" y="1258951"/>
            <a:ext cx="2376698" cy="2807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139311"/>
            <a:ext cx="4698059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Capellan-Martin et al., Nat Commun 2025, figure 1: the multi-view pTBLightNet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18228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34759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pediatric pulmonary TB has vaguer symptoms and subtler radiographs than adult TB; most affected children in high-burden settings are never diagnosed.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pre-trained on 114,173 adult chest radiographs, then fine-tuned and tested on 918 radiographs from three pediatric TB cohorts, with lateral views.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 multi-view network that scores frontal and lateral films for TB-compatible findings; separate models for under-5 and 5-18 years.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AUC 0.90 on internal and 0.68 on external testing; lateral views helped most in the youngest children; age-specific models matched larger undifferentiated ones.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shows both the value of adult pre-training for a rare pediatric target and the internal-to-external drop that every pediatric deployment should expect.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Deep-learning reconstruction shortens pediatric brain MRI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Yoo et al., Korean Journal of Radiology 2025 (open access)</a:t>
            </a:r>
          </a:p>
        </p:txBody>
      </p:sp>
      <p:pic>
        <p:nvPicPr>
          <p:cNvPr id="5" name="spot_dl_recon_mri" descr="spot_dl_recon_m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70" y="1258951"/>
            <a:ext cx="3911277" cy="2807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139311"/>
            <a:ext cx="4698059" cy="54292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Yoo et al., Korean J Radiol 2025, figure 2: conventional (A, D) vs accelerated 3D T1 pediatric brain MRI without (B, E) and with (C, F) deep-learning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5388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34759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long 3D T1 sequences are where children move, sedation is prescribed, and scanner time is lost.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46 children scanned with both the conventional and an accelerated 3D T1 protocol (pre- and post-contrast) on one 3T scanner.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vendor deep-learning reconstruction applied to the accelerated acquisition; noise, contrast, signal-to-noise and radiologist ratings compared with the conventional scan.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acquisition time cut by 29% (pre-contrast) and 41% (post-contrast); the deep-learning images had lower noise, higher SNR and CNR, better overall quality and fewer artifacts than the conventional scan.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reconstruction AI is on the scanner today and gives children a shorter, better exam without any diagnostic model in the loop.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Deeplasia bone age in rare growth disorders, against multiple experts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Skaf et al., Frontiers in Endocrinology 2026 (open access); external validation of Rassmann et al., Pediatr Radiol 2023</a:t>
            </a:r>
          </a:p>
        </p:txBody>
      </p:sp>
      <p:pic>
        <p:nvPicPr>
          <p:cNvPr id="5" name="spot_deeplasia_rare" descr="spot_deeplasia_r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795" y="1258951"/>
            <a:ext cx="2889426" cy="2807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139311"/>
            <a:ext cx="4698059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Skaf et al., Front Endocrinol 2026, figure 1: Deeplasia bone age vs the expert mean in the endocrine cohort (scatter and Bland-Altman)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18228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5152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bone-age models are trained on ordinary hands; the children who need bone age most have syndromes, endocrine disease or lysosomal storage disorders that distort the skeleton.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1,138 hand radiographs from several centers: SHOX deficiency, Noonan, Silver-Russell, Turner, CAH, precocious puberty (cohort 1) and mucopolysaccharidoses and other storage disorders (cohort 2); two to five expert Greulich-Pyle readings each.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the open-source Deeplasia system run unchanged; each human rater and the model scored against the remaining experts.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mean absolute error 6.0 months (cohort 1) and 7.1 months (storage disorders), 1-year accuracy 90% and 81%; the model beat every individual human rater.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an open pediatric model validated on the hardest cases, by an outside group, on external data: the template for how a children's hospital should test any tool.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PET at one fifth of the counts with patch-based deep learning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Han et al., EJNMMI Physics 2026 (open access; Cincinnati Children's)</a:t>
            </a:r>
          </a:p>
        </p:txBody>
      </p:sp>
      <p:pic>
        <p:nvPicPr>
          <p:cNvPr id="5" name="spot_pet_dose" descr="spot_pet_d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258951"/>
            <a:ext cx="2432685" cy="2807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139311"/>
            <a:ext cx="4698059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Han et al., EJNMMI Phys 2026, figure 5: pediatric whole-body FDG PET, standard 90 s vs 20 s per bed, with and without patch-based deep-learning denoising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18228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179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PET dose and scan time in children are set by noise; conventional denoising networks need large training sets that pediatric PET does not have.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one high-quality pediatric exam for training; a NEMA phantom and 88 clinical whole-body FDG exams (under 12 years) with list-mode data truncated from 90 s to 20 s per bed.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a patch-based network that learns local structure from a single exam and denoises the reduced-count images; blinded observer study and SUV analysis.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20-second images rated equal or better than the standard 90-second images in more than 85% of cases, with resolution, contrast and SUV preserved.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either a 4.5x shorter scan or about 22% of today's injected activity, from a method trainable on a single local exam.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Children are not small adults: an adult CT segmentation model in children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JOURNALS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Chatterjee et al., Journal of Imaging Informatics in Medicine 2025</a:t>
            </a:r>
          </a:p>
        </p:txBody>
      </p:sp>
      <p:pic>
        <p:nvPicPr>
          <p:cNvPr id="5" name="spot_not_small_adults" descr="spot_not_small_ad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48" y="1258951"/>
            <a:ext cx="3200122" cy="2807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139311"/>
            <a:ext cx="4698059" cy="40576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Chatterjee et al., J Imaging Inform Med 2025, figure 7: pediatric CT organ labels, ground truth vs adult-trained TotalSegmentator vs pediatric-trained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18228"/>
            <a:ext cx="4698059" cy="2686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15"/>
              </a:spcAft>
            </a:pPr>
            <a:r>
              <a:rPr sz="900" b="0" i="0">
                <a:solidFill>
                  <a:srgbClr val="1A1A1A"/>
                </a:solidFill>
                <a:latin typeface="Helvetica Neue"/>
              </a:rPr>
              <a:t>source: cdn.ncbi.nlm.nih.gov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419" y="1258951"/>
            <a:ext cx="6264078" cy="217995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Problem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the most-used open CT organ segmentation model (TotalSegmentator) was trained on adults; nobody had measured how it behaves in children.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external adult (n = 300) and pediatric (n = 359) abdominal CT sets with expert organ labels.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Method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TotalSegmentator scored on both sets; then a pediatric-only nnU-Net and an adult model fine-tuned on pediatric cases.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Result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mean Dice fell from 0.81 in adults to 0.73 in children, worst for the adrenals (0.69 to 0.41 and 0.35), duodenum and pancreas; pediatric training or fine-tuning recovered the loss.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Why it matters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: the clearest quantitative case for local pediatric validation and fine-tuning of adult-derived tools before clinical use.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The biggest public pediatric radiology AI datasets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DATASETS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2" cy="39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816"/>
                <a:gridCol w="832104"/>
                <a:gridCol w="2017652"/>
                <a:gridCol w="3031816"/>
                <a:gridCol w="1014164"/>
                <a:gridCol w="1441180"/>
              </a:tblGrid>
              <a:tr h="1920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Dataset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Year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Modality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Size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Ages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Access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CBTN clinical MRI (Children's Brain Tumor Network)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/ spine tumor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23,101 exams (1,526 patients); tumor masks for 370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application (NCI CCDI)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GRAZPEDWRI-DX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wrist radiographs (trauma)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20,327 images (6,091 patients)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0.2–19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Pediatric Bone Age Challenge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hand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14,236 images (bone age + sex)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mean 10.6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 (RSNA terms)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FETAL_PLANES_DB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ultrasound (standard planes)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12,400 images (1,792 pregnancies)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ABCD Study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2018–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MRI, longitudinal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11,878 participants, up to 7 follow-ups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9–10 y at baseline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application (NBDC)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PediCXR / VinDr-PCXR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9,125 studies; 36 findings, 15 diagnoses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10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credentialed (PhysioNet)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Guangzhou pediatric chest X-ray (Kermany)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5,856 images (normal / bacterial / viral pneumonia)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1–5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ABIDE I + II (autism)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2012 / 2016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MRI (structural, resting fMRI)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2,156 subjects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5–64 y (mostly children)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Regensburg Pediatric Appendicitis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abdominal ultrasound + labs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1,709 images (579 patients)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0–18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dHCP (Developing Human Connectome Project)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2022–24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neonatal + fetal brain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886 neonatal + 297 fetal datasets, with segmentations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20–45 weeks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 (NDA)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Pediatric-CT-SEG (TCIA)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 / abdomen / pelvis 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718 series (359 patients); 29 organ contours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5 days – 16 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BraTS-PEDs (pediatric brain tumor challenge)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2023–25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tumor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464 patients (2024 challenge); 1,649 series on TCIA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registration / TCIA</a:t>
                      </a:r>
                    </a:p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 (fetal brain tissue annotation)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2021–24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brain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280 volumes (120 train + 160 test); 7 tissue labels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18–35 weeks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registration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Radiology AI newsletter stories per year, by source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NEWSLETTERS</a:t>
            </a:r>
          </a:p>
        </p:txBody>
      </p:sp>
      <p:pic>
        <p:nvPicPr>
          <p:cNvPr id="4" name="newsletter_by_source" descr="newsletter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26" y="877824"/>
            <a:ext cx="9207642" cy="4603821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in the trade press, 2023 (23 stories)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NEWSLETTERS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502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1152144"/>
                <a:gridCol w="6450735"/>
                <a:gridCol w="2997759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Date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Newsletter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Story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2023-01-08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Gestational Age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2023-03-01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Ultrasound AI Generalizability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Sendra-Balcells et al., 2023 (Scientific Reports)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2023-03-08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ECR 2023 – A true celebration of the cycle of life.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2023-03-17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When Sao Paolo's Diagnosticos da America (DASA, the world's fourth largest diagn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2023-04-07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Spots Breech Pregnancies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Knights et al., 2023 (PLOS Medicine)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2023-04-07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When Sao Paolo's Diagnosticos da America SA (DASA, the world's fourth largest di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2023-04-12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Signify Research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Where do opportunities exist?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2023-04-12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Webinar to Examine Impact of Large Language Models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2023-05-07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New C-Arm Launched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2023-06-07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BrightHeart's Fetal Heart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2023-06-12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Understanding the Imaging Spectrum of non-Hodgkin Lymphoma in Children, Adolescents and Young Adults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2023-06-19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Better Together at SIIM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2023-06-25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Detects Child Abuse on 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2023-07-07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Survivors of Childhood Cancer: Risk of Future Disease, Screening Needs and the Role of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2023-08-02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MRI Radiomics Hones in on Crohn's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Liu et al., 2024 (American Journal of Roentgenology)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2023-08-02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Sonio Gets FDA Nod for Fetal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2023-09-20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 Lands $44M AI Ultrasound Grant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2023-10-08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ChatGPT Reports for Patients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Jeblick et al., 2023 (European Radiology)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2023-11-08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Philips to Expand AI-Powered POCUS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2023-11-08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Stories of Success in Cloud and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2023-11-12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Uneven Success Against Breast Cancer | Pediatric Radiation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2023-11-26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of MRI Diagnoses Autism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2023-12-11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Revolutionising paediatric radiology: the future impact of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in the trade press, 2024 (25 stories)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NEWSLETTERS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1152144"/>
                <a:gridCol w="6448972"/>
                <a:gridCol w="2999522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Date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Newsletter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Story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2024-01-10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Models Go Head-to-Head in Project AIR Study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van Leeuwen et al., 2024 (Radiology)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2024-01-15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Hidden health risks of endocrine disruptors?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2024-01-17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Echo AI's RHD Impact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Brown et al., 2024 (Journal of the American Heart Association)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2024-01-20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Us2.ai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2024-02-07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Meet Gleamer at ECR 2024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2024-03-20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Helps Residents Detect Fractures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2024-04-22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 Launches US Scanners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2024-05-19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Early Preeclampsia Risk Screening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Guerby et al., 2024 (Hypertension)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2024-06-29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FDA Clears New Clarius Prenatal App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2024-07-01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applications in musculoskeletal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2024-07-10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Experts Outline Considerations to Deploy AI in Radiology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2024-08-14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Cardiac Ultrasound Scanner Cleared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2024-08-25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When Follow-Up Falls Short | Pediatric CT Use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2024-08-25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MAUI Emerges from Stealth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2024-09-04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Samsung Finalizes Sonio Acquisition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2024-09-08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AZmed AI Extended to Kids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2024-10-03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On Artificial Intelligence: An interview with Susan Shelmerdine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2024-10-06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AI Improves Over Time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2024-10-10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Low-Dose CT in Kids | Hinton Nabs Nobel, Cancels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2024-10-10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Low-Dose CT Confounds CAD in Kids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Hardie et al., 2025 (American Journal of Roentgenology)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2024-10-17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On Artificial Intelligence: An interview with Brendan Kelly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2024-11-19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Incorrect AI Advice Influences Diagnostic Decisions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2024-11-25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Ultrasound AI Cleared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2024-12-02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Milvue Joins deepc AI Platform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2024-12-15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Researchers Study AI for Pediatric Fractures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in the trade press, 2025 (22 stories)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NEWSLETTERS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1152144"/>
                <a:gridCol w="6450735"/>
                <a:gridCol w="2997759"/>
              </a:tblGrid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Date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Newsletter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Story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2025-01-08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for Pediatric Fracture Detection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2025-01-08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Children's National taps Microsoft to prototype AI tools .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2025-01-29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Samsung Launches OB/GYN Ultrasound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2025-02-02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AI Detects Fetal Defects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2025-02-06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Philips at #ECR2025: New AI-enabled systems, intelligent software, and imaging cloud services streamline radiology workflows, advance clinical insights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2025-02-14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Learn more about FUJIFILM's latest innovations at ECR!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Iwan et al., 2020 (European Radiology)</a:t>
                      </a:r>
                    </a:p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2025-02-27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Detects Pediatric Epilepsy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2025-03-04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TLDR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to diagnose invisible brain abnormalities in children with epilepsy (4 minute read)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2025-04-02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AZmed Gets New Chest AI Clearances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2025-04-13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GE's Cincinnati Pediatric Partnership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2025-05-14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Philips Partners with NVIDIA on AI for MRI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2025-05-18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New GE Clearances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2025-05-20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Radiologists Share Tips to Prevent AI Bias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2025-06-01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BrightHeart's 3rd FDA Clearance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2025-07-03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DeepEcho Gets FDA Nod for Fetal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2025-07-10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How Is AI Being Used in Daily Neuroradiology Practice?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2025-08-03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Radiologist Pay Jumps Nearly 8% in New Survey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2025-08-13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AI-Assisted Fracture Detection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2025-08-27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Sonio Launches New Maternal-Fetal AI Options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2025-10-01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Carebot Expands AI Portfolio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2025-10-08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Reducing CT Radiation Dose System-Wide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192024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2025-11-09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Detects Pediatric Elbow Fractures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Pediatric radiology AI in the trade press, 2026 (year to date) (13 stories)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NEWSLETTERS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4" cy="361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36"/>
                <a:gridCol w="1379728"/>
                <a:gridCol w="6196553"/>
                <a:gridCol w="2882117"/>
              </a:tblGrid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Date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Newsletter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Story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Paper</a:t>
                      </a:r>
                    </a:p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2026-01-07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BrightHeart Raises EUR 11M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2026-01-28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AHA Publishes New Stroke Guidelines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Prabhakaran et al., 2026 (Stroke)</a:t>
                      </a:r>
                    </a:p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2026-01-28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Guerbet: Innovation and French Cooperation in the Spotlight at ECR 2026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2026-02-01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DL-Based CT Reduces Radiation Dose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2026-02-08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GE Bolsters Ultrasound with Fetal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2026-02-26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ESR / ECR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MRI Unveiling at the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2026-03-29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AI Gets Breakthrough Nod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2026-05-10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MRI Safety, RTs and Remote Radiology, and PSMA-PET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2026-06-22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Researchers Use AI to Establish Body Charts for CT Imaging Across the Adult Lifespan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2026-06-28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BrightHeart's Bright Future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Zelop et al., 2025 (Obstetrics &amp; Gynecology)</a:t>
                      </a:r>
                    </a:p>
                  </a:txBody>
                  <a:tcPr marL="45720" marR="45720" marT="18288" marB="18288" anchor="t"/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2026-07-12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AI's Rise in Pediatric Imaging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Shah et al., 2026 (European Radiology)</a:t>
                      </a:r>
                    </a:p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2026-08-16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The Imaging Wire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CT vs. MRI for Pediatric TBI, Helium Vulnerability, and Ditching the Disk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  <a:tr h="222504"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2026-08-25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RSNA News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Helvetica Neue"/>
                        </a:rPr>
                        <a:t>AI Challenges Fuel Innovation Beyond the Leaderboard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/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How many cleared devices actually name children?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COMMERCIAL SOFTWARE</a:t>
            </a:r>
          </a:p>
        </p:txBody>
      </p:sp>
      <p:pic>
        <p:nvPicPr>
          <p:cNvPr id="4" name="fda_pediatric_prisma" descr="fda_pediatric_pri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225" y="877824"/>
            <a:ext cx="4683244" cy="4042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993355"/>
            <a:ext cx="11368735" cy="47561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230 of the 1,230 radiology-panel authorizations (19%) name a pediatric or fetal population in the labeling passage reviewed; 53 more name children only as a phantom, a validation set or an exclusion, and are kept for label review.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Who is building commercial radiology AI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COMMERCIAL SOFTWARE</a:t>
            </a:r>
          </a:p>
        </p:txBody>
      </p:sp>
      <p:pic>
        <p:nvPicPr>
          <p:cNvPr id="4" name="commercial_companies_by_year" descr="commercial_companie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486" y="877824"/>
            <a:ext cx="6512722" cy="3256361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Which clinical problems the cleared products address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COMMERCIAL SOFTWARE</a:t>
            </a:r>
          </a:p>
        </p:txBody>
      </p:sp>
      <p:pic>
        <p:nvPicPr>
          <p:cNvPr id="4" name="commercial_problems" descr="commercial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98" y="877824"/>
            <a:ext cx="9281897" cy="4603821"/>
          </a:xfrm>
          <a:prstGeom prst="rect">
            <a:avLst/>
          </a:prstGeom>
        </p:spPr>
      </p:pic>
      <p:sp>
        <p:nvSpPr>
          <p:cNvPr id="5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Products a pediatric radiologist should know (part 1)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COMMERCIAL SOFTWARE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3" cy="4877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343"/>
                <a:gridCol w="1107897"/>
                <a:gridCol w="1499923"/>
                <a:gridCol w="3221425"/>
                <a:gridCol w="2761222"/>
                <a:gridCol w="1499923"/>
              </a:tblGrid>
              <a:tr h="181051"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Product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Vendor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Clinical problem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Pediatric scope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1" i="0">
                          <a:solidFill>
                            <a:srgbClr val="FFFFFF"/>
                          </a:solidFill>
                          <a:latin typeface="Helvetica Neue"/>
                        </a:rPr>
                        <a:t>Where it stands</a:t>
                      </a:r>
                    </a:p>
                  </a:txBody>
                  <a:tcPr marL="45720" marR="45720" marT="18288" marB="18288" anchor="t"/>
                </a:tc>
              </a:tr>
              <a:tr h="307238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BoneXpert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Visiana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/ growth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Automated Greulich–Pyle and Tanner–Whitehouse bone age plus a Bone Health Index, from a hand radiograph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Built for children; CE-marked and in routine European use; US research use only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 (Europe)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BoneView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Gleamer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/ trauma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detection on trauma radiographs, presented as regions of interest alongside the image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US indication covers ages 2–21 for specified extremity views; pelvis, hip, femur, ribs and spine are adult-only [K222176, 2023]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Rayvolve (AZtrauma)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AZmed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/ trauma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and MSK finding detection on radiographs; sibling modules cover chest findings, measurements and bone age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US fracture indication from age 2; the bone-age module is CE-marked only [K240845, 2024]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307238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TechCare Trauma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Milvue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fracture / trauma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Trauma radiograph triage: fractures, effusions and dislocations flagged for the reader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The decision summary states a pediatric population [K242171, 2025]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Early US deployments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EFAI Bonesuite XR Bone Age Pro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Ever Fortune.AI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/ growth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Greulich–Pyle bone age from a PA left hand and wrist radiograph, as an adjunct to the radiologist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FDA-cleared for ages 2–16 — the pediatric-specific US bone-age clearance [K234042, 2024]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FDA-cleared, early adoption</a:t>
                      </a:r>
                    </a:p>
                  </a:txBody>
                  <a:tcPr marL="45720" marR="45720" marT="18288" marB="18288" anchor="t"/>
                </a:tc>
              </a:tr>
              <a:tr h="307238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Physis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16 Bit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 age / growth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Bone-age estimation with Greulich–Pyle atlas matching and draft report text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Pediatric tool; Health Canada licensed, no FDA authorization identified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Promising, limited US access</a:t>
                      </a:r>
                    </a:p>
                  </a:txBody>
                  <a:tcPr marL="45720" marR="45720" marT="18288" marB="18288" anchor="t"/>
                </a:tc>
              </a:tr>
              <a:tr h="307238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EchoScan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BrightHeart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/ obstetric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Flags eight morphological findings suspicious for congenital heart disease on second-trimester views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Prenatal by definition: second-trimester exams, maternal age 18+ [K252294, 2025]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Early deployments / pilots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Sonio Detect / Sonio Suspect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Sonio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/ obstetric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Checks that the required fetal views were obtained and are of usable quality (Detect); flags images suspicious for anomalies (Suspect)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Prenatal by definition; every FDA entry states a fetal population [K252433, 2026]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Early deployments / pilots</a:t>
                      </a:r>
                    </a:p>
                  </a:txBody>
                  <a:tcPr marL="45720" marR="45720" marT="18288" marB="18288" anchor="t"/>
                </a:tc>
              </a:tr>
              <a:tr h="307238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Delivery Date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Ultrasound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fetal / obstetric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Predicts the delivery date from a second- or third-trimester ultrasound when dating is unreliable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Prenatal; the first De Novo of its kind (a new device class) [DEN250007, 2026]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Newly authorized, unproven in practice</a:t>
                      </a:r>
                    </a:p>
                  </a:txBody>
                  <a:tcPr marL="45720" marR="45720" marT="18288" marB="18288" anchor="t"/>
                </a:tc>
              </a:tr>
              <a:tr h="559612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Swoop Portable MR + BrainInsight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Hyperfine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brain / neurologic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Bedside low-field brain MRI whose usable image quality comes from deep-learning reconstruction; BrainInsight adds automated volumes and midline shift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Decision summaries state a pediatric population; the natural use is the NICU and PICU, where transport is the risk [K253489, 2025]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In pediatric pilots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spineEOS / VEA Align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EOS imaging (Alphatec)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spine / scoliosis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Automated 3D spine and lower-limb modeling from biplanar low-dose full-body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Scoliosis follow-up is repeated imaging of a growing child, so the dose saving compounds [K251747, 2025]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 (pediatric orthopedics)</a:t>
                      </a:r>
                    </a:p>
                  </a:txBody>
                  <a:tcPr marL="45720" marR="45720" marT="18288" marB="18288" anchor="t"/>
                </a:tc>
              </a:tr>
              <a:tr h="433425"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CoLumbo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Smart Soft Healthcare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spine / scoliosis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Spine MRI segmentation, measurement and structured reporting, lumbar and cervical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Decision summaries state a pediatric population; no pediatric-specific performance reported [K254015, 2026]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828" b="0" i="0">
                          <a:solidFill>
                            <a:srgbClr val="1A1A1A"/>
                          </a:solidFill>
                          <a:latin typeface="Helvetica Neue"/>
                        </a:rPr>
                        <a:t>Early deployments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828385"/>
            <a:ext cx="11368735" cy="5991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54"/>
              </a:spcAft>
            </a:pPr>
            <a:r>
              <a:rPr sz="1012" b="0" i="0">
                <a:solidFill>
                  <a:srgbClr val="1A1A1A"/>
                </a:solidFill>
                <a:latin typeface="Helvetica Neue"/>
              </a:rPr>
              <a:t>Square brackets give the FDA submission supporting the pediatric claim and its decision year; a blank means no US authorization was identified for that product. “Where it stands” is our reading of deployment, not a measured adoption rate. A company's total of FDA AI entries is not a pediatric credential — the large vendors' entries are mostly whole scanners whose labels list pediatric imaging as one clinical application (see the authorizations-per-company figure).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Products a pediatric radiologist should know (part 2)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COMMERCIAL SOFTWARE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77824"/>
          <a:ext cx="11368733" cy="463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343"/>
                <a:gridCol w="1107897"/>
                <a:gridCol w="1499923"/>
                <a:gridCol w="3221425"/>
                <a:gridCol w="2761222"/>
                <a:gridCol w="1499923"/>
              </a:tblGrid>
              <a:tr h="170078"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Product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Vendor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Clinical problem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Pediatric scope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1" i="0">
                          <a:solidFill>
                            <a:srgbClr val="FFFFFF"/>
                          </a:solidFill>
                          <a:latin typeface="Helvetica Neue"/>
                        </a:rPr>
                        <a:t>Where it stands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BriefCase-Triage (CARE modules)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Aidoc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triage / worklist prioritization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Worklist triage on CT and CTA: intracranial hemorrhage, pulmonary embolism, pneumothorax, cervical-spine and rib fractures, free gas and more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Most entries state a pediatric population; the evidence behind them is adult, so treat pediatric use as local validation work [K253578, 2026]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Viz LVO / Viz ICH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Viz.ai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stroke / intracranial bleed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Detects large-vessel occlusion and intracranial hemorrhage and pushes the case to the stroke team's phones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No pediatric population statement found in the screened summaries; pediatric stroke use would be off-label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 (adult)</a:t>
                      </a:r>
                    </a:p>
                  </a:txBody>
                  <a:tcPr marL="45720" marR="45720" marT="18288" marB="18288" anchor="t"/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qXR-TB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Qure.ai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 / lung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Chest radiograph screening for tuberculosis, built for high-burden settings with few readers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Vendor reports CE-marked use from age 0–15; US eligibility varies by module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Deployed in global-health screening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AIR Recon DL / TrueFidelity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GE HealthCare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image quality: dose, noise, speed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Deep-learning reconstruction: shorter MRI acquisitions at the same quality, and CT images at lower dose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Sold across ages; the pediatric benefit is fewer sedations and less dose, and it is the AI most children actually meet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Deep Resolve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Siemens Healthineers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image quality: dose, noise, speed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MRI deep-learning denoising and resolution enhancement that supports accelerated acquisition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Vendor publishes pediatric protocols; scan-time reduction is the pediatric argument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AiCE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Canon Medical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image quality: dose, noise, speed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Deep-learning reconstruction for both CT (noise, dose) and MRI (noise, resolution, scan time)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Vendor publishes pediatric CT galleries; protocol and version determine what is available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SmartSpeed / Precise Image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Philips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image quality: dose, noise, speed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MRI acceleration with deep-learning reconstruction (SmartSpeed); CT reconstruction at reduced dose (Precise Image)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Sold across ages; pediatric protocols are the vendor's own, not a separate indication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Widely deployed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SubtleMR / SwiftMR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Subtle Medical / AIRS Medical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image quality: dose, noise, speed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Vendor-neutral MRI post-processing: denoising and sharpening so a shorter acquisition still reads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No adult-only restriction in the reviewed US indications; SwiftMR's 2026 validation includes ages 0–21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Deployed, vendor-neutral retrofit</a:t>
                      </a:r>
                    </a:p>
                  </a:txBody>
                  <a:tcPr marL="45720" marR="45720" marT="18288" marB="18288" anchor="t"/>
                </a:tc>
              </a:tr>
              <a:tr h="515721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Butterfly iQ3; Clarius Bladder AI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Butterfly Network / Clarius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point-of-care ultrasound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Handheld ultrasound with on-device AI: bladder volume, gestational age, ejection fraction, lung and nerve tools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The scanners are labeled for adult and pediatric imaging, but each AI tool carries its own age scope and most are adult-only; Clarius Bladder AI covers ages 2 and over [K232257, 2023]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Scanners widely deployed; AI tools mostly adult-scoped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Arterys Cardio DL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Arterys (Tempus)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cardiac / echo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Cardiac MRI segmentation, flow and volume quantification with a cloud workflow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One of the earliest AI clearances to name neonates, infants, children and adolescents outright (2017) [K163253, 2017]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Historically important; now a Tempus product</a:t>
                      </a:r>
                    </a:p>
                  </a:txBody>
                  <a:tcPr marL="45720" marR="45720" marT="18288" marB="18288" anchor="t"/>
                </a:tc>
              </a:tr>
              <a:tr h="400507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Acorn 3D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Mighty Oak Medical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spine / scoliosis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Automated vertebral segmentation from CT to build patient-specific 3D models and surgical guides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Decision summaries state a pediatric population; the use case is pediatric deformity surgery [K260322, 2026]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Niche, surgical</a:t>
                      </a:r>
                    </a:p>
                  </a:txBody>
                  <a:tcPr marL="45720" marR="45720" marT="18288" marB="18288" anchor="t"/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Second Opinion Pediatric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Pearl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dental / craniofacial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Detects caries and other findings on pediatric dental radiographs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The rare device whose name and indication are pediatric from the start [K243893, 2025]</a:t>
                      </a:r>
                    </a:p>
                  </a:txBody>
                  <a:tcPr marL="45720" marR="45720" marT="18288" marB="18288" anchor="t"/>
                </a:tc>
                <a:tc>
                  <a:txBody>
                    <a:bodyPr wrap="square"/>
                    <a:lstStyle/>
                    <a:p>
                      <a:r>
                        <a:rPr sz="756" b="0" i="0">
                          <a:solidFill>
                            <a:srgbClr val="1A1A1A"/>
                          </a:solidFill>
                          <a:latin typeface="Helvetica Neue"/>
                        </a:rPr>
                        <a:t>Deployed in dentistry</a:t>
                      </a:r>
                    </a:p>
                  </a:txBody>
                  <a:tcPr marL="45720" marR="45720" marT="18288" marB="18288" anchor="t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581497"/>
            <a:ext cx="11368735" cy="5549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23"/>
              </a:spcAft>
            </a:pPr>
            <a:r>
              <a:rPr sz="924" b="0" i="0">
                <a:solidFill>
                  <a:srgbClr val="1A1A1A"/>
                </a:solidFill>
                <a:latin typeface="Helvetica Neue"/>
              </a:rPr>
              <a:t>Square brackets give the FDA submission supporting the pediatric claim and its decision year; a blank means no US authorization was identified for that product. “Where it stands” is our reading of deployment, not a measured adoption rate. A company's total of FDA AI entries is not a pediatric credential — the large vendors' entries are mostly whole scanners whose labels list pediatric imaging as one clinical application (see the authorizations-per-company figure).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An independent scoping review of pediatric radiology AI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Kamran et al., </a:t>
            </a:r>
            <a:r>
              <a:rPr sz="1100" b="0" i="1">
                <a:solidFill>
                  <a:srgbClr val="1A1A1A"/>
                </a:solidFill>
                <a:latin typeface="Helvetica Neue"/>
              </a:rPr>
              <a:t>Pediatric Radiology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2026 (https://doi.org/10.1007/s00247-025-06462-5doi 10.1007/s00247-025-06462-5)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58951"/>
            <a:ext cx="11368735" cy="1193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Scope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789 pediatric-focused original articles, 2005–August 2024.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Modalities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radiography 38%, MRI 33%, ultrasound 14%, CT 11%, nuclear 2%.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Top applications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bone age (88), pneumonia (65), brain tumors (54).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Data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65% used a single-hospital dataset.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ACR white paper: the pediatric AI gap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Sammer et al., </a:t>
            </a:r>
            <a:r>
              <a:rPr sz="1100" b="0" i="1">
                <a:solidFill>
                  <a:srgbClr val="1A1A1A"/>
                </a:solidFill>
                <a:latin typeface="Helvetica Neue"/>
              </a:rPr>
              <a:t>J Am Coll Radiol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2023;20:730–737 (https://doi.org/10.1016/j.jacr.2023.06.003doi 10.1016/j.jacr.2023.06.003)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58951"/>
            <a:ext cx="11368735" cy="23228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Scope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ACR Pediatric AI Workgroup white paper framing limited access to pediatric AI as a health equity issue.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Availability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at the time of the review, only 6 of more than 200 FDA-cleared tools in the ACR catalog indicated pediatric use (about 3%).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Why adult AI may fail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growth, disease patterns, and imaging protocols differ; published studies show uneven performance across pediatric subgroups.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Barriers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scarce labeled pediatric data, consent and privacy concerns, and weak financial incentives for smaller pediatric markets.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Recommendations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validate in children, disclose age-specific evidence, fund pediatric development, involve families, and protect pediatric workflows. The authors introduce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Image IntelliGently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to advance this work.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Multisociety statement: safe pediatric AI implementation</a:t>
            </a:r>
          </a:p>
        </p:txBody>
      </p:sp>
      <p:sp>
        <p:nvSpPr>
          <p:cNvPr id="3" name="category"/>
          <p:cNvSpPr txBox="1"/>
          <p:nvPr/>
        </p:nvSpPr>
        <p:spPr>
          <a:xfrm>
            <a:off x="8259775" y="18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Helvetica Neue"/>
              </a:rPr>
              <a:t>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11368735" cy="30797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Shelmerdine et al., </a:t>
            </a:r>
            <a:r>
              <a:rPr sz="1100" b="0" i="1">
                <a:solidFill>
                  <a:srgbClr val="1A1A1A"/>
                </a:solidFill>
                <a:latin typeface="Helvetica Neue"/>
              </a:rPr>
              <a:t>J Am Coll Radiol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2026;23:89–101 (https://doi.org/10.1016/j.jacr.2025.08.019doi 10.1016/j.jacr.2025.08.019)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58951"/>
            <a:ext cx="11368735" cy="3670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ACR, ESPR, SPR, SLARP, AOSPR, and SPIN propose four pillars for safe adoption: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9133"/>
            <a:ext cx="11368735" cy="204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Regulation and purchasing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pediatric labeling and proposed safety ratings; diverse datasets, subgroup performance, transparency, and cybersecurity.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Implementation and integration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define a local clinical need, select tools validated in children, pilot before scaling, and involve pediatric specialists and families.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Interpretation and postmarket surveillance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retain human oversight; audit performance and patient outcomes; manage discrepancies, report adverse events, and address automation bias.</a:t>
            </a:r>
          </a:p>
          <a:p>
            <a:pPr algn="l" marL="256032" indent="-256032">
              <a:spcAft>
                <a:spcPts val="489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Education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: foundational AI literacy for all staff, pediatric-specific training, continuing education, and patient/public engagement.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Worth knowing as a radiologist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77824"/>
            <a:ext cx="11368735" cy="32137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Deep Learning: A Primer for Radiologists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(Radiographics paper, 2017): a helpful introduction to the principles and applications of deep learning in radiology; essential for understanding how AI tools work and their limitations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RSNA Pediatric Bone Age Challenge (2017)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(benchmark / dataset): a landmark pediatric benchmark; useful for understanding automated bone-age accuracy and its limits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Gleamer BoneView / AZmed Rayvolve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(clinical products): examples of fracture-detection assistance with pediatric indications; eligibility depends on age, anatomy, and product version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FDA AI-enabled device list and linked labeling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(regulatory resource): a starting point for checking authorized use and pediatric age ranges; the list is not exhaustive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CLAIM checklist (2024 update)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(reporting guideline): check whether data, reference standards, and testing are adequately described; reporting completeness alone does not establish clinical benefit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TotalSegmentator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(research tool): automated CT / MR organ segmentation for volumes and body composition; check accuracy in children before trusting measurements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nnU-Net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(research framework): a strong baseline for training segmentation models; ask whether a new method improves on an appropriate comparator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MedSAM / segment-anything models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(research models): prompt-guided contours can assist annotation; radiologists still need to review and correct the output</a:t>
            </a:r>
          </a:p>
          <a:p>
            <a:pPr algn="l" marL="256032" indent="-256032">
              <a:spcAft>
                <a:spcPts val="384"/>
              </a:spcAft>
              <a:buChar char="•"/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MONAI</a:t>
            </a:r>
            <a:r>
              <a:rPr sz="1100" b="0" i="0">
                <a:solidFill>
                  <a:srgbClr val="1A1A1A"/>
                </a:solidFill>
                <a:latin typeface="Helvetica Neue"/>
              </a:rPr>
              <a:t> (research framework): infrastructure for imaging-AI development; useful when collaborating with a research team, rather than a ready-to-use diagnostic tool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11480" bIns="73152" wrap="square"/>
          <a:lstStyle/>
          <a:p>
            <a:pPr algn="l"/>
            <a:r>
              <a:rPr sz="2200">
                <a:solidFill>
                  <a:srgbClr val="FFFFFF"/>
                </a:solidFill>
                <a:latin typeface="Helvetica Neue"/>
              </a:rPr>
              <a:t>Recommendations for pediatric radiologists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77824"/>
            <a:ext cx="11368735" cy="2885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AI development is constrained by scarce public datasets, fragmented institutional data, rare diseases, and heterogeneous reporting practices.</a:t>
            </a:r>
          </a:p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Choose one task worth improving in your practice: bone-age measurements, fracture detection, or reducing CT dose / MRI scan time.</a:t>
            </a:r>
          </a:p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Before adopting a tool, ask which children it was tested on. Check the intended age range and test it on your own cases, including younger children and unusual anatomy.</a:t>
            </a:r>
          </a:p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In a local pilot, measure what changes with AI: reading time, missed findings, false alarms, dose, or scan time. Review errors and keep checking after rollout.</a:t>
            </a:r>
          </a:p>
          <a:p>
            <a:pPr algn="l" marL="256032" indent="-256032">
              <a:spcAft>
                <a:spcPts val="56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Helvetica Neue"/>
              </a:rPr>
              <a:t>Help build the evidence we need: choose a pediatric problem you see often, label cases carefully, and work with other hospitals to test whether a model works beyond the site that built it.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0728655" y="65105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Helvetica Neue"/>
              </a:rPr>
              <a:t>49 /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
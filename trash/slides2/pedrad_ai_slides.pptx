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097280" y="2194560"/>
            <a:ext cx="9997135" cy="1188720"/>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400">
                <a:solidFill>
                  <a:srgbClr val="FFFFFF"/>
                </a:solidFill>
                <a:latin typeface="Helvetica Neue"/>
              </a:rPr>
              <a:t>Artificial Intelligence in Pediatric Radiology</a:t>
            </a:r>
          </a:p>
        </p:txBody>
      </p:sp>
      <p:sp>
        <p:nvSpPr>
          <p:cNvPr id="3" name="TextBox 2"/>
          <p:cNvSpPr txBox="1"/>
          <p:nvPr/>
        </p:nvSpPr>
        <p:spPr>
          <a:xfrm>
            <a:off x="1097280" y="3566160"/>
            <a:ext cx="9997135" cy="914400"/>
          </a:xfrm>
          <a:prstGeom prst="rect">
            <a:avLst/>
          </a:prstGeom>
          <a:noFill/>
        </p:spPr>
        <p:txBody>
          <a:bodyPr wrap="square">
            <a:spAutoFit/>
          </a:bodyPr>
          <a:lstStyle/>
          <a:p>
            <a:pPr algn="ctr"/>
            <a:r>
              <a:rPr sz="1800">
                <a:solidFill>
                  <a:srgbClr val="1A1A1A"/>
                </a:solidFill>
                <a:latin typeface="Helvetica Neue"/>
              </a:rPr>
              <a:t/>
            </a:r>
          </a:p>
        </p:txBody>
      </p:sp>
      <p:sp>
        <p:nvSpPr>
          <p:cNvPr id="4" name="TextBox 3"/>
          <p:cNvSpPr txBox="1"/>
          <p:nvPr/>
        </p:nvSpPr>
        <p:spPr>
          <a:xfrm>
            <a:off x="1097280" y="4480560"/>
            <a:ext cx="9997135" cy="457200"/>
          </a:xfrm>
          <a:prstGeom prst="rect">
            <a:avLst/>
          </a:prstGeom>
          <a:noFill/>
        </p:spPr>
        <p:txBody>
          <a:bodyPr wrap="none">
            <a:spAutoFit/>
          </a:bodyPr>
          <a:lstStyle/>
          <a:p>
            <a:pPr algn="ctr"/>
            <a:r>
              <a:rPr sz="1800">
                <a:solidFill>
                  <a:srgbClr val="1A1A1A"/>
                </a:solidFill>
                <a:latin typeface="Helvetica Neue"/>
              </a:rPr>
              <a:t>Joseph Rich, Dr. Amit Sura</a:t>
            </a:r>
          </a:p>
        </p:txBody>
      </p:sp>
      <p:sp>
        <p:nvSpPr>
          <p:cNvPr id="5" name="TextBox 4"/>
          <p:cNvSpPr txBox="1"/>
          <p:nvPr/>
        </p:nvSpPr>
        <p:spPr>
          <a:xfrm>
            <a:off x="1097280" y="4983480"/>
            <a:ext cx="9997135" cy="457200"/>
          </a:xfrm>
          <a:prstGeom prst="rect">
            <a:avLst/>
          </a:prstGeom>
          <a:noFill/>
        </p:spPr>
        <p:txBody>
          <a:bodyPr wrap="none">
            <a:spAutoFit/>
          </a:bodyPr>
          <a:lstStyle/>
          <a:p>
            <a:pPr algn="ctr"/>
            <a:r>
              <a:rPr sz="1400">
                <a:solidFill>
                  <a:srgbClr val="6B6B6B"/>
                </a:solidFill>
                <a:latin typeface="Helvetica Neue"/>
              </a:rPr>
              <a:t>September 23, 2026</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 / 83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Objectives</a:t>
            </a:r>
          </a:p>
        </p:txBody>
      </p:sp>
      <p:sp>
        <p:nvSpPr>
          <p:cNvPr id="3" name="TextBox 2"/>
          <p:cNvSpPr txBox="1"/>
          <p:nvPr/>
        </p:nvSpPr>
        <p:spPr>
          <a:xfrm>
            <a:off x="411480" y="877824"/>
            <a:ext cx="11368735" cy="721360"/>
          </a:xfrm>
          <a:prstGeom prst="rect">
            <a:avLst/>
          </a:prstGeom>
          <a:noFill/>
        </p:spPr>
        <p:txBody>
          <a:bodyPr wrap="square" lIns="45720" rIns="45720" tIns="27432" bIns="27432" anchor="t">
            <a:spAutoFit/>
          </a:bodyPr>
          <a:lstStyle/>
          <a:p>
            <a:pPr algn="l" marL="256032" indent="-256032">
              <a:spcAft>
                <a:spcPts val="560"/>
              </a:spcAft>
              <a:buChar char="•"/>
            </a:pPr>
            <a:r>
              <a:rPr sz="1600" b="0" i="0">
                <a:solidFill>
                  <a:srgbClr val="1A1A1A"/>
                </a:solidFill>
                <a:latin typeface="Helvetica Neue"/>
              </a:rPr>
              <a:t>Describe the big players in radiology AI, both general and pediatric, since 2023</a:t>
            </a:r>
          </a:p>
          <a:p>
            <a:pPr algn="l" marL="256032" indent="-256032">
              <a:spcAft>
                <a:spcPts val="560"/>
              </a:spcAft>
              <a:buChar char="•"/>
            </a:pPr>
            <a:r>
              <a:rPr sz="1600" b="0" i="0">
                <a:solidFill>
                  <a:srgbClr val="1A1A1A"/>
                </a:solidFill>
                <a:latin typeface="Helvetica Neue"/>
              </a:rPr>
              <a:t>Summarize what radiology AI does well and what remains unresolved</a:t>
            </a:r>
          </a:p>
        </p:txBody>
      </p:sp>
      <p:sp>
        <p:nvSpPr>
          <p:cNvPr id="4"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 / 83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Methods</a:t>
            </a:r>
          </a:p>
        </p:txBody>
      </p:sp>
      <p:sp>
        <p:nvSpPr>
          <p:cNvPr id="3" name="TextBox 2"/>
          <p:cNvSpPr txBox="1"/>
          <p:nvPr/>
        </p:nvSpPr>
        <p:spPr>
          <a:xfrm>
            <a:off x="411480" y="877824"/>
            <a:ext cx="11368735" cy="1469390"/>
          </a:xfrm>
          <a:prstGeom prst="rect">
            <a:avLst/>
          </a:prstGeom>
          <a:noFill/>
        </p:spPr>
        <p:txBody>
          <a:bodyPr wrap="square" lIns="45720" rIns="45720" tIns="27432" bIns="27432" anchor="t">
            <a:spAutoFit/>
          </a:bodyPr>
          <a:lstStyle/>
          <a:p>
            <a:pPr algn="l">
              <a:spcAft>
                <a:spcPts val="489"/>
              </a:spcAft>
            </a:pPr>
            <a:r>
              <a:rPr sz="1400" b="1" i="0">
                <a:solidFill>
                  <a:srgbClr val="1A1A1A"/>
                </a:solidFill>
                <a:latin typeface="Helvetica Neue"/>
              </a:rPr>
              <a:t>Journals, Preprints</a:t>
            </a:r>
            <a:r>
              <a:rPr sz="1400" b="0" i="0">
                <a:solidFill>
                  <a:srgbClr val="1A1A1A"/>
                </a:solidFill>
                <a:latin typeface="Helvetica Neue"/>
              </a:rPr>
              <a:t>: PubMed, Embase, arXiv, medRxiv</a:t>
            </a:r>
          </a:p>
          <a:p>
            <a:pPr algn="l">
              <a:spcAft>
                <a:spcPts val="489"/>
              </a:spcAft>
            </a:pPr>
            <a:r>
              <a:rPr sz="1400" b="1" i="0">
                <a:solidFill>
                  <a:srgbClr val="1A1A1A"/>
                </a:solidFill>
                <a:latin typeface="Helvetica Neue"/>
              </a:rPr>
              <a:t>Conferences</a:t>
            </a:r>
            <a:r>
              <a:rPr sz="1400" b="0" i="0">
                <a:solidFill>
                  <a:srgbClr val="1A1A1A"/>
                </a:solidFill>
                <a:latin typeface="Helvetica Neue"/>
              </a:rPr>
              <a:t>: NeurIPS, ICLR, ICML, CVPR, MICCAI, MIDL</a:t>
            </a:r>
          </a:p>
          <a:p>
            <a:pPr algn="l">
              <a:spcAft>
                <a:spcPts val="489"/>
              </a:spcAft>
            </a:pPr>
            <a:r>
              <a:rPr sz="1400" b="1" i="0">
                <a:solidFill>
                  <a:srgbClr val="1A1A1A"/>
                </a:solidFill>
                <a:latin typeface="Helvetica Neue"/>
              </a:rPr>
              <a:t>Datasets</a:t>
            </a:r>
            <a:r>
              <a:rPr sz="1400" b="0" i="0">
                <a:solidFill>
                  <a:srgbClr val="1A1A1A"/>
                </a:solidFill>
                <a:latin typeface="Helvetica Neue"/>
              </a:rPr>
              <a:t>: Hand-curated list</a:t>
            </a:r>
          </a:p>
          <a:p>
            <a:pPr algn="l">
              <a:spcAft>
                <a:spcPts val="489"/>
              </a:spcAft>
            </a:pPr>
            <a:r>
              <a:rPr sz="1400" b="1" i="0">
                <a:solidFill>
                  <a:srgbClr val="1A1A1A"/>
                </a:solidFill>
                <a:latin typeface="Helvetica Neue"/>
              </a:rPr>
              <a:t>Newsletters</a:t>
            </a:r>
            <a:r>
              <a:rPr sz="1400" b="0" i="0">
                <a:solidFill>
                  <a:srgbClr val="1A1A1A"/>
                </a:solidFill>
                <a:latin typeface="Helvetica Neue"/>
              </a:rPr>
              <a:t>: The Imaging Wire, RSNA News, TLDR AI, TLDR Tech, Signify Research, ESR / ECR, Radiology Business</a:t>
            </a:r>
          </a:p>
          <a:p>
            <a:pPr algn="l">
              <a:spcAft>
                <a:spcPts val="489"/>
              </a:spcAft>
            </a:pPr>
            <a:r>
              <a:rPr sz="1400" b="1" i="0">
                <a:solidFill>
                  <a:srgbClr val="1A1A1A"/>
                </a:solidFill>
                <a:latin typeface="Helvetica Neue"/>
              </a:rPr>
              <a:t>Commercial</a:t>
            </a:r>
            <a:r>
              <a:rPr sz="1400" b="0" i="0">
                <a:solidFill>
                  <a:srgbClr val="1A1A1A"/>
                </a:solidFill>
                <a:latin typeface="Helvetica Neue"/>
              </a:rPr>
              <a:t>: FDA list of AI-enabled devices</a:t>
            </a:r>
          </a:p>
        </p:txBody>
      </p:sp>
      <p:sp>
        <p:nvSpPr>
          <p:cNvPr id="4" name="TextBox 3"/>
          <p:cNvSpPr txBox="1"/>
          <p:nvPr/>
        </p:nvSpPr>
        <p:spPr>
          <a:xfrm>
            <a:off x="411480" y="2420366"/>
            <a:ext cx="11368735" cy="367030"/>
          </a:xfrm>
          <a:prstGeom prst="rect">
            <a:avLst/>
          </a:prstGeom>
          <a:noFill/>
        </p:spPr>
        <p:txBody>
          <a:bodyPr wrap="square" lIns="45720" rIns="45720" tIns="27432" bIns="27432" anchor="t">
            <a:spAutoFit/>
          </a:bodyPr>
          <a:lstStyle/>
          <a:p>
            <a:pPr algn="l">
              <a:spcAft>
                <a:spcPts val="489"/>
              </a:spcAft>
            </a:pPr>
            <a:r>
              <a:rPr sz="1400" b="1" i="0">
                <a:solidFill>
                  <a:srgbClr val="1A1A1A"/>
                </a:solidFill>
                <a:latin typeface="Helvetica Neue"/>
              </a:rPr>
              <a:t>Search strategy</a:t>
            </a:r>
            <a:r>
              <a:rPr sz="1400" b="0" i="0">
                <a:solidFill>
                  <a:srgbClr val="1A1A1A"/>
                </a:solidFill>
                <a:latin typeface="Helvetica Neue"/>
              </a:rPr>
              <a:t>: radiology AND AI [AND pediatric]</a:t>
            </a:r>
          </a:p>
        </p:txBody>
      </p:sp>
      <p:sp>
        <p:nvSpPr>
          <p:cNvPr id="5" name="TextBox 4"/>
          <p:cNvSpPr txBox="1"/>
          <p:nvPr/>
        </p:nvSpPr>
        <p:spPr>
          <a:xfrm>
            <a:off x="411480" y="2860548"/>
            <a:ext cx="11368735" cy="1857375"/>
          </a:xfrm>
          <a:prstGeom prst="rect">
            <a:avLst/>
          </a:prstGeom>
          <a:noFill/>
        </p:spPr>
        <p:txBody>
          <a:bodyPr wrap="square" lIns="45720" rIns="45720" tIns="27432" bIns="27432" anchor="t">
            <a:spAutoFit/>
          </a:bodyPr>
          <a:lstStyle/>
          <a:p>
            <a:pPr algn="l">
              <a:spcAft>
                <a:spcPts val="315"/>
              </a:spcAft>
            </a:pPr>
            <a:r>
              <a:rPr sz="900" b="1" i="0">
                <a:solidFill>
                  <a:srgbClr val="1A1A1A"/>
                </a:solidFill>
                <a:latin typeface="Helvetica Neue"/>
              </a:rPr>
              <a:t>radiology</a:t>
            </a:r>
            <a:r>
              <a:rPr sz="900" b="0" i="0">
                <a:solidFill>
                  <a:srgbClr val="1A1A1A"/>
                </a:solidFill>
                <a:latin typeface="Helvetica Neue"/>
              </a:rPr>
              <a:t>: (radiology[tiab] OR radiological[tiab] OR radiograph*[tiab] OR "medical imaging"[tiab] OR "diagnostic imaging"[tiab] OR tomography[tiab] OR "magnetic resonance"[tiab] OR MRI[tiab] OR "MR imaging"[tiab] OR "MR images"[tiab] OR MRIs[tiab] OR "MR image"[tiab] OR "MR scan"[tiab] OR "MR scans"[tiab] OR "computed tomography"[tiab] OR CT[tiab] OR ultrasound[tiab] OR ultrasonograph*[tiab] OR sonograph*[tiab] OR echocardiograph*[tiab] OR mammograph*[tiab] OR "chest x-ray"[tiab] OR "x-ray"[tiab] OR fluoroscop*[tiab] OR scintigraph*[tiab] OR "positron emission"[tiab] OR PET[tiab] OR SPECT[tiab] OR angiograph*[tiab] OR neuroimaging[tiab] OR tractograph*[tiab] OR elastograph*[tiab] OR "fMRI"[tiab] OR "functional MRI"[tiab] OR "functional magnetic resonance"[tiab] OR connectome*[tiab] OR "diffusion tensor"[tiab] OR DTI[tiab] OR "bone age"[tiab] OR "skeletal age"[tiab] OR "skeletal maturity"[tiab] OR "barium enema"[tiab])</a:t>
            </a:r>
          </a:p>
          <a:p>
            <a:pPr algn="l">
              <a:spcAft>
                <a:spcPts val="315"/>
              </a:spcAft>
            </a:pPr>
            <a:r>
              <a:rPr sz="900" b="1" i="0">
                <a:solidFill>
                  <a:srgbClr val="1A1A1A"/>
                </a:solidFill>
                <a:latin typeface="Helvetica Neue"/>
              </a:rPr>
              <a:t>AI</a:t>
            </a:r>
            <a:r>
              <a:rPr sz="900" b="0" i="0">
                <a:solidFill>
                  <a:srgbClr val="1A1A1A"/>
                </a:solidFill>
                <a:latin typeface="Helvetica Neue"/>
              </a:rPr>
              <a:t>: ("artificial intelligence"[tiab] OR "machine learning"[tiab] OR "deep learning"[tiab] OR "convolutional neural network"[tiab] OR "convolutional neural networks"[tiab] OR "neural network"[tiab] OR "neural networks"[tiab] OR "computer-aided diagnosis"[tiab] OR "computer aided diagnosis"[tiab] OR "computer-aided detection"[tiab] OR radiomic*[tiab] OR "computer vision"[tiab] OR "large language model"[tiab] OR "large language models"[tiab] OR "foundation model"[tiab] OR "foundation models"[tiab] OR "transfer learning"[tiab] OR "vision transformer"[tiab] OR "self-supervised"[tiab] OR "random forest"[tiab] OR "support vector machine"[tiab] OR "gradient boosting"[tiab] OR "natural language processing"[tiab])</a:t>
            </a:r>
          </a:p>
          <a:p>
            <a:pPr algn="l">
              <a:spcAft>
                <a:spcPts val="315"/>
              </a:spcAft>
            </a:pPr>
            <a:r>
              <a:rPr sz="900" b="1" i="0">
                <a:solidFill>
                  <a:srgbClr val="1A1A1A"/>
                </a:solidFill>
                <a:latin typeface="Helvetica Neue"/>
              </a:rPr>
              <a:t>pediatric</a:t>
            </a:r>
            <a:r>
              <a:rPr sz="900" b="0" i="0">
                <a:solidFill>
                  <a:srgbClr val="1A1A1A"/>
                </a:solidFill>
                <a:latin typeface="Helvetica Neue"/>
              </a:rPr>
              <a:t>: (pediatric*[tiab] OR paediatric*[tiab] OR child*[tiab] OR infant*[tiab] OR neonat*[tiab] OR adolescen*[tiab] OR fetal[tiab] OR foetal[tiab] OR fetus*[tiab] OR foetus*[tiab] OR newborn*[tiab] OR preterm[tiab] OR "premature infant"[tiab] OR "premature infants"[tiab] OR "premature birth"[tiab] OR "premature neonate"[tiab] OR "premature neonates"[tiab] OR prenatal[tiab] OR antenatal[tiab] OR perinatal[tiab] OR youth[tiab] OR juvenile[tiab] OR "children's hospital"[tiab] OR schoolchild*[tiab] OR toddler*[tiab])</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 / 83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Radiology AI publication counts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radiology_ai_trend" descr="radiology_ai_trend.png"/>
          <p:cNvPicPr>
            <a:picLocks noChangeAspect="1"/>
          </p:cNvPicPr>
          <p:nvPr/>
        </p:nvPicPr>
        <p:blipFill>
          <a:blip r:embed="rId2"/>
          <a:stretch>
            <a:fillRect/>
          </a:stretch>
        </p:blipFill>
        <p:spPr>
          <a:xfrm>
            <a:off x="2053468" y="877824"/>
            <a:ext cx="8084758" cy="4491532"/>
          </a:xfrm>
          <a:prstGeom prst="rect">
            <a:avLst/>
          </a:prstGeom>
        </p:spPr>
      </p:pic>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 / 83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Pediatric radiology AI publications, stratified by modality and task</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ped_modality_by_task" descr="ped_modality_by_task.png"/>
          <p:cNvPicPr>
            <a:picLocks noChangeAspect="1"/>
          </p:cNvPicPr>
          <p:nvPr/>
        </p:nvPicPr>
        <p:blipFill>
          <a:blip r:embed="rId2"/>
          <a:stretch>
            <a:fillRect/>
          </a:stretch>
        </p:blipFill>
        <p:spPr>
          <a:xfrm>
            <a:off x="3558563" y="877824"/>
            <a:ext cx="5074567" cy="2638775"/>
          </a:xfrm>
          <a:prstGeom prst="rect">
            <a:avLst/>
          </a:prstGeom>
        </p:spPr>
      </p:pic>
      <p:sp>
        <p:nvSpPr>
          <p:cNvPr id="5" name="TextBox 4"/>
          <p:cNvSpPr txBox="1"/>
          <p:nvPr/>
        </p:nvSpPr>
        <p:spPr>
          <a:xfrm>
            <a:off x="411480" y="3589751"/>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Same construction, restricted to the pediatric subset (10,737 papers incl. 596 preprints). Top pediatric modalities: MRI 41%, CT 16%, ultrasound 13%, x-ray / radiography 12%. Mammography is omitted: its 79 pediatric-query hits (of 10,737) are adult breast-imaging papers whose abstracts mention children.</a:t>
            </a:r>
          </a:p>
        </p:txBody>
      </p:sp>
      <p:sp>
        <p:nvSpPr>
          <p:cNvPr id="6" name="TextBox 5"/>
          <p:cNvSpPr txBox="1"/>
          <p:nvPr/>
        </p:nvSpPr>
        <p:spPr>
          <a:xfrm>
            <a:off x="411480" y="4068668"/>
            <a:ext cx="3630981" cy="1034415"/>
          </a:xfrm>
          <a:prstGeom prst="rect">
            <a:avLst/>
          </a:prstGeom>
          <a:noFill/>
        </p:spPr>
        <p:txBody>
          <a:bodyPr wrap="square" lIns="45720" rIns="45720" tIns="27432" bIns="27432" anchor="t">
            <a:spAutoFit/>
          </a:bodyPr>
          <a:lstStyle/>
          <a:p>
            <a:pPr algn="l" marL="256032" indent="-256032">
              <a:spcAft>
                <a:spcPts val="315"/>
              </a:spcAft>
              <a:buChar char="•"/>
            </a:pPr>
            <a:r>
              <a:rPr sz="900" b="1" i="0">
                <a:solidFill>
                  <a:srgbClr val="1A1A1A"/>
                </a:solidFill>
                <a:latin typeface="Helvetica Neue"/>
              </a:rPr>
              <a:t>detection / diagnosis</a:t>
            </a:r>
            <a:r>
              <a:rPr sz="900" b="0" i="0">
                <a:solidFill>
                  <a:srgbClr val="1A1A1A"/>
                </a:solidFill>
                <a:latin typeface="Helvetica Neue"/>
              </a:rPr>
              <a:t>: is a finding present now, and which one (label or box): fracture, pneumonia, tumor; includes triage and screening</a:t>
            </a:r>
          </a:p>
          <a:p>
            <a:pPr algn="l" marL="256032" indent="-256032">
              <a:spcAft>
                <a:spcPts val="315"/>
              </a:spcAft>
              <a:buChar char="•"/>
            </a:pPr>
            <a:r>
              <a:rPr sz="900" b="1" i="0">
                <a:solidFill>
                  <a:srgbClr val="1A1A1A"/>
                </a:solidFill>
                <a:latin typeface="Helvetica Neue"/>
              </a:rPr>
              <a:t>segmentation</a:t>
            </a:r>
            <a:r>
              <a:rPr sz="900" b="0" i="0">
                <a:solidFill>
                  <a:srgbClr val="1A1A1A"/>
                </a:solidFill>
                <a:latin typeface="Helvetica Neue"/>
              </a:rPr>
              <a:t>: outline a structure or lesion (a mask)</a:t>
            </a:r>
          </a:p>
          <a:p>
            <a:pPr algn="l" marL="256032" indent="-256032">
              <a:spcAft>
                <a:spcPts val="315"/>
              </a:spcAft>
              <a:buChar char="•"/>
            </a:pPr>
            <a:r>
              <a:rPr sz="900" b="1" i="0">
                <a:solidFill>
                  <a:srgbClr val="1A1A1A"/>
                </a:solidFill>
                <a:latin typeface="Helvetica Neue"/>
              </a:rPr>
              <a:t>measurement / quantification</a:t>
            </a:r>
            <a:r>
              <a:rPr sz="900" b="0" i="0">
                <a:solidFill>
                  <a:srgbClr val="1A1A1A"/>
                </a:solidFill>
                <a:latin typeface="Helvetica Neue"/>
              </a:rPr>
              <a:t>: a number from the image: bone age, Cobb angle, organ volume, fetal biometry</a:t>
            </a:r>
          </a:p>
        </p:txBody>
      </p:sp>
      <p:sp>
        <p:nvSpPr>
          <p:cNvPr id="7" name="TextBox 6"/>
          <p:cNvSpPr txBox="1"/>
          <p:nvPr/>
        </p:nvSpPr>
        <p:spPr>
          <a:xfrm>
            <a:off x="4225341" y="4068668"/>
            <a:ext cx="3630981" cy="1171575"/>
          </a:xfrm>
          <a:prstGeom prst="rect">
            <a:avLst/>
          </a:prstGeom>
          <a:noFill/>
        </p:spPr>
        <p:txBody>
          <a:bodyPr wrap="square" lIns="45720" rIns="45720" tIns="27432" bIns="27432" anchor="t">
            <a:spAutoFit/>
          </a:bodyPr>
          <a:lstStyle/>
          <a:p>
            <a:pPr algn="l" marL="256032" indent="-256032">
              <a:spcAft>
                <a:spcPts val="315"/>
              </a:spcAft>
              <a:buChar char="•"/>
            </a:pPr>
            <a:r>
              <a:rPr sz="900" b="1" i="0">
                <a:solidFill>
                  <a:srgbClr val="1A1A1A"/>
                </a:solidFill>
                <a:latin typeface="Helvetica Neue"/>
              </a:rPr>
              <a:t>outcome prediction</a:t>
            </a:r>
            <a:r>
              <a:rPr sz="900" b="0" i="0">
                <a:solidFill>
                  <a:srgbClr val="1A1A1A"/>
                </a:solidFill>
                <a:latin typeface="Helvetica Neue"/>
              </a:rPr>
              <a:t>: a future risk, response, or survival estimate from the image (prognosis, radiomics signatures)</a:t>
            </a:r>
          </a:p>
          <a:p>
            <a:pPr algn="l" marL="256032" indent="-256032">
              <a:spcAft>
                <a:spcPts val="315"/>
              </a:spcAft>
              <a:buChar char="•"/>
            </a:pPr>
            <a:r>
              <a:rPr sz="900" b="1" i="0">
                <a:solidFill>
                  <a:srgbClr val="1A1A1A"/>
                </a:solidFill>
                <a:latin typeface="Helvetica Neue"/>
              </a:rPr>
              <a:t>reconstruction / imputation</a:t>
            </a:r>
            <a:r>
              <a:rPr sz="900" b="0" i="0">
                <a:solidFill>
                  <a:srgbClr val="1A1A1A"/>
                </a:solidFill>
                <a:latin typeface="Helvetica Neue"/>
              </a:rPr>
              <a:t>: a better or missing image: lower dose, faster scans, denoising, synthetic CT/MR</a:t>
            </a:r>
          </a:p>
          <a:p>
            <a:pPr algn="l" marL="256032" indent="-256032">
              <a:spcAft>
                <a:spcPts val="315"/>
              </a:spcAft>
              <a:buChar char="•"/>
            </a:pPr>
            <a:r>
              <a:rPr sz="900" b="1" i="0">
                <a:solidFill>
                  <a:srgbClr val="1A1A1A"/>
                </a:solidFill>
                <a:latin typeface="Helvetica Neue"/>
              </a:rPr>
              <a:t>report generation / LLM</a:t>
            </a:r>
            <a:r>
              <a:rPr sz="900" b="0" i="0">
                <a:solidFill>
                  <a:srgbClr val="1A1A1A"/>
                </a:solidFill>
                <a:latin typeface="Helvetica Neue"/>
              </a:rPr>
              <a:t>: text: draft, summarize, or extract from radiology reports</a:t>
            </a:r>
          </a:p>
        </p:txBody>
      </p:sp>
      <p:sp>
        <p:nvSpPr>
          <p:cNvPr id="8" name="TextBox 7"/>
          <p:cNvSpPr txBox="1"/>
          <p:nvPr/>
        </p:nvSpPr>
        <p:spPr>
          <a:xfrm>
            <a:off x="8039203" y="4068668"/>
            <a:ext cx="3630981" cy="1171575"/>
          </a:xfrm>
          <a:prstGeom prst="rect">
            <a:avLst/>
          </a:prstGeom>
          <a:noFill/>
        </p:spPr>
        <p:txBody>
          <a:bodyPr wrap="square" lIns="45720" rIns="45720" tIns="27432" bIns="27432" anchor="t">
            <a:spAutoFit/>
          </a:bodyPr>
          <a:lstStyle/>
          <a:p>
            <a:pPr algn="l" marL="256032" indent="-256032">
              <a:spcAft>
                <a:spcPts val="315"/>
              </a:spcAft>
              <a:buChar char="•"/>
            </a:pPr>
            <a:r>
              <a:rPr sz="900" b="1" i="0">
                <a:solidFill>
                  <a:srgbClr val="1A1A1A"/>
                </a:solidFill>
                <a:latin typeface="Helvetica Neue"/>
              </a:rPr>
              <a:t>foundation model / vision-language</a:t>
            </a:r>
            <a:r>
              <a:rPr sz="900" b="0" i="0">
                <a:solidFill>
                  <a:srgbClr val="1A1A1A"/>
                </a:solidFill>
                <a:latin typeface="Helvetica Neue"/>
              </a:rPr>
              <a:t>: a large pretrained model reused across tasks (segment-anything, self-supervised)</a:t>
            </a:r>
          </a:p>
          <a:p>
            <a:pPr algn="l" marL="256032" indent="-256032">
              <a:spcAft>
                <a:spcPts val="315"/>
              </a:spcAft>
              <a:buChar char="•"/>
            </a:pPr>
            <a:r>
              <a:rPr sz="900" b="1" i="0">
                <a:solidFill>
                  <a:srgbClr val="1A1A1A"/>
                </a:solidFill>
                <a:latin typeface="Helvetica Neue"/>
              </a:rPr>
              <a:t>agent / autonomous</a:t>
            </a:r>
            <a:r>
              <a:rPr sz="900" b="0" i="0">
                <a:solidFill>
                  <a:srgbClr val="1A1A1A"/>
                </a:solidFill>
                <a:latin typeface="Helvetica Neue"/>
              </a:rPr>
              <a:t>: multi-step actions taken without a human in the loop</a:t>
            </a:r>
          </a:p>
          <a:p>
            <a:pPr algn="l" marL="256032" indent="-256032">
              <a:spcAft>
                <a:spcPts val="315"/>
              </a:spcAft>
              <a:buChar char="•"/>
            </a:pPr>
            <a:r>
              <a:rPr sz="900" b="1" i="0">
                <a:solidFill>
                  <a:srgbClr val="1A1A1A"/>
                </a:solidFill>
                <a:latin typeface="Helvetica Neue"/>
              </a:rPr>
              <a:t>workflow / non-interpretive</a:t>
            </a:r>
            <a:r>
              <a:rPr sz="900" b="0" i="0">
                <a:solidFill>
                  <a:srgbClr val="1A1A1A"/>
                </a:solidFill>
                <a:latin typeface="Helvetica Neue"/>
              </a:rPr>
              <a:t>: protocoling, scheduling, ordering, decision support, education</a:t>
            </a:r>
          </a:p>
        </p:txBody>
      </p:sp>
      <p:sp>
        <p:nvSpPr>
          <p:cNvPr id="9"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 / 83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Which journals publish pediatric radiology AI</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journal_impact" descr="journal_impact.png"/>
          <p:cNvPicPr>
            <a:picLocks noChangeAspect="1"/>
          </p:cNvPicPr>
          <p:nvPr/>
        </p:nvPicPr>
        <p:blipFill>
          <a:blip r:embed="rId2"/>
          <a:stretch>
            <a:fillRect/>
          </a:stretch>
        </p:blipFill>
        <p:spPr>
          <a:xfrm>
            <a:off x="2713830" y="877824"/>
            <a:ext cx="6764033" cy="3705514"/>
          </a:xfrm>
          <a:prstGeom prst="rect">
            <a:avLst/>
          </a:prstGeom>
        </p:spPr>
      </p:pic>
      <p:sp>
        <p:nvSpPr>
          <p:cNvPr id="5" name="TextBox 4"/>
          <p:cNvSpPr txBox="1"/>
          <p:nvPr/>
        </p:nvSpPr>
        <p:spPr>
          <a:xfrm>
            <a:off x="411480" y="4656490"/>
            <a:ext cx="11368735" cy="68008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x = OpenAlex 2-year mean citedness (a free JIF analogue; runs below the published JIF). y = cumulative pediatric radiology-AI papers 2015-2026 (PubMed, strict title/abstract query). The 33 journals with at least 25 of them are shown, carrying 1,807 of 5,099; the rest is a long tail. Largest: Pediatric Radiology (196); median impact 3.7, 1 at 10 or above – this work lands mostly in mid-impact specialty and technical journals. A further 3 conference proceedings and preprint servers clear the threshold (94 papers) but have no impact number of any kind and are not plotted. The same chart animated year by year: figures/journal_impact.gif.</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 / 83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Which journals publish pediatric radiology AI, 2023–present</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journal_impact_2023_2026" descr="journal_impact_2023_2026.png"/>
          <p:cNvPicPr>
            <a:picLocks noChangeAspect="1"/>
          </p:cNvPicPr>
          <p:nvPr/>
        </p:nvPicPr>
        <p:blipFill>
          <a:blip r:embed="rId2"/>
          <a:stretch>
            <a:fillRect/>
          </a:stretch>
        </p:blipFill>
        <p:spPr>
          <a:xfrm>
            <a:off x="2508859" y="877824"/>
            <a:ext cx="7173976" cy="3930091"/>
          </a:xfrm>
          <a:prstGeom prst="rect">
            <a:avLst/>
          </a:prstGeom>
        </p:spPr>
      </p:pic>
      <p:sp>
        <p:nvSpPr>
          <p:cNvPr id="5" name="TextBox 4"/>
          <p:cNvSpPr txBox="1"/>
          <p:nvPr/>
        </p:nvSpPr>
        <p:spPr>
          <a:xfrm>
            <a:off x="411480" y="4881067"/>
            <a:ext cx="11368735" cy="54292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x = OpenAlex 2-year mean citedness (a free JIF analogue; runs below the published JIF). y = cumulative pediatric radiology-AI papers 2023-2026 (PubMed, strict title/abstract query). The 28 journals with at least 20 of them are shown, carrying 1,099 of 3,340; the rest is a long tail. Largest: Pediatric Radiology (136); median impact 3.2, 1 at 10 or above – this work lands mostly in mid-impact specialty and technical journals. medRxiv clears the threshold (31 papers) but has no impact number of any kind, so it is not plotted.</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 / 83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Cross-check: an independent 2025 scoping review of pediatric radiology AI</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sp>
        <p:nvSpPr>
          <p:cNvPr id="4" name="TextBox 3"/>
          <p:cNvSpPr txBox="1"/>
          <p:nvPr/>
        </p:nvSpPr>
        <p:spPr>
          <a:xfrm>
            <a:off x="411480" y="877824"/>
            <a:ext cx="11368735" cy="475614"/>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Kamran et al., </a:t>
            </a:r>
            <a:r>
              <a:rPr sz="1100" b="0" i="1">
                <a:solidFill>
                  <a:srgbClr val="1A1A1A"/>
                </a:solidFill>
                <a:latin typeface="Helvetica Neue"/>
              </a:rPr>
              <a:t>Pediatric Radiology</a:t>
            </a:r>
            <a:r>
              <a:rPr sz="1100" b="0" i="0">
                <a:solidFill>
                  <a:srgbClr val="1A1A1A"/>
                </a:solidFill>
                <a:latin typeface="Helvetica Neue"/>
              </a:rPr>
              <a:t> 2025 (doi 10.1007/s00247-025-06462-5): 789 original pediatric-focused articles hand-screened from four databases, 2005 to August 2024. Our PubMed counts are larger because they include any paper that mentions a pediatric term.</a:t>
            </a:r>
          </a:p>
        </p:txBody>
      </p:sp>
      <p:sp>
        <p:nvSpPr>
          <p:cNvPr id="5" name="TextBox 4"/>
          <p:cNvSpPr txBox="1"/>
          <p:nvPr/>
        </p:nvSpPr>
        <p:spPr>
          <a:xfrm>
            <a:off x="411480" y="1426590"/>
            <a:ext cx="5592927" cy="2298700"/>
          </a:xfrm>
          <a:prstGeom prst="rect">
            <a:avLst/>
          </a:prstGeom>
          <a:noFill/>
        </p:spPr>
        <p:txBody>
          <a:bodyPr wrap="square" lIns="45720" rIns="45720" tIns="27432" bIns="27432" anchor="t">
            <a:spAutoFit/>
          </a:bodyPr>
          <a:lstStyle/>
          <a:p>
            <a:pPr algn="l" marL="256032" indent="-256032">
              <a:spcAft>
                <a:spcPts val="384"/>
              </a:spcAft>
              <a:buChar char="•"/>
            </a:pPr>
            <a:r>
              <a:rPr sz="1100" b="1" i="0">
                <a:solidFill>
                  <a:srgbClr val="1A1A1A"/>
                </a:solidFill>
                <a:latin typeface="Helvetica Neue"/>
              </a:rPr>
              <a:t>Modality</a:t>
            </a:r>
            <a:r>
              <a:rPr sz="1100" b="0" i="0">
                <a:solidFill>
                  <a:srgbClr val="1A1A1A"/>
                </a:solidFill>
                <a:latin typeface="Helvetica Neue"/>
              </a:rPr>
              <a:t>: radiography 38%, MRI 33%, ultrasound 14%, CT 11%, nuclear 2%. Our pediatric query ranks MRI first (MRI 41%, CT 16%, ultrasound 13%, x-ray / radiography 12%) because MRI-heavy neurodevelopment papers mention children.</a:t>
            </a:r>
          </a:p>
          <a:p>
            <a:pPr algn="l" marL="256032" indent="-256032">
              <a:spcAft>
                <a:spcPts val="384"/>
              </a:spcAft>
              <a:buChar char="•"/>
            </a:pPr>
            <a:r>
              <a:rPr sz="1100" b="1" i="0">
                <a:solidFill>
                  <a:srgbClr val="1A1A1A"/>
                </a:solidFill>
                <a:latin typeface="Helvetica Neue"/>
              </a:rPr>
              <a:t>Subspecialty</a:t>
            </a:r>
            <a:r>
              <a:rPr sz="1100" b="0" i="0">
                <a:solidFill>
                  <a:srgbClr val="1A1A1A"/>
                </a:solidFill>
                <a:latin typeface="Helvetica Neue"/>
              </a:rPr>
              <a:t>: musculoskeletal 33%, neuro 29%, chest 17%, body 14%, cardiac 6%.</a:t>
            </a:r>
          </a:p>
          <a:p>
            <a:pPr algn="l" marL="256032" indent="-256032">
              <a:spcAft>
                <a:spcPts val="384"/>
              </a:spcAft>
              <a:buChar char="•"/>
            </a:pPr>
            <a:r>
              <a:rPr sz="1100" b="1" i="0">
                <a:solidFill>
                  <a:srgbClr val="1A1A1A"/>
                </a:solidFill>
                <a:latin typeface="Helvetica Neue"/>
              </a:rPr>
              <a:t>Top applications</a:t>
            </a:r>
            <a:r>
              <a:rPr sz="1100" b="0" i="0">
                <a:solidFill>
                  <a:srgbClr val="1A1A1A"/>
                </a:solidFill>
                <a:latin typeface="Helvetica Neue"/>
              </a:rPr>
              <a:t>: bone age (88 articles), pneumonia (65), brain tumors (54), scoliosis (45), hip dysplasia (28), congenital heart disease (25), autism (18), epilepsy (14), ADHD (9), hydrocephalus (9).</a:t>
            </a:r>
          </a:p>
          <a:p>
            <a:pPr algn="l" marL="256032" indent="-256032">
              <a:spcAft>
                <a:spcPts val="384"/>
              </a:spcAft>
              <a:buChar char="•"/>
            </a:pPr>
            <a:r>
              <a:rPr sz="1100" b="1" i="0">
                <a:solidFill>
                  <a:srgbClr val="1A1A1A"/>
                </a:solidFill>
                <a:latin typeface="Helvetica Neue"/>
              </a:rPr>
              <a:t>Use of AI</a:t>
            </a:r>
            <a:r>
              <a:rPr sz="1100" b="0" i="0">
                <a:solidFill>
                  <a:srgbClr val="1A1A1A"/>
                </a:solidFill>
                <a:latin typeface="Helvetica Neue"/>
              </a:rPr>
              <a:t>: 91% image interpretation / diagnosis; 5.6% image quality; under 2% for acquisition, communication, protocoling, education, and policy combined.</a:t>
            </a:r>
          </a:p>
        </p:txBody>
      </p:sp>
      <p:sp>
        <p:nvSpPr>
          <p:cNvPr id="6" name="TextBox 5"/>
          <p:cNvSpPr txBox="1"/>
          <p:nvPr/>
        </p:nvSpPr>
        <p:spPr>
          <a:xfrm>
            <a:off x="6187287" y="1426590"/>
            <a:ext cx="5592927" cy="2131060"/>
          </a:xfrm>
          <a:prstGeom prst="rect">
            <a:avLst/>
          </a:prstGeom>
          <a:noFill/>
        </p:spPr>
        <p:txBody>
          <a:bodyPr wrap="square" lIns="45720" rIns="45720" tIns="27432" bIns="27432" anchor="t">
            <a:spAutoFit/>
          </a:bodyPr>
          <a:lstStyle/>
          <a:p>
            <a:pPr algn="l" marL="256032" indent="-256032">
              <a:spcAft>
                <a:spcPts val="384"/>
              </a:spcAft>
              <a:buChar char="•"/>
            </a:pPr>
            <a:r>
              <a:rPr sz="1100" b="1" i="0">
                <a:solidFill>
                  <a:srgbClr val="1A1A1A"/>
                </a:solidFill>
                <a:latin typeface="Helvetica Neue"/>
              </a:rPr>
              <a:t>Data</a:t>
            </a:r>
            <a:r>
              <a:rPr sz="1100" b="0" i="0">
                <a:solidFill>
                  <a:srgbClr val="1A1A1A"/>
                </a:solidFill>
                <a:latin typeface="Helvetica Neue"/>
              </a:rPr>
              <a:t>: 65% used a single local hospital dataset; 7% did not report the dataset; China 28%, USA 25%, Canada 7% of articles.</a:t>
            </a:r>
          </a:p>
          <a:p>
            <a:pPr algn="l" marL="256032" indent="-256032">
              <a:spcAft>
                <a:spcPts val="384"/>
              </a:spcAft>
              <a:buChar char="•"/>
            </a:pPr>
            <a:r>
              <a:rPr sz="1100" b="1" i="0">
                <a:solidFill>
                  <a:srgbClr val="1A1A1A"/>
                </a:solidFill>
                <a:latin typeface="Helvetica Neue"/>
              </a:rPr>
              <a:t>Growth</a:t>
            </a:r>
            <a:r>
              <a:rPr sz="1100" b="0" i="0">
                <a:solidFill>
                  <a:srgbClr val="1A1A1A"/>
                </a:solidFill>
                <a:latin typeface="Helvetica Neue"/>
              </a:rPr>
              <a:t>: 23 articles in 2018, 158 in 2022, 171 in 2023, consistent with our PubMed curve.</a:t>
            </a:r>
          </a:p>
          <a:p>
            <a:pPr algn="l" marL="256032" indent="-256032">
              <a:spcAft>
                <a:spcPts val="384"/>
              </a:spcAft>
              <a:buChar char="•"/>
            </a:pPr>
            <a:r>
              <a:rPr sz="1100" b="1" i="0">
                <a:solidFill>
                  <a:srgbClr val="1A1A1A"/>
                </a:solidFill>
                <a:latin typeface="Helvetica Neue"/>
              </a:rPr>
              <a:t>Recommendations</a:t>
            </a:r>
            <a:r>
              <a:rPr sz="1100" b="0" i="0">
                <a:solidFill>
                  <a:srgbClr val="1A1A1A"/>
                </a:solidFill>
                <a:latin typeface="Helvetica Neue"/>
              </a:rPr>
              <a:t>: multi-institutional, age-diverse pediatric datasets; CLAIM-style reporting with subgroup results and calibration; funding for the neglected non-interpretive areas (policy, education, implementation); children and families as stakeholders across the AI lifecycle.</a:t>
            </a:r>
          </a:p>
          <a:p>
            <a:pPr algn="l" marL="256032" indent="-256032">
              <a:spcAft>
                <a:spcPts val="384"/>
              </a:spcAft>
              <a:buChar char="•"/>
            </a:pPr>
            <a:r>
              <a:rPr sz="1100" b="1" i="0">
                <a:solidFill>
                  <a:srgbClr val="1A1A1A"/>
                </a:solidFill>
                <a:latin typeface="Helvetica Neue"/>
              </a:rPr>
              <a:t>What it adds to this deck</a:t>
            </a:r>
            <a:r>
              <a:rPr sz="1100" b="0" i="0">
                <a:solidFill>
                  <a:srgbClr val="1A1A1A"/>
                </a:solidFill>
                <a:latin typeface="Helvetica Neue"/>
              </a:rPr>
              <a:t>: the same three leading tasks (bone age, pneumonia, brain tumor) and the same gap (small local datasets, adult tools applied to children) reached by a manual review.</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8 / 83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ACR white paper: the pediatric AI gap</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Sammer et al., </a:t>
            </a:r>
            <a:r>
              <a:rPr sz="1100" b="0" i="1">
                <a:solidFill>
                  <a:srgbClr val="1A1A1A"/>
                </a:solidFill>
                <a:latin typeface="Helvetica Neue"/>
              </a:rPr>
              <a:t>J Am Coll Radiol</a:t>
            </a:r>
            <a:r>
              <a:rPr sz="1100" b="0" i="0">
                <a:solidFill>
                  <a:srgbClr val="1A1A1A"/>
                </a:solidFill>
                <a:latin typeface="Helvetica Neue"/>
              </a:rPr>
              <a:t> 2023;20:730–737 (https://doi.org/10.1016/j.jacr.2023.06.003doi 10.1016/j.jacr.2023.06.003)</a:t>
            </a:r>
          </a:p>
        </p:txBody>
      </p:sp>
      <p:sp>
        <p:nvSpPr>
          <p:cNvPr id="5" name="TextBox 4"/>
          <p:cNvSpPr txBox="1"/>
          <p:nvPr/>
        </p:nvSpPr>
        <p:spPr>
          <a:xfrm>
            <a:off x="411480" y="1258951"/>
            <a:ext cx="11368735" cy="2322830"/>
          </a:xfrm>
          <a:prstGeom prst="rect">
            <a:avLst/>
          </a:prstGeom>
          <a:noFill/>
        </p:spPr>
        <p:txBody>
          <a:bodyPr wrap="square" lIns="45720" rIns="45720" tIns="27432" bIns="27432" anchor="t">
            <a:spAutoFit/>
          </a:bodyPr>
          <a:lstStyle/>
          <a:p>
            <a:pPr algn="l" marL="256032" indent="-256032">
              <a:spcAft>
                <a:spcPts val="489"/>
              </a:spcAft>
              <a:buChar char="•"/>
            </a:pPr>
            <a:r>
              <a:rPr sz="1400" b="1" i="0">
                <a:solidFill>
                  <a:srgbClr val="1A1A1A"/>
                </a:solidFill>
                <a:latin typeface="Helvetica Neue"/>
              </a:rPr>
              <a:t>Scope</a:t>
            </a:r>
            <a:r>
              <a:rPr sz="1400" b="0" i="0">
                <a:solidFill>
                  <a:srgbClr val="1A1A1A"/>
                </a:solidFill>
                <a:latin typeface="Helvetica Neue"/>
              </a:rPr>
              <a:t>: ACR Pediatric AI Workgroup white paper framing limited access to pediatric AI as a health equity issue.</a:t>
            </a:r>
          </a:p>
          <a:p>
            <a:pPr algn="l" marL="256032" indent="-256032">
              <a:spcAft>
                <a:spcPts val="489"/>
              </a:spcAft>
              <a:buChar char="•"/>
            </a:pPr>
            <a:r>
              <a:rPr sz="1400" b="1" i="0">
                <a:solidFill>
                  <a:srgbClr val="1A1A1A"/>
                </a:solidFill>
                <a:latin typeface="Helvetica Neue"/>
              </a:rPr>
              <a:t>Availability</a:t>
            </a:r>
            <a:r>
              <a:rPr sz="1400" b="0" i="0">
                <a:solidFill>
                  <a:srgbClr val="1A1A1A"/>
                </a:solidFill>
                <a:latin typeface="Helvetica Neue"/>
              </a:rPr>
              <a:t>: at the time of the review, only 6 of more than 200 FDA-cleared tools in the ACR catalog indicated pediatric use (about 3%).</a:t>
            </a:r>
          </a:p>
          <a:p>
            <a:pPr algn="l" marL="256032" indent="-256032">
              <a:spcAft>
                <a:spcPts val="489"/>
              </a:spcAft>
              <a:buChar char="•"/>
            </a:pPr>
            <a:r>
              <a:rPr sz="1400" b="1" i="0">
                <a:solidFill>
                  <a:srgbClr val="1A1A1A"/>
                </a:solidFill>
                <a:latin typeface="Helvetica Neue"/>
              </a:rPr>
              <a:t>Why adult AI may fail</a:t>
            </a:r>
            <a:r>
              <a:rPr sz="1400" b="0" i="0">
                <a:solidFill>
                  <a:srgbClr val="1A1A1A"/>
                </a:solidFill>
                <a:latin typeface="Helvetica Neue"/>
              </a:rPr>
              <a:t>: growth, disease patterns, and imaging protocols differ; published studies show uneven performance across pediatric subgroups.</a:t>
            </a:r>
          </a:p>
          <a:p>
            <a:pPr algn="l" marL="256032" indent="-256032">
              <a:spcAft>
                <a:spcPts val="489"/>
              </a:spcAft>
              <a:buChar char="•"/>
            </a:pPr>
            <a:r>
              <a:rPr sz="1400" b="1" i="0">
                <a:solidFill>
                  <a:srgbClr val="1A1A1A"/>
                </a:solidFill>
                <a:latin typeface="Helvetica Neue"/>
              </a:rPr>
              <a:t>Barriers</a:t>
            </a:r>
            <a:r>
              <a:rPr sz="1400" b="0" i="0">
                <a:solidFill>
                  <a:srgbClr val="1A1A1A"/>
                </a:solidFill>
                <a:latin typeface="Helvetica Neue"/>
              </a:rPr>
              <a:t>: scarce labeled pediatric data, consent and privacy concerns, and weak financial incentives for smaller pediatric markets.</a:t>
            </a:r>
          </a:p>
          <a:p>
            <a:pPr algn="l" marL="256032" indent="-256032">
              <a:spcAft>
                <a:spcPts val="489"/>
              </a:spcAft>
              <a:buChar char="•"/>
            </a:pPr>
            <a:r>
              <a:rPr sz="1400" b="1" i="0">
                <a:solidFill>
                  <a:srgbClr val="1A1A1A"/>
                </a:solidFill>
                <a:latin typeface="Helvetica Neue"/>
              </a:rPr>
              <a:t>Recommendations</a:t>
            </a:r>
            <a:r>
              <a:rPr sz="1400" b="0" i="0">
                <a:solidFill>
                  <a:srgbClr val="1A1A1A"/>
                </a:solidFill>
                <a:latin typeface="Helvetica Neue"/>
              </a:rPr>
              <a:t>: validate in children, disclose age-specific evidence, fund pediatric development, involve families, and protect pediatric workflows. The authors introduce </a:t>
            </a:r>
            <a:r>
              <a:rPr sz="1400" b="0" i="1">
                <a:solidFill>
                  <a:srgbClr val="1A1A1A"/>
                </a:solidFill>
                <a:latin typeface="Helvetica Neue"/>
              </a:rPr>
              <a:t>Image IntelliGently</a:t>
            </a:r>
            <a:r>
              <a:rPr sz="1400" b="0" i="0">
                <a:solidFill>
                  <a:srgbClr val="1A1A1A"/>
                </a:solidFill>
                <a:latin typeface="Helvetica Neue"/>
              </a:rPr>
              <a:t> to advance this work.</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9 / 83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Multisociety statement: safe pediatric AI implementation</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Shelmerdine et al., </a:t>
            </a:r>
            <a:r>
              <a:rPr sz="1100" b="0" i="1">
                <a:solidFill>
                  <a:srgbClr val="1A1A1A"/>
                </a:solidFill>
                <a:latin typeface="Helvetica Neue"/>
              </a:rPr>
              <a:t>J Am Coll Radiol</a:t>
            </a:r>
            <a:r>
              <a:rPr sz="1100" b="0" i="0">
                <a:solidFill>
                  <a:srgbClr val="1A1A1A"/>
                </a:solidFill>
                <a:latin typeface="Helvetica Neue"/>
              </a:rPr>
              <a:t> 2026;23:89–101 (https://doi.org/10.1016/j.jacr.2025.08.019doi 10.1016/j.jacr.2025.08.019)</a:t>
            </a:r>
          </a:p>
        </p:txBody>
      </p:sp>
      <p:sp>
        <p:nvSpPr>
          <p:cNvPr id="5" name="TextBox 4"/>
          <p:cNvSpPr txBox="1"/>
          <p:nvPr/>
        </p:nvSpPr>
        <p:spPr>
          <a:xfrm>
            <a:off x="411480" y="1258951"/>
            <a:ext cx="11368735" cy="367030"/>
          </a:xfrm>
          <a:prstGeom prst="rect">
            <a:avLst/>
          </a:prstGeom>
          <a:noFill/>
        </p:spPr>
        <p:txBody>
          <a:bodyPr wrap="square" lIns="45720" rIns="45720" tIns="27432" bIns="27432" anchor="t">
            <a:spAutoFit/>
          </a:bodyPr>
          <a:lstStyle/>
          <a:p>
            <a:pPr algn="l">
              <a:spcAft>
                <a:spcPts val="489"/>
              </a:spcAft>
            </a:pPr>
            <a:r>
              <a:rPr sz="1400" b="0" i="0">
                <a:solidFill>
                  <a:srgbClr val="1A1A1A"/>
                </a:solidFill>
                <a:latin typeface="Helvetica Neue"/>
              </a:rPr>
              <a:t>ACR, ESPR, SPR, SLARP, AOSPR, and SPIN propose four pillars for safe adoption:</a:t>
            </a:r>
          </a:p>
        </p:txBody>
      </p:sp>
      <p:sp>
        <p:nvSpPr>
          <p:cNvPr id="6" name="TextBox 5"/>
          <p:cNvSpPr txBox="1"/>
          <p:nvPr/>
        </p:nvSpPr>
        <p:spPr>
          <a:xfrm>
            <a:off x="411480" y="1699133"/>
            <a:ext cx="11368735" cy="2047240"/>
          </a:xfrm>
          <a:prstGeom prst="rect">
            <a:avLst/>
          </a:prstGeom>
          <a:noFill/>
        </p:spPr>
        <p:txBody>
          <a:bodyPr wrap="square" lIns="45720" rIns="45720" tIns="27432" bIns="27432" anchor="t">
            <a:spAutoFit/>
          </a:bodyPr>
          <a:lstStyle/>
          <a:p>
            <a:pPr algn="l" marL="256032" indent="-256032">
              <a:spcAft>
                <a:spcPts val="489"/>
              </a:spcAft>
              <a:buChar char="•"/>
            </a:pPr>
            <a:r>
              <a:rPr sz="1400" b="1" i="0">
                <a:solidFill>
                  <a:srgbClr val="1A1A1A"/>
                </a:solidFill>
                <a:latin typeface="Helvetica Neue"/>
              </a:rPr>
              <a:t>Regulation and purchasing</a:t>
            </a:r>
            <a:r>
              <a:rPr sz="1400" b="0" i="0">
                <a:solidFill>
                  <a:srgbClr val="1A1A1A"/>
                </a:solidFill>
                <a:latin typeface="Helvetica Neue"/>
              </a:rPr>
              <a:t>: pediatric labeling and proposed safety ratings; diverse datasets, subgroup performance, transparency, and cybersecurity.</a:t>
            </a:r>
          </a:p>
          <a:p>
            <a:pPr algn="l" marL="256032" indent="-256032">
              <a:spcAft>
                <a:spcPts val="489"/>
              </a:spcAft>
              <a:buChar char="•"/>
            </a:pPr>
            <a:r>
              <a:rPr sz="1400" b="1" i="0">
                <a:solidFill>
                  <a:srgbClr val="1A1A1A"/>
                </a:solidFill>
                <a:latin typeface="Helvetica Neue"/>
              </a:rPr>
              <a:t>Implementation and integration</a:t>
            </a:r>
            <a:r>
              <a:rPr sz="1400" b="0" i="0">
                <a:solidFill>
                  <a:srgbClr val="1A1A1A"/>
                </a:solidFill>
                <a:latin typeface="Helvetica Neue"/>
              </a:rPr>
              <a:t>: define a local clinical need, select tools validated in children, pilot before scaling, and involve pediatric specialists and families.</a:t>
            </a:r>
          </a:p>
          <a:p>
            <a:pPr algn="l" marL="256032" indent="-256032">
              <a:spcAft>
                <a:spcPts val="489"/>
              </a:spcAft>
              <a:buChar char="•"/>
            </a:pPr>
            <a:r>
              <a:rPr sz="1400" b="1" i="0">
                <a:solidFill>
                  <a:srgbClr val="1A1A1A"/>
                </a:solidFill>
                <a:latin typeface="Helvetica Neue"/>
              </a:rPr>
              <a:t>Interpretation and postmarket surveillance</a:t>
            </a:r>
            <a:r>
              <a:rPr sz="1400" b="0" i="0">
                <a:solidFill>
                  <a:srgbClr val="1A1A1A"/>
                </a:solidFill>
                <a:latin typeface="Helvetica Neue"/>
              </a:rPr>
              <a:t>: retain human oversight; audit performance and patient outcomes; manage discrepancies, report adverse events, and address automation bias.</a:t>
            </a:r>
          </a:p>
          <a:p>
            <a:pPr algn="l" marL="256032" indent="-256032">
              <a:spcAft>
                <a:spcPts val="489"/>
              </a:spcAft>
              <a:buChar char="•"/>
            </a:pPr>
            <a:r>
              <a:rPr sz="1400" b="1" i="0">
                <a:solidFill>
                  <a:srgbClr val="1A1A1A"/>
                </a:solidFill>
                <a:latin typeface="Helvetica Neue"/>
              </a:rPr>
              <a:t>Education</a:t>
            </a:r>
            <a:r>
              <a:rPr sz="1400" b="0" i="0">
                <a:solidFill>
                  <a:srgbClr val="1A1A1A"/>
                </a:solidFill>
                <a:latin typeface="Helvetica Neue"/>
              </a:rPr>
              <a:t>: foundational AI literacy for all staff, pediatric-specific training, continuing education, and patient/public engagement.</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10 / 83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Reading the whole pediatric literature, not a sample of it</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sp>
        <p:nvSpPr>
          <p:cNvPr id="4" name="TextBox 3"/>
          <p:cNvSpPr txBox="1"/>
          <p:nvPr/>
        </p:nvSpPr>
        <p:spPr>
          <a:xfrm>
            <a:off x="411480" y="877824"/>
            <a:ext cx="11368735" cy="64325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Counting publications says how much is being published; it does not say what was built, for which children, or how well it was tested. So every pediatric radiology-AI record from 2005 onward was retrieved from </a:t>
            </a:r>
            <a:r>
              <a:rPr sz="1100" b="1" i="0">
                <a:solidFill>
                  <a:srgbClr val="1A1A1A"/>
                </a:solidFill>
                <a:latin typeface="Helvetica Neue"/>
              </a:rPr>
              <a:t>PubMed/MEDLINE and Embase</a:t>
            </a:r>
            <a:r>
              <a:rPr sz="1100" b="0" i="0">
                <a:solidFill>
                  <a:srgbClr val="1A1A1A"/>
                </a:solidFill>
                <a:latin typeface="Helvetica Neue"/>
              </a:rPr>
              <a:t>, screened against prespecified criteria, and read into a structured row — model, modality, body region, age group, task, dataset size, data source, validation, availability — under one fixed schema.</a:t>
            </a:r>
          </a:p>
        </p:txBody>
      </p:sp>
      <p:sp>
        <p:nvSpPr>
          <p:cNvPr id="5" name="TextBox 4"/>
          <p:cNvSpPr txBox="1"/>
          <p:nvPr/>
        </p:nvSpPr>
        <p:spPr>
          <a:xfrm>
            <a:off x="411480" y="1594230"/>
            <a:ext cx="11368735" cy="1844674"/>
          </a:xfrm>
          <a:prstGeom prst="rect">
            <a:avLst/>
          </a:prstGeom>
          <a:noFill/>
        </p:spPr>
        <p:txBody>
          <a:bodyPr wrap="square" lIns="45720" rIns="45720" tIns="27432" bIns="27432" anchor="t">
            <a:spAutoFit/>
          </a:bodyPr>
          <a:lstStyle/>
          <a:p>
            <a:pPr algn="l" marL="256032" indent="-256032">
              <a:spcAft>
                <a:spcPts val="384"/>
              </a:spcAft>
              <a:buChar char="•"/>
            </a:pPr>
            <a:r>
              <a:rPr sz="1100" b="0" i="0">
                <a:solidFill>
                  <a:srgbClr val="1A1A1A"/>
                </a:solidFill>
                <a:latin typeface="Helvetica Neue"/>
              </a:rPr>
              <a:t>6,995 records retrieved, 393 conference proceedings set aside, 6,602 screened, 2,650 off-topic and 456 non-primary removed, 3,496 primary studies included (PubMed 3,122, Embase 365, OpenAlex 9).</a:t>
            </a:r>
          </a:p>
          <a:p>
            <a:pPr algn="l" marL="256032" indent="-256032">
              <a:spcAft>
                <a:spcPts val="384"/>
              </a:spcAft>
              <a:buChar char="•"/>
            </a:pPr>
            <a:r>
              <a:rPr sz="1100" b="1" i="0">
                <a:solidFill>
                  <a:srgbClr val="1A1A1A"/>
                </a:solidFill>
                <a:latin typeface="Helvetica Neue"/>
              </a:rPr>
              <a:t>Embase earns its place</a:t>
            </a:r>
            <a:r>
              <a:rPr sz="1100" b="0" i="0">
                <a:solidFill>
                  <a:srgbClr val="1A1A1A"/>
                </a:solidFill>
                <a:latin typeface="Helvetica Neue"/>
              </a:rPr>
              <a:t>: 365 of the included studies are not in PubMed at all. They have no PMID, so no NIH relative citation ratio; ranking them at all is why the impact column below is OpenAlex's field-weighted score.</a:t>
            </a:r>
          </a:p>
          <a:p>
            <a:pPr algn="l" marL="256032" indent="-256032">
              <a:spcAft>
                <a:spcPts val="384"/>
              </a:spcAft>
              <a:buChar char="•"/>
            </a:pPr>
            <a:r>
              <a:rPr sz="1100" b="0" i="0">
                <a:solidFill>
                  <a:srgbClr val="1A1A1A"/>
                </a:solidFill>
                <a:latin typeface="Helvetica Neue"/>
              </a:rPr>
              <a:t>Conference proceedings are retrieved and reported but not screened: an abstract cannot support a judgement about study design, and it carries no DOI linking it to the later full paper.</a:t>
            </a:r>
          </a:p>
          <a:p>
            <a:pPr algn="l" marL="256032" indent="-256032">
              <a:spcAft>
                <a:spcPts val="384"/>
              </a:spcAft>
              <a:buChar char="•"/>
            </a:pPr>
            <a:r>
              <a:rPr sz="1100" b="0" i="0">
                <a:solidFill>
                  <a:srgbClr val="1A1A1A"/>
                </a:solidFill>
                <a:latin typeface="Helvetica Neue"/>
              </a:rPr>
              <a:t>Screening and extraction were done by a constrained model under a fixed schema, with a blinded second-model re-screen of 150 records (94.7% agreement, kappa = 0.885). Dual-human validation is outstanding.</a:t>
            </a:r>
          </a:p>
          <a:p>
            <a:pPr algn="l" marL="256032" indent="-256032">
              <a:spcAft>
                <a:spcPts val="384"/>
              </a:spcAft>
              <a:buChar char="•"/>
            </a:pPr>
            <a:r>
              <a:rPr sz="1100" b="0" i="0">
                <a:solidFill>
                  <a:srgbClr val="1A1A1A"/>
                </a:solidFill>
                <a:latin typeface="Helvetica Neue"/>
              </a:rPr>
              <a:t>The same corpus is the paper database (reports/04_paper_database.md) and the systematic review manuscript, so the three never disagree.</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11 / 83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Study selection</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review_prisma" descr="review_prisma.png"/>
          <p:cNvPicPr>
            <a:picLocks noChangeAspect="1"/>
          </p:cNvPicPr>
          <p:nvPr/>
        </p:nvPicPr>
        <p:blipFill>
          <a:blip r:embed="rId2"/>
          <a:stretch>
            <a:fillRect/>
          </a:stretch>
        </p:blipFill>
        <p:spPr>
          <a:xfrm>
            <a:off x="3624135" y="877824"/>
            <a:ext cx="4943425" cy="4266956"/>
          </a:xfrm>
          <a:prstGeom prst="rect">
            <a:avLst/>
          </a:prstGeom>
        </p:spPr>
      </p:pic>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12 / 83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Included studies per publication year</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review_by_year" descr="review_by_year.png"/>
          <p:cNvPicPr>
            <a:picLocks noChangeAspect="1"/>
          </p:cNvPicPr>
          <p:nvPr/>
        </p:nvPicPr>
        <p:blipFill>
          <a:blip r:embed="rId2"/>
          <a:stretch>
            <a:fillRect/>
          </a:stretch>
        </p:blipFill>
        <p:spPr>
          <a:xfrm>
            <a:off x="1764726" y="877824"/>
            <a:ext cx="8662241" cy="4042379"/>
          </a:xfrm>
          <a:prstGeom prst="rect">
            <a:avLst/>
          </a:prstGeom>
        </p:spPr>
      </p:pic>
      <p:sp>
        <p:nvSpPr>
          <p:cNvPr id="5" name="TextBox 4"/>
          <p:cNvSpPr txBox="1"/>
          <p:nvPr/>
        </p:nvSpPr>
        <p:spPr>
          <a:xfrm>
            <a:off x="411480" y="4993355"/>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Blue = the 3,496 included primary studies; gray = records read and then excluded as off-topic or non-primary. 2025+ is year to date and still being indexed.</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13 / 83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What the pediatric literature is made of</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review_modality_year" descr="review_modality_year.png"/>
          <p:cNvPicPr>
            <a:picLocks noChangeAspect="1"/>
          </p:cNvPicPr>
          <p:nvPr/>
        </p:nvPicPr>
        <p:blipFill>
          <a:blip r:embed="rId2"/>
          <a:stretch>
            <a:fillRect/>
          </a:stretch>
        </p:blipFill>
        <p:spPr>
          <a:xfrm>
            <a:off x="2880318" y="877824"/>
            <a:ext cx="6431056" cy="3144072"/>
          </a:xfrm>
          <a:prstGeom prst="rect">
            <a:avLst/>
          </a:prstGeom>
        </p:spPr>
      </p:pic>
      <p:sp>
        <p:nvSpPr>
          <p:cNvPr id="5" name="TextBox 4"/>
          <p:cNvSpPr txBox="1"/>
          <p:nvPr/>
        </p:nvSpPr>
        <p:spPr>
          <a:xfrm>
            <a:off x="411480" y="4095048"/>
            <a:ext cx="11368735" cy="680084"/>
          </a:xfrm>
          <a:prstGeom prst="rect">
            <a:avLst/>
          </a:prstGeom>
          <a:noFill/>
        </p:spPr>
        <p:txBody>
          <a:bodyPr wrap="square" lIns="45720" rIns="45720" tIns="27432" bIns="27432" anchor="t">
            <a:spAutoFit/>
          </a:bodyPr>
          <a:lstStyle/>
          <a:p>
            <a:pPr algn="l">
              <a:spcAft>
                <a:spcPts val="315"/>
              </a:spcAft>
            </a:pPr>
            <a:r>
              <a:rPr sz="900" b="1" i="0">
                <a:solidFill>
                  <a:srgbClr val="1A1A1A"/>
                </a:solidFill>
                <a:latin typeface="Helvetica Neue"/>
              </a:rPr>
              <a:t>Modality</a:t>
            </a:r>
            <a:r>
              <a:rPr sz="900" b="0" i="0">
                <a:solidFill>
                  <a:srgbClr val="1A1A1A"/>
                </a:solidFill>
                <a:latin typeface="Helvetica Neue"/>
              </a:rPr>
              <a:t>: MRI 46%, ultrasound 24%, x-ray / radiography 19%, CT 9%. </a:t>
            </a:r>
            <a:r>
              <a:rPr sz="900" b="1" i="0">
                <a:solidFill>
                  <a:srgbClr val="1A1A1A"/>
                </a:solidFill>
                <a:latin typeface="Helvetica Neue"/>
              </a:rPr>
              <a:t>Task</a:t>
            </a:r>
            <a:r>
              <a:rPr sz="900" b="0" i="0">
                <a:solidFill>
                  <a:srgbClr val="1A1A1A"/>
                </a:solidFill>
                <a:latin typeface="Helvetica Neue"/>
              </a:rPr>
              <a:t>: detection / diagnosis 38%, measurement / quantification 24%, outcome prediction 20%, segmentation 19%. </a:t>
            </a:r>
            <a:r>
              <a:rPr sz="900" b="1" i="0">
                <a:solidFill>
                  <a:srgbClr val="1A1A1A"/>
                </a:solidFill>
                <a:latin typeface="Helvetica Neue"/>
              </a:rPr>
              <a:t>Age group</a:t>
            </a:r>
            <a:r>
              <a:rPr sz="900" b="0" i="0">
                <a:solidFill>
                  <a:srgbClr val="1A1A1A"/>
                </a:solidFill>
                <a:latin typeface="Helvetica Neue"/>
              </a:rPr>
              <a:t>: child 37%, adolescent 25%, fetal 22%, infant 15%. Categories are multilabel, so an axis can exceed 100%. MRI leads on the strength of the fetal and developmental-neuroscience literature: remove the MRI studies that use cognitive-neuroscience methods or report cognitive and behavioral outcomes and MRI falls level with ultrasound (30% each), which is why reviews built on narrower vocabulary rank radiography or ultrasound first.</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14 / 83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What the models produce</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review_task_year" descr="review_task_year.png"/>
          <p:cNvPicPr>
            <a:picLocks noChangeAspect="1"/>
          </p:cNvPicPr>
          <p:nvPr/>
        </p:nvPicPr>
        <p:blipFill>
          <a:blip r:embed="rId2"/>
          <a:stretch>
            <a:fillRect/>
          </a:stretch>
        </p:blipFill>
        <p:spPr>
          <a:xfrm>
            <a:off x="1731915" y="877824"/>
            <a:ext cx="8727865" cy="4266956"/>
          </a:xfrm>
          <a:prstGeom prst="rect">
            <a:avLst/>
          </a:prstGeom>
        </p:spPr>
      </p:pic>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15 / 83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How well is it tested?</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review_validation_era" descr="review_validation_era.png"/>
          <p:cNvPicPr>
            <a:picLocks noChangeAspect="1"/>
          </p:cNvPicPr>
          <p:nvPr/>
        </p:nvPicPr>
        <p:blipFill>
          <a:blip r:embed="rId2"/>
          <a:stretch>
            <a:fillRect/>
          </a:stretch>
        </p:blipFill>
        <p:spPr>
          <a:xfrm>
            <a:off x="2130028" y="877824"/>
            <a:ext cx="7931637" cy="4154667"/>
          </a:xfrm>
          <a:prstGeom prst="rect">
            <a:avLst/>
          </a:prstGeom>
        </p:spPr>
      </p:pic>
      <p:sp>
        <p:nvSpPr>
          <p:cNvPr id="5" name="TextBox 4"/>
          <p:cNvSpPr txBox="1"/>
          <p:nvPr/>
        </p:nvSpPr>
        <p:spPr>
          <a:xfrm>
            <a:off x="411480" y="5105643"/>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Of 3,496 included studies, external or multi-center validation was reported by 18.7%, a reader study by 6.2%, prospective evaluation by 3.3%, and a working code or model URL by 92 studies. External validation rose across eras; reader studies did not.</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16 / 83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From published study to a tool a child benefits from</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review_funnel" descr="review_funnel.png"/>
          <p:cNvPicPr>
            <a:picLocks noChangeAspect="1"/>
          </p:cNvPicPr>
          <p:nvPr/>
        </p:nvPicPr>
        <p:blipFill>
          <a:blip r:embed="rId2"/>
          <a:stretch>
            <a:fillRect/>
          </a:stretch>
        </p:blipFill>
        <p:spPr>
          <a:xfrm>
            <a:off x="2192036" y="877824"/>
            <a:ext cx="7807622" cy="4266956"/>
          </a:xfrm>
          <a:prstGeom prst="rect">
            <a:avLst/>
          </a:prstGeom>
        </p:spPr>
      </p:pic>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17 / 83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Which of these studies is the field actually reading?</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review_impact_distribution" descr="review_impact_distribution.png"/>
          <p:cNvPicPr>
            <a:picLocks noChangeAspect="1"/>
          </p:cNvPicPr>
          <p:nvPr/>
        </p:nvPicPr>
        <p:blipFill>
          <a:blip r:embed="rId2"/>
          <a:stretch>
            <a:fillRect/>
          </a:stretch>
        </p:blipFill>
        <p:spPr>
          <a:xfrm>
            <a:off x="3248330" y="877824"/>
            <a:ext cx="5695032" cy="2582631"/>
          </a:xfrm>
          <a:prstGeom prst="rect">
            <a:avLst/>
          </a:prstGeom>
        </p:spPr>
      </p:pic>
      <p:sp>
        <p:nvSpPr>
          <p:cNvPr id="5" name="TextBox 4"/>
          <p:cNvSpPr txBox="1"/>
          <p:nvPr/>
        </p:nvSpPr>
        <p:spPr>
          <a:xfrm>
            <a:off x="411480" y="3533607"/>
            <a:ext cx="11368735" cy="1838960"/>
          </a:xfrm>
          <a:prstGeom prst="rect">
            <a:avLst/>
          </a:prstGeom>
          <a:noFill/>
        </p:spPr>
        <p:txBody>
          <a:bodyPr wrap="square" lIns="45720" rIns="45720" tIns="27432" bIns="27432" anchor="t">
            <a:spAutoFit/>
          </a:bodyPr>
          <a:lstStyle/>
          <a:p>
            <a:pPr algn="l" marL="256032" indent="-256032">
              <a:spcAft>
                <a:spcPts val="560"/>
              </a:spcAft>
              <a:buChar char="•"/>
            </a:pPr>
            <a:r>
              <a:rPr sz="1600" b="0" i="0">
                <a:solidFill>
                  <a:srgbClr val="1A1A1A"/>
                </a:solidFill>
                <a:latin typeface="Helvetica Neue"/>
              </a:rPr>
              <a:t>The median included study is cited 3.38 times the world average for its field and year: this is a well-cited literature, not a neglected one.</a:t>
            </a:r>
          </a:p>
          <a:p>
            <a:pPr algn="l" marL="256032" indent="-256032">
              <a:spcAft>
                <a:spcPts val="560"/>
              </a:spcAft>
              <a:buChar char="•"/>
            </a:pPr>
            <a:r>
              <a:rPr sz="1600" b="0" i="0">
                <a:solidFill>
                  <a:srgbClr val="1A1A1A"/>
                </a:solidFill>
                <a:latin typeface="Helvetica Neue"/>
              </a:rPr>
              <a:t>1,669 of 3,496 studies (47.7%) have enough citations to be ranked; the rest are too recent.</a:t>
            </a:r>
          </a:p>
          <a:p>
            <a:pPr algn="l" marL="256032" indent="-256032">
              <a:spcAft>
                <a:spcPts val="560"/>
              </a:spcAft>
              <a:buChar char="•"/>
            </a:pPr>
            <a:r>
              <a:rPr sz="1600" b="0" i="0">
                <a:solidFill>
                  <a:srgbClr val="1A1A1A"/>
                </a:solidFill>
                <a:latin typeface="Helvetica Neue"/>
              </a:rPr>
              <a:t>The top decile is the 167 studies at 14x average and up (PubMed 158, Embase 6, OpenAlex 3).</a:t>
            </a:r>
          </a:p>
          <a:p>
            <a:pPr algn="l" marL="256032" indent="-256032">
              <a:spcAft>
                <a:spcPts val="560"/>
              </a:spcAft>
              <a:buChar char="•"/>
            </a:pPr>
            <a:r>
              <a:rPr sz="1600" b="0" i="0">
                <a:solidFill>
                  <a:srgbClr val="1A1A1A"/>
                </a:solidFill>
                <a:latin typeface="Helvetica Neue"/>
              </a:rPr>
              <a:t>Selecting on citations does not select for rigor: external or multi-center validation is 22.8% in that decile against 18.7% across the corpus, and two thirds of it is still internal validation only.</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18 / 83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Does citation impact pick out the better-validated work?</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review_impact_subset" descr="review_impact_subset.png"/>
          <p:cNvPicPr>
            <a:picLocks noChangeAspect="1"/>
          </p:cNvPicPr>
          <p:nvPr/>
        </p:nvPicPr>
        <p:blipFill>
          <a:blip r:embed="rId2"/>
          <a:stretch>
            <a:fillRect/>
          </a:stretch>
        </p:blipFill>
        <p:spPr>
          <a:xfrm>
            <a:off x="1870999" y="877824"/>
            <a:ext cx="8449696" cy="3930091"/>
          </a:xfrm>
          <a:prstGeom prst="rect">
            <a:avLst/>
          </a:prstGeom>
        </p:spPr>
      </p:pic>
      <p:sp>
        <p:nvSpPr>
          <p:cNvPr id="5" name="TextBox 4"/>
          <p:cNvSpPr txBox="1"/>
          <p:nvPr/>
        </p:nvSpPr>
        <p:spPr>
          <a:xfrm>
            <a:off x="411480" y="4881067"/>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The most-cited decile is somewhat more likely to report external validation and a reader study, but the difference is small: citations track topic and audience more than evidence.</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19 / 83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Highest-impact pediatric radiology AI studies, 2005–2026</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3" cy="3429000"/>
        </p:xfrm>
        <a:graphic>
          <a:graphicData uri="http://schemas.openxmlformats.org/drawingml/2006/table">
            <a:tbl>
              <a:tblPr firstRow="1" bandRow="1">
                <a:tableStyleId>{5C22544A-7EE6-4342-B048-85BDC9FD1C3A}</a:tableStyleId>
              </a:tblPr>
              <a:tblGrid>
                <a:gridCol w="550468"/>
                <a:gridCol w="480060"/>
                <a:gridCol w="409651"/>
                <a:gridCol w="4751440"/>
                <a:gridCol w="2013322"/>
                <a:gridCol w="3163792"/>
              </a:tblGrid>
              <a:tr h="192024">
                <a:tc>
                  <a:txBody>
                    <a:bodyPr wrap="square"/>
                    <a:lstStyle/>
                    <a:p>
                      <a:pPr algn="r"/>
                      <a:r>
                        <a:rPr sz="900" b="1" i="0">
                          <a:solidFill>
                            <a:srgbClr val="FFFFFF"/>
                          </a:solidFill>
                          <a:latin typeface="Helvetica Neue"/>
                        </a:rPr>
                        <a:t>Impact</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Year</a:t>
                      </a:r>
                    </a:p>
                  </a:txBody>
                  <a:tcPr marL="45720" marR="45720" marT="18288" marB="18288" anchor="t"/>
                </a:tc>
                <a:tc>
                  <a:txBody>
                    <a:bodyPr wrap="square"/>
                    <a:lstStyle/>
                    <a:p>
                      <a:r>
                        <a:rPr sz="900" b="1" i="0">
                          <a:solidFill>
                            <a:srgbClr val="FFFFFF"/>
                          </a:solidFill>
                          <a:latin typeface="Helvetica Neue"/>
                        </a:rPr>
                        <a:t>Study</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does</a:t>
                      </a:r>
                    </a:p>
                  </a:txBody>
                  <a:tcPr marL="45720" marR="45720" marT="18288" marB="18288" anchor="t"/>
                </a:tc>
              </a:tr>
              <a:tr h="329184">
                <a:tc>
                  <a:txBody>
                    <a:bodyPr wrap="square"/>
                    <a:lstStyle/>
                    <a:p>
                      <a:pPr algn="r"/>
                      <a:r>
                        <a:rPr sz="900" b="0" i="0">
                          <a:solidFill>
                            <a:srgbClr val="1A1A1A"/>
                          </a:solidFill>
                          <a:latin typeface="Helvetica Neue"/>
                        </a:rPr>
                        <a:t>329x</a:t>
                      </a:r>
                    </a:p>
                  </a:txBody>
                  <a:tcPr marL="45720" marR="45720" marT="18288" marB="18288" anchor="t"/>
                </a:tc>
                <a:tc>
                  <a:txBody>
                    <a:bodyPr wrap="square"/>
                    <a:lstStyle/>
                    <a:p>
                      <a:pPr algn="r"/>
                      <a:r>
                        <a:rPr sz="900" b="0" i="0">
                          <a:solidFill>
                            <a:srgbClr val="1A1A1A"/>
                          </a:solidFill>
                          <a:latin typeface="Helvetica Neue"/>
                        </a:rPr>
                        <a:t>273</a:t>
                      </a:r>
                    </a:p>
                  </a:txBody>
                  <a:tcPr marL="45720" marR="45720" marT="18288" marB="18288" anchor="t"/>
                </a:tc>
                <a:tc>
                  <a:txBody>
                    <a:bodyPr wrap="square"/>
                    <a:lstStyle/>
                    <a:p>
                      <a:pPr algn="r"/>
                      <a:r>
                        <a:rPr sz="900" b="0" i="0">
                          <a:solidFill>
                            <a:srgbClr val="1A1A1A"/>
                          </a:solidFill>
                          <a:latin typeface="Helvetica Neue"/>
                        </a:rPr>
                        <a:t>2018</a:t>
                      </a:r>
                    </a:p>
                  </a:txBody>
                  <a:tcPr marL="45720" marR="45720" marT="18288" marB="18288" anchor="t"/>
                </a:tc>
                <a:tc>
                  <a:txBody>
                    <a:bodyPr wrap="square"/>
                    <a:lstStyle/>
                    <a:p>
                      <a:r>
                        <a:rPr sz="900" b="0" i="0">
                          <a:solidFill>
                            <a:srgbClr val="1A1A1A"/>
                          </a:solidFill>
                          <a:latin typeface="Helvetica Neue"/>
                        </a:rPr>
                        <a:t>Performance of a Deep-Learning Neural Network Model in Assessing Skeletal Maturity on Pediatric Hand Radiographs.</a:t>
                      </a:r>
                    </a:p>
                  </a:txBody>
                  <a:tcPr marL="45720" marR="45720" marT="18288" marB="18288" anchor="t"/>
                </a:tc>
                <a:tc>
                  <a:txBody>
                    <a:bodyPr wrap="square"/>
                    <a:lstStyle/>
                    <a:p>
                      <a:r>
                        <a:rPr sz="900" b="0" i="0">
                          <a:solidFill>
                            <a:srgbClr val="1A1A1A"/>
                          </a:solidFill>
                          <a:latin typeface="Helvetica Neue"/>
                        </a:rPr>
                        <a:t>Radiology</a:t>
                      </a:r>
                    </a:p>
                  </a:txBody>
                  <a:tcPr marL="45720" marR="45720" marT="18288" marB="18288" anchor="t"/>
                </a:tc>
                <a:tc>
                  <a:txBody>
                    <a:bodyPr wrap="square"/>
                    <a:lstStyle/>
                    <a:p>
                      <a:r>
                        <a:rPr sz="900" b="0" i="0">
                          <a:solidFill>
                            <a:srgbClr val="1A1A1A"/>
                          </a:solidFill>
                          <a:latin typeface="Helvetica Neue"/>
                        </a:rPr>
                        <a:t>skeletal maturity (bone age) assessment in the workup of endocrine and metabolic disorders</a:t>
                      </a:r>
                    </a:p>
                  </a:txBody>
                  <a:tcPr marL="45720" marR="45720" marT="18288" marB="18288" anchor="t"/>
                </a:tc>
              </a:tr>
              <a:tr h="329184">
                <a:tc>
                  <a:txBody>
                    <a:bodyPr wrap="square"/>
                    <a:lstStyle/>
                    <a:p>
                      <a:pPr algn="r"/>
                      <a:r>
                        <a:rPr sz="900" b="0" i="0">
                          <a:solidFill>
                            <a:srgbClr val="1A1A1A"/>
                          </a:solidFill>
                          <a:latin typeface="Helvetica Neue"/>
                        </a:rPr>
                        <a:t>325x</a:t>
                      </a:r>
                    </a:p>
                  </a:txBody>
                  <a:tcPr marL="45720" marR="45720" marT="18288" marB="18288" anchor="t"/>
                </a:tc>
                <a:tc>
                  <a:txBody>
                    <a:bodyPr wrap="square"/>
                    <a:lstStyle/>
                    <a:p>
                      <a:pPr algn="r"/>
                      <a:r>
                        <a:rPr sz="900" b="0" i="0">
                          <a:solidFill>
                            <a:srgbClr val="1A1A1A"/>
                          </a:solidFill>
                          <a:latin typeface="Helvetica Neue"/>
                        </a:rPr>
                        <a:t>219</a:t>
                      </a:r>
                    </a:p>
                  </a:txBody>
                  <a:tcPr marL="45720" marR="45720" marT="18288" marB="18288" anchor="t"/>
                </a:tc>
                <a:tc>
                  <a:txBody>
                    <a:bodyPr wrap="square"/>
                    <a:lstStyle/>
                    <a:p>
                      <a:pPr algn="r"/>
                      <a:r>
                        <a:rPr sz="900" b="0" i="0">
                          <a:solidFill>
                            <a:srgbClr val="1A1A1A"/>
                          </a:solidFill>
                          <a:latin typeface="Helvetica Neue"/>
                        </a:rPr>
                        <a:t>2017</a:t>
                      </a:r>
                    </a:p>
                  </a:txBody>
                  <a:tcPr marL="45720" marR="45720" marT="18288" marB="18288" anchor="t"/>
                </a:tc>
                <a:tc>
                  <a:txBody>
                    <a:bodyPr wrap="square"/>
                    <a:lstStyle/>
                    <a:p>
                      <a:r>
                        <a:rPr sz="900" b="0" i="0">
                          <a:solidFill>
                            <a:srgbClr val="1A1A1A"/>
                          </a:solidFill>
                          <a:latin typeface="Helvetica Neue"/>
                        </a:rPr>
                        <a:t>Fully Automated Deep Learning System for Bone Age Assessment.</a:t>
                      </a:r>
                    </a:p>
                  </a:txBody>
                  <a:tcPr marL="45720" marR="45720" marT="18288" marB="18288" anchor="t"/>
                </a:tc>
                <a:tc>
                  <a:txBody>
                    <a:bodyPr wrap="square"/>
                    <a:lstStyle/>
                    <a:p>
                      <a:r>
                        <a:rPr sz="900" b="0" i="0">
                          <a:solidFill>
                            <a:srgbClr val="1A1A1A"/>
                          </a:solidFill>
                          <a:latin typeface="Helvetica Neue"/>
                        </a:rPr>
                        <a:t>Journal of digital imaging</a:t>
                      </a:r>
                    </a:p>
                  </a:txBody>
                  <a:tcPr marL="45720" marR="45720" marT="18288" marB="18288" anchor="t"/>
                </a:tc>
                <a:tc>
                  <a:txBody>
                    <a:bodyPr wrap="square"/>
                    <a:lstStyle/>
                    <a:p>
                      <a:r>
                        <a:rPr sz="900" b="0" i="0">
                          <a:solidFill>
                            <a:srgbClr val="1A1A1A"/>
                          </a:solidFill>
                          <a:latin typeface="Helvetica Neue"/>
                        </a:rPr>
                        <a:t>skeletal maturity (bone age) assessment in endocrine and metabolic workup</a:t>
                      </a:r>
                    </a:p>
                  </a:txBody>
                  <a:tcPr marL="45720" marR="45720" marT="18288" marB="18288" anchor="t"/>
                </a:tc>
              </a:tr>
              <a:tr h="329184">
                <a:tc>
                  <a:txBody>
                    <a:bodyPr wrap="square"/>
                    <a:lstStyle/>
                    <a:p>
                      <a:pPr algn="r"/>
                      <a:r>
                        <a:rPr sz="900" b="0" i="0">
                          <a:solidFill>
                            <a:srgbClr val="1A1A1A"/>
                          </a:solidFill>
                          <a:latin typeface="Helvetica Neue"/>
                        </a:rPr>
                        <a:t>293x</a:t>
                      </a:r>
                    </a:p>
                  </a:txBody>
                  <a:tcPr marL="45720" marR="45720" marT="18288" marB="18288" anchor="t"/>
                </a:tc>
                <a:tc>
                  <a:txBody>
                    <a:bodyPr wrap="square"/>
                    <a:lstStyle/>
                    <a:p>
                      <a:pPr algn="r"/>
                      <a:r>
                        <a:rPr sz="900" b="0" i="0">
                          <a:solidFill>
                            <a:srgbClr val="1A1A1A"/>
                          </a:solidFill>
                          <a:latin typeface="Helvetica Neue"/>
                        </a:rPr>
                        <a:t>1,757</a:t>
                      </a:r>
                    </a:p>
                  </a:txBody>
                  <a:tcPr marL="45720" marR="45720" marT="18288" marB="18288" anchor="t"/>
                </a:tc>
                <a:tc>
                  <a:txBody>
                    <a:bodyPr wrap="square"/>
                    <a:lstStyle/>
                    <a:p>
                      <a:pPr algn="r"/>
                      <a:r>
                        <a:rPr sz="900" b="0" i="0">
                          <a:solidFill>
                            <a:srgbClr val="1A1A1A"/>
                          </a:solidFill>
                          <a:latin typeface="Helvetica Neue"/>
                        </a:rPr>
                        <a:t>2018</a:t>
                      </a:r>
                    </a:p>
                  </a:txBody>
                  <a:tcPr marL="45720" marR="45720" marT="18288" marB="18288" anchor="t"/>
                </a:tc>
                <a:tc>
                  <a:txBody>
                    <a:bodyPr wrap="square"/>
                    <a:lstStyle/>
                    <a:p>
                      <a:r>
                        <a:rPr sz="900" b="0" i="0">
                          <a:solidFill>
                            <a:srgbClr val="1A1A1A"/>
                          </a:solidFill>
                          <a:latin typeface="Helvetica Neue"/>
                        </a:rPr>
                        <a:t>Identifying Medical Diagnoses and Treatable Diseases by Image-Based Deep Learning.</a:t>
                      </a:r>
                    </a:p>
                  </a:txBody>
                  <a:tcPr marL="45720" marR="45720" marT="18288" marB="18288" anchor="t"/>
                </a:tc>
                <a:tc>
                  <a:txBody>
                    <a:bodyPr wrap="square"/>
                    <a:lstStyle/>
                    <a:p>
                      <a:r>
                        <a:rPr sz="900" b="0" i="0">
                          <a:solidFill>
                            <a:srgbClr val="1A1A1A"/>
                          </a:solidFill>
                          <a:latin typeface="Helvetica Neue"/>
                        </a:rPr>
                        <a:t>Cell</a:t>
                      </a:r>
                    </a:p>
                  </a:txBody>
                  <a:tcPr marL="45720" marR="45720" marT="18288" marB="18288" anchor="t"/>
                </a:tc>
                <a:tc>
                  <a:txBody>
                    <a:bodyPr wrap="square"/>
                    <a:lstStyle/>
                    <a:p>
                      <a:r>
                        <a:rPr sz="900" b="0" i="0">
                          <a:solidFill>
                            <a:srgbClr val="1A1A1A"/>
                          </a:solidFill>
                          <a:latin typeface="Helvetica Neue"/>
                        </a:rPr>
                        <a:t>pediatric pneumonia on chest radiographs, and bacterial vs viral origin</a:t>
                      </a:r>
                    </a:p>
                  </a:txBody>
                  <a:tcPr marL="45720" marR="45720" marT="18288" marB="18288" anchor="t"/>
                </a:tc>
              </a:tr>
              <a:tr h="329184">
                <a:tc>
                  <a:txBody>
                    <a:bodyPr wrap="square"/>
                    <a:lstStyle/>
                    <a:p>
                      <a:pPr algn="r"/>
                      <a:r>
                        <a:rPr sz="900" b="0" i="0">
                          <a:solidFill>
                            <a:srgbClr val="1A1A1A"/>
                          </a:solidFill>
                          <a:latin typeface="Helvetica Neue"/>
                        </a:rPr>
                        <a:t>221x</a:t>
                      </a:r>
                    </a:p>
                  </a:txBody>
                  <a:tcPr marL="45720" marR="45720" marT="18288" marB="18288" anchor="t"/>
                </a:tc>
                <a:tc>
                  <a:txBody>
                    <a:bodyPr wrap="square"/>
                    <a:lstStyle/>
                    <a:p>
                      <a:pPr algn="r"/>
                      <a:r>
                        <a:rPr sz="900" b="0" i="0">
                          <a:solidFill>
                            <a:srgbClr val="1A1A1A"/>
                          </a:solidFill>
                          <a:latin typeface="Helvetica Neue"/>
                        </a:rPr>
                        <a:t>167</a:t>
                      </a:r>
                    </a:p>
                  </a:txBody>
                  <a:tcPr marL="45720" marR="45720" marT="18288" marB="18288" anchor="t"/>
                </a:tc>
                <a:tc>
                  <a:txBody>
                    <a:bodyPr wrap="square"/>
                    <a:lstStyle/>
                    <a:p>
                      <a:pPr algn="r"/>
                      <a:r>
                        <a:rPr sz="900" b="0" i="0">
                          <a:solidFill>
                            <a:srgbClr val="1A1A1A"/>
                          </a:solidFill>
                          <a:latin typeface="Helvetica Neue"/>
                        </a:rPr>
                        <a:t>2017</a:t>
                      </a:r>
                    </a:p>
                  </a:txBody>
                  <a:tcPr marL="45720" marR="45720" marT="18288" marB="18288" anchor="t"/>
                </a:tc>
                <a:tc>
                  <a:txBody>
                    <a:bodyPr wrap="square"/>
                    <a:lstStyle/>
                    <a:p>
                      <a:r>
                        <a:rPr sz="900" b="0" i="0">
                          <a:solidFill>
                            <a:srgbClr val="1A1A1A"/>
                          </a:solidFill>
                          <a:latin typeface="Helvetica Neue"/>
                        </a:rPr>
                        <a:t>Deep learning for automated skeletal bone age assessment in X-ray images.</a:t>
                      </a:r>
                    </a:p>
                  </a:txBody>
                  <a:tcPr marL="45720" marR="45720" marT="18288" marB="18288" anchor="t"/>
                </a:tc>
                <a:tc>
                  <a:txBody>
                    <a:bodyPr wrap="square"/>
                    <a:lstStyle/>
                    <a:p>
                      <a:r>
                        <a:rPr sz="900" b="0" i="0">
                          <a:solidFill>
                            <a:srgbClr val="1A1A1A"/>
                          </a:solidFill>
                          <a:latin typeface="Helvetica Neue"/>
                        </a:rPr>
                        <a:t>Medical image analysis</a:t>
                      </a:r>
                    </a:p>
                  </a:txBody>
                  <a:tcPr marL="45720" marR="45720" marT="18288" marB="18288" anchor="t"/>
                </a:tc>
                <a:tc>
                  <a:txBody>
                    <a:bodyPr wrap="square"/>
                    <a:lstStyle/>
                    <a:p>
                      <a:r>
                        <a:rPr sz="900" b="0" i="0">
                          <a:solidFill>
                            <a:srgbClr val="1A1A1A"/>
                          </a:solidFill>
                          <a:latin typeface="Helvetica Neue"/>
                        </a:rPr>
                        <a:t>skeletal maturity (bone age) assessment in endocrine, genetic and growth disorders</a:t>
                      </a:r>
                    </a:p>
                  </a:txBody>
                  <a:tcPr marL="45720" marR="45720" marT="18288" marB="18288" anchor="t"/>
                </a:tc>
              </a:tr>
              <a:tr h="329184">
                <a:tc>
                  <a:txBody>
                    <a:bodyPr wrap="square"/>
                    <a:lstStyle/>
                    <a:p>
                      <a:pPr algn="r"/>
                      <a:r>
                        <a:rPr sz="900" b="0" i="0">
                          <a:solidFill>
                            <a:srgbClr val="1A1A1A"/>
                          </a:solidFill>
                          <a:latin typeface="Helvetica Neue"/>
                        </a:rPr>
                        <a:t>200x</a:t>
                      </a:r>
                    </a:p>
                  </a:txBody>
                  <a:tcPr marL="45720" marR="45720" marT="18288" marB="18288" anchor="t"/>
                </a:tc>
                <a:tc>
                  <a:txBody>
                    <a:bodyPr wrap="square"/>
                    <a:lstStyle/>
                    <a:p>
                      <a:pPr algn="r"/>
                      <a:r>
                        <a:rPr sz="900" b="0" i="0">
                          <a:solidFill>
                            <a:srgbClr val="1A1A1A"/>
                          </a:solidFill>
                          <a:latin typeface="Helvetica Neue"/>
                        </a:rPr>
                        <a:t>321</a:t>
                      </a:r>
                    </a:p>
                  </a:txBody>
                  <a:tcPr marL="45720" marR="45720" marT="18288" marB="18288" anchor="t"/>
                </a:tc>
                <a:tc>
                  <a:txBody>
                    <a:bodyPr wrap="square"/>
                    <a:lstStyle/>
                    <a:p>
                      <a:pPr algn="r"/>
                      <a:r>
                        <a:rPr sz="900" b="0" i="0">
                          <a:solidFill>
                            <a:srgbClr val="1A1A1A"/>
                          </a:solidFill>
                          <a:latin typeface="Helvetica Neue"/>
                        </a:rPr>
                        <a:t>2016</a:t>
                      </a:r>
                    </a:p>
                  </a:txBody>
                  <a:tcPr marL="45720" marR="45720" marT="18288" marB="18288" anchor="t"/>
                </a:tc>
                <a:tc>
                  <a:txBody>
                    <a:bodyPr wrap="square"/>
                    <a:lstStyle/>
                    <a:p>
                      <a:r>
                        <a:rPr sz="900" b="0" i="0">
                          <a:solidFill>
                            <a:srgbClr val="1A1A1A"/>
                          </a:solidFill>
                          <a:latin typeface="Helvetica Neue"/>
                        </a:rPr>
                        <a:t>Automatic Segmentation of MR Brain Images With a Convolutional Neural Network.</a:t>
                      </a:r>
                    </a:p>
                  </a:txBody>
                  <a:tcPr marL="45720" marR="45720" marT="18288" marB="18288" anchor="t"/>
                </a:tc>
                <a:tc>
                  <a:txBody>
                    <a:bodyPr wrap="square"/>
                    <a:lstStyle/>
                    <a:p>
                      <a:r>
                        <a:rPr sz="900" b="0" i="0">
                          <a:solidFill>
                            <a:srgbClr val="1A1A1A"/>
                          </a:solidFill>
                          <a:latin typeface="Helvetica Neue"/>
                        </a:rPr>
                        <a:t>IEEE transactions on medical imaging</a:t>
                      </a:r>
                    </a:p>
                  </a:txBody>
                  <a:tcPr marL="45720" marR="45720" marT="18288" marB="18288" anchor="t"/>
                </a:tc>
                <a:tc>
                  <a:txBody>
                    <a:bodyPr wrap="square"/>
                    <a:lstStyle/>
                    <a:p>
                      <a:r>
                        <a:rPr sz="900" b="0" i="0">
                          <a:solidFill>
                            <a:srgbClr val="1A1A1A"/>
                          </a:solidFill>
                          <a:latin typeface="Helvetica Neue"/>
                        </a:rPr>
                        <a:t>automatic brain tissue segmentation for quantitative MRI analysis</a:t>
                      </a:r>
                    </a:p>
                  </a:txBody>
                  <a:tcPr marL="45720" marR="45720" marT="18288" marB="18288" anchor="t"/>
                </a:tc>
              </a:tr>
              <a:tr h="329184">
                <a:tc>
                  <a:txBody>
                    <a:bodyPr wrap="square"/>
                    <a:lstStyle/>
                    <a:p>
                      <a:pPr algn="r"/>
                      <a:r>
                        <a:rPr sz="900" b="0" i="0">
                          <a:solidFill>
                            <a:srgbClr val="1A1A1A"/>
                          </a:solidFill>
                          <a:latin typeface="Helvetica Neue"/>
                        </a:rPr>
                        <a:t>93x</a:t>
                      </a:r>
                    </a:p>
                  </a:txBody>
                  <a:tcPr marL="45720" marR="45720" marT="18288" marB="18288" anchor="t"/>
                </a:tc>
                <a:tc>
                  <a:txBody>
                    <a:bodyPr wrap="square"/>
                    <a:lstStyle/>
                    <a:p>
                      <a:pPr algn="r"/>
                      <a:r>
                        <a:rPr sz="900" b="0" i="0">
                          <a:solidFill>
                            <a:srgbClr val="1A1A1A"/>
                          </a:solidFill>
                          <a:latin typeface="Helvetica Neue"/>
                        </a:rPr>
                        <a:t>269</a:t>
                      </a:r>
                    </a:p>
                  </a:txBody>
                  <a:tcPr marL="45720" marR="45720" marT="18288" marB="18288" anchor="t"/>
                </a:tc>
                <a:tc>
                  <a:txBody>
                    <a:bodyPr wrap="square"/>
                    <a:lstStyle/>
                    <a:p>
                      <a:pPr algn="r"/>
                      <a:r>
                        <a:rPr sz="900" b="0" i="0">
                          <a:solidFill>
                            <a:srgbClr val="1A1A1A"/>
                          </a:solidFill>
                          <a:latin typeface="Helvetica Neue"/>
                        </a:rPr>
                        <a:t>2021</a:t>
                      </a:r>
                    </a:p>
                  </a:txBody>
                  <a:tcPr marL="45720" marR="45720" marT="18288" marB="18288" anchor="t"/>
                </a:tc>
                <a:tc>
                  <a:txBody>
                    <a:bodyPr wrap="square"/>
                    <a:lstStyle/>
                    <a:p>
                      <a:r>
                        <a:rPr sz="900" b="0" i="0">
                          <a:solidFill>
                            <a:srgbClr val="1A1A1A"/>
                          </a:solidFill>
                          <a:latin typeface="Helvetica Neue"/>
                        </a:rPr>
                        <a:t>CA-Net</a:t>
                      </a:r>
                    </a:p>
                  </a:txBody>
                  <a:tcPr marL="45720" marR="45720" marT="18288" marB="18288" anchor="t"/>
                </a:tc>
                <a:tc>
                  <a:txBody>
                    <a:bodyPr wrap="square"/>
                    <a:lstStyle/>
                    <a:p>
                      <a:r>
                        <a:rPr sz="900" b="0" i="0">
                          <a:solidFill>
                            <a:srgbClr val="1A1A1A"/>
                          </a:solidFill>
                          <a:latin typeface="Helvetica Neue"/>
                        </a:rPr>
                        <a:t>IEEE transactions on medical imaging</a:t>
                      </a:r>
                    </a:p>
                  </a:txBody>
                  <a:tcPr marL="45720" marR="45720" marT="18288" marB="18288" anchor="t"/>
                </a:tc>
                <a:tc>
                  <a:txBody>
                    <a:bodyPr wrap="square"/>
                    <a:lstStyle/>
                    <a:p>
                      <a:r>
                        <a:rPr sz="900" b="0" i="0">
                          <a:solidFill>
                            <a:srgbClr val="1A1A1A"/>
                          </a:solidFill>
                          <a:latin typeface="Helvetica Neue"/>
                        </a:rPr>
                        <a:t>segmenting the placenta and fetal brain on fetal MRI</a:t>
                      </a:r>
                    </a:p>
                  </a:txBody>
                  <a:tcPr marL="45720" marR="45720" marT="18288" marB="18288" anchor="t"/>
                </a:tc>
              </a:tr>
              <a:tr h="329184">
                <a:tc>
                  <a:txBody>
                    <a:bodyPr wrap="square"/>
                    <a:lstStyle/>
                    <a:p>
                      <a:pPr algn="r"/>
                      <a:r>
                        <a:rPr sz="900" b="0" i="0">
                          <a:solidFill>
                            <a:srgbClr val="1A1A1A"/>
                          </a:solidFill>
                          <a:latin typeface="Helvetica Neue"/>
                        </a:rPr>
                        <a:t>83x</a:t>
                      </a:r>
                    </a:p>
                  </a:txBody>
                  <a:tcPr marL="45720" marR="45720" marT="18288" marB="18288" anchor="t"/>
                </a:tc>
                <a:tc>
                  <a:txBody>
                    <a:bodyPr wrap="square"/>
                    <a:lstStyle/>
                    <a:p>
                      <a:pPr algn="r"/>
                      <a:r>
                        <a:rPr sz="900" b="0" i="0">
                          <a:solidFill>
                            <a:srgbClr val="1A1A1A"/>
                          </a:solidFill>
                          <a:latin typeface="Helvetica Neue"/>
                        </a:rPr>
                        <a:t>701</a:t>
                      </a:r>
                    </a:p>
                  </a:txBody>
                  <a:tcPr marL="45720" marR="45720" marT="18288" marB="18288" anchor="t"/>
                </a:tc>
                <a:tc>
                  <a:txBody>
                    <a:bodyPr wrap="square"/>
                    <a:lstStyle/>
                    <a:p>
                      <a:pPr algn="r"/>
                      <a:r>
                        <a:rPr sz="900" b="0" i="0">
                          <a:solidFill>
                            <a:srgbClr val="1A1A1A"/>
                          </a:solidFill>
                          <a:latin typeface="Helvetica Neue"/>
                        </a:rPr>
                        <a:t>2019</a:t>
                      </a:r>
                    </a:p>
                  </a:txBody>
                  <a:tcPr marL="45720" marR="45720" marT="18288" marB="18288" anchor="t"/>
                </a:tc>
                <a:tc>
                  <a:txBody>
                    <a:bodyPr wrap="square"/>
                    <a:lstStyle/>
                    <a:p>
                      <a:r>
                        <a:rPr sz="900" b="0" i="0">
                          <a:solidFill>
                            <a:srgbClr val="1A1A1A"/>
                          </a:solidFill>
                          <a:latin typeface="Helvetica Neue"/>
                        </a:rPr>
                        <a:t>Attention Gate (Attention U-Net)</a:t>
                      </a:r>
                    </a:p>
                  </a:txBody>
                  <a:tcPr marL="45720" marR="45720" marT="18288" marB="18288" anchor="t"/>
                </a:tc>
                <a:tc>
                  <a:txBody>
                    <a:bodyPr wrap="square"/>
                    <a:lstStyle/>
                    <a:p>
                      <a:r>
                        <a:rPr sz="900" b="0" i="0">
                          <a:solidFill>
                            <a:srgbClr val="1A1A1A"/>
                          </a:solidFill>
                          <a:latin typeface="Helvetica Neue"/>
                        </a:rPr>
                        <a:t>Medical image analysis</a:t>
                      </a:r>
                    </a:p>
                  </a:txBody>
                  <a:tcPr marL="45720" marR="45720" marT="18288" marB="18288" anchor="t"/>
                </a:tc>
                <a:tc>
                  <a:txBody>
                    <a:bodyPr wrap="square"/>
                    <a:lstStyle/>
                    <a:p>
                      <a:r>
                        <a:rPr sz="900" b="0" i="0">
                          <a:solidFill>
                            <a:srgbClr val="1A1A1A"/>
                          </a:solidFill>
                          <a:latin typeface="Helvetica Neue"/>
                        </a:rPr>
                        <a:t>identifying the correct standard views during fetal ultrasound screening</a:t>
                      </a:r>
                    </a:p>
                  </a:txBody>
                  <a:tcPr marL="45720" marR="45720" marT="18288" marB="18288" anchor="t"/>
                </a:tc>
              </a:tr>
              <a:tr h="466344">
                <a:tc>
                  <a:txBody>
                    <a:bodyPr wrap="square"/>
                    <a:lstStyle/>
                    <a:p>
                      <a:pPr algn="r"/>
                      <a:r>
                        <a:rPr sz="900" b="0" i="0">
                          <a:solidFill>
                            <a:srgbClr val="1A1A1A"/>
                          </a:solidFill>
                          <a:latin typeface="Helvetica Neue"/>
                        </a:rPr>
                        <a:t>73x</a:t>
                      </a:r>
                    </a:p>
                  </a:txBody>
                  <a:tcPr marL="45720" marR="45720" marT="18288" marB="18288" anchor="t"/>
                </a:tc>
                <a:tc>
                  <a:txBody>
                    <a:bodyPr wrap="square"/>
                    <a:lstStyle/>
                    <a:p>
                      <a:pPr algn="r"/>
                      <a:r>
                        <a:rPr sz="900" b="0" i="0">
                          <a:solidFill>
                            <a:srgbClr val="1A1A1A"/>
                          </a:solidFill>
                          <a:latin typeface="Helvetica Neue"/>
                        </a:rPr>
                        <a:t>112</a:t>
                      </a:r>
                    </a:p>
                  </a:txBody>
                  <a:tcPr marL="45720" marR="45720" marT="18288" marB="18288" anchor="t"/>
                </a:tc>
                <a:tc>
                  <a:txBody>
                    <a:bodyPr wrap="square"/>
                    <a:lstStyle/>
                    <a:p>
                      <a:pPr algn="r"/>
                      <a:r>
                        <a:rPr sz="900" b="0" i="0">
                          <a:solidFill>
                            <a:srgbClr val="1A1A1A"/>
                          </a:solidFill>
                          <a:latin typeface="Helvetica Neue"/>
                        </a:rPr>
                        <a:t>2017</a:t>
                      </a:r>
                    </a:p>
                  </a:txBody>
                  <a:tcPr marL="45720" marR="45720" marT="18288" marB="18288" anchor="t"/>
                </a:tc>
                <a:tc>
                  <a:txBody>
                    <a:bodyPr wrap="square"/>
                    <a:lstStyle/>
                    <a:p>
                      <a:r>
                        <a:rPr sz="900" b="0" i="0">
                          <a:solidFill>
                            <a:srgbClr val="1A1A1A"/>
                          </a:solidFill>
                          <a:latin typeface="Helvetica Neue"/>
                        </a:rPr>
                        <a:t>Computerized Bone Age Estimation Using Deep Learning Based Program: Evaluation of the Accuracy and Efficiency.</a:t>
                      </a:r>
                    </a:p>
                  </a:txBody>
                  <a:tcPr marL="45720" marR="45720" marT="18288" marB="18288" anchor="t"/>
                </a:tc>
                <a:tc>
                  <a:txBody>
                    <a:bodyPr wrap="square"/>
                    <a:lstStyle/>
                    <a:p>
                      <a:r>
                        <a:rPr sz="900" b="0" i="0">
                          <a:solidFill>
                            <a:srgbClr val="1A1A1A"/>
                          </a:solidFill>
                          <a:latin typeface="Helvetica Neue"/>
                        </a:rPr>
                        <a:t>AJR. American journal of roentgenology</a:t>
                      </a:r>
                    </a:p>
                  </a:txBody>
                  <a:tcPr marL="45720" marR="45720" marT="18288" marB="18288" anchor="t"/>
                </a:tc>
                <a:tc>
                  <a:txBody>
                    <a:bodyPr wrap="square"/>
                    <a:lstStyle/>
                    <a:p>
                      <a:r>
                        <a:rPr sz="900" b="0" i="0">
                          <a:solidFill>
                            <a:srgbClr val="1A1A1A"/>
                          </a:solidFill>
                          <a:latin typeface="Helvetica Neue"/>
                        </a:rPr>
                        <a:t>bone age estimation, and whether software assistance makes radiologists faster without making them worse</a:t>
                      </a:r>
                    </a:p>
                  </a:txBody>
                  <a:tcPr marL="45720" marR="45720" marT="18288" marB="18288" anchor="t"/>
                </a:tc>
              </a:tr>
              <a:tr h="466344">
                <a:tc>
                  <a:txBody>
                    <a:bodyPr wrap="square"/>
                    <a:lstStyle/>
                    <a:p>
                      <a:pPr algn="r"/>
                      <a:r>
                        <a:rPr sz="900" b="0" i="0">
                          <a:solidFill>
                            <a:srgbClr val="1A1A1A"/>
                          </a:solidFill>
                          <a:latin typeface="Helvetica Neue"/>
                        </a:rPr>
                        <a:t>71x</a:t>
                      </a:r>
                    </a:p>
                  </a:txBody>
                  <a:tcPr marL="45720" marR="45720" marT="18288" marB="18288" anchor="t"/>
                </a:tc>
                <a:tc>
                  <a:txBody>
                    <a:bodyPr wrap="square"/>
                    <a:lstStyle/>
                    <a:p>
                      <a:pPr algn="r"/>
                      <a:r>
                        <a:rPr sz="900" b="0" i="0">
                          <a:solidFill>
                            <a:srgbClr val="1A1A1A"/>
                          </a:solidFill>
                          <a:latin typeface="Helvetica Neue"/>
                        </a:rPr>
                        <a:t>78</a:t>
                      </a:r>
                    </a:p>
                  </a:txBody>
                  <a:tcPr marL="45720" marR="45720" marT="18288" marB="18288" anchor="t"/>
                </a:tc>
                <a:tc>
                  <a:txBody>
                    <a:bodyPr wrap="square"/>
                    <a:lstStyle/>
                    <a:p>
                      <a:pPr algn="r"/>
                      <a:r>
                        <a:rPr sz="900" b="0" i="0">
                          <a:solidFill>
                            <a:srgbClr val="1A1A1A"/>
                          </a:solidFill>
                          <a:latin typeface="Helvetica Neue"/>
                        </a:rPr>
                        <a:t>2019</a:t>
                      </a:r>
                    </a:p>
                  </a:txBody>
                  <a:tcPr marL="45720" marR="45720" marT="18288" marB="18288" anchor="t"/>
                </a:tc>
                <a:tc>
                  <a:txBody>
                    <a:bodyPr wrap="square"/>
                    <a:lstStyle/>
                    <a:p>
                      <a:r>
                        <a:rPr sz="900" b="0" i="0">
                          <a:solidFill>
                            <a:srgbClr val="1A1A1A"/>
                          </a:solidFill>
                          <a:latin typeface="Helvetica Neue"/>
                        </a:rPr>
                        <a:t>Artificial intelligence-assisted interpretation of bone age radiographs improves accuracy and decreases variability.</a:t>
                      </a:r>
                    </a:p>
                  </a:txBody>
                  <a:tcPr marL="45720" marR="45720" marT="18288" marB="18288" anchor="t"/>
                </a:tc>
                <a:tc>
                  <a:txBody>
                    <a:bodyPr wrap="square"/>
                    <a:lstStyle/>
                    <a:p>
                      <a:r>
                        <a:rPr sz="900" b="0" i="0">
                          <a:solidFill>
                            <a:srgbClr val="1A1A1A"/>
                          </a:solidFill>
                          <a:latin typeface="Helvetica Neue"/>
                        </a:rPr>
                        <a:t>Skeletal radiology</a:t>
                      </a:r>
                    </a:p>
                  </a:txBody>
                  <a:tcPr marL="45720" marR="45720" marT="18288" marB="18288" anchor="t"/>
                </a:tc>
                <a:tc>
                  <a:txBody>
                    <a:bodyPr wrap="square"/>
                    <a:lstStyle/>
                    <a:p>
                      <a:r>
                        <a:rPr sz="900" b="0" i="0">
                          <a:solidFill>
                            <a:srgbClr val="1A1A1A"/>
                          </a:solidFill>
                          <a:latin typeface="Helvetica Neue"/>
                        </a:rPr>
                        <a:t>whether AI assistance makes pediatric radiologists better at bone age, not whether AI alone beats them</a:t>
                      </a:r>
                    </a:p>
                  </a:txBody>
                  <a:tcPr marL="45720" marR="45720" marT="18288" marB="18288" anchor="t"/>
                </a:tc>
              </a:tr>
            </a:tbl>
          </a:graphicData>
        </a:graphic>
      </p:graphicFrame>
      <p:sp>
        <p:nvSpPr>
          <p:cNvPr id="5" name="TextBox 4"/>
          <p:cNvSpPr txBox="1"/>
          <p:nvPr/>
        </p:nvSpPr>
        <p:spPr>
          <a:xfrm>
            <a:off x="411480" y="4379975"/>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Impact = citations relative to the average paper of the same field and year (OpenAlex FWCI; iCite RCR where OpenAlex has none), shown once a study has 5 citations. dagger Embase-only; ast preprint.</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20 / 83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Highest-impact pediatric radiology AI studies, 2023</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3" cy="4114799"/>
        </p:xfrm>
        <a:graphic>
          <a:graphicData uri="http://schemas.openxmlformats.org/drawingml/2006/table">
            <a:tbl>
              <a:tblPr firstRow="1" bandRow="1">
                <a:tableStyleId>{5C22544A-7EE6-4342-B048-85BDC9FD1C3A}</a:tableStyleId>
              </a:tblPr>
              <a:tblGrid>
                <a:gridCol w="550468"/>
                <a:gridCol w="480060"/>
                <a:gridCol w="4944359"/>
                <a:gridCol w="2097607"/>
                <a:gridCol w="3296239"/>
              </a:tblGrid>
              <a:tr h="192024">
                <a:tc>
                  <a:txBody>
                    <a:bodyPr wrap="square"/>
                    <a:lstStyle/>
                    <a:p>
                      <a:pPr algn="r"/>
                      <a:r>
                        <a:rPr sz="900" b="1" i="0">
                          <a:solidFill>
                            <a:srgbClr val="FFFFFF"/>
                          </a:solidFill>
                          <a:latin typeface="Helvetica Neue"/>
                        </a:rPr>
                        <a:t>Impact</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r>
                        <a:rPr sz="900" b="1" i="0">
                          <a:solidFill>
                            <a:srgbClr val="FFFFFF"/>
                          </a:solidFill>
                          <a:latin typeface="Helvetica Neue"/>
                        </a:rPr>
                        <a:t>Study</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does</a:t>
                      </a:r>
                    </a:p>
                  </a:txBody>
                  <a:tcPr marL="45720" marR="45720" marT="18288" marB="18288" anchor="t"/>
                </a:tc>
              </a:tr>
              <a:tr h="329184">
                <a:tc>
                  <a:txBody>
                    <a:bodyPr wrap="square"/>
                    <a:lstStyle/>
                    <a:p>
                      <a:pPr algn="r"/>
                      <a:r>
                        <a:rPr sz="900" b="0" i="0">
                          <a:solidFill>
                            <a:srgbClr val="1A1A1A"/>
                          </a:solidFill>
                          <a:latin typeface="Helvetica Neue"/>
                        </a:rPr>
                        <a:t>69x</a:t>
                      </a:r>
                    </a:p>
                  </a:txBody>
                  <a:tcPr marL="45720" marR="45720" marT="18288" marB="18288" anchor="t"/>
                </a:tc>
                <a:tc>
                  <a:txBody>
                    <a:bodyPr wrap="square"/>
                    <a:lstStyle/>
                    <a:p>
                      <a:pPr algn="r"/>
                      <a:r>
                        <a:rPr sz="900" b="0" i="0">
                          <a:solidFill>
                            <a:srgbClr val="1A1A1A"/>
                          </a:solidFill>
                          <a:latin typeface="Helvetica Neue"/>
                        </a:rPr>
                        <a:t>106</a:t>
                      </a:r>
                    </a:p>
                  </a:txBody>
                  <a:tcPr marL="45720" marR="45720" marT="18288" marB="18288" anchor="t"/>
                </a:tc>
                <a:tc>
                  <a:txBody>
                    <a:bodyPr wrap="square"/>
                    <a:lstStyle/>
                    <a:p>
                      <a:r>
                        <a:rPr sz="900" b="0" i="0">
                          <a:solidFill>
                            <a:srgbClr val="1A1A1A"/>
                          </a:solidFill>
                          <a:latin typeface="Helvetica Neue"/>
                        </a:rPr>
                        <a:t>iBEAT V2.0</a:t>
                      </a:r>
                    </a:p>
                  </a:txBody>
                  <a:tcPr marL="45720" marR="45720" marT="18288" marB="18288" anchor="t"/>
                </a:tc>
                <a:tc>
                  <a:txBody>
                    <a:bodyPr wrap="square"/>
                    <a:lstStyle/>
                    <a:p>
                      <a:r>
                        <a:rPr sz="900" b="0" i="0">
                          <a:solidFill>
                            <a:srgbClr val="1A1A1A"/>
                          </a:solidFill>
                          <a:latin typeface="Helvetica Neue"/>
                        </a:rPr>
                        <a:t>Nature protocols</a:t>
                      </a:r>
                    </a:p>
                  </a:txBody>
                  <a:tcPr marL="45720" marR="45720" marT="18288" marB="18288" anchor="t"/>
                </a:tc>
                <a:tc>
                  <a:txBody>
                    <a:bodyPr wrap="square"/>
                    <a:lstStyle/>
                    <a:p>
                      <a:r>
                        <a:rPr sz="900" b="0" i="0">
                          <a:solidFill>
                            <a:srgbClr val="1A1A1A"/>
                          </a:solidFill>
                          <a:latin typeface="Helvetica Neue"/>
                        </a:rPr>
                        <a:t>measuring cortical development in infants, whose brain MRI defeats adult-designed processing tools</a:t>
                      </a:r>
                    </a:p>
                  </a:txBody>
                  <a:tcPr marL="45720" marR="45720" marT="18288" marB="18288" anchor="t"/>
                </a:tc>
              </a:tr>
              <a:tr h="603503">
                <a:tc>
                  <a:txBody>
                    <a:bodyPr wrap="square"/>
                    <a:lstStyle/>
                    <a:p>
                      <a:pPr algn="r"/>
                      <a:r>
                        <a:rPr sz="900" b="0" i="0">
                          <a:solidFill>
                            <a:srgbClr val="1A1A1A"/>
                          </a:solidFill>
                          <a:latin typeface="Helvetica Neue"/>
                        </a:rPr>
                        <a:t>37x</a:t>
                      </a:r>
                    </a:p>
                  </a:txBody>
                  <a:tcPr marL="45720" marR="45720" marT="18288" marB="18288" anchor="t"/>
                </a:tc>
                <a:tc>
                  <a:txBody>
                    <a:bodyPr wrap="square"/>
                    <a:lstStyle/>
                    <a:p>
                      <a:pPr algn="r"/>
                      <a:r>
                        <a:rPr sz="900" b="0" i="0">
                          <a:solidFill>
                            <a:srgbClr val="1A1A1A"/>
                          </a:solidFill>
                          <a:latin typeface="Helvetica Neue"/>
                        </a:rPr>
                        <a:t>20</a:t>
                      </a:r>
                    </a:p>
                  </a:txBody>
                  <a:tcPr marL="45720" marR="45720" marT="18288" marB="18288" anchor="t"/>
                </a:tc>
                <a:tc>
                  <a:txBody>
                    <a:bodyPr wrap="square"/>
                    <a:lstStyle/>
                    <a:p>
                      <a:r>
                        <a:rPr sz="900" b="0" i="0">
                          <a:solidFill>
                            <a:srgbClr val="1A1A1A"/>
                          </a:solidFill>
                          <a:latin typeface="Helvetica Neue"/>
                        </a:rPr>
                        <a:t>Bone Age Assessment Using Artificial Intelligence in Korean Pediatric Population: A Comparison of Deep-Learning Models Trained With Healthy Chronological and Greulich-Pyle Ages as Labels.</a:t>
                      </a:r>
                    </a:p>
                  </a:txBody>
                  <a:tcPr marL="45720" marR="45720" marT="18288" marB="18288" anchor="t"/>
                </a:tc>
                <a:tc>
                  <a:txBody>
                    <a:bodyPr wrap="square"/>
                    <a:lstStyle/>
                    <a:p>
                      <a:r>
                        <a:rPr sz="900" b="0" i="0">
                          <a:solidFill>
                            <a:srgbClr val="1A1A1A"/>
                          </a:solidFill>
                          <a:latin typeface="Helvetica Neue"/>
                        </a:rPr>
                        <a:t>Korean journal of radiology</a:t>
                      </a:r>
                    </a:p>
                  </a:txBody>
                  <a:tcPr marL="45720" marR="45720" marT="18288" marB="18288" anchor="t"/>
                </a:tc>
                <a:tc>
                  <a:txBody>
                    <a:bodyPr wrap="square"/>
                    <a:lstStyle/>
                    <a:p>
                      <a:r>
                        <a:rPr sz="900" b="0" i="0">
                          <a:solidFill>
                            <a:srgbClr val="1A1A1A"/>
                          </a:solidFill>
                          <a:latin typeface="Helvetica Neue"/>
                        </a:rPr>
                        <a:t>whether bone age in a given population should be predicted against the Greulich-Pyle atlas or learned directly from the chronological ages of healthy children in that population</a:t>
                      </a:r>
                    </a:p>
                  </a:txBody>
                  <a:tcPr marL="45720" marR="45720" marT="18288" marB="18288" anchor="t"/>
                </a:tc>
              </a:tr>
              <a:tr h="329184">
                <a:tc>
                  <a:txBody>
                    <a:bodyPr wrap="square"/>
                    <a:lstStyle/>
                    <a:p>
                      <a:pPr algn="r"/>
                      <a:r>
                        <a:rPr sz="900" b="0" i="0">
                          <a:solidFill>
                            <a:srgbClr val="1A1A1A"/>
                          </a:solidFill>
                          <a:latin typeface="Helvetica Neue"/>
                        </a:rPr>
                        <a:t>34x</a:t>
                      </a:r>
                    </a:p>
                  </a:txBody>
                  <a:tcPr marL="45720" marR="45720" marT="18288" marB="18288" anchor="t"/>
                </a:tc>
                <a:tc>
                  <a:txBody>
                    <a:bodyPr wrap="square"/>
                    <a:lstStyle/>
                    <a:p>
                      <a:pPr algn="r"/>
                      <a:r>
                        <a:rPr sz="900" b="0" i="0">
                          <a:solidFill>
                            <a:srgbClr val="1A1A1A"/>
                          </a:solidFill>
                          <a:latin typeface="Helvetica Neue"/>
                        </a:rPr>
                        <a:t>9</a:t>
                      </a:r>
                    </a:p>
                  </a:txBody>
                  <a:tcPr marL="45720" marR="45720" marT="18288" marB="18288" anchor="t"/>
                </a:tc>
                <a:tc>
                  <a:txBody>
                    <a:bodyPr wrap="square"/>
                    <a:lstStyle/>
                    <a:p>
                      <a:r>
                        <a:rPr sz="900" b="0" i="0">
                          <a:solidFill>
                            <a:srgbClr val="1A1A1A"/>
                          </a:solidFill>
                          <a:latin typeface="Helvetica Neue"/>
                        </a:rPr>
                        <a:t>Bone age assessment based on deep neural networks with annotation-free cascaded critical bone region extraction.</a:t>
                      </a:r>
                    </a:p>
                  </a:txBody>
                  <a:tcPr marL="45720" marR="45720" marT="18288" marB="18288" anchor="t"/>
                </a:tc>
                <a:tc>
                  <a:txBody>
                    <a:bodyPr wrap="square"/>
                    <a:lstStyle/>
                    <a:p>
                      <a:r>
                        <a:rPr sz="900" b="0" i="0">
                          <a:solidFill>
                            <a:srgbClr val="1A1A1A"/>
                          </a:solidFill>
                          <a:latin typeface="Helvetica Neue"/>
                        </a:rPr>
                        <a:t>Frontiers in artificial intelligence</a:t>
                      </a:r>
                    </a:p>
                  </a:txBody>
                  <a:tcPr marL="45720" marR="45720" marT="18288" marB="18288" anchor="t"/>
                </a:tc>
                <a:tc>
                  <a:txBody>
                    <a:bodyPr wrap="square"/>
                    <a:lstStyle/>
                    <a:p>
                      <a:r>
                        <a:rPr sz="900" b="0" i="0">
                          <a:solidFill>
                            <a:srgbClr val="1A1A1A"/>
                          </a:solidFill>
                          <a:latin typeface="Helvetica Neue"/>
                        </a:rPr>
                        <a:t>automated bone age assessment from hand radiographs without manual region annotation</a:t>
                      </a:r>
                    </a:p>
                  </a:txBody>
                  <a:tcPr marL="45720" marR="45720" marT="18288" marB="18288" anchor="t"/>
                </a:tc>
              </a:tr>
              <a:tr h="466344">
                <a:tc>
                  <a:txBody>
                    <a:bodyPr wrap="square"/>
                    <a:lstStyle/>
                    <a:p>
                      <a:pPr algn="r"/>
                      <a:r>
                        <a:rPr sz="900" b="0" i="0">
                          <a:solidFill>
                            <a:srgbClr val="1A1A1A"/>
                          </a:solidFill>
                          <a:latin typeface="Helvetica Neue"/>
                        </a:rPr>
                        <a:t>30x</a:t>
                      </a:r>
                    </a:p>
                  </a:txBody>
                  <a:tcPr marL="45720" marR="45720" marT="18288" marB="18288" anchor="t"/>
                </a:tc>
                <a:tc>
                  <a:txBody>
                    <a:bodyPr wrap="square"/>
                    <a:lstStyle/>
                    <a:p>
                      <a:pPr algn="r"/>
                      <a:r>
                        <a:rPr sz="900" b="0" i="0">
                          <a:solidFill>
                            <a:srgbClr val="1A1A1A"/>
                          </a:solidFill>
                          <a:latin typeface="Helvetica Neue"/>
                        </a:rPr>
                        <a:t>39</a:t>
                      </a:r>
                    </a:p>
                  </a:txBody>
                  <a:tcPr marL="45720" marR="45720" marT="18288" marB="18288" anchor="t"/>
                </a:tc>
                <a:tc>
                  <a:txBody>
                    <a:bodyPr wrap="square"/>
                    <a:lstStyle/>
                    <a:p>
                      <a:r>
                        <a:rPr sz="900" b="0" i="0">
                          <a:solidFill>
                            <a:srgbClr val="1A1A1A"/>
                          </a:solidFill>
                          <a:latin typeface="Helvetica Neue"/>
                        </a:rPr>
                        <a:t>FeTA</a:t>
                      </a:r>
                    </a:p>
                  </a:txBody>
                  <a:tcPr marL="45720" marR="45720" marT="18288" marB="18288" anchor="t"/>
                </a:tc>
                <a:tc>
                  <a:txBody>
                    <a:bodyPr wrap="square"/>
                    <a:lstStyle/>
                    <a:p>
                      <a:r>
                        <a:rPr sz="900" b="0" i="0">
                          <a:solidFill>
                            <a:srgbClr val="1A1A1A"/>
                          </a:solidFill>
                          <a:latin typeface="Helvetica Neue"/>
                        </a:rPr>
                        <a:t>Medical image analysis</a:t>
                      </a:r>
                    </a:p>
                  </a:txBody>
                  <a:tcPr marL="45720" marR="45720" marT="18288" marB="18288" anchor="t"/>
                </a:tc>
                <a:tc>
                  <a:txBody>
                    <a:bodyPr wrap="square"/>
                    <a:lstStyle/>
                    <a:p>
                      <a:r>
                        <a:rPr sz="900" b="0" i="0">
                          <a:solidFill>
                            <a:srgbClr val="1A1A1A"/>
                          </a:solidFill>
                          <a:latin typeface="Helvetica Neue"/>
                        </a:rPr>
                        <a:t>segmenting the developing fetal brain into tissues, the step every quantitative prenatal neurodevelopment study depends on</a:t>
                      </a:r>
                    </a:p>
                  </a:txBody>
                  <a:tcPr marL="45720" marR="45720" marT="18288" marB="18288" anchor="t"/>
                </a:tc>
              </a:tr>
              <a:tr h="466344">
                <a:tc>
                  <a:txBody>
                    <a:bodyPr wrap="square"/>
                    <a:lstStyle/>
                    <a:p>
                      <a:pPr algn="r"/>
                      <a:r>
                        <a:rPr sz="900" b="0" i="0">
                          <a:solidFill>
                            <a:srgbClr val="1A1A1A"/>
                          </a:solidFill>
                          <a:latin typeface="Helvetica Neue"/>
                        </a:rPr>
                        <a:t>28x</a:t>
                      </a:r>
                    </a:p>
                  </a:txBody>
                  <a:tcPr marL="45720" marR="45720" marT="18288" marB="18288" anchor="t"/>
                </a:tc>
                <a:tc>
                  <a:txBody>
                    <a:bodyPr wrap="square"/>
                    <a:lstStyle/>
                    <a:p>
                      <a:pPr algn="r"/>
                      <a:r>
                        <a:rPr sz="900" b="0" i="0">
                          <a:solidFill>
                            <a:srgbClr val="1A1A1A"/>
                          </a:solidFill>
                          <a:latin typeface="Helvetica Neue"/>
                        </a:rPr>
                        <a:t>20</a:t>
                      </a:r>
                    </a:p>
                  </a:txBody>
                  <a:tcPr marL="45720" marR="45720" marT="18288" marB="18288" anchor="t"/>
                </a:tc>
                <a:tc>
                  <a:txBody>
                    <a:bodyPr wrap="square"/>
                    <a:lstStyle/>
                    <a:p>
                      <a:r>
                        <a:rPr sz="900" b="0" i="0">
                          <a:solidFill>
                            <a:srgbClr val="1A1A1A"/>
                          </a:solidFill>
                          <a:latin typeface="Helvetica Neue"/>
                        </a:rPr>
                        <a:t>Deep focus approach for accurate bone age estimation from lateral cephalogram.</a:t>
                      </a:r>
                    </a:p>
                  </a:txBody>
                  <a:tcPr marL="45720" marR="45720" marT="18288" marB="18288" anchor="t"/>
                </a:tc>
                <a:tc>
                  <a:txBody>
                    <a:bodyPr wrap="square"/>
                    <a:lstStyle/>
                    <a:p>
                      <a:r>
                        <a:rPr sz="900" b="0" i="0">
                          <a:solidFill>
                            <a:srgbClr val="1A1A1A"/>
                          </a:solidFill>
                          <a:latin typeface="Helvetica Neue"/>
                        </a:rPr>
                        <a:t>Journal of dental sciences</a:t>
                      </a:r>
                    </a:p>
                  </a:txBody>
                  <a:tcPr marL="45720" marR="45720" marT="18288" marB="18288" anchor="t"/>
                </a:tc>
                <a:tc>
                  <a:txBody>
                    <a:bodyPr wrap="square"/>
                    <a:lstStyle/>
                    <a:p>
                      <a:r>
                        <a:rPr sz="900" b="0" i="0">
                          <a:solidFill>
                            <a:srgbClr val="1A1A1A"/>
                          </a:solidFill>
                          <a:latin typeface="Helvetica Neue"/>
                        </a:rPr>
                        <a:t>estimating skeletal maturity from the lateral cephalogram a growing child already has, so that a separate hand-wrist radiograph is not required</a:t>
                      </a:r>
                    </a:p>
                  </a:txBody>
                  <a:tcPr marL="45720" marR="45720" marT="18288" marB="18288" anchor="t"/>
                </a:tc>
              </a:tr>
              <a:tr h="466344">
                <a:tc>
                  <a:txBody>
                    <a:bodyPr wrap="square"/>
                    <a:lstStyle/>
                    <a:p>
                      <a:pPr algn="r"/>
                      <a:r>
                        <a:rPr sz="900" b="0" i="0">
                          <a:solidFill>
                            <a:srgbClr val="1A1A1A"/>
                          </a:solidFill>
                          <a:latin typeface="Helvetica Neue"/>
                        </a:rPr>
                        <a:t>27x</a:t>
                      </a:r>
                    </a:p>
                  </a:txBody>
                  <a:tcPr marL="45720" marR="45720" marT="18288" marB="18288" anchor="t"/>
                </a:tc>
                <a:tc>
                  <a:txBody>
                    <a:bodyPr wrap="square"/>
                    <a:lstStyle/>
                    <a:p>
                      <a:pPr algn="r"/>
                      <a:r>
                        <a:rPr sz="900" b="0" i="0">
                          <a:solidFill>
                            <a:srgbClr val="1A1A1A"/>
                          </a:solidFill>
                          <a:latin typeface="Helvetica Neue"/>
                        </a:rPr>
                        <a:t>11</a:t>
                      </a:r>
                    </a:p>
                  </a:txBody>
                  <a:tcPr marL="45720" marR="45720" marT="18288" marB="18288" anchor="t"/>
                </a:tc>
                <a:tc>
                  <a:txBody>
                    <a:bodyPr wrap="square"/>
                    <a:lstStyle/>
                    <a:p>
                      <a:r>
                        <a:rPr sz="900" b="0" i="0">
                          <a:solidFill>
                            <a:srgbClr val="1A1A1A"/>
                          </a:solidFill>
                          <a:latin typeface="Helvetica Neue"/>
                        </a:rPr>
                        <a:t>Bone Age Estimation and Prediction of Final Adult Height Using Deep Learning.</a:t>
                      </a:r>
                    </a:p>
                  </a:txBody>
                  <a:tcPr marL="45720" marR="45720" marT="18288" marB="18288" anchor="t"/>
                </a:tc>
                <a:tc>
                  <a:txBody>
                    <a:bodyPr wrap="square"/>
                    <a:lstStyle/>
                    <a:p>
                      <a:r>
                        <a:rPr sz="900" b="0" i="0">
                          <a:solidFill>
                            <a:srgbClr val="1A1A1A"/>
                          </a:solidFill>
                          <a:latin typeface="Helvetica Neue"/>
                        </a:rPr>
                        <a:t>Yonsei medical journal</a:t>
                      </a:r>
                    </a:p>
                  </a:txBody>
                  <a:tcPr marL="45720" marR="45720" marT="18288" marB="18288" anchor="t"/>
                </a:tc>
                <a:tc>
                  <a:txBody>
                    <a:bodyPr wrap="square"/>
                    <a:lstStyle/>
                    <a:p>
                      <a:r>
                        <a:rPr sz="900" b="0" i="0">
                          <a:solidFill>
                            <a:srgbClr val="1A1A1A"/>
                          </a:solidFill>
                          <a:latin typeface="Helvetica Neue"/>
                        </a:rPr>
                        <a:t>automatically estimating bone age and predicting final adult height in children using hand radiographs</a:t>
                      </a:r>
                    </a:p>
                  </a:txBody>
                  <a:tcPr marL="45720" marR="45720" marT="18288" marB="18288" anchor="t"/>
                </a:tc>
              </a:tr>
              <a:tr h="466344">
                <a:tc>
                  <a:txBody>
                    <a:bodyPr wrap="square"/>
                    <a:lstStyle/>
                    <a:p>
                      <a:pPr algn="r"/>
                      <a:r>
                        <a:rPr sz="900" b="0" i="0">
                          <a:solidFill>
                            <a:srgbClr val="1A1A1A"/>
                          </a:solidFill>
                          <a:latin typeface="Helvetica Neue"/>
                        </a:rPr>
                        <a:t>26x</a:t>
                      </a:r>
                    </a:p>
                  </a:txBody>
                  <a:tcPr marL="45720" marR="45720" marT="18288" marB="18288" anchor="t"/>
                </a:tc>
                <a:tc>
                  <a:txBody>
                    <a:bodyPr wrap="square"/>
                    <a:lstStyle/>
                    <a:p>
                      <a:pPr algn="r"/>
                      <a:r>
                        <a:rPr sz="900" b="0" i="0">
                          <a:solidFill>
                            <a:srgbClr val="1A1A1A"/>
                          </a:solidFill>
                          <a:latin typeface="Helvetica Neue"/>
                        </a:rPr>
                        <a:t>21</a:t>
                      </a:r>
                    </a:p>
                  </a:txBody>
                  <a:tcPr marL="45720" marR="45720" marT="18288" marB="18288" anchor="t"/>
                </a:tc>
                <a:tc>
                  <a:txBody>
                    <a:bodyPr wrap="square"/>
                    <a:lstStyle/>
                    <a:p>
                      <a:r>
                        <a:rPr sz="900" b="0" i="0">
                          <a:solidFill>
                            <a:srgbClr val="1A1A1A"/>
                          </a:solidFill>
                          <a:latin typeface="Helvetica Neue"/>
                        </a:rPr>
                        <a:t>Detection of ASD Children through Deep-Learning Application of fMRI.</a:t>
                      </a:r>
                    </a:p>
                  </a:txBody>
                  <a:tcPr marL="45720" marR="45720" marT="18288" marB="18288" anchor="t"/>
                </a:tc>
                <a:tc>
                  <a:txBody>
                    <a:bodyPr wrap="square"/>
                    <a:lstStyle/>
                    <a:p>
                      <a:r>
                        <a:rPr sz="900" b="0" i="0">
                          <a:solidFill>
                            <a:srgbClr val="1A1A1A"/>
                          </a:solidFill>
                          <a:latin typeface="Helvetica Neue"/>
                        </a:rPr>
                        <a:t>Children (Basel, Switzerland)</a:t>
                      </a:r>
                    </a:p>
                  </a:txBody>
                  <a:tcPr marL="45720" marR="45720" marT="18288" marB="18288" anchor="t"/>
                </a:tc>
                <a:tc>
                  <a:txBody>
                    <a:bodyPr wrap="square"/>
                    <a:lstStyle/>
                    <a:p>
                      <a:r>
                        <a:rPr sz="900" b="0" i="0">
                          <a:solidFill>
                            <a:srgbClr val="1A1A1A"/>
                          </a:solidFill>
                          <a:latin typeface="Helvetica Neue"/>
                        </a:rPr>
                        <a:t>early detection of autism spectrum disorder in children, where prompt diagnosis enables targeted intervention</a:t>
                      </a:r>
                    </a:p>
                  </a:txBody>
                  <a:tcPr marL="45720" marR="45720" marT="18288" marB="18288" anchor="t"/>
                </a:tc>
              </a:tr>
              <a:tr h="466344">
                <a:tc>
                  <a:txBody>
                    <a:bodyPr wrap="square"/>
                    <a:lstStyle/>
                    <a:p>
                      <a:pPr algn="r"/>
                      <a:r>
                        <a:rPr sz="900" b="0" i="0">
                          <a:solidFill>
                            <a:srgbClr val="1A1A1A"/>
                          </a:solidFill>
                          <a:latin typeface="Helvetica Neue"/>
                        </a:rPr>
                        <a:t>26x</a:t>
                      </a:r>
                    </a:p>
                  </a:txBody>
                  <a:tcPr marL="45720" marR="45720" marT="18288" marB="18288" anchor="t"/>
                </a:tc>
                <a:tc>
                  <a:txBody>
                    <a:bodyPr wrap="square"/>
                    <a:lstStyle/>
                    <a:p>
                      <a:pPr algn="r"/>
                      <a:r>
                        <a:rPr sz="900" b="0" i="0">
                          <a:solidFill>
                            <a:srgbClr val="1A1A1A"/>
                          </a:solidFill>
                          <a:latin typeface="Helvetica Neue"/>
                        </a:rPr>
                        <a:t>14</a:t>
                      </a:r>
                    </a:p>
                  </a:txBody>
                  <a:tcPr marL="45720" marR="45720" marT="18288" marB="18288" anchor="t"/>
                </a:tc>
                <a:tc>
                  <a:txBody>
                    <a:bodyPr wrap="square"/>
                    <a:lstStyle/>
                    <a:p>
                      <a:r>
                        <a:rPr sz="900" b="0" i="0">
                          <a:solidFill>
                            <a:srgbClr val="1A1A1A"/>
                          </a:solidFill>
                          <a:latin typeface="Helvetica Neue"/>
                        </a:rPr>
                        <a:t>High performance for bone age estimation with an artificial intelligence solution.</a:t>
                      </a:r>
                    </a:p>
                  </a:txBody>
                  <a:tcPr marL="45720" marR="45720" marT="18288" marB="18288" anchor="t"/>
                </a:tc>
                <a:tc>
                  <a:txBody>
                    <a:bodyPr wrap="square"/>
                    <a:lstStyle/>
                    <a:p>
                      <a:r>
                        <a:rPr sz="900" b="0" i="0">
                          <a:solidFill>
                            <a:srgbClr val="1A1A1A"/>
                          </a:solidFill>
                          <a:latin typeface="Helvetica Neue"/>
                        </a:rPr>
                        <a:t>Diagnostic and interventional imaging</a:t>
                      </a:r>
                    </a:p>
                  </a:txBody>
                  <a:tcPr marL="45720" marR="45720" marT="18288" marB="18288" anchor="t"/>
                </a:tc>
                <a:tc>
                  <a:txBody>
                    <a:bodyPr wrap="square"/>
                    <a:lstStyle/>
                    <a:p>
                      <a:r>
                        <a:rPr sz="900" b="0" i="0">
                          <a:solidFill>
                            <a:srgbClr val="1A1A1A"/>
                          </a:solidFill>
                          <a:latin typeface="Helvetica Neue"/>
                        </a:rPr>
                        <a:t>How does an AI solution for bone age assessment compare in accuracy to a general (non-pediatric-specialized) radiologist?</a:t>
                      </a:r>
                    </a:p>
                  </a:txBody>
                  <a:tcPr marL="45720" marR="45720" marT="18288" marB="18288" anchor="t"/>
                </a:tc>
              </a:tr>
              <a:tr h="329184">
                <a:tc>
                  <a:txBody>
                    <a:bodyPr wrap="square"/>
                    <a:lstStyle/>
                    <a:p>
                      <a:pPr algn="r"/>
                      <a:r>
                        <a:rPr sz="900" b="0" i="0">
                          <a:solidFill>
                            <a:srgbClr val="1A1A1A"/>
                          </a:solidFill>
                          <a:latin typeface="Helvetica Neue"/>
                        </a:rPr>
                        <a:t>25x</a:t>
                      </a:r>
                    </a:p>
                  </a:txBody>
                  <a:tcPr marL="45720" marR="45720" marT="18288" marB="18288" anchor="t"/>
                </a:tc>
                <a:tc>
                  <a:txBody>
                    <a:bodyPr wrap="square"/>
                    <a:lstStyle/>
                    <a:p>
                      <a:pPr algn="r"/>
                      <a:r>
                        <a:rPr sz="900" b="0" i="0">
                          <a:solidFill>
                            <a:srgbClr val="1A1A1A"/>
                          </a:solidFill>
                          <a:latin typeface="Helvetica Neue"/>
                        </a:rPr>
                        <a:t>49</a:t>
                      </a:r>
                    </a:p>
                  </a:txBody>
                  <a:tcPr marL="45720" marR="45720" marT="18288" marB="18288" anchor="t"/>
                </a:tc>
                <a:tc>
                  <a:txBody>
                    <a:bodyPr wrap="square"/>
                    <a:lstStyle/>
                    <a:p>
                      <a:r>
                        <a:rPr sz="900" b="0" i="0">
                          <a:solidFill>
                            <a:srgbClr val="1A1A1A"/>
                          </a:solidFill>
                          <a:latin typeface="Helvetica Neue"/>
                        </a:rPr>
                        <a:t>Automated classification of common maternal fetal ultrasound planes using multi-layer perceptron with deep feature integration dagger</a:t>
                      </a:r>
                    </a:p>
                  </a:txBody>
                  <a:tcPr marL="45720" marR="45720" marT="18288" marB="18288" anchor="t"/>
                </a:tc>
                <a:tc>
                  <a:txBody>
                    <a:bodyPr wrap="square"/>
                    <a:lstStyle/>
                    <a:p>
                      <a:r>
                        <a:rPr sz="900" b="0" i="0">
                          <a:solidFill>
                            <a:srgbClr val="1A1A1A"/>
                          </a:solidFill>
                          <a:latin typeface="Helvetica Neue"/>
                        </a:rPr>
                        <a:t>Biomedical Signal Processing and Control</a:t>
                      </a:r>
                    </a:p>
                  </a:txBody>
                  <a:tcPr marL="45720" marR="45720" marT="18288" marB="18288" anchor="t"/>
                </a:tc>
                <a:tc>
                  <a:txBody>
                    <a:bodyPr wrap="square"/>
                    <a:lstStyle/>
                    <a:p>
                      <a:r>
                        <a:rPr sz="900" b="0" i="0">
                          <a:solidFill>
                            <a:srgbClr val="1A1A1A"/>
                          </a:solidFill>
                          <a:latin typeface="Helvetica Neue"/>
                        </a:rPr>
                        <a:t>automated identification of standard fetal ultrasound planes during obstetric examination</a:t>
                      </a:r>
                    </a:p>
                  </a:txBody>
                  <a:tcPr marL="45720" marR="45720" marT="18288" marB="18288" anchor="t"/>
                </a:tc>
              </a:tr>
            </a:tbl>
          </a:graphicData>
        </a:graphic>
      </p:graphicFrame>
      <p:sp>
        <p:nvSpPr>
          <p:cNvPr id="5" name="TextBox 4"/>
          <p:cNvSpPr txBox="1"/>
          <p:nvPr/>
        </p:nvSpPr>
        <p:spPr>
          <a:xfrm>
            <a:off x="411480" y="5065775"/>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410 studies included from 2023; 289 have enough citations to be ranked. Impact = citations relative to the average paper of the same field and year (OpenAlex FWCI; iCite RCR where OpenAlex has none), shown once a study has 5 citations. dagger Embase-only; ast preprint.</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21 / 83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Highest-impact pediatric radiology AI studies, 2024</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3" cy="4251959"/>
        </p:xfrm>
        <a:graphic>
          <a:graphicData uri="http://schemas.openxmlformats.org/drawingml/2006/table">
            <a:tbl>
              <a:tblPr firstRow="1" bandRow="1">
                <a:tableStyleId>{5C22544A-7EE6-4342-B048-85BDC9FD1C3A}</a:tableStyleId>
              </a:tblPr>
              <a:tblGrid>
                <a:gridCol w="550468"/>
                <a:gridCol w="480060"/>
                <a:gridCol w="4944359"/>
                <a:gridCol w="2097607"/>
                <a:gridCol w="3296239"/>
              </a:tblGrid>
              <a:tr h="192024">
                <a:tc>
                  <a:txBody>
                    <a:bodyPr wrap="square"/>
                    <a:lstStyle/>
                    <a:p>
                      <a:pPr algn="r"/>
                      <a:r>
                        <a:rPr sz="900" b="1" i="0">
                          <a:solidFill>
                            <a:srgbClr val="FFFFFF"/>
                          </a:solidFill>
                          <a:latin typeface="Helvetica Neue"/>
                        </a:rPr>
                        <a:t>Impact</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r>
                        <a:rPr sz="900" b="1" i="0">
                          <a:solidFill>
                            <a:srgbClr val="FFFFFF"/>
                          </a:solidFill>
                          <a:latin typeface="Helvetica Neue"/>
                        </a:rPr>
                        <a:t>Study</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does</a:t>
                      </a:r>
                    </a:p>
                  </a:txBody>
                  <a:tcPr marL="45720" marR="45720" marT="18288" marB="18288" anchor="t"/>
                </a:tc>
              </a:tr>
              <a:tr h="466344">
                <a:tc>
                  <a:txBody>
                    <a:bodyPr wrap="square"/>
                    <a:lstStyle/>
                    <a:p>
                      <a:pPr algn="r"/>
                      <a:r>
                        <a:rPr sz="900" b="0" i="0">
                          <a:solidFill>
                            <a:srgbClr val="1A1A1A"/>
                          </a:solidFill>
                          <a:latin typeface="Helvetica Neue"/>
                        </a:rPr>
                        <a:t>29x</a:t>
                      </a:r>
                    </a:p>
                  </a:txBody>
                  <a:tcPr marL="45720" marR="45720" marT="18288" marB="18288" anchor="t"/>
                </a:tc>
                <a:tc>
                  <a:txBody>
                    <a:bodyPr wrap="square"/>
                    <a:lstStyle/>
                    <a:p>
                      <a:pPr algn="r"/>
                      <a:r>
                        <a:rPr sz="900" b="0" i="0">
                          <a:solidFill>
                            <a:srgbClr val="1A1A1A"/>
                          </a:solidFill>
                          <a:latin typeface="Helvetica Neue"/>
                        </a:rPr>
                        <a:t>16</a:t>
                      </a:r>
                    </a:p>
                  </a:txBody>
                  <a:tcPr marL="45720" marR="45720" marT="18288" marB="18288" anchor="t"/>
                </a:tc>
                <a:tc>
                  <a:txBody>
                    <a:bodyPr wrap="square"/>
                    <a:lstStyle/>
                    <a:p>
                      <a:r>
                        <a:rPr sz="900" b="0" i="0">
                          <a:solidFill>
                            <a:srgbClr val="1A1A1A"/>
                          </a:solidFill>
                          <a:latin typeface="Helvetica Neue"/>
                        </a:rPr>
                        <a:t>Automated bone age assessment in a German pediatric cohort: agreement between an artificial intelligence software and the manual Greulich and Pyle method.</a:t>
                      </a:r>
                    </a:p>
                  </a:txBody>
                  <a:tcPr marL="45720" marR="45720" marT="18288" marB="18288" anchor="t"/>
                </a:tc>
                <a:tc>
                  <a:txBody>
                    <a:bodyPr wrap="square"/>
                    <a:lstStyle/>
                    <a:p>
                      <a:r>
                        <a:rPr sz="900" b="0" i="0">
                          <a:solidFill>
                            <a:srgbClr val="1A1A1A"/>
                          </a:solidFill>
                          <a:latin typeface="Helvetica Neue"/>
                        </a:rPr>
                        <a:t>European radiology</a:t>
                      </a:r>
                    </a:p>
                  </a:txBody>
                  <a:tcPr marL="45720" marR="45720" marT="18288" marB="18288" anchor="t"/>
                </a:tc>
                <a:tc>
                  <a:txBody>
                    <a:bodyPr wrap="square"/>
                    <a:lstStyle/>
                    <a:p>
                      <a:r>
                        <a:rPr sz="900" b="0" i="0">
                          <a:solidFill>
                            <a:srgbClr val="1A1A1A"/>
                          </a:solidFill>
                          <a:latin typeface="Helvetica Neue"/>
                        </a:rPr>
                        <a:t>whether a bone age product can be swapped in for an expert reader, not merely correlate with one</a:t>
                      </a:r>
                    </a:p>
                  </a:txBody>
                  <a:tcPr marL="45720" marR="45720" marT="18288" marB="18288" anchor="t"/>
                </a:tc>
              </a:tr>
              <a:tr h="466344">
                <a:tc>
                  <a:txBody>
                    <a:bodyPr wrap="square"/>
                    <a:lstStyle/>
                    <a:p>
                      <a:pPr algn="r"/>
                      <a:r>
                        <a:rPr sz="900" b="0" i="0">
                          <a:solidFill>
                            <a:srgbClr val="1A1A1A"/>
                          </a:solidFill>
                          <a:latin typeface="Helvetica Neue"/>
                        </a:rPr>
                        <a:t>29x</a:t>
                      </a:r>
                    </a:p>
                  </a:txBody>
                  <a:tcPr marL="45720" marR="45720" marT="18288" marB="18288" anchor="t"/>
                </a:tc>
                <a:tc>
                  <a:txBody>
                    <a:bodyPr wrap="square"/>
                    <a:lstStyle/>
                    <a:p>
                      <a:pPr algn="r"/>
                      <a:r>
                        <a:rPr sz="900" b="0" i="0">
                          <a:solidFill>
                            <a:srgbClr val="1A1A1A"/>
                          </a:solidFill>
                          <a:latin typeface="Helvetica Neue"/>
                        </a:rPr>
                        <a:t>16</a:t>
                      </a:r>
                    </a:p>
                  </a:txBody>
                  <a:tcPr marL="45720" marR="45720" marT="18288" marB="18288" anchor="t"/>
                </a:tc>
                <a:tc>
                  <a:txBody>
                    <a:bodyPr wrap="square"/>
                    <a:lstStyle/>
                    <a:p>
                      <a:r>
                        <a:rPr sz="900" b="0" i="0">
                          <a:solidFill>
                            <a:srgbClr val="1A1A1A"/>
                          </a:solidFill>
                          <a:latin typeface="Helvetica Neue"/>
                        </a:rPr>
                        <a:t>A Dempster-Shafer Approach to Trustworthy AI With Application to Fetal Brain MRI Segmentation.</a:t>
                      </a:r>
                    </a:p>
                  </a:txBody>
                  <a:tcPr marL="45720" marR="45720" marT="18288" marB="18288" anchor="t"/>
                </a:tc>
                <a:tc>
                  <a:txBody>
                    <a:bodyPr wrap="square"/>
                    <a:lstStyle/>
                    <a:p>
                      <a:r>
                        <a:rPr sz="900" b="0" i="0">
                          <a:solidFill>
                            <a:srgbClr val="1A1A1A"/>
                          </a:solidFill>
                          <a:latin typeface="Helvetica Neue"/>
                        </a:rPr>
                        <a:t>IEEE transactions on pattern analysis and machine intelligence</a:t>
                      </a:r>
                    </a:p>
                  </a:txBody>
                  <a:tcPr marL="45720" marR="45720" marT="18288" marB="18288" anchor="t"/>
                </a:tc>
                <a:tc>
                  <a:txBody>
                    <a:bodyPr wrap="square"/>
                    <a:lstStyle/>
                    <a:p>
                      <a:r>
                        <a:rPr sz="900" b="0" i="0">
                          <a:solidFill>
                            <a:srgbClr val="1A1A1A"/>
                          </a:solidFill>
                          <a:latin typeface="Helvetica Neue"/>
                        </a:rPr>
                        <a:t>detecting and correcting failures in automated fetal brain MRI segmentation so results are safe to use clinically</a:t>
                      </a:r>
                    </a:p>
                  </a:txBody>
                  <a:tcPr marL="45720" marR="45720" marT="18288" marB="18288" anchor="t"/>
                </a:tc>
              </a:tr>
              <a:tr h="466344">
                <a:tc>
                  <a:txBody>
                    <a:bodyPr wrap="square"/>
                    <a:lstStyle/>
                    <a:p>
                      <a:pPr algn="r"/>
                      <a:r>
                        <a:rPr sz="900" b="0" i="0">
                          <a:solidFill>
                            <a:srgbClr val="1A1A1A"/>
                          </a:solidFill>
                          <a:latin typeface="Helvetica Neue"/>
                        </a:rPr>
                        <a:t>26x</a:t>
                      </a:r>
                    </a:p>
                  </a:txBody>
                  <a:tcPr marL="45720" marR="45720" marT="18288" marB="18288" anchor="t"/>
                </a:tc>
                <a:tc>
                  <a:txBody>
                    <a:bodyPr wrap="square"/>
                    <a:lstStyle/>
                    <a:p>
                      <a:pPr algn="r"/>
                      <a:r>
                        <a:rPr sz="900" b="0" i="0">
                          <a:solidFill>
                            <a:srgbClr val="1A1A1A"/>
                          </a:solidFill>
                          <a:latin typeface="Helvetica Neue"/>
                        </a:rPr>
                        <a:t>12</a:t>
                      </a:r>
                    </a:p>
                  </a:txBody>
                  <a:tcPr marL="45720" marR="45720" marT="18288" marB="18288" anchor="t"/>
                </a:tc>
                <a:tc>
                  <a:txBody>
                    <a:bodyPr wrap="square"/>
                    <a:lstStyle/>
                    <a:p>
                      <a:r>
                        <a:rPr sz="900" b="0" i="0">
                          <a:solidFill>
                            <a:srgbClr val="1A1A1A"/>
                          </a:solidFill>
                          <a:latin typeface="Helvetica Neue"/>
                        </a:rPr>
                        <a:t>HFSCCD: A Hybrid Neural Network for Fetal Standard Cardiac Cycle Detection in Ultrasound Videos.</a:t>
                      </a:r>
                    </a:p>
                  </a:txBody>
                  <a:tcPr marL="45720" marR="45720" marT="18288" marB="18288" anchor="t"/>
                </a:tc>
                <a:tc>
                  <a:txBody>
                    <a:bodyPr wrap="square"/>
                    <a:lstStyle/>
                    <a:p>
                      <a:r>
                        <a:rPr sz="900" b="0" i="0">
                          <a:solidFill>
                            <a:srgbClr val="1A1A1A"/>
                          </a:solidFill>
                          <a:latin typeface="Helvetica Neue"/>
                        </a:rPr>
                        <a:t>IEEE journal of biomedical and health informatics</a:t>
                      </a:r>
                    </a:p>
                  </a:txBody>
                  <a:tcPr marL="45720" marR="45720" marT="18288" marB="18288" anchor="t"/>
                </a:tc>
                <a:tc>
                  <a:txBody>
                    <a:bodyPr wrap="square"/>
                    <a:lstStyle/>
                    <a:p>
                      <a:r>
                        <a:rPr sz="900" b="0" i="0">
                          <a:solidFill>
                            <a:srgbClr val="1A1A1A"/>
                          </a:solidFill>
                          <a:latin typeface="Helvetica Neue"/>
                        </a:rPr>
                        <a:t>Automatically detecting standard cardiac cycle frames in fetal echocardiography to support congenital heart disease diagnosis</a:t>
                      </a:r>
                    </a:p>
                  </a:txBody>
                  <a:tcPr marL="45720" marR="45720" marT="18288" marB="18288" anchor="t"/>
                </a:tc>
              </a:tr>
              <a:tr h="329184">
                <a:tc>
                  <a:txBody>
                    <a:bodyPr wrap="square"/>
                    <a:lstStyle/>
                    <a:p>
                      <a:pPr algn="r"/>
                      <a:r>
                        <a:rPr sz="900" b="0" i="0">
                          <a:solidFill>
                            <a:srgbClr val="1A1A1A"/>
                          </a:solidFill>
                          <a:latin typeface="Helvetica Neue"/>
                        </a:rPr>
                        <a:t>24x</a:t>
                      </a:r>
                    </a:p>
                  </a:txBody>
                  <a:tcPr marL="45720" marR="45720" marT="18288" marB="18288" anchor="t"/>
                </a:tc>
                <a:tc>
                  <a:txBody>
                    <a:bodyPr wrap="square"/>
                    <a:lstStyle/>
                    <a:p>
                      <a:pPr algn="r"/>
                      <a:r>
                        <a:rPr sz="900" b="0" i="0">
                          <a:solidFill>
                            <a:srgbClr val="1A1A1A"/>
                          </a:solidFill>
                          <a:latin typeface="Helvetica Neue"/>
                        </a:rPr>
                        <a:t>5</a:t>
                      </a:r>
                    </a:p>
                  </a:txBody>
                  <a:tcPr marL="45720" marR="45720" marT="18288" marB="18288" anchor="t"/>
                </a:tc>
                <a:tc>
                  <a:txBody>
                    <a:bodyPr wrap="square"/>
                    <a:lstStyle/>
                    <a:p>
                      <a:r>
                        <a:rPr sz="900" b="0" i="0">
                          <a:solidFill>
                            <a:srgbClr val="1A1A1A"/>
                          </a:solidFill>
                          <a:latin typeface="Helvetica Neue"/>
                        </a:rPr>
                        <a:t>Assessment of Bone Age Based on Hand Radiographs Using Regression-Based Multi-Modal Deep Learning.</a:t>
                      </a:r>
                    </a:p>
                  </a:txBody>
                  <a:tcPr marL="45720" marR="45720" marT="18288" marB="18288" anchor="t"/>
                </a:tc>
                <a:tc>
                  <a:txBody>
                    <a:bodyPr wrap="square"/>
                    <a:lstStyle/>
                    <a:p>
                      <a:r>
                        <a:rPr sz="900" b="0" i="0">
                          <a:solidFill>
                            <a:srgbClr val="1A1A1A"/>
                          </a:solidFill>
                          <a:latin typeface="Helvetica Neue"/>
                        </a:rPr>
                        <a:t>Life (Basel, Switzerland)</a:t>
                      </a:r>
                    </a:p>
                  </a:txBody>
                  <a:tcPr marL="45720" marR="45720" marT="18288" marB="18288" anchor="t"/>
                </a:tc>
                <a:tc>
                  <a:txBody>
                    <a:bodyPr wrap="square"/>
                    <a:lstStyle/>
                    <a:p>
                      <a:r>
                        <a:rPr sz="900" b="0" i="0">
                          <a:solidFill>
                            <a:srgbClr val="1A1A1A"/>
                          </a:solidFill>
                          <a:latin typeface="Helvetica Neue"/>
                        </a:rPr>
                        <a:t>estimating bone age from hand radiographs</a:t>
                      </a:r>
                    </a:p>
                  </a:txBody>
                  <a:tcPr marL="45720" marR="45720" marT="18288" marB="18288" anchor="t"/>
                </a:tc>
              </a:tr>
              <a:tr h="603503">
                <a:tc>
                  <a:txBody>
                    <a:bodyPr wrap="square"/>
                    <a:lstStyle/>
                    <a:p>
                      <a:pPr algn="r"/>
                      <a:r>
                        <a:rPr sz="900" b="0" i="0">
                          <a:solidFill>
                            <a:srgbClr val="1A1A1A"/>
                          </a:solidFill>
                          <a:latin typeface="Helvetica Neue"/>
                        </a:rPr>
                        <a:t>24x</a:t>
                      </a:r>
                    </a:p>
                  </a:txBody>
                  <a:tcPr marL="45720" marR="45720" marT="18288" marB="18288" anchor="t"/>
                </a:tc>
                <a:tc>
                  <a:txBody>
                    <a:bodyPr wrap="square"/>
                    <a:lstStyle/>
                    <a:p>
                      <a:pPr algn="r"/>
                      <a:r>
                        <a:rPr sz="900" b="0" i="0">
                          <a:solidFill>
                            <a:srgbClr val="1A1A1A"/>
                          </a:solidFill>
                          <a:latin typeface="Helvetica Neue"/>
                        </a:rPr>
                        <a:t>17</a:t>
                      </a:r>
                    </a:p>
                  </a:txBody>
                  <a:tcPr marL="45720" marR="45720" marT="18288" marB="18288" anchor="t"/>
                </a:tc>
                <a:tc>
                  <a:txBody>
                    <a:bodyPr wrap="square"/>
                    <a:lstStyle/>
                    <a:p>
                      <a:r>
                        <a:rPr sz="900" b="0" i="0">
                          <a:solidFill>
                            <a:srgbClr val="1A1A1A"/>
                          </a:solidFill>
                          <a:latin typeface="Helvetica Neue"/>
                        </a:rPr>
                        <a:t>FetalBrainAwareNet</a:t>
                      </a:r>
                    </a:p>
                  </a:txBody>
                  <a:tcPr marL="45720" marR="45720" marT="18288" marB="18288" anchor="t"/>
                </a:tc>
                <a:tc>
                  <a:txBody>
                    <a:bodyPr wrap="square"/>
                    <a:lstStyle/>
                    <a:p>
                      <a:r>
                        <a:rPr sz="900" b="0" i="0">
                          <a:solidFill>
                            <a:srgbClr val="1A1A1A"/>
                          </a:solidFill>
                          <a:latin typeface="Helvetica Neue"/>
                        </a:rPr>
                        <a:t>Computerized medical imaging and graphics</a:t>
                      </a:r>
                    </a:p>
                  </a:txBody>
                  <a:tcPr marL="45720" marR="45720" marT="18288" marB="18288" anchor="t"/>
                </a:tc>
                <a:tc>
                  <a:txBody>
                    <a:bodyPr wrap="square"/>
                    <a:lstStyle/>
                    <a:p>
                      <a:r>
                        <a:rPr sz="900" b="0" i="0">
                          <a:solidFill>
                            <a:srgbClr val="1A1A1A"/>
                          </a:solidFill>
                          <a:latin typeface="Helvetica Neue"/>
                        </a:rPr>
                        <a:t>Synthesizing anatomically accurate fetal head standard-plane ultrasound images to augment training data for automated fetal head standard-plane classification.</a:t>
                      </a:r>
                    </a:p>
                  </a:txBody>
                  <a:tcPr marL="45720" marR="45720" marT="18288" marB="18288" anchor="t"/>
                </a:tc>
              </a:tr>
              <a:tr h="329184">
                <a:tc>
                  <a:txBody>
                    <a:bodyPr wrap="square"/>
                    <a:lstStyle/>
                    <a:p>
                      <a:pPr algn="r"/>
                      <a:r>
                        <a:rPr sz="900" b="0" i="0">
                          <a:solidFill>
                            <a:srgbClr val="1A1A1A"/>
                          </a:solidFill>
                          <a:latin typeface="Helvetica Neue"/>
                        </a:rPr>
                        <a:t>24x</a:t>
                      </a:r>
                    </a:p>
                  </a:txBody>
                  <a:tcPr marL="45720" marR="45720" marT="18288" marB="18288" anchor="t"/>
                </a:tc>
                <a:tc>
                  <a:txBody>
                    <a:bodyPr wrap="square"/>
                    <a:lstStyle/>
                    <a:p>
                      <a:pPr algn="r"/>
                      <a:r>
                        <a:rPr sz="900" b="0" i="0">
                          <a:solidFill>
                            <a:srgbClr val="1A1A1A"/>
                          </a:solidFill>
                          <a:latin typeface="Helvetica Neue"/>
                        </a:rPr>
                        <a:t>16</a:t>
                      </a:r>
                    </a:p>
                  </a:txBody>
                  <a:tcPr marL="45720" marR="45720" marT="18288" marB="18288" anchor="t"/>
                </a:tc>
                <a:tc>
                  <a:txBody>
                    <a:bodyPr wrap="square"/>
                    <a:lstStyle/>
                    <a:p>
                      <a:r>
                        <a:rPr sz="900" b="0" i="0">
                          <a:solidFill>
                            <a:srgbClr val="1A1A1A"/>
                          </a:solidFill>
                          <a:latin typeface="Helvetica Neue"/>
                        </a:rPr>
                        <a:t>On the use of contrastive learning for standard-plane classification in fetal ultrasound imaging.</a:t>
                      </a:r>
                    </a:p>
                  </a:txBody>
                  <a:tcPr marL="45720" marR="45720" marT="18288" marB="18288" anchor="t"/>
                </a:tc>
                <a:tc>
                  <a:txBody>
                    <a:bodyPr wrap="square"/>
                    <a:lstStyle/>
                    <a:p>
                      <a:r>
                        <a:rPr sz="900" b="0" i="0">
                          <a:solidFill>
                            <a:srgbClr val="1A1A1A"/>
                          </a:solidFill>
                          <a:latin typeface="Helvetica Neue"/>
                        </a:rPr>
                        <a:t>Computers in biology and medicine</a:t>
                      </a:r>
                    </a:p>
                  </a:txBody>
                  <a:tcPr marL="45720" marR="45720" marT="18288" marB="18288" anchor="t"/>
                </a:tc>
                <a:tc>
                  <a:txBody>
                    <a:bodyPr wrap="square"/>
                    <a:lstStyle/>
                    <a:p>
                      <a:r>
                        <a:rPr sz="900" b="0" i="0">
                          <a:solidFill>
                            <a:srgbClr val="1A1A1A"/>
                          </a:solidFill>
                          <a:latin typeface="Helvetica Neue"/>
                        </a:rPr>
                        <a:t>automated identification of standard imaging planes in fetal ultrasound examinations</a:t>
                      </a:r>
                    </a:p>
                  </a:txBody>
                  <a:tcPr marL="45720" marR="45720" marT="18288" marB="18288" anchor="t"/>
                </a:tc>
              </a:tr>
              <a:tr h="466344">
                <a:tc>
                  <a:txBody>
                    <a:bodyPr wrap="square"/>
                    <a:lstStyle/>
                    <a:p>
                      <a:pPr algn="r"/>
                      <a:r>
                        <a:rPr sz="900" b="0" i="0">
                          <a:solidFill>
                            <a:srgbClr val="1A1A1A"/>
                          </a:solidFill>
                          <a:latin typeface="Helvetica Neue"/>
                        </a:rPr>
                        <a:t>22x</a:t>
                      </a:r>
                    </a:p>
                  </a:txBody>
                  <a:tcPr marL="45720" marR="45720" marT="18288" marB="18288" anchor="t"/>
                </a:tc>
                <a:tc>
                  <a:txBody>
                    <a:bodyPr wrap="square"/>
                    <a:lstStyle/>
                    <a:p>
                      <a:pPr algn="r"/>
                      <a:r>
                        <a:rPr sz="900" b="0" i="0">
                          <a:solidFill>
                            <a:srgbClr val="1A1A1A"/>
                          </a:solidFill>
                          <a:latin typeface="Helvetica Neue"/>
                        </a:rPr>
                        <a:t>12</a:t>
                      </a:r>
                    </a:p>
                  </a:txBody>
                  <a:tcPr marL="45720" marR="45720" marT="18288" marB="18288" anchor="t"/>
                </a:tc>
                <a:tc>
                  <a:txBody>
                    <a:bodyPr wrap="square"/>
                    <a:lstStyle/>
                    <a:p>
                      <a:r>
                        <a:rPr sz="900" b="0" i="0">
                          <a:solidFill>
                            <a:srgbClr val="1A1A1A"/>
                          </a:solidFill>
                          <a:latin typeface="Helvetica Neue"/>
                        </a:rPr>
                        <a:t>Transformer based multi-modal MRI fusion for prediction of post-menstrual age and neonatal brain development analysis.</a:t>
                      </a:r>
                    </a:p>
                  </a:txBody>
                  <a:tcPr marL="45720" marR="45720" marT="18288" marB="18288" anchor="t"/>
                </a:tc>
                <a:tc>
                  <a:txBody>
                    <a:bodyPr wrap="square"/>
                    <a:lstStyle/>
                    <a:p>
                      <a:r>
                        <a:rPr sz="900" b="0" i="0">
                          <a:solidFill>
                            <a:srgbClr val="1A1A1A"/>
                          </a:solidFill>
                          <a:latin typeface="Helvetica Neue"/>
                        </a:rPr>
                        <a:t>Medical image analysis</a:t>
                      </a:r>
                    </a:p>
                  </a:txBody>
                  <a:tcPr marL="45720" marR="45720" marT="18288" marB="18288" anchor="t"/>
                </a:tc>
                <a:tc>
                  <a:txBody>
                    <a:bodyPr wrap="square"/>
                    <a:lstStyle/>
                    <a:p>
                      <a:r>
                        <a:rPr sz="900" b="0" i="0">
                          <a:solidFill>
                            <a:srgbClr val="1A1A1A"/>
                          </a:solidFill>
                          <a:latin typeface="Helvetica Neue"/>
                        </a:rPr>
                        <a:t>Estimating post-menstrual age and assessing brain maturity from neonatal brain MRI to help identify preterm-related developmental risk</a:t>
                      </a:r>
                    </a:p>
                  </a:txBody>
                  <a:tcPr marL="45720" marR="45720" marT="18288" marB="18288" anchor="t"/>
                </a:tc>
              </a:tr>
              <a:tr h="466344">
                <a:tc>
                  <a:txBody>
                    <a:bodyPr wrap="square"/>
                    <a:lstStyle/>
                    <a:p>
                      <a:pPr algn="r"/>
                      <a:r>
                        <a:rPr sz="900" b="0" i="0">
                          <a:solidFill>
                            <a:srgbClr val="1A1A1A"/>
                          </a:solidFill>
                          <a:latin typeface="Helvetica Neue"/>
                        </a:rPr>
                        <a:t>21x</a:t>
                      </a:r>
                    </a:p>
                  </a:txBody>
                  <a:tcPr marL="45720" marR="45720" marT="18288" marB="18288" anchor="t"/>
                </a:tc>
                <a:tc>
                  <a:txBody>
                    <a:bodyPr wrap="square"/>
                    <a:lstStyle/>
                    <a:p>
                      <a:pPr algn="r"/>
                      <a:r>
                        <a:rPr sz="900" b="0" i="0">
                          <a:solidFill>
                            <a:srgbClr val="1A1A1A"/>
                          </a:solidFill>
                          <a:latin typeface="Helvetica Neue"/>
                        </a:rPr>
                        <a:t>9</a:t>
                      </a:r>
                    </a:p>
                  </a:txBody>
                  <a:tcPr marL="45720" marR="45720" marT="18288" marB="18288" anchor="t"/>
                </a:tc>
                <a:tc>
                  <a:txBody>
                    <a:bodyPr wrap="square"/>
                    <a:lstStyle/>
                    <a:p>
                      <a:r>
                        <a:rPr sz="900" b="0" i="0">
                          <a:solidFill>
                            <a:srgbClr val="1A1A1A"/>
                          </a:solidFill>
                          <a:latin typeface="Helvetica Neue"/>
                        </a:rPr>
                        <a:t>TW3 AI bone age assessment system</a:t>
                      </a:r>
                    </a:p>
                  </a:txBody>
                  <a:tcPr marL="45720" marR="45720" marT="18288" marB="18288" anchor="t"/>
                </a:tc>
                <a:tc>
                  <a:txBody>
                    <a:bodyPr wrap="square"/>
                    <a:lstStyle/>
                    <a:p>
                      <a:r>
                        <a:rPr sz="900" b="0" i="0">
                          <a:solidFill>
                            <a:srgbClr val="1A1A1A"/>
                          </a:solidFill>
                          <a:latin typeface="Helvetica Neue"/>
                        </a:rPr>
                        <a:t>Quantitative imaging in medicine and surgery</a:t>
                      </a:r>
                    </a:p>
                  </a:txBody>
                  <a:tcPr marL="45720" marR="45720" marT="18288" marB="18288" anchor="t"/>
                </a:tc>
                <a:tc>
                  <a:txBody>
                    <a:bodyPr wrap="square"/>
                    <a:lstStyle/>
                    <a:p>
                      <a:r>
                        <a:rPr sz="900" b="0" i="0">
                          <a:solidFill>
                            <a:srgbClr val="1A1A1A"/>
                          </a:solidFill>
                          <a:latin typeface="Helvetica Neue"/>
                        </a:rPr>
                        <a:t>validating an AI system for Tanner-Whitehouse 3 bone age assessment across multiple children's hospitals</a:t>
                      </a:r>
                    </a:p>
                  </a:txBody>
                  <a:tcPr marL="45720" marR="45720" marT="18288" marB="18288" anchor="t"/>
                </a:tc>
              </a:tr>
              <a:tr h="466344">
                <a:tc>
                  <a:txBody>
                    <a:bodyPr wrap="square"/>
                    <a:lstStyle/>
                    <a:p>
                      <a:pPr algn="r"/>
                      <a:r>
                        <a:rPr sz="900" b="0" i="0">
                          <a:solidFill>
                            <a:srgbClr val="1A1A1A"/>
                          </a:solidFill>
                          <a:latin typeface="Helvetica Neue"/>
                        </a:rPr>
                        <a:t>20x</a:t>
                      </a:r>
                    </a:p>
                  </a:txBody>
                  <a:tcPr marL="45720" marR="45720" marT="18288" marB="18288" anchor="t"/>
                </a:tc>
                <a:tc>
                  <a:txBody>
                    <a:bodyPr wrap="square"/>
                    <a:lstStyle/>
                    <a:p>
                      <a:pPr algn="r"/>
                      <a:r>
                        <a:rPr sz="900" b="0" i="0">
                          <a:solidFill>
                            <a:srgbClr val="1A1A1A"/>
                          </a:solidFill>
                          <a:latin typeface="Helvetica Neue"/>
                        </a:rPr>
                        <a:t>11</a:t>
                      </a:r>
                    </a:p>
                  </a:txBody>
                  <a:tcPr marL="45720" marR="45720" marT="18288" marB="18288" anchor="t"/>
                </a:tc>
                <a:tc>
                  <a:txBody>
                    <a:bodyPr wrap="square"/>
                    <a:lstStyle/>
                    <a:p>
                      <a:r>
                        <a:rPr sz="900" b="0" i="0">
                          <a:solidFill>
                            <a:srgbClr val="1A1A1A"/>
                          </a:solidFill>
                          <a:latin typeface="Helvetica Neue"/>
                        </a:rPr>
                        <a:t>Artificial intelligence assisted common maternal fetal planes prediction from ultrasound images based on information fusion of customized convolutional neural networks.</a:t>
                      </a:r>
                    </a:p>
                  </a:txBody>
                  <a:tcPr marL="45720" marR="45720" marT="18288" marB="18288" anchor="t"/>
                </a:tc>
                <a:tc>
                  <a:txBody>
                    <a:bodyPr wrap="square"/>
                    <a:lstStyle/>
                    <a:p>
                      <a:r>
                        <a:rPr sz="900" b="0" i="0">
                          <a:solidFill>
                            <a:srgbClr val="1A1A1A"/>
                          </a:solidFill>
                          <a:latin typeface="Helvetica Neue"/>
                        </a:rPr>
                        <a:t>Frontiers in medicine</a:t>
                      </a:r>
                    </a:p>
                  </a:txBody>
                  <a:tcPr marL="45720" marR="45720" marT="18288" marB="18288" anchor="t"/>
                </a:tc>
                <a:tc>
                  <a:txBody>
                    <a:bodyPr wrap="square"/>
                    <a:lstStyle/>
                    <a:p>
                      <a:r>
                        <a:rPr sz="900" b="0" i="0">
                          <a:solidFill>
                            <a:srgbClr val="1A1A1A"/>
                          </a:solidFill>
                          <a:latin typeface="Helvetica Neue"/>
                        </a:rPr>
                        <a:t>automatically classifying standard maternal-fetal ultrasound planes/organs to aid interpretation</a:t>
                      </a:r>
                    </a:p>
                  </a:txBody>
                  <a:tcPr marL="45720" marR="45720" marT="18288" marB="18288" anchor="t"/>
                </a:tc>
              </a:tr>
            </a:tbl>
          </a:graphicData>
        </a:graphic>
      </p:graphicFrame>
      <p:sp>
        <p:nvSpPr>
          <p:cNvPr id="5" name="TextBox 4"/>
          <p:cNvSpPr txBox="1"/>
          <p:nvPr/>
        </p:nvSpPr>
        <p:spPr>
          <a:xfrm>
            <a:off x="411480" y="5202936"/>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555 studies included from 2024; 264 have enough citations to be ranked.</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22 / 83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Highest-impact pediatric radiology AI studies, 2025</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3" cy="4251959"/>
        </p:xfrm>
        <a:graphic>
          <a:graphicData uri="http://schemas.openxmlformats.org/drawingml/2006/table">
            <a:tbl>
              <a:tblPr firstRow="1" bandRow="1">
                <a:tableStyleId>{5C22544A-7EE6-4342-B048-85BDC9FD1C3A}</a:tableStyleId>
              </a:tblPr>
              <a:tblGrid>
                <a:gridCol w="550468"/>
                <a:gridCol w="480060"/>
                <a:gridCol w="4944359"/>
                <a:gridCol w="2097607"/>
                <a:gridCol w="3296239"/>
              </a:tblGrid>
              <a:tr h="192024">
                <a:tc>
                  <a:txBody>
                    <a:bodyPr wrap="square"/>
                    <a:lstStyle/>
                    <a:p>
                      <a:pPr algn="r"/>
                      <a:r>
                        <a:rPr sz="900" b="1" i="0">
                          <a:solidFill>
                            <a:srgbClr val="FFFFFF"/>
                          </a:solidFill>
                          <a:latin typeface="Helvetica Neue"/>
                        </a:rPr>
                        <a:t>Impact</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r>
                        <a:rPr sz="900" b="1" i="0">
                          <a:solidFill>
                            <a:srgbClr val="FFFFFF"/>
                          </a:solidFill>
                          <a:latin typeface="Helvetica Neue"/>
                        </a:rPr>
                        <a:t>Study</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does</a:t>
                      </a:r>
                    </a:p>
                  </a:txBody>
                  <a:tcPr marL="45720" marR="45720" marT="18288" marB="18288" anchor="t"/>
                </a:tc>
              </a:tr>
              <a:tr h="466344">
                <a:tc>
                  <a:txBody>
                    <a:bodyPr wrap="square"/>
                    <a:lstStyle/>
                    <a:p>
                      <a:pPr algn="r"/>
                      <a:r>
                        <a:rPr sz="900" b="0" i="0">
                          <a:solidFill>
                            <a:srgbClr val="1A1A1A"/>
                          </a:solidFill>
                          <a:latin typeface="Helvetica Neue"/>
                        </a:rPr>
                        <a:t>54x</a:t>
                      </a:r>
                    </a:p>
                  </a:txBody>
                  <a:tcPr marL="45720" marR="45720" marT="18288" marB="18288" anchor="t"/>
                </a:tc>
                <a:tc>
                  <a:txBody>
                    <a:bodyPr wrap="square"/>
                    <a:lstStyle/>
                    <a:p>
                      <a:pPr algn="r"/>
                      <a:r>
                        <a:rPr sz="900" b="0" i="0">
                          <a:solidFill>
                            <a:srgbClr val="1A1A1A"/>
                          </a:solidFill>
                          <a:latin typeface="Helvetica Neue"/>
                        </a:rPr>
                        <a:t>10</a:t>
                      </a:r>
                    </a:p>
                  </a:txBody>
                  <a:tcPr marL="45720" marR="45720" marT="18288" marB="18288" anchor="t"/>
                </a:tc>
                <a:tc>
                  <a:txBody>
                    <a:bodyPr wrap="square"/>
                    <a:lstStyle/>
                    <a:p>
                      <a:r>
                        <a:rPr sz="900" b="0" i="0">
                          <a:solidFill>
                            <a:srgbClr val="1A1A1A"/>
                          </a:solidFill>
                          <a:latin typeface="Helvetica Neue"/>
                        </a:rPr>
                        <a:t>ChatGPT-o4-mini-high, ChatGPT-4.5, Gemini 2.5 Pro</a:t>
                      </a:r>
                    </a:p>
                  </a:txBody>
                  <a:tcPr marL="45720" marR="45720" marT="18288" marB="18288" anchor="t"/>
                </a:tc>
                <a:tc>
                  <a:txBody>
                    <a:bodyPr wrap="square"/>
                    <a:lstStyle/>
                    <a:p>
                      <a:r>
                        <a:rPr sz="900" b="0" i="0">
                          <a:solidFill>
                            <a:srgbClr val="1A1A1A"/>
                          </a:solidFill>
                          <a:latin typeface="Helvetica Neue"/>
                        </a:rPr>
                        <a:t>Academic radiology</a:t>
                      </a:r>
                    </a:p>
                  </a:txBody>
                  <a:tcPr marL="45720" marR="45720" marT="18288" marB="18288" anchor="t"/>
                </a:tc>
                <a:tc>
                  <a:txBody>
                    <a:bodyPr wrap="square"/>
                    <a:lstStyle/>
                    <a:p>
                      <a:r>
                        <a:rPr sz="900" b="0" i="0">
                          <a:solidFill>
                            <a:srgbClr val="1A1A1A"/>
                          </a:solidFill>
                          <a:latin typeface="Helvetica Neue"/>
                        </a:rPr>
                        <a:t>whether a general-purpose chatbot can substitute for dedicated bone age software, which is expensive</a:t>
                      </a:r>
                    </a:p>
                  </a:txBody>
                  <a:tcPr marL="45720" marR="45720" marT="18288" marB="18288" anchor="t"/>
                </a:tc>
              </a:tr>
              <a:tr h="329184">
                <a:tc>
                  <a:txBody>
                    <a:bodyPr wrap="square"/>
                    <a:lstStyle/>
                    <a:p>
                      <a:pPr algn="r"/>
                      <a:r>
                        <a:rPr sz="900" b="0" i="0">
                          <a:solidFill>
                            <a:srgbClr val="1A1A1A"/>
                          </a:solidFill>
                          <a:latin typeface="Helvetica Neue"/>
                        </a:rPr>
                        <a:t>52x</a:t>
                      </a:r>
                    </a:p>
                  </a:txBody>
                  <a:tcPr marL="45720" marR="45720" marT="18288" marB="18288" anchor="t"/>
                </a:tc>
                <a:tc>
                  <a:txBody>
                    <a:bodyPr wrap="square"/>
                    <a:lstStyle/>
                    <a:p>
                      <a:pPr algn="r"/>
                      <a:r>
                        <a:rPr sz="900" b="0" i="0">
                          <a:solidFill>
                            <a:srgbClr val="1A1A1A"/>
                          </a:solidFill>
                          <a:latin typeface="Helvetica Neue"/>
                        </a:rPr>
                        <a:t>34</a:t>
                      </a:r>
                    </a:p>
                  </a:txBody>
                  <a:tcPr marL="45720" marR="45720" marT="18288" marB="18288" anchor="t"/>
                </a:tc>
                <a:tc>
                  <a:txBody>
                    <a:bodyPr wrap="square"/>
                    <a:lstStyle/>
                    <a:p>
                      <a:r>
                        <a:rPr sz="900" b="0" i="0">
                          <a:solidFill>
                            <a:srgbClr val="1A1A1A"/>
                          </a:solidFill>
                          <a:latin typeface="Helvetica Neue"/>
                        </a:rPr>
                        <a:t>Prediction of mental health risk in adolescents.</a:t>
                      </a:r>
                    </a:p>
                  </a:txBody>
                  <a:tcPr marL="45720" marR="45720" marT="18288" marB="18288" anchor="t"/>
                </a:tc>
                <a:tc>
                  <a:txBody>
                    <a:bodyPr wrap="square"/>
                    <a:lstStyle/>
                    <a:p>
                      <a:r>
                        <a:rPr sz="900" b="0" i="0">
                          <a:solidFill>
                            <a:srgbClr val="1A1A1A"/>
                          </a:solidFill>
                          <a:latin typeface="Helvetica Neue"/>
                        </a:rPr>
                        <a:t>Nature medicine</a:t>
                      </a:r>
                    </a:p>
                  </a:txBody>
                  <a:tcPr marL="45720" marR="45720" marT="18288" marB="18288" anchor="t"/>
                </a:tc>
                <a:tc>
                  <a:txBody>
                    <a:bodyPr wrap="square"/>
                    <a:lstStyle/>
                    <a:p>
                      <a:r>
                        <a:rPr sz="900" b="0" i="0">
                          <a:solidFill>
                            <a:srgbClr val="1A1A1A"/>
                          </a:solidFill>
                          <a:latin typeface="Helvetica Neue"/>
                        </a:rPr>
                        <a:t>predicting future risk of general psychiatric illness in adolescents</a:t>
                      </a:r>
                    </a:p>
                  </a:txBody>
                  <a:tcPr marL="45720" marR="45720" marT="18288" marB="18288" anchor="t"/>
                </a:tc>
              </a:tr>
              <a:tr h="329184">
                <a:tc>
                  <a:txBody>
                    <a:bodyPr wrap="square"/>
                    <a:lstStyle/>
                    <a:p>
                      <a:pPr algn="r"/>
                      <a:r>
                        <a:rPr sz="900" b="0" i="0">
                          <a:solidFill>
                            <a:srgbClr val="1A1A1A"/>
                          </a:solidFill>
                          <a:latin typeface="Helvetica Neue"/>
                        </a:rPr>
                        <a:t>32x</a:t>
                      </a:r>
                    </a:p>
                  </a:txBody>
                  <a:tcPr marL="45720" marR="45720" marT="18288" marB="18288" anchor="t"/>
                </a:tc>
                <a:tc>
                  <a:txBody>
                    <a:bodyPr wrap="square"/>
                    <a:lstStyle/>
                    <a:p>
                      <a:pPr algn="r"/>
                      <a:r>
                        <a:rPr sz="900" b="0" i="0">
                          <a:solidFill>
                            <a:srgbClr val="1A1A1A"/>
                          </a:solidFill>
                          <a:latin typeface="Helvetica Neue"/>
                        </a:rPr>
                        <a:t>13</a:t>
                      </a:r>
                    </a:p>
                  </a:txBody>
                  <a:tcPr marL="45720" marR="45720" marT="18288" marB="18288" anchor="t"/>
                </a:tc>
                <a:tc>
                  <a:txBody>
                    <a:bodyPr wrap="square"/>
                    <a:lstStyle/>
                    <a:p>
                      <a:r>
                        <a:rPr sz="900" b="0" i="0">
                          <a:solidFill>
                            <a:srgbClr val="1A1A1A"/>
                          </a:solidFill>
                          <a:latin typeface="Helvetica Neue"/>
                        </a:rPr>
                        <a:t>BoneXpert, PANDA, BoneView</a:t>
                      </a:r>
                    </a:p>
                  </a:txBody>
                  <a:tcPr marL="45720" marR="45720" marT="18288" marB="18288" anchor="t"/>
                </a:tc>
                <a:tc>
                  <a:txBody>
                    <a:bodyPr wrap="square"/>
                    <a:lstStyle/>
                    <a:p>
                      <a:r>
                        <a:rPr sz="900" b="0" i="0">
                          <a:solidFill>
                            <a:srgbClr val="1A1A1A"/>
                          </a:solidFill>
                          <a:latin typeface="Helvetica Neue"/>
                        </a:rPr>
                        <a:t>European radiology</a:t>
                      </a:r>
                    </a:p>
                  </a:txBody>
                  <a:tcPr marL="45720" marR="45720" marT="18288" marB="18288" anchor="t"/>
                </a:tc>
                <a:tc>
                  <a:txBody>
                    <a:bodyPr wrap="square"/>
                    <a:lstStyle/>
                    <a:p>
                      <a:r>
                        <a:rPr sz="900" b="0" i="0">
                          <a:solidFill>
                            <a:srgbClr val="1A1A1A"/>
                          </a:solidFill>
                          <a:latin typeface="Helvetica Neue"/>
                        </a:rPr>
                        <a:t>which of the bone age products approved for the European market a department should buy</a:t>
                      </a:r>
                    </a:p>
                  </a:txBody>
                  <a:tcPr marL="45720" marR="45720" marT="18288" marB="18288" anchor="t"/>
                </a:tc>
              </a:tr>
              <a:tr h="466344">
                <a:tc>
                  <a:txBody>
                    <a:bodyPr wrap="square"/>
                    <a:lstStyle/>
                    <a:p>
                      <a:pPr algn="r"/>
                      <a:r>
                        <a:rPr sz="900" b="0" i="0">
                          <a:solidFill>
                            <a:srgbClr val="1A1A1A"/>
                          </a:solidFill>
                          <a:latin typeface="Helvetica Neue"/>
                        </a:rPr>
                        <a:t>29x</a:t>
                      </a:r>
                    </a:p>
                  </a:txBody>
                  <a:tcPr marL="45720" marR="45720" marT="18288" marB="18288" anchor="t"/>
                </a:tc>
                <a:tc>
                  <a:txBody>
                    <a:bodyPr wrap="square"/>
                    <a:lstStyle/>
                    <a:p>
                      <a:pPr algn="r"/>
                      <a:r>
                        <a:rPr sz="900" b="0" i="0">
                          <a:solidFill>
                            <a:srgbClr val="1A1A1A"/>
                          </a:solidFill>
                          <a:latin typeface="Helvetica Neue"/>
                        </a:rPr>
                        <a:t>10</a:t>
                      </a:r>
                    </a:p>
                  </a:txBody>
                  <a:tcPr marL="45720" marR="45720" marT="18288" marB="18288" anchor="t"/>
                </a:tc>
                <a:tc>
                  <a:txBody>
                    <a:bodyPr wrap="square"/>
                    <a:lstStyle/>
                    <a:p>
                      <a:r>
                        <a:rPr sz="900" b="0" i="0">
                          <a:solidFill>
                            <a:srgbClr val="1A1A1A"/>
                          </a:solidFill>
                          <a:latin typeface="Helvetica Neue"/>
                        </a:rPr>
                        <a:t>Whole examination AI estimation of fetal biometrics from 20-week ultrasound scans.</a:t>
                      </a:r>
                    </a:p>
                  </a:txBody>
                  <a:tcPr marL="45720" marR="45720" marT="18288" marB="18288" anchor="t"/>
                </a:tc>
                <a:tc>
                  <a:txBody>
                    <a:bodyPr wrap="square"/>
                    <a:lstStyle/>
                    <a:p>
                      <a:r>
                        <a:rPr sz="900" b="0" i="0">
                          <a:solidFill>
                            <a:srgbClr val="1A1A1A"/>
                          </a:solidFill>
                          <a:latin typeface="Helvetica Neue"/>
                        </a:rPr>
                        <a:t>NPJ digital medicine</a:t>
                      </a:r>
                    </a:p>
                  </a:txBody>
                  <a:tcPr marL="45720" marR="45720" marT="18288" marB="18288" anchor="t"/>
                </a:tc>
                <a:tc>
                  <a:txBody>
                    <a:bodyPr wrap="square"/>
                    <a:lstStyle/>
                    <a:p>
                      <a:r>
                        <a:rPr sz="900" b="0" i="0">
                          <a:solidFill>
                            <a:srgbClr val="1A1A1A"/>
                          </a:solidFill>
                          <a:latin typeface="Helvetica Neue"/>
                        </a:rPr>
                        <a:t>fetal biometry currently rests on a handful of frames a sonographer chose, and the choice is a source of error</a:t>
                      </a:r>
                    </a:p>
                  </a:txBody>
                  <a:tcPr marL="45720" marR="45720" marT="18288" marB="18288" anchor="t"/>
                </a:tc>
              </a:tr>
              <a:tr h="603503">
                <a:tc>
                  <a:txBody>
                    <a:bodyPr wrap="square"/>
                    <a:lstStyle/>
                    <a:p>
                      <a:pPr algn="r"/>
                      <a:r>
                        <a:rPr sz="900" b="0" i="0">
                          <a:solidFill>
                            <a:srgbClr val="1A1A1A"/>
                          </a:solidFill>
                          <a:latin typeface="Helvetica Neue"/>
                        </a:rPr>
                        <a:t>29x</a:t>
                      </a:r>
                    </a:p>
                  </a:txBody>
                  <a:tcPr marL="45720" marR="45720" marT="18288" marB="18288" anchor="t"/>
                </a:tc>
                <a:tc>
                  <a:txBody>
                    <a:bodyPr wrap="square"/>
                    <a:lstStyle/>
                    <a:p>
                      <a:pPr algn="r"/>
                      <a:r>
                        <a:rPr sz="900" b="0" i="0">
                          <a:solidFill>
                            <a:srgbClr val="1A1A1A"/>
                          </a:solidFill>
                          <a:latin typeface="Helvetica Neue"/>
                        </a:rPr>
                        <a:t>8</a:t>
                      </a:r>
                    </a:p>
                  </a:txBody>
                  <a:tcPr marL="45720" marR="45720" marT="18288" marB="18288" anchor="t"/>
                </a:tc>
                <a:tc>
                  <a:txBody>
                    <a:bodyPr wrap="square"/>
                    <a:lstStyle/>
                    <a:p>
                      <a:r>
                        <a:rPr sz="900" b="0" i="0">
                          <a:solidFill>
                            <a:srgbClr val="1A1A1A"/>
                          </a:solidFill>
                          <a:latin typeface="Helvetica Neue"/>
                        </a:rPr>
                        <a:t>Uncovering ethical biases in publicly available fetal ultrasound datasets.</a:t>
                      </a:r>
                    </a:p>
                  </a:txBody>
                  <a:tcPr marL="45720" marR="45720" marT="18288" marB="18288" anchor="t"/>
                </a:tc>
                <a:tc>
                  <a:txBody>
                    <a:bodyPr wrap="square"/>
                    <a:lstStyle/>
                    <a:p>
                      <a:r>
                        <a:rPr sz="900" b="0" i="0">
                          <a:solidFill>
                            <a:srgbClr val="1A1A1A"/>
                          </a:solidFill>
                          <a:latin typeface="Helvetica Neue"/>
                        </a:rPr>
                        <a:t>NPJ digital medicine</a:t>
                      </a:r>
                    </a:p>
                  </a:txBody>
                  <a:tcPr marL="45720" marR="45720" marT="18288" marB="18288" anchor="t"/>
                </a:tc>
                <a:tc>
                  <a:txBody>
                    <a:bodyPr wrap="square"/>
                    <a:lstStyle/>
                    <a:p>
                      <a:r>
                        <a:rPr sz="900" b="0" i="0">
                          <a:solidFill>
                            <a:srgbClr val="1A1A1A"/>
                          </a:solidFill>
                          <a:latin typeface="Helvetica Neue"/>
                        </a:rPr>
                        <a:t>whether publicly available fetal ultrasound image datasets used to train deep-learning prenatal-diagnosis algorithms are demographically and clinically representative</a:t>
                      </a:r>
                    </a:p>
                  </a:txBody>
                  <a:tcPr marL="45720" marR="45720" marT="18288" marB="18288" anchor="t"/>
                </a:tc>
              </a:tr>
              <a:tr h="466344">
                <a:tc>
                  <a:txBody>
                    <a:bodyPr wrap="square"/>
                    <a:lstStyle/>
                    <a:p>
                      <a:pPr algn="r"/>
                      <a:r>
                        <a:rPr sz="900" b="0" i="0">
                          <a:solidFill>
                            <a:srgbClr val="1A1A1A"/>
                          </a:solidFill>
                          <a:latin typeface="Helvetica Neue"/>
                        </a:rPr>
                        <a:t>28x</a:t>
                      </a:r>
                    </a:p>
                  </a:txBody>
                  <a:tcPr marL="45720" marR="45720" marT="18288" marB="18288" anchor="t"/>
                </a:tc>
                <a:tc>
                  <a:txBody>
                    <a:bodyPr wrap="square"/>
                    <a:lstStyle/>
                    <a:p>
                      <a:pPr algn="r"/>
                      <a:r>
                        <a:rPr sz="900" b="0" i="0">
                          <a:solidFill>
                            <a:srgbClr val="1A1A1A"/>
                          </a:solidFill>
                          <a:latin typeface="Helvetica Neue"/>
                        </a:rPr>
                        <a:t>13</a:t>
                      </a:r>
                    </a:p>
                  </a:txBody>
                  <a:tcPr marL="45720" marR="45720" marT="18288" marB="18288" anchor="t"/>
                </a:tc>
                <a:tc>
                  <a:txBody>
                    <a:bodyPr wrap="square"/>
                    <a:lstStyle/>
                    <a:p>
                      <a:r>
                        <a:rPr sz="900" b="0" i="0">
                          <a:solidFill>
                            <a:srgbClr val="1A1A1A"/>
                          </a:solidFill>
                          <a:latin typeface="Helvetica Neue"/>
                        </a:rPr>
                        <a:t>Scanner-based real-time three-dimensional brain + body slice-to-volume reconstruction for T2-weighted 0.55-T low-field fetal magnetic resonance imaging.</a:t>
                      </a:r>
                    </a:p>
                  </a:txBody>
                  <a:tcPr marL="45720" marR="45720" marT="18288" marB="18288" anchor="t"/>
                </a:tc>
                <a:tc>
                  <a:txBody>
                    <a:bodyPr wrap="square"/>
                    <a:lstStyle/>
                    <a:p>
                      <a:r>
                        <a:rPr sz="900" b="0" i="0">
                          <a:solidFill>
                            <a:srgbClr val="1A1A1A"/>
                          </a:solidFill>
                          <a:latin typeface="Helvetica Neue"/>
                        </a:rPr>
                        <a:t>Pediatric radiology</a:t>
                      </a:r>
                    </a:p>
                  </a:txBody>
                  <a:tcPr marL="45720" marR="45720" marT="18288" marB="18288" anchor="t"/>
                </a:tc>
                <a:tc>
                  <a:txBody>
                    <a:bodyPr wrap="square"/>
                    <a:lstStyle/>
                    <a:p>
                      <a:r>
                        <a:rPr sz="900" b="0" i="0">
                          <a:solidFill>
                            <a:srgbClr val="1A1A1A"/>
                          </a:solidFill>
                          <a:latin typeface="Helvetica Neue"/>
                        </a:rPr>
                        <a:t>motion-corrected 3D fetal MRI has stayed a research technique because reconstruction happens offline, after the patient has gone home</a:t>
                      </a:r>
                    </a:p>
                  </a:txBody>
                  <a:tcPr marL="45720" marR="45720" marT="18288" marB="18288" anchor="t"/>
                </a:tc>
              </a:tr>
              <a:tr h="466344">
                <a:tc>
                  <a:txBody>
                    <a:bodyPr wrap="square"/>
                    <a:lstStyle/>
                    <a:p>
                      <a:pPr algn="r"/>
                      <a:r>
                        <a:rPr sz="900" b="0" i="0">
                          <a:solidFill>
                            <a:srgbClr val="1A1A1A"/>
                          </a:solidFill>
                          <a:latin typeface="Helvetica Neue"/>
                        </a:rPr>
                        <a:t>26x</a:t>
                      </a:r>
                    </a:p>
                  </a:txBody>
                  <a:tcPr marL="45720" marR="45720" marT="18288" marB="18288" anchor="t"/>
                </a:tc>
                <a:tc>
                  <a:txBody>
                    <a:bodyPr wrap="square"/>
                    <a:lstStyle/>
                    <a:p>
                      <a:pPr algn="r"/>
                      <a:r>
                        <a:rPr sz="900" b="0" i="0">
                          <a:solidFill>
                            <a:srgbClr val="1A1A1A"/>
                          </a:solidFill>
                          <a:latin typeface="Helvetica Neue"/>
                        </a:rPr>
                        <a:t>21</a:t>
                      </a:r>
                    </a:p>
                  </a:txBody>
                  <a:tcPr marL="45720" marR="45720" marT="18288" marB="18288" anchor="t"/>
                </a:tc>
                <a:tc>
                  <a:txBody>
                    <a:bodyPr wrap="square"/>
                    <a:lstStyle/>
                    <a:p>
                      <a:r>
                        <a:rPr sz="900" b="0" i="0">
                          <a:solidFill>
                            <a:srgbClr val="1A1A1A"/>
                          </a:solidFill>
                          <a:latin typeface="Helvetica Neue"/>
                        </a:rPr>
                        <a:t>Predicting pediatric patient rehabilitation outcomes after spinal deformity surgery with artificial intelligence.</a:t>
                      </a:r>
                    </a:p>
                  </a:txBody>
                  <a:tcPr marL="45720" marR="45720" marT="18288" marB="18288" anchor="t"/>
                </a:tc>
                <a:tc>
                  <a:txBody>
                    <a:bodyPr wrap="square"/>
                    <a:lstStyle/>
                    <a:p>
                      <a:r>
                        <a:rPr sz="900" b="0" i="0">
                          <a:solidFill>
                            <a:srgbClr val="1A1A1A"/>
                          </a:solidFill>
                          <a:latin typeface="Helvetica Neue"/>
                        </a:rPr>
                        <a:t>Communications medicine</a:t>
                      </a:r>
                    </a:p>
                  </a:txBody>
                  <a:tcPr marL="45720" marR="45720" marT="18288" marB="18288" anchor="t"/>
                </a:tc>
                <a:tc>
                  <a:txBody>
                    <a:bodyPr wrap="square"/>
                    <a:lstStyle/>
                    <a:p>
                      <a:r>
                        <a:rPr sz="900" b="0" i="0">
                          <a:solidFill>
                            <a:srgbClr val="1A1A1A"/>
                          </a:solidFill>
                          <a:latin typeface="Helvetica Neue"/>
                        </a:rPr>
                        <a:t>telling an adolescent before scoliosis surgery how they are likely to feel afterwards, which radiographic correction alone does not predict</a:t>
                      </a:r>
                    </a:p>
                  </a:txBody>
                  <a:tcPr marL="45720" marR="45720" marT="18288" marB="18288" anchor="t"/>
                </a:tc>
              </a:tr>
              <a:tr h="466344">
                <a:tc>
                  <a:txBody>
                    <a:bodyPr wrap="square"/>
                    <a:lstStyle/>
                    <a:p>
                      <a:pPr algn="r"/>
                      <a:r>
                        <a:rPr sz="900" b="0" i="0">
                          <a:solidFill>
                            <a:srgbClr val="1A1A1A"/>
                          </a:solidFill>
                          <a:latin typeface="Helvetica Neue"/>
                        </a:rPr>
                        <a:t>24x</a:t>
                      </a:r>
                    </a:p>
                  </a:txBody>
                  <a:tcPr marL="45720" marR="45720" marT="18288" marB="18288" anchor="t"/>
                </a:tc>
                <a:tc>
                  <a:txBody>
                    <a:bodyPr wrap="square"/>
                    <a:lstStyle/>
                    <a:p>
                      <a:pPr algn="r"/>
                      <a:r>
                        <a:rPr sz="900" b="0" i="0">
                          <a:solidFill>
                            <a:srgbClr val="1A1A1A"/>
                          </a:solidFill>
                          <a:latin typeface="Helvetica Neue"/>
                        </a:rPr>
                        <a:t>10</a:t>
                      </a:r>
                    </a:p>
                  </a:txBody>
                  <a:tcPr marL="45720" marR="45720" marT="18288" marB="18288" anchor="t"/>
                </a:tc>
                <a:tc>
                  <a:txBody>
                    <a:bodyPr wrap="square"/>
                    <a:lstStyle/>
                    <a:p>
                      <a:r>
                        <a:rPr sz="900" b="0" i="0">
                          <a:solidFill>
                            <a:srgbClr val="1A1A1A"/>
                          </a:solidFill>
                          <a:latin typeface="Helvetica Neue"/>
                        </a:rPr>
                        <a:t>Three-dimensional markerless surface topography approach with convolutional neural networks for adolescent idiopathic scoliosis screening.</a:t>
                      </a:r>
                    </a:p>
                  </a:txBody>
                  <a:tcPr marL="45720" marR="45720" marT="18288" marB="18288" anchor="t"/>
                </a:tc>
                <a:tc>
                  <a:txBody>
                    <a:bodyPr wrap="square"/>
                    <a:lstStyle/>
                    <a:p>
                      <a:r>
                        <a:rPr sz="900" b="0" i="0">
                          <a:solidFill>
                            <a:srgbClr val="1A1A1A"/>
                          </a:solidFill>
                          <a:latin typeface="Helvetica Neue"/>
                        </a:rPr>
                        <a:t>Scientific reports</a:t>
                      </a:r>
                    </a:p>
                  </a:txBody>
                  <a:tcPr marL="45720" marR="45720" marT="18288" marB="18288" anchor="t"/>
                </a:tc>
                <a:tc>
                  <a:txBody>
                    <a:bodyPr wrap="square"/>
                    <a:lstStyle/>
                    <a:p>
                      <a:r>
                        <a:rPr sz="900" b="0" i="0">
                          <a:solidFill>
                            <a:srgbClr val="1A1A1A"/>
                          </a:solidFill>
                          <a:latin typeface="Helvetica Neue"/>
                        </a:rPr>
                        <a:t>screening adolescents for scoliosis without the unnecessary referrals and radiographs that current screening generates</a:t>
                      </a:r>
                    </a:p>
                  </a:txBody>
                  <a:tcPr marL="45720" marR="45720" marT="18288" marB="18288" anchor="t"/>
                </a:tc>
              </a:tr>
              <a:tr h="466344">
                <a:tc>
                  <a:txBody>
                    <a:bodyPr wrap="square"/>
                    <a:lstStyle/>
                    <a:p>
                      <a:pPr algn="r"/>
                      <a:r>
                        <a:rPr sz="900" b="0" i="0">
                          <a:solidFill>
                            <a:srgbClr val="1A1A1A"/>
                          </a:solidFill>
                          <a:latin typeface="Helvetica Neue"/>
                        </a:rPr>
                        <a:t>23x</a:t>
                      </a:r>
                    </a:p>
                  </a:txBody>
                  <a:tcPr marL="45720" marR="45720" marT="18288" marB="18288" anchor="t"/>
                </a:tc>
                <a:tc>
                  <a:txBody>
                    <a:bodyPr wrap="square"/>
                    <a:lstStyle/>
                    <a:p>
                      <a:pPr algn="r"/>
                      <a:r>
                        <a:rPr sz="900" b="0" i="0">
                          <a:solidFill>
                            <a:srgbClr val="1A1A1A"/>
                          </a:solidFill>
                          <a:latin typeface="Helvetica Neue"/>
                        </a:rPr>
                        <a:t>5</a:t>
                      </a:r>
                    </a:p>
                  </a:txBody>
                  <a:tcPr marL="45720" marR="45720" marT="18288" marB="18288" anchor="t"/>
                </a:tc>
                <a:tc>
                  <a:txBody>
                    <a:bodyPr wrap="square"/>
                    <a:lstStyle/>
                    <a:p>
                      <a:r>
                        <a:rPr sz="900" b="0" i="0">
                          <a:solidFill>
                            <a:srgbClr val="1A1A1A"/>
                          </a:solidFill>
                          <a:latin typeface="Helvetica Neue"/>
                        </a:rPr>
                        <a:t>Advancing prenatal healthcare by explainable AI enhanced fetal ultrasound image segmentation using U-Net++ with attention mechanisms.</a:t>
                      </a:r>
                    </a:p>
                  </a:txBody>
                  <a:tcPr marL="45720" marR="45720" marT="18288" marB="18288" anchor="t"/>
                </a:tc>
                <a:tc>
                  <a:txBody>
                    <a:bodyPr wrap="square"/>
                    <a:lstStyle/>
                    <a:p>
                      <a:r>
                        <a:rPr sz="900" b="0" i="0">
                          <a:solidFill>
                            <a:srgbClr val="1A1A1A"/>
                          </a:solidFill>
                          <a:latin typeface="Helvetica Neue"/>
                        </a:rPr>
                        <a:t>Scientific reports</a:t>
                      </a:r>
                    </a:p>
                  </a:txBody>
                  <a:tcPr marL="45720" marR="45720" marT="18288" marB="18288" anchor="t"/>
                </a:tc>
                <a:tc>
                  <a:txBody>
                    <a:bodyPr wrap="square"/>
                    <a:lstStyle/>
                    <a:p>
                      <a:r>
                        <a:rPr sz="900" b="0" i="0">
                          <a:solidFill>
                            <a:srgbClr val="1A1A1A"/>
                          </a:solidFill>
                          <a:latin typeface="Helvetica Neue"/>
                        </a:rPr>
                        <a:t>automated, explainable segmentation of fetal ultrasound images to standardize evaluation of fetal development</a:t>
                      </a:r>
                    </a:p>
                  </a:txBody>
                  <a:tcPr marL="45720" marR="45720" marT="18288" marB="18288" anchor="t"/>
                </a:tc>
              </a:tr>
            </a:tbl>
          </a:graphicData>
        </a:graphic>
      </p:graphicFrame>
      <p:sp>
        <p:nvSpPr>
          <p:cNvPr id="5" name="TextBox 4"/>
          <p:cNvSpPr txBox="1"/>
          <p:nvPr/>
        </p:nvSpPr>
        <p:spPr>
          <a:xfrm>
            <a:off x="411480" y="5202936"/>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685 studies included from 2025; 118 have enough citations to be ranked.</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23 / 83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Highest-impact pediatric radiology AI studies, 2026 (year to date)</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3" cy="4762190"/>
        </p:xfrm>
        <a:graphic>
          <a:graphicData uri="http://schemas.openxmlformats.org/drawingml/2006/table">
            <a:tbl>
              <a:tblPr firstRow="1" bandRow="1">
                <a:tableStyleId>{5C22544A-7EE6-4342-B048-85BDC9FD1C3A}</a:tableStyleId>
              </a:tblPr>
              <a:tblGrid>
                <a:gridCol w="533570"/>
                <a:gridCol w="465978"/>
                <a:gridCol w="4959176"/>
                <a:gridCol w="2103892"/>
                <a:gridCol w="3306117"/>
              </a:tblGrid>
              <a:tr h="186537">
                <a:tc>
                  <a:txBody>
                    <a:bodyPr wrap="square"/>
                    <a:lstStyle/>
                    <a:p>
                      <a:pPr algn="r"/>
                      <a:r>
                        <a:rPr sz="864" b="1" i="0">
                          <a:solidFill>
                            <a:srgbClr val="FFFFFF"/>
                          </a:solidFill>
                          <a:latin typeface="Helvetica Neue"/>
                        </a:rPr>
                        <a:t>Impact</a:t>
                      </a:r>
                    </a:p>
                  </a:txBody>
                  <a:tcPr marL="45720" marR="45720" marT="18288" marB="18288" anchor="t"/>
                </a:tc>
                <a:tc>
                  <a:txBody>
                    <a:bodyPr wrap="square"/>
                    <a:lstStyle/>
                    <a:p>
                      <a:pPr algn="r"/>
                      <a:r>
                        <a:rPr sz="864" b="1" i="0">
                          <a:solidFill>
                            <a:srgbClr val="FFFFFF"/>
                          </a:solidFill>
                          <a:latin typeface="Helvetica Neue"/>
                        </a:rPr>
                        <a:t>Cites</a:t>
                      </a:r>
                    </a:p>
                  </a:txBody>
                  <a:tcPr marL="45720" marR="45720" marT="18288" marB="18288" anchor="t"/>
                </a:tc>
                <a:tc>
                  <a:txBody>
                    <a:bodyPr wrap="square"/>
                    <a:lstStyle/>
                    <a:p>
                      <a:r>
                        <a:rPr sz="864" b="1" i="0">
                          <a:solidFill>
                            <a:srgbClr val="FFFFFF"/>
                          </a:solidFill>
                          <a:latin typeface="Helvetica Neue"/>
                        </a:rPr>
                        <a:t>Study</a:t>
                      </a:r>
                    </a:p>
                  </a:txBody>
                  <a:tcPr marL="45720" marR="45720" marT="18288" marB="18288" anchor="t"/>
                </a:tc>
                <a:tc>
                  <a:txBody>
                    <a:bodyPr wrap="square"/>
                    <a:lstStyle/>
                    <a:p>
                      <a:r>
                        <a:rPr sz="864" b="1" i="0">
                          <a:solidFill>
                            <a:srgbClr val="FFFFFF"/>
                          </a:solidFill>
                          <a:latin typeface="Helvetica Neue"/>
                        </a:rPr>
                        <a:t>Venue</a:t>
                      </a:r>
                    </a:p>
                  </a:txBody>
                  <a:tcPr marL="45720" marR="45720" marT="18288" marB="18288" anchor="t"/>
                </a:tc>
                <a:tc>
                  <a:txBody>
                    <a:bodyPr wrap="square"/>
                    <a:lstStyle/>
                    <a:p>
                      <a:r>
                        <a:rPr sz="864" b="1" i="0">
                          <a:solidFill>
                            <a:srgbClr val="FFFFFF"/>
                          </a:solidFill>
                          <a:latin typeface="Helvetica Neue"/>
                        </a:rPr>
                        <a:t>What it does</a:t>
                      </a:r>
                    </a:p>
                  </a:txBody>
                  <a:tcPr marL="45720" marR="45720" marT="18288" marB="18288" anchor="t"/>
                </a:tc>
              </a:tr>
              <a:tr h="581558">
                <a:tc>
                  <a:txBody>
                    <a:bodyPr wrap="square"/>
                    <a:lstStyle/>
                    <a:p>
                      <a:pPr algn="r"/>
                      <a:r>
                        <a:rPr sz="864" b="0" i="0">
                          <a:solidFill>
                            <a:srgbClr val="1A1A1A"/>
                          </a:solidFill>
                          <a:latin typeface="Helvetica Neue"/>
                        </a:rPr>
                        <a:t>46x</a:t>
                      </a:r>
                    </a:p>
                  </a:txBody>
                  <a:tcPr marL="45720" marR="45720" marT="18288" marB="18288" anchor="t"/>
                </a:tc>
                <a:tc>
                  <a:txBody>
                    <a:bodyPr wrap="square"/>
                    <a:lstStyle/>
                    <a:p>
                      <a:pPr algn="r"/>
                      <a:r>
                        <a:rPr sz="864" b="0" i="0">
                          <a:solidFill>
                            <a:srgbClr val="1A1A1A"/>
                          </a:solidFill>
                          <a:latin typeface="Helvetica Neue"/>
                        </a:rPr>
                        <a:t>7</a:t>
                      </a:r>
                    </a:p>
                  </a:txBody>
                  <a:tcPr marL="45720" marR="45720" marT="18288" marB="18288" anchor="t"/>
                </a:tc>
                <a:tc>
                  <a:txBody>
                    <a:bodyPr wrap="square"/>
                    <a:lstStyle/>
                    <a:p>
                      <a:r>
                        <a:rPr sz="864" b="0" i="0">
                          <a:solidFill>
                            <a:srgbClr val="1A1A1A"/>
                          </a:solidFill>
                          <a:latin typeface="Helvetica Neue"/>
                        </a:rPr>
                        <a:t>Infants have rich visual categories in ventrotemporal cortex at 2 months of age.</a:t>
                      </a:r>
                    </a:p>
                  </a:txBody>
                  <a:tcPr marL="45720" marR="45720" marT="18288" marB="18288" anchor="t"/>
                </a:tc>
                <a:tc>
                  <a:txBody>
                    <a:bodyPr wrap="square"/>
                    <a:lstStyle/>
                    <a:p>
                      <a:r>
                        <a:rPr sz="864" b="0" i="0">
                          <a:solidFill>
                            <a:srgbClr val="1A1A1A"/>
                          </a:solidFill>
                          <a:latin typeface="Helvetica Neue"/>
                        </a:rPr>
                        <a:t>Nature neuroscience</a:t>
                      </a:r>
                    </a:p>
                  </a:txBody>
                  <a:tcPr marL="45720" marR="45720" marT="18288" marB="18288" anchor="t"/>
                </a:tc>
                <a:tc>
                  <a:txBody>
                    <a:bodyPr wrap="square"/>
                    <a:lstStyle/>
                    <a:p>
                      <a:r>
                        <a:rPr sz="864" b="0" i="0">
                          <a:solidFill>
                            <a:srgbClr val="1A1A1A"/>
                          </a:solidFill>
                          <a:latin typeface="Helvetica Neue"/>
                        </a:rPr>
                        <a:t>characterizing the development of visual category representations in the infant brain using functional MRI, compared against a deep neural network model of vision</a:t>
                      </a:r>
                    </a:p>
                  </a:txBody>
                  <a:tcPr marL="45720" marR="45720" marT="18288" marB="18288" anchor="t"/>
                </a:tc>
              </a:tr>
              <a:tr h="581558">
                <a:tc>
                  <a:txBody>
                    <a:bodyPr wrap="square"/>
                    <a:lstStyle/>
                    <a:p>
                      <a:pPr algn="r"/>
                      <a:r>
                        <a:rPr sz="864" b="0" i="0">
                          <a:solidFill>
                            <a:srgbClr val="1A1A1A"/>
                          </a:solidFill>
                          <a:latin typeface="Helvetica Neue"/>
                        </a:rPr>
                        <a:t>14x</a:t>
                      </a:r>
                    </a:p>
                  </a:txBody>
                  <a:tcPr marL="45720" marR="45720" marT="18288" marB="18288" anchor="t"/>
                </a:tc>
                <a:tc>
                  <a:txBody>
                    <a:bodyPr wrap="square"/>
                    <a:lstStyle/>
                    <a:p>
                      <a:pPr algn="r"/>
                      <a:r>
                        <a:rPr sz="864" b="0" i="0">
                          <a:solidFill>
                            <a:srgbClr val="1A1A1A"/>
                          </a:solidFill>
                          <a:latin typeface="Helvetica Neue"/>
                        </a:rPr>
                        <a:t>6</a:t>
                      </a:r>
                    </a:p>
                  </a:txBody>
                  <a:tcPr marL="45720" marR="45720" marT="18288" marB="18288" anchor="t"/>
                </a:tc>
                <a:tc>
                  <a:txBody>
                    <a:bodyPr wrap="square"/>
                    <a:lstStyle/>
                    <a:p>
                      <a:r>
                        <a:rPr sz="864" b="0" i="0">
                          <a:solidFill>
                            <a:srgbClr val="1A1A1A"/>
                          </a:solidFill>
                          <a:latin typeface="Helvetica Neue"/>
                        </a:rPr>
                        <a:t>Perceived Racism, Brain Development, and Internalizing and Externalizing Symptoms: Findings From the ABCD Study.</a:t>
                      </a:r>
                    </a:p>
                  </a:txBody>
                  <a:tcPr marL="45720" marR="45720" marT="18288" marB="18288" anchor="t"/>
                </a:tc>
                <a:tc>
                  <a:txBody>
                    <a:bodyPr wrap="square"/>
                    <a:lstStyle/>
                    <a:p>
                      <a:r>
                        <a:rPr sz="864" b="0" i="0">
                          <a:solidFill>
                            <a:srgbClr val="1A1A1A"/>
                          </a:solidFill>
                          <a:latin typeface="Helvetica Neue"/>
                        </a:rPr>
                        <a:t>Journal of the American Academy of Child and Adolescent Psychiatry</a:t>
                      </a:r>
                    </a:p>
                  </a:txBody>
                  <a:tcPr marL="45720" marR="45720" marT="18288" marB="18288" anchor="t"/>
                </a:tc>
                <a:tc>
                  <a:txBody>
                    <a:bodyPr wrap="square"/>
                    <a:lstStyle/>
                    <a:p>
                      <a:r>
                        <a:rPr sz="864" b="0" i="0">
                          <a:solidFill>
                            <a:srgbClr val="1A1A1A"/>
                          </a:solidFill>
                          <a:latin typeface="Helvetica Neue"/>
                        </a:rPr>
                        <a:t>assessing effects of perceived racial discrimination on longitudinal subcortical functional connectivity changes and internalizing/externalizing symptoms in adolescents</a:t>
                      </a:r>
                    </a:p>
                  </a:txBody>
                  <a:tcPr marL="45720" marR="45720" marT="18288" marB="18288" anchor="t"/>
                </a:tc>
              </a:tr>
              <a:tr h="581558">
                <a:tc>
                  <a:txBody>
                    <a:bodyPr wrap="square"/>
                    <a:lstStyle/>
                    <a:p>
                      <a:pPr algn="r"/>
                      <a:r>
                        <a:rPr sz="864" b="0" i="0">
                          <a:solidFill>
                            <a:srgbClr val="1A1A1A"/>
                          </a:solidFill>
                          <a:latin typeface="Helvetica Neue"/>
                        </a:rPr>
                        <a:t>6x</a:t>
                      </a:r>
                    </a:p>
                  </a:txBody>
                  <a:tcPr marL="45720" marR="45720" marT="18288" marB="18288" anchor="t"/>
                </a:tc>
                <a:tc>
                  <a:txBody>
                    <a:bodyPr wrap="square"/>
                    <a:lstStyle/>
                    <a:p>
                      <a:pPr algn="r"/>
                      <a:r>
                        <a:rPr sz="864" b="0" i="0">
                          <a:solidFill>
                            <a:srgbClr val="1A1A1A"/>
                          </a:solidFill>
                          <a:latin typeface="Helvetica Neue"/>
                        </a:rPr>
                        <a:t>5</a:t>
                      </a:r>
                    </a:p>
                  </a:txBody>
                  <a:tcPr marL="45720" marR="45720" marT="18288" marB="18288" anchor="t"/>
                </a:tc>
                <a:tc>
                  <a:txBody>
                    <a:bodyPr wrap="square"/>
                    <a:lstStyle/>
                    <a:p>
                      <a:r>
                        <a:rPr sz="864" b="0" i="0">
                          <a:solidFill>
                            <a:srgbClr val="1A1A1A"/>
                          </a:solidFill>
                          <a:latin typeface="Helvetica Neue"/>
                        </a:rPr>
                        <a:t>Use of Artificial Intelligence-Based Software to Aid in the Identification of Ultrasound Findings Associated With Fetal Congenital Heart Defects.</a:t>
                      </a:r>
                    </a:p>
                  </a:txBody>
                  <a:tcPr marL="45720" marR="45720" marT="18288" marB="18288" anchor="t"/>
                </a:tc>
                <a:tc>
                  <a:txBody>
                    <a:bodyPr wrap="square"/>
                    <a:lstStyle/>
                    <a:p>
                      <a:r>
                        <a:rPr sz="864" b="0" i="0">
                          <a:solidFill>
                            <a:srgbClr val="1A1A1A"/>
                          </a:solidFill>
                          <a:latin typeface="Helvetica Neue"/>
                        </a:rPr>
                        <a:t>Obstetrics and gynecology</a:t>
                      </a:r>
                    </a:p>
                  </a:txBody>
                  <a:tcPr marL="45720" marR="45720" marT="18288" marB="18288" anchor="t"/>
                </a:tc>
                <a:tc>
                  <a:txBody>
                    <a:bodyPr wrap="square"/>
                    <a:lstStyle/>
                    <a:p>
                      <a:r>
                        <a:rPr sz="864" b="0" i="0">
                          <a:solidFill>
                            <a:srgbClr val="1A1A1A"/>
                          </a:solidFill>
                          <a:latin typeface="Helvetica Neue"/>
                        </a:rPr>
                        <a:t>evaluating whether AI-based software improves ob-gyn and maternal-fetal medicine specialists' identification of second-trimester fetal ultrasound findings suspicious for congenital heart defects</a:t>
                      </a:r>
                    </a:p>
                  </a:txBody>
                  <a:tcPr marL="45720" marR="45720" marT="18288" marB="18288" anchor="t"/>
                </a:tc>
              </a:tr>
              <a:tr h="581558">
                <a:tc>
                  <a:txBody>
                    <a:bodyPr wrap="square"/>
                    <a:lstStyle/>
                    <a:p>
                      <a:pPr algn="r"/>
                      <a:r>
                        <a:rPr sz="864" b="0" i="0">
                          <a:solidFill>
                            <a:srgbClr val="1A1A1A"/>
                          </a:solidFill>
                          <a:latin typeface="Helvetica Neue"/>
                        </a:rPr>
                        <a:t>5x</a:t>
                      </a:r>
                    </a:p>
                  </a:txBody>
                  <a:tcPr marL="45720" marR="45720" marT="18288" marB="18288" anchor="t"/>
                </a:tc>
                <a:tc>
                  <a:txBody>
                    <a:bodyPr wrap="square"/>
                    <a:lstStyle/>
                    <a:p>
                      <a:pPr algn="r"/>
                      <a:r>
                        <a:rPr sz="864" b="0" i="0">
                          <a:solidFill>
                            <a:srgbClr val="1A1A1A"/>
                          </a:solidFill>
                          <a:latin typeface="Helvetica Neue"/>
                        </a:rPr>
                        <a:t>5</a:t>
                      </a:r>
                    </a:p>
                  </a:txBody>
                  <a:tcPr marL="45720" marR="45720" marT="18288" marB="18288" anchor="t"/>
                </a:tc>
                <a:tc>
                  <a:txBody>
                    <a:bodyPr wrap="square"/>
                    <a:lstStyle/>
                    <a:p>
                      <a:r>
                        <a:rPr sz="864" b="0" i="0">
                          <a:solidFill>
                            <a:srgbClr val="1A1A1A"/>
                          </a:solidFill>
                          <a:latin typeface="Helvetica Neue"/>
                        </a:rPr>
                        <a:t>Artificial Intelligence for the Detection of Fetal Ultrasound Findings Concerning for Major Congenital Heart Defects.</a:t>
                      </a:r>
                    </a:p>
                  </a:txBody>
                  <a:tcPr marL="45720" marR="45720" marT="18288" marB="18288" anchor="t"/>
                </a:tc>
                <a:tc>
                  <a:txBody>
                    <a:bodyPr wrap="square"/>
                    <a:lstStyle/>
                    <a:p>
                      <a:r>
                        <a:rPr sz="864" b="0" i="0">
                          <a:solidFill>
                            <a:srgbClr val="1A1A1A"/>
                          </a:solidFill>
                          <a:latin typeface="Helvetica Neue"/>
                        </a:rPr>
                        <a:t>Obstetrics and gynecology</a:t>
                      </a:r>
                    </a:p>
                  </a:txBody>
                  <a:tcPr marL="45720" marR="45720" marT="18288" marB="18288" anchor="t"/>
                </a:tc>
                <a:tc>
                  <a:txBody>
                    <a:bodyPr wrap="square"/>
                    <a:lstStyle/>
                    <a:p>
                      <a:r>
                        <a:rPr sz="864" b="0" i="0">
                          <a:solidFill>
                            <a:srgbClr val="1A1A1A"/>
                          </a:solidFill>
                          <a:latin typeface="Helvetica Neue"/>
                        </a:rPr>
                        <a:t>identifying second-trimester fetal ultrasound findings suspicious for major congenital heart defects using AI-based software, to improve antenatal CHD detection</a:t>
                      </a:r>
                    </a:p>
                  </a:txBody>
                  <a:tcPr marL="45720" marR="45720" marT="18288" marB="18288" anchor="t"/>
                </a:tc>
              </a:tr>
              <a:tr h="318211">
                <a:tc>
                  <a:txBody>
                    <a:bodyPr wrap="square"/>
                    <a:lstStyle/>
                    <a:p>
                      <a:pPr algn="r"/>
                      <a:r>
                        <a:rPr sz="864" b="0" i="0">
                          <a:solidFill>
                            <a:srgbClr val="1A1A1A"/>
                          </a:solidFill>
                          <a:latin typeface="Helvetica Neue"/>
                        </a:rPr>
                        <a:t>4x</a:t>
                      </a:r>
                    </a:p>
                  </a:txBody>
                  <a:tcPr marL="45720" marR="45720" marT="18288" marB="18288" anchor="t"/>
                </a:tc>
                <a:tc>
                  <a:txBody>
                    <a:bodyPr wrap="square"/>
                    <a:lstStyle/>
                    <a:p>
                      <a:pPr algn="r"/>
                      <a:r>
                        <a:rPr sz="864" b="0" i="0">
                          <a:solidFill>
                            <a:srgbClr val="1A1A1A"/>
                          </a:solidFill>
                          <a:latin typeface="Helvetica Neue"/>
                        </a:rPr>
                        <a:t>14</a:t>
                      </a:r>
                    </a:p>
                  </a:txBody>
                  <a:tcPr marL="45720" marR="45720" marT="18288" marB="18288" anchor="t"/>
                </a:tc>
                <a:tc>
                  <a:txBody>
                    <a:bodyPr wrap="square"/>
                    <a:lstStyle/>
                    <a:p>
                      <a:r>
                        <a:rPr sz="864" b="0" i="0">
                          <a:solidFill>
                            <a:srgbClr val="1A1A1A"/>
                          </a:solidFill>
                          <a:latin typeface="Helvetica Neue"/>
                        </a:rPr>
                        <a:t>G-YOLOv11 dagger</a:t>
                      </a:r>
                    </a:p>
                  </a:txBody>
                  <a:tcPr marL="45720" marR="45720" marT="18288" marB="18288" anchor="t"/>
                </a:tc>
                <a:tc>
                  <a:txBody>
                    <a:bodyPr wrap="square"/>
                    <a:lstStyle/>
                    <a:p>
                      <a:r>
                        <a:rPr sz="864" b="0" i="0">
                          <a:solidFill>
                            <a:srgbClr val="1A1A1A"/>
                          </a:solidFill>
                          <a:latin typeface="Helvetica Neue"/>
                        </a:rPr>
                        <a:t>Biomedical Signal Processing and Control</a:t>
                      </a:r>
                    </a:p>
                  </a:txBody>
                  <a:tcPr marL="45720" marR="45720" marT="18288" marB="18288" anchor="t"/>
                </a:tc>
                <a:tc>
                  <a:txBody>
                    <a:bodyPr wrap="square"/>
                    <a:lstStyle/>
                    <a:p>
                      <a:r>
                        <a:rPr sz="864" b="0" i="0">
                          <a:solidFill>
                            <a:srgbClr val="1A1A1A"/>
                          </a:solidFill>
                          <a:latin typeface="Helvetica Neue"/>
                        </a:rPr>
                        <a:t>fracture detection on pediatric wrist radiographs</a:t>
                      </a:r>
                    </a:p>
                  </a:txBody>
                  <a:tcPr marL="45720" marR="45720" marT="18288" marB="18288" anchor="t"/>
                </a:tc>
              </a:tr>
              <a:tr h="581558">
                <a:tc>
                  <a:txBody>
                    <a:bodyPr wrap="square"/>
                    <a:lstStyle/>
                    <a:p>
                      <a:pPr algn="r"/>
                      <a:r>
                        <a:rPr sz="864" b="0" i="0">
                          <a:solidFill>
                            <a:srgbClr val="1A1A1A"/>
                          </a:solidFill>
                          <a:latin typeface="Helvetica Neue"/>
                        </a:rPr>
                        <a:t>4x</a:t>
                      </a:r>
                    </a:p>
                  </a:txBody>
                  <a:tcPr marL="45720" marR="45720" marT="18288" marB="18288" anchor="t"/>
                </a:tc>
                <a:tc>
                  <a:txBody>
                    <a:bodyPr wrap="square"/>
                    <a:lstStyle/>
                    <a:p>
                      <a:pPr algn="r"/>
                      <a:r>
                        <a:rPr sz="864" b="0" i="0">
                          <a:solidFill>
                            <a:srgbClr val="1A1A1A"/>
                          </a:solidFill>
                          <a:latin typeface="Helvetica Neue"/>
                        </a:rPr>
                        <a:t>8</a:t>
                      </a:r>
                    </a:p>
                  </a:txBody>
                  <a:tcPr marL="45720" marR="45720" marT="18288" marB="18288" anchor="t"/>
                </a:tc>
                <a:tc>
                  <a:txBody>
                    <a:bodyPr wrap="square"/>
                    <a:lstStyle/>
                    <a:p>
                      <a:r>
                        <a:rPr sz="864" b="0" i="0">
                          <a:solidFill>
                            <a:srgbClr val="1A1A1A"/>
                          </a:solidFill>
                          <a:latin typeface="Helvetica Neue"/>
                        </a:rPr>
                        <a:t>Machine Learning Algorithms for Predicting Cobb Angle Beyond 25° in Female Adolescent Idiopathic Scoliosis Patients.</a:t>
                      </a:r>
                    </a:p>
                  </a:txBody>
                  <a:tcPr marL="45720" marR="45720" marT="18288" marB="18288" anchor="t"/>
                </a:tc>
                <a:tc>
                  <a:txBody>
                    <a:bodyPr wrap="square"/>
                    <a:lstStyle/>
                    <a:p>
                      <a:r>
                        <a:rPr sz="864" b="0" i="0">
                          <a:solidFill>
                            <a:srgbClr val="1A1A1A"/>
                          </a:solidFill>
                          <a:latin typeface="Helvetica Neue"/>
                        </a:rPr>
                        <a:t>Spine</a:t>
                      </a:r>
                    </a:p>
                  </a:txBody>
                  <a:tcPr marL="45720" marR="45720" marT="18288" marB="18288" anchor="t"/>
                </a:tc>
                <a:tc>
                  <a:txBody>
                    <a:bodyPr wrap="square"/>
                    <a:lstStyle/>
                    <a:p>
                      <a:r>
                        <a:rPr sz="864" b="0" i="0">
                          <a:solidFill>
                            <a:srgbClr val="1A1A1A"/>
                          </a:solidFill>
                          <a:latin typeface="Helvetica Neue"/>
                        </a:rPr>
                        <a:t>predicting which female adolescents with idiopathic scoliosis will progress to a Cobb angle beyond 25°, using minimal radiographic and questionnaire data collected at the first visit</a:t>
                      </a:r>
                    </a:p>
                  </a:txBody>
                  <a:tcPr marL="45720" marR="45720" marT="18288" marB="18288" anchor="t"/>
                </a:tc>
              </a:tr>
              <a:tr h="449884">
                <a:tc>
                  <a:txBody>
                    <a:bodyPr wrap="square"/>
                    <a:lstStyle/>
                    <a:p>
                      <a:pPr algn="r"/>
                      <a:r>
                        <a:rPr sz="864" b="0" i="0">
                          <a:solidFill>
                            <a:srgbClr val="1A1A1A"/>
                          </a:solidFill>
                          <a:latin typeface="Helvetica Neue"/>
                        </a:rPr>
                        <a:t>3x</a:t>
                      </a:r>
                    </a:p>
                  </a:txBody>
                  <a:tcPr marL="45720" marR="45720" marT="18288" marB="18288" anchor="t"/>
                </a:tc>
                <a:tc>
                  <a:txBody>
                    <a:bodyPr wrap="square"/>
                    <a:lstStyle/>
                    <a:p>
                      <a:pPr algn="r"/>
                      <a:r>
                        <a:rPr sz="864" b="0" i="0">
                          <a:solidFill>
                            <a:srgbClr val="1A1A1A"/>
                          </a:solidFill>
                          <a:latin typeface="Helvetica Neue"/>
                        </a:rPr>
                        <a:t>5</a:t>
                      </a:r>
                    </a:p>
                  </a:txBody>
                  <a:tcPr marL="45720" marR="45720" marT="18288" marB="18288" anchor="t"/>
                </a:tc>
                <a:tc>
                  <a:txBody>
                    <a:bodyPr wrap="square"/>
                    <a:lstStyle/>
                    <a:p>
                      <a:r>
                        <a:rPr sz="864" b="0" i="0">
                          <a:solidFill>
                            <a:srgbClr val="1A1A1A"/>
                          </a:solidFill>
                          <a:latin typeface="Helvetica Neue"/>
                        </a:rPr>
                        <a:t>Motion-Echo</a:t>
                      </a:r>
                    </a:p>
                  </a:txBody>
                  <a:tcPr marL="45720" marR="45720" marT="18288" marB="18288" anchor="t"/>
                </a:tc>
                <a:tc>
                  <a:txBody>
                    <a:bodyPr wrap="square"/>
                    <a:lstStyle/>
                    <a:p>
                      <a:r>
                        <a:rPr sz="864" b="0" i="0">
                          <a:solidFill>
                            <a:srgbClr val="1A1A1A"/>
                          </a:solidFill>
                          <a:latin typeface="Helvetica Neue"/>
                        </a:rPr>
                        <a:t>European heart journal</a:t>
                      </a:r>
                    </a:p>
                  </a:txBody>
                  <a:tcPr marL="45720" marR="45720" marT="18288" marB="18288" anchor="t"/>
                </a:tc>
                <a:tc>
                  <a:txBody>
                    <a:bodyPr wrap="square"/>
                    <a:lstStyle/>
                    <a:p>
                      <a:r>
                        <a:rPr sz="864" b="0" i="0">
                          <a:solidFill>
                            <a:srgbClr val="1A1A1A"/>
                          </a:solidFill>
                          <a:latin typeface="Helvetica Neue"/>
                        </a:rPr>
                        <a:t>automating myocardial strain analysis from pediatric echocardiograms to standardize measurement and enable earlier detection of cardiac dysfunction</a:t>
                      </a:r>
                    </a:p>
                  </a:txBody>
                  <a:tcPr marL="45720" marR="45720" marT="18288" marB="18288" anchor="t"/>
                </a:tc>
              </a:tr>
              <a:tr h="449884">
                <a:tc>
                  <a:txBody>
                    <a:bodyPr wrap="square"/>
                    <a:lstStyle/>
                    <a:p>
                      <a:pPr algn="r"/>
                      <a:r>
                        <a:rPr sz="864" b="0" i="0">
                          <a:solidFill>
                            <a:srgbClr val="1A1A1A"/>
                          </a:solidFill>
                          <a:latin typeface="Helvetica Neue"/>
                        </a:rPr>
                        <a:t>3x</a:t>
                      </a:r>
                    </a:p>
                  </a:txBody>
                  <a:tcPr marL="45720" marR="45720" marT="18288" marB="18288" anchor="t"/>
                </a:tc>
                <a:tc>
                  <a:txBody>
                    <a:bodyPr wrap="square"/>
                    <a:lstStyle/>
                    <a:p>
                      <a:pPr algn="r"/>
                      <a:r>
                        <a:rPr sz="864" b="0" i="0">
                          <a:solidFill>
                            <a:srgbClr val="1A1A1A"/>
                          </a:solidFill>
                          <a:latin typeface="Helvetica Neue"/>
                        </a:rPr>
                        <a:t>8</a:t>
                      </a:r>
                    </a:p>
                  </a:txBody>
                  <a:tcPr marL="45720" marR="45720" marT="18288" marB="18288" anchor="t"/>
                </a:tc>
                <a:tc>
                  <a:txBody>
                    <a:bodyPr wrap="square"/>
                    <a:lstStyle/>
                    <a:p>
                      <a:r>
                        <a:rPr sz="864" b="0" i="0">
                          <a:solidFill>
                            <a:srgbClr val="1A1A1A"/>
                          </a:solidFill>
                          <a:latin typeface="Helvetica Neue"/>
                        </a:rPr>
                        <a:t>Safe for kids? AI medical devices in radiology overlook paediatric suitability.</a:t>
                      </a:r>
                    </a:p>
                  </a:txBody>
                  <a:tcPr marL="45720" marR="45720" marT="18288" marB="18288" anchor="t"/>
                </a:tc>
                <a:tc>
                  <a:txBody>
                    <a:bodyPr wrap="square"/>
                    <a:lstStyle/>
                    <a:p>
                      <a:r>
                        <a:rPr sz="864" b="0" i="0">
                          <a:solidFill>
                            <a:srgbClr val="1A1A1A"/>
                          </a:solidFill>
                          <a:latin typeface="Helvetica Neue"/>
                        </a:rPr>
                        <a:t>European radiology</a:t>
                      </a:r>
                    </a:p>
                  </a:txBody>
                  <a:tcPr marL="45720" marR="45720" marT="18288" marB="18288" anchor="t"/>
                </a:tc>
                <a:tc>
                  <a:txBody>
                    <a:bodyPr wrap="square"/>
                    <a:lstStyle/>
                    <a:p>
                      <a:r>
                        <a:rPr sz="864" b="0" i="0">
                          <a:solidFill>
                            <a:srgbClr val="1A1A1A"/>
                          </a:solidFill>
                          <a:latin typeface="Helvetica Neue"/>
                        </a:rPr>
                        <a:t>whether the AI devices a European radiology department can buy say anything about being safe for children</a:t>
                      </a:r>
                    </a:p>
                  </a:txBody>
                  <a:tcPr marL="45720" marR="45720" marT="18288" marB="18288" anchor="t"/>
                </a:tc>
              </a:tr>
              <a:tr h="449884">
                <a:tc>
                  <a:txBody>
                    <a:bodyPr wrap="square"/>
                    <a:lstStyle/>
                    <a:p>
                      <a:pPr algn="r"/>
                      <a:r>
                        <a:rPr sz="864" b="0" i="0">
                          <a:solidFill>
                            <a:srgbClr val="1A1A1A"/>
                          </a:solidFill>
                          <a:latin typeface="Helvetica Neue"/>
                        </a:rPr>
                        <a:t>3x</a:t>
                      </a:r>
                    </a:p>
                  </a:txBody>
                  <a:tcPr marL="45720" marR="45720" marT="18288" marB="18288" anchor="t"/>
                </a:tc>
                <a:tc>
                  <a:txBody>
                    <a:bodyPr wrap="square"/>
                    <a:lstStyle/>
                    <a:p>
                      <a:pPr algn="r"/>
                      <a:r>
                        <a:rPr sz="864" b="0" i="0">
                          <a:solidFill>
                            <a:srgbClr val="1A1A1A"/>
                          </a:solidFill>
                          <a:latin typeface="Helvetica Neue"/>
                        </a:rPr>
                        <a:t>9</a:t>
                      </a:r>
                    </a:p>
                  </a:txBody>
                  <a:tcPr marL="45720" marR="45720" marT="18288" marB="18288" anchor="t"/>
                </a:tc>
                <a:tc>
                  <a:txBody>
                    <a:bodyPr wrap="square"/>
                    <a:lstStyle/>
                    <a:p>
                      <a:r>
                        <a:rPr sz="864" b="0" i="0">
                          <a:solidFill>
                            <a:srgbClr val="1A1A1A"/>
                          </a:solidFill>
                          <a:latin typeface="Helvetica Neue"/>
                        </a:rPr>
                        <a:t>GPT-4.1</a:t>
                      </a:r>
                    </a:p>
                  </a:txBody>
                  <a:tcPr marL="45720" marR="45720" marT="18288" marB="18288" anchor="t"/>
                </a:tc>
                <a:tc>
                  <a:txBody>
                    <a:bodyPr wrap="square"/>
                    <a:lstStyle/>
                    <a:p>
                      <a:r>
                        <a:rPr sz="864" b="0" i="0">
                          <a:solidFill>
                            <a:srgbClr val="1A1A1A"/>
                          </a:solidFill>
                          <a:latin typeface="Helvetica Neue"/>
                        </a:rPr>
                        <a:t>European archives of oto-rhino-laryngology</a:t>
                      </a:r>
                    </a:p>
                  </a:txBody>
                  <a:tcPr marL="45720" marR="45720" marT="18288" marB="18288" anchor="t"/>
                </a:tc>
                <a:tc>
                  <a:txBody>
                    <a:bodyPr wrap="square"/>
                    <a:lstStyle/>
                    <a:p>
                      <a:r>
                        <a:rPr sz="864" b="0" i="0">
                          <a:solidFill>
                            <a:srgbClr val="1A1A1A"/>
                          </a:solidFill>
                          <a:latin typeface="Helvetica Neue"/>
                        </a:rPr>
                        <a:t>detecting and lateralizing pediatric airway foreign body aspiration from clinical data and chest radiographs</a:t>
                      </a:r>
                    </a:p>
                  </a:txBody>
                  <a:tcPr marL="45720" marR="45720" marT="18288" marB="18288" anchor="t"/>
                </a:tc>
              </a:tr>
            </a:tbl>
          </a:graphicData>
        </a:graphic>
      </p:graphicFrame>
      <p:sp>
        <p:nvSpPr>
          <p:cNvPr id="5" name="TextBox 4"/>
          <p:cNvSpPr txBox="1"/>
          <p:nvPr/>
        </p:nvSpPr>
        <p:spPr>
          <a:xfrm>
            <a:off x="411480" y="5713171"/>
            <a:ext cx="11368735" cy="393192"/>
          </a:xfrm>
          <a:prstGeom prst="rect">
            <a:avLst/>
          </a:prstGeom>
          <a:noFill/>
        </p:spPr>
        <p:txBody>
          <a:bodyPr wrap="square" lIns="45720" rIns="45720" tIns="27432" bIns="27432" anchor="t">
            <a:spAutoFit/>
          </a:bodyPr>
          <a:lstStyle/>
          <a:p>
            <a:pPr algn="l">
              <a:spcAft>
                <a:spcPts val="302"/>
              </a:spcAft>
            </a:pPr>
            <a:r>
              <a:rPr sz="864" b="0" i="0">
                <a:solidFill>
                  <a:srgbClr val="1A1A1A"/>
                </a:solidFill>
                <a:latin typeface="Helvetica Neue"/>
              </a:rPr>
              <a:t>686 studies included from 2026; 12 have enough citations to be ranked. Few studies from this year have enough citations for a normalized value yet, so this table is thin by construction rather than because the year was quiet.</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24 / 83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The biggest public pediatric radiology AI datasets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DATASETS</a:t>
            </a:r>
          </a:p>
        </p:txBody>
      </p:sp>
      <p:graphicFrame>
        <p:nvGraphicFramePr>
          <p:cNvPr id="4" name="Table 3"/>
          <p:cNvGraphicFramePr>
            <a:graphicFrameLocks noGrp="1"/>
          </p:cNvGraphicFramePr>
          <p:nvPr/>
        </p:nvGraphicFramePr>
        <p:xfrm>
          <a:off x="411480" y="877824"/>
          <a:ext cx="11368732" cy="3922776"/>
        </p:xfrm>
        <a:graphic>
          <a:graphicData uri="http://schemas.openxmlformats.org/drawingml/2006/table">
            <a:tbl>
              <a:tblPr firstRow="1" bandRow="1">
                <a:tableStyleId>{5C22544A-7EE6-4342-B048-85BDC9FD1C3A}</a:tableStyleId>
              </a:tblPr>
              <a:tblGrid>
                <a:gridCol w="3031816"/>
                <a:gridCol w="832104"/>
                <a:gridCol w="2017652"/>
                <a:gridCol w="3031816"/>
                <a:gridCol w="1014164"/>
                <a:gridCol w="1441180"/>
              </a:tblGrid>
              <a:tr h="192024">
                <a:tc>
                  <a:txBody>
                    <a:bodyPr wrap="square"/>
                    <a:lstStyle/>
                    <a:p>
                      <a:r>
                        <a:rPr sz="900" b="1" i="0">
                          <a:solidFill>
                            <a:srgbClr val="FFFFFF"/>
                          </a:solidFill>
                          <a:latin typeface="Helvetica Neue"/>
                        </a:rPr>
                        <a:t>Dataset</a:t>
                      </a:r>
                    </a:p>
                  </a:txBody>
                  <a:tcPr marL="45720" marR="45720" marT="18288" marB="18288" anchor="t"/>
                </a:tc>
                <a:tc>
                  <a:txBody>
                    <a:bodyPr wrap="square"/>
                    <a:lstStyle/>
                    <a:p>
                      <a:pPr algn="r"/>
                      <a:r>
                        <a:rPr sz="900" b="1" i="0">
                          <a:solidFill>
                            <a:srgbClr val="FFFFFF"/>
                          </a:solidFill>
                          <a:latin typeface="Helvetica Neue"/>
                        </a:rPr>
                        <a:t>Year</a:t>
                      </a:r>
                    </a:p>
                  </a:txBody>
                  <a:tcPr marL="45720" marR="45720" marT="18288" marB="18288" anchor="t"/>
                </a:tc>
                <a:tc>
                  <a:txBody>
                    <a:bodyPr wrap="square"/>
                    <a:lstStyle/>
                    <a:p>
                      <a:r>
                        <a:rPr sz="900" b="1" i="0">
                          <a:solidFill>
                            <a:srgbClr val="FFFFFF"/>
                          </a:solidFill>
                          <a:latin typeface="Helvetica Neue"/>
                        </a:rPr>
                        <a:t>Modality</a:t>
                      </a:r>
                    </a:p>
                  </a:txBody>
                  <a:tcPr marL="45720" marR="45720" marT="18288" marB="18288" anchor="t"/>
                </a:tc>
                <a:tc>
                  <a:txBody>
                    <a:bodyPr wrap="square"/>
                    <a:lstStyle/>
                    <a:p>
                      <a:r>
                        <a:rPr sz="900" b="1" i="0">
                          <a:solidFill>
                            <a:srgbClr val="FFFFFF"/>
                          </a:solidFill>
                          <a:latin typeface="Helvetica Neue"/>
                        </a:rPr>
                        <a:t>Size</a:t>
                      </a:r>
                    </a:p>
                  </a:txBody>
                  <a:tcPr marL="45720" marR="45720" marT="18288" marB="18288" anchor="t"/>
                </a:tc>
                <a:tc>
                  <a:txBody>
                    <a:bodyPr wrap="square"/>
                    <a:lstStyle/>
                    <a:p>
                      <a:r>
                        <a:rPr sz="900" b="1" i="0">
                          <a:solidFill>
                            <a:srgbClr val="FFFFFF"/>
                          </a:solidFill>
                          <a:latin typeface="Helvetica Neue"/>
                        </a:rPr>
                        <a:t>Ages</a:t>
                      </a:r>
                    </a:p>
                  </a:txBody>
                  <a:tcPr marL="45720" marR="45720" marT="18288" marB="18288" anchor="t"/>
                </a:tc>
                <a:tc>
                  <a:txBody>
                    <a:bodyPr wrap="square"/>
                    <a:lstStyle/>
                    <a:p>
                      <a:r>
                        <a:rPr sz="900" b="1" i="0">
                          <a:solidFill>
                            <a:srgbClr val="FFFFFF"/>
                          </a:solidFill>
                          <a:latin typeface="Helvetica Neue"/>
                        </a:rPr>
                        <a:t>Access</a:t>
                      </a:r>
                    </a:p>
                  </a:txBody>
                  <a:tcPr marL="45720" marR="45720" marT="18288" marB="18288" anchor="t"/>
                </a:tc>
              </a:tr>
              <a:tr h="329184">
                <a:tc>
                  <a:txBody>
                    <a:bodyPr wrap="square"/>
                    <a:lstStyle/>
                    <a:p>
                      <a:r>
                        <a:rPr sz="900" b="0" i="0">
                          <a:solidFill>
                            <a:srgbClr val="1A1A1A"/>
                          </a:solidFill>
                          <a:latin typeface="Helvetica Neue"/>
                        </a:rPr>
                        <a:t>CBTN clinical MRI (Children's Brain Tumor Network)</a:t>
                      </a:r>
                    </a:p>
                  </a:txBody>
                  <a:tcPr marL="45720" marR="45720" marT="18288" marB="18288" anchor="t"/>
                </a:tc>
                <a:tc>
                  <a:txBody>
                    <a:bodyPr wrap="square"/>
                    <a:lstStyle/>
                    <a:p>
                      <a:pPr algn="r"/>
                      <a:r>
                        <a:rPr sz="900" b="0" i="0">
                          <a:solidFill>
                            <a:srgbClr val="1A1A1A"/>
                          </a:solidFill>
                          <a:latin typeface="Helvetica Neue"/>
                        </a:rPr>
                        <a:t>2023</a:t>
                      </a:r>
                    </a:p>
                  </a:txBody>
                  <a:tcPr marL="45720" marR="45720" marT="18288" marB="18288" anchor="t"/>
                </a:tc>
                <a:tc>
                  <a:txBody>
                    <a:bodyPr wrap="square"/>
                    <a:lstStyle/>
                    <a:p>
                      <a:r>
                        <a:rPr sz="900" b="0" i="0">
                          <a:solidFill>
                            <a:srgbClr val="1A1A1A"/>
                          </a:solidFill>
                          <a:latin typeface="Helvetica Neue"/>
                        </a:rPr>
                        <a:t>brain / spine tumor MRI</a:t>
                      </a:r>
                    </a:p>
                  </a:txBody>
                  <a:tcPr marL="45720" marR="45720" marT="18288" marB="18288" anchor="t"/>
                </a:tc>
                <a:tc>
                  <a:txBody>
                    <a:bodyPr wrap="square"/>
                    <a:lstStyle/>
                    <a:p>
                      <a:r>
                        <a:rPr sz="900" b="0" i="0">
                          <a:solidFill>
                            <a:srgbClr val="1A1A1A"/>
                          </a:solidFill>
                          <a:latin typeface="Helvetica Neue"/>
                        </a:rPr>
                        <a:t>23,101 exams (1,526 patients); tumor masks for 370</a:t>
                      </a:r>
                    </a:p>
                  </a:txBody>
                  <a:tcPr marL="45720" marR="45720" marT="18288" marB="18288" anchor="t"/>
                </a:tc>
                <a:tc>
                  <a:txBody>
                    <a:bodyPr wrap="square"/>
                    <a:lstStyle/>
                    <a:p>
                      <a:r>
                        <a:rPr sz="900" b="0" i="0">
                          <a:solidFill>
                            <a:srgbClr val="1A1A1A"/>
                          </a:solidFill>
                          <a:latin typeface="Helvetica Neue"/>
                        </a:rPr>
                        <a:t>pediatric</a:t>
                      </a:r>
                    </a:p>
                  </a:txBody>
                  <a:tcPr marL="45720" marR="45720" marT="18288" marB="18288" anchor="t"/>
                </a:tc>
                <a:tc>
                  <a:txBody>
                    <a:bodyPr wrap="square"/>
                    <a:lstStyle/>
                    <a:p>
                      <a:r>
                        <a:rPr sz="900" b="0" i="0">
                          <a:solidFill>
                            <a:srgbClr val="1A1A1A"/>
                          </a:solidFill>
                          <a:latin typeface="Helvetica Neue"/>
                        </a:rPr>
                        <a:t>application (NCI CCDI)</a:t>
                      </a:r>
                    </a:p>
                  </a:txBody>
                  <a:tcPr marL="45720" marR="45720" marT="18288" marB="18288" anchor="t"/>
                </a:tc>
              </a:tr>
              <a:tr h="192024">
                <a:tc>
                  <a:txBody>
                    <a:bodyPr wrap="square"/>
                    <a:lstStyle/>
                    <a:p>
                      <a:r>
                        <a:rPr sz="900" b="0" i="0">
                          <a:solidFill>
                            <a:srgbClr val="1A1A1A"/>
                          </a:solidFill>
                          <a:latin typeface="Helvetica Neue"/>
                        </a:rPr>
                        <a:t>GRAZPEDWRI-DX</a:t>
                      </a:r>
                    </a:p>
                  </a:txBody>
                  <a:tcPr marL="45720" marR="45720" marT="18288" marB="18288" anchor="t"/>
                </a:tc>
                <a:tc>
                  <a:txBody>
                    <a:bodyPr wrap="square"/>
                    <a:lstStyle/>
                    <a:p>
                      <a:pPr algn="r"/>
                      <a:r>
                        <a:rPr sz="900" b="0" i="0">
                          <a:solidFill>
                            <a:srgbClr val="1A1A1A"/>
                          </a:solidFill>
                          <a:latin typeface="Helvetica Neue"/>
                        </a:rPr>
                        <a:t>2022</a:t>
                      </a:r>
                    </a:p>
                  </a:txBody>
                  <a:tcPr marL="45720" marR="45720" marT="18288" marB="18288" anchor="t"/>
                </a:tc>
                <a:tc>
                  <a:txBody>
                    <a:bodyPr wrap="square"/>
                    <a:lstStyle/>
                    <a:p>
                      <a:r>
                        <a:rPr sz="900" b="0" i="0">
                          <a:solidFill>
                            <a:srgbClr val="1A1A1A"/>
                          </a:solidFill>
                          <a:latin typeface="Helvetica Neue"/>
                        </a:rPr>
                        <a:t>wrist radiographs (trauma)</a:t>
                      </a:r>
                    </a:p>
                  </a:txBody>
                  <a:tcPr marL="45720" marR="45720" marT="18288" marB="18288" anchor="t"/>
                </a:tc>
                <a:tc>
                  <a:txBody>
                    <a:bodyPr wrap="square"/>
                    <a:lstStyle/>
                    <a:p>
                      <a:r>
                        <a:rPr sz="900" b="0" i="0">
                          <a:solidFill>
                            <a:srgbClr val="1A1A1A"/>
                          </a:solidFill>
                          <a:latin typeface="Helvetica Neue"/>
                        </a:rPr>
                        <a:t>20,327 images (6,091 patients)</a:t>
                      </a:r>
                    </a:p>
                  </a:txBody>
                  <a:tcPr marL="45720" marR="45720" marT="18288" marB="18288" anchor="t"/>
                </a:tc>
                <a:tc>
                  <a:txBody>
                    <a:bodyPr wrap="square"/>
                    <a:lstStyle/>
                    <a:p>
                      <a:r>
                        <a:rPr sz="900" b="0" i="0">
                          <a:solidFill>
                            <a:srgbClr val="1A1A1A"/>
                          </a:solidFill>
                          <a:latin typeface="Helvetica Neue"/>
                        </a:rPr>
                        <a:t>0.2–19 y</a:t>
                      </a:r>
                    </a:p>
                  </a:txBody>
                  <a:tcPr marL="45720" marR="45720" marT="18288" marB="18288" anchor="t"/>
                </a:tc>
                <a:tc>
                  <a:txBody>
                    <a:bodyPr wrap="square"/>
                    <a:lstStyle/>
                    <a:p>
                      <a:r>
                        <a:rPr sz="900" b="0" i="0">
                          <a:solidFill>
                            <a:srgbClr val="1A1A1A"/>
                          </a:solidFill>
                          <a:latin typeface="Helvetica Neue"/>
                        </a:rPr>
                        <a:t>open</a:t>
                      </a:r>
                    </a:p>
                  </a:txBody>
                  <a:tcPr marL="45720" marR="45720" marT="18288" marB="18288" anchor="t"/>
                </a:tc>
              </a:tr>
              <a:tr h="192024">
                <a:tc>
                  <a:txBody>
                    <a:bodyPr wrap="square"/>
                    <a:lstStyle/>
                    <a:p>
                      <a:r>
                        <a:rPr sz="900" b="0" i="0">
                          <a:solidFill>
                            <a:srgbClr val="1A1A1A"/>
                          </a:solidFill>
                          <a:latin typeface="Helvetica Neue"/>
                        </a:rPr>
                        <a:t>RSNA Pediatric Bone Age Challenge</a:t>
                      </a:r>
                    </a:p>
                  </a:txBody>
                  <a:tcPr marL="45720" marR="45720" marT="18288" marB="18288" anchor="t"/>
                </a:tc>
                <a:tc>
                  <a:txBody>
                    <a:bodyPr wrap="square"/>
                    <a:lstStyle/>
                    <a:p>
                      <a:pPr algn="r"/>
                      <a:r>
                        <a:rPr sz="900" b="0" i="0">
                          <a:solidFill>
                            <a:srgbClr val="1A1A1A"/>
                          </a:solidFill>
                          <a:latin typeface="Helvetica Neue"/>
                        </a:rPr>
                        <a:t>2017</a:t>
                      </a:r>
                    </a:p>
                  </a:txBody>
                  <a:tcPr marL="45720" marR="45720" marT="18288" marB="18288" anchor="t"/>
                </a:tc>
                <a:tc>
                  <a:txBody>
                    <a:bodyPr wrap="square"/>
                    <a:lstStyle/>
                    <a:p>
                      <a:r>
                        <a:rPr sz="900" b="0" i="0">
                          <a:solidFill>
                            <a:srgbClr val="1A1A1A"/>
                          </a:solidFill>
                          <a:latin typeface="Helvetica Neue"/>
                        </a:rPr>
                        <a:t>hand radiographs</a:t>
                      </a:r>
                    </a:p>
                  </a:txBody>
                  <a:tcPr marL="45720" marR="45720" marT="18288" marB="18288" anchor="t"/>
                </a:tc>
                <a:tc>
                  <a:txBody>
                    <a:bodyPr wrap="square"/>
                    <a:lstStyle/>
                    <a:p>
                      <a:r>
                        <a:rPr sz="900" b="0" i="0">
                          <a:solidFill>
                            <a:srgbClr val="1A1A1A"/>
                          </a:solidFill>
                          <a:latin typeface="Helvetica Neue"/>
                        </a:rPr>
                        <a:t>14,236 images (bone age + sex)</a:t>
                      </a:r>
                    </a:p>
                  </a:txBody>
                  <a:tcPr marL="45720" marR="45720" marT="18288" marB="18288" anchor="t"/>
                </a:tc>
                <a:tc>
                  <a:txBody>
                    <a:bodyPr wrap="square"/>
                    <a:lstStyle/>
                    <a:p>
                      <a:r>
                        <a:rPr sz="900" b="0" i="0">
                          <a:solidFill>
                            <a:srgbClr val="1A1A1A"/>
                          </a:solidFill>
                          <a:latin typeface="Helvetica Neue"/>
                        </a:rPr>
                        <a:t>mean 10.6 y</a:t>
                      </a:r>
                    </a:p>
                  </a:txBody>
                  <a:tcPr marL="45720" marR="45720" marT="18288" marB="18288" anchor="t"/>
                </a:tc>
                <a:tc>
                  <a:txBody>
                    <a:bodyPr wrap="square"/>
                    <a:lstStyle/>
                    <a:p>
                      <a:r>
                        <a:rPr sz="900" b="0" i="0">
                          <a:solidFill>
                            <a:srgbClr val="1A1A1A"/>
                          </a:solidFill>
                          <a:latin typeface="Helvetica Neue"/>
                        </a:rPr>
                        <a:t>open (RSNA terms)</a:t>
                      </a:r>
                    </a:p>
                  </a:txBody>
                  <a:tcPr marL="45720" marR="45720" marT="18288" marB="18288" anchor="t"/>
                </a:tc>
              </a:tr>
              <a:tr h="329184">
                <a:tc>
                  <a:txBody>
                    <a:bodyPr wrap="square"/>
                    <a:lstStyle/>
                    <a:p>
                      <a:r>
                        <a:rPr sz="900" b="0" i="0">
                          <a:solidFill>
                            <a:srgbClr val="1A1A1A"/>
                          </a:solidFill>
                          <a:latin typeface="Helvetica Neue"/>
                        </a:rPr>
                        <a:t>FETAL_PLANES_DB</a:t>
                      </a:r>
                    </a:p>
                  </a:txBody>
                  <a:tcPr marL="45720" marR="45720" marT="18288" marB="18288" anchor="t"/>
                </a:tc>
                <a:tc>
                  <a:txBody>
                    <a:bodyPr wrap="square"/>
                    <a:lstStyle/>
                    <a:p>
                      <a:pPr algn="r"/>
                      <a:r>
                        <a:rPr sz="900" b="0" i="0">
                          <a:solidFill>
                            <a:srgbClr val="1A1A1A"/>
                          </a:solidFill>
                          <a:latin typeface="Helvetica Neue"/>
                        </a:rPr>
                        <a:t>2020</a:t>
                      </a:r>
                    </a:p>
                  </a:txBody>
                  <a:tcPr marL="45720" marR="45720" marT="18288" marB="18288" anchor="t"/>
                </a:tc>
                <a:tc>
                  <a:txBody>
                    <a:bodyPr wrap="square"/>
                    <a:lstStyle/>
                    <a:p>
                      <a:r>
                        <a:rPr sz="900" b="0" i="0">
                          <a:solidFill>
                            <a:srgbClr val="1A1A1A"/>
                          </a:solidFill>
                          <a:latin typeface="Helvetica Neue"/>
                        </a:rPr>
                        <a:t>fetal ultrasound (standard planes)</a:t>
                      </a:r>
                    </a:p>
                  </a:txBody>
                  <a:tcPr marL="45720" marR="45720" marT="18288" marB="18288" anchor="t"/>
                </a:tc>
                <a:tc>
                  <a:txBody>
                    <a:bodyPr wrap="square"/>
                    <a:lstStyle/>
                    <a:p>
                      <a:r>
                        <a:rPr sz="900" b="0" i="0">
                          <a:solidFill>
                            <a:srgbClr val="1A1A1A"/>
                          </a:solidFill>
                          <a:latin typeface="Helvetica Neue"/>
                        </a:rPr>
                        <a:t>12,400 images (1,792 pregnancies)</a:t>
                      </a:r>
                    </a:p>
                  </a:txBody>
                  <a:tcPr marL="45720" marR="45720" marT="18288" marB="18288" anchor="t"/>
                </a:tc>
                <a:tc>
                  <a:txBody>
                    <a:bodyPr wrap="square"/>
                    <a:lstStyle/>
                    <a:p>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open</a:t>
                      </a:r>
                    </a:p>
                  </a:txBody>
                  <a:tcPr marL="45720" marR="45720" marT="18288" marB="18288" anchor="t"/>
                </a:tc>
              </a:tr>
              <a:tr h="329184">
                <a:tc>
                  <a:txBody>
                    <a:bodyPr wrap="square"/>
                    <a:lstStyle/>
                    <a:p>
                      <a:r>
                        <a:rPr sz="900" b="0" i="0">
                          <a:solidFill>
                            <a:srgbClr val="1A1A1A"/>
                          </a:solidFill>
                          <a:latin typeface="Helvetica Neue"/>
                        </a:rPr>
                        <a:t>ABCD Study</a:t>
                      </a:r>
                    </a:p>
                  </a:txBody>
                  <a:tcPr marL="45720" marR="45720" marT="18288" marB="18288" anchor="t"/>
                </a:tc>
                <a:tc>
                  <a:txBody>
                    <a:bodyPr wrap="square"/>
                    <a:lstStyle/>
                    <a:p>
                      <a:pPr algn="r"/>
                      <a:r>
                        <a:rPr sz="900" b="0" i="0">
                          <a:solidFill>
                            <a:srgbClr val="1A1A1A"/>
                          </a:solidFill>
                          <a:latin typeface="Helvetica Neue"/>
                        </a:rPr>
                        <a:t>2018–</a:t>
                      </a:r>
                    </a:p>
                  </a:txBody>
                  <a:tcPr marL="45720" marR="45720" marT="18288" marB="18288" anchor="t"/>
                </a:tc>
                <a:tc>
                  <a:txBody>
                    <a:bodyPr wrap="square"/>
                    <a:lstStyle/>
                    <a:p>
                      <a:r>
                        <a:rPr sz="900" b="0" i="0">
                          <a:solidFill>
                            <a:srgbClr val="1A1A1A"/>
                          </a:solidFill>
                          <a:latin typeface="Helvetica Neue"/>
                        </a:rPr>
                        <a:t>brain MRI, longitudinal</a:t>
                      </a:r>
                    </a:p>
                  </a:txBody>
                  <a:tcPr marL="45720" marR="45720" marT="18288" marB="18288" anchor="t"/>
                </a:tc>
                <a:tc>
                  <a:txBody>
                    <a:bodyPr wrap="square"/>
                    <a:lstStyle/>
                    <a:p>
                      <a:r>
                        <a:rPr sz="900" b="0" i="0">
                          <a:solidFill>
                            <a:srgbClr val="1A1A1A"/>
                          </a:solidFill>
                          <a:latin typeface="Helvetica Neue"/>
                        </a:rPr>
                        <a:t>11,878 participants, up to 7 follow-ups</a:t>
                      </a:r>
                    </a:p>
                  </a:txBody>
                  <a:tcPr marL="45720" marR="45720" marT="18288" marB="18288" anchor="t"/>
                </a:tc>
                <a:tc>
                  <a:txBody>
                    <a:bodyPr wrap="square"/>
                    <a:lstStyle/>
                    <a:p>
                      <a:r>
                        <a:rPr sz="900" b="0" i="0">
                          <a:solidFill>
                            <a:srgbClr val="1A1A1A"/>
                          </a:solidFill>
                          <a:latin typeface="Helvetica Neue"/>
                        </a:rPr>
                        <a:t>9–10 y at baseline</a:t>
                      </a:r>
                    </a:p>
                  </a:txBody>
                  <a:tcPr marL="45720" marR="45720" marT="18288" marB="18288" anchor="t"/>
                </a:tc>
                <a:tc>
                  <a:txBody>
                    <a:bodyPr wrap="square"/>
                    <a:lstStyle/>
                    <a:p>
                      <a:r>
                        <a:rPr sz="900" b="0" i="0">
                          <a:solidFill>
                            <a:srgbClr val="1A1A1A"/>
                          </a:solidFill>
                          <a:latin typeface="Helvetica Neue"/>
                        </a:rPr>
                        <a:t>application (NBDC)</a:t>
                      </a:r>
                    </a:p>
                  </a:txBody>
                  <a:tcPr marL="45720" marR="45720" marT="18288" marB="18288" anchor="t"/>
                </a:tc>
              </a:tr>
              <a:tr h="329184">
                <a:tc>
                  <a:txBody>
                    <a:bodyPr wrap="square"/>
                    <a:lstStyle/>
                    <a:p>
                      <a:r>
                        <a:rPr sz="900" b="0" i="0">
                          <a:solidFill>
                            <a:srgbClr val="1A1A1A"/>
                          </a:solidFill>
                          <a:latin typeface="Helvetica Neue"/>
                        </a:rPr>
                        <a:t>PediCXR / VinDr-PCXR</a:t>
                      </a:r>
                    </a:p>
                  </a:txBody>
                  <a:tcPr marL="45720" marR="45720" marT="18288" marB="18288" anchor="t"/>
                </a:tc>
                <a:tc>
                  <a:txBody>
                    <a:bodyPr wrap="square"/>
                    <a:lstStyle/>
                    <a:p>
                      <a:pPr algn="r"/>
                      <a:r>
                        <a:rPr sz="900" b="0" i="0">
                          <a:solidFill>
                            <a:srgbClr val="1A1A1A"/>
                          </a:solidFill>
                          <a:latin typeface="Helvetica Neue"/>
                        </a:rPr>
                        <a:t>2023</a:t>
                      </a:r>
                    </a:p>
                  </a:txBody>
                  <a:tcPr marL="45720" marR="45720" marT="18288" marB="18288" anchor="t"/>
                </a:tc>
                <a:tc>
                  <a:txBody>
                    <a:bodyPr wrap="square"/>
                    <a:lstStyle/>
                    <a:p>
                      <a:r>
                        <a:rPr sz="900" b="0" i="0">
                          <a:solidFill>
                            <a:srgbClr val="1A1A1A"/>
                          </a:solidFill>
                          <a:latin typeface="Helvetica Neue"/>
                        </a:rPr>
                        <a:t>chest radiographs</a:t>
                      </a:r>
                    </a:p>
                  </a:txBody>
                  <a:tcPr marL="45720" marR="45720" marT="18288" marB="18288" anchor="t"/>
                </a:tc>
                <a:tc>
                  <a:txBody>
                    <a:bodyPr wrap="square"/>
                    <a:lstStyle/>
                    <a:p>
                      <a:r>
                        <a:rPr sz="900" b="0" i="0">
                          <a:solidFill>
                            <a:srgbClr val="1A1A1A"/>
                          </a:solidFill>
                          <a:latin typeface="Helvetica Neue"/>
                        </a:rPr>
                        <a:t>9,125 studies; 36 findings, 15 diagnoses</a:t>
                      </a:r>
                    </a:p>
                  </a:txBody>
                  <a:tcPr marL="45720" marR="45720" marT="18288" marB="18288" anchor="t"/>
                </a:tc>
                <a:tc>
                  <a:txBody>
                    <a:bodyPr wrap="square"/>
                    <a:lstStyle/>
                    <a:p>
                      <a:r>
                        <a:rPr sz="900" b="0" i="0">
                          <a:solidFill>
                            <a:srgbClr val="1A1A1A"/>
                          </a:solidFill>
                          <a:latin typeface="Helvetica Neue"/>
                        </a:rPr>
                        <a:t>10 y</a:t>
                      </a:r>
                    </a:p>
                  </a:txBody>
                  <a:tcPr marL="45720" marR="45720" marT="18288" marB="18288" anchor="t"/>
                </a:tc>
                <a:tc>
                  <a:txBody>
                    <a:bodyPr wrap="square"/>
                    <a:lstStyle/>
                    <a:p>
                      <a:r>
                        <a:rPr sz="900" b="0" i="0">
                          <a:solidFill>
                            <a:srgbClr val="1A1A1A"/>
                          </a:solidFill>
                          <a:latin typeface="Helvetica Neue"/>
                        </a:rPr>
                        <a:t>credentialed (PhysioNet)</a:t>
                      </a:r>
                    </a:p>
                  </a:txBody>
                  <a:tcPr marL="45720" marR="45720" marT="18288" marB="18288" anchor="t"/>
                </a:tc>
              </a:tr>
              <a:tr h="329184">
                <a:tc>
                  <a:txBody>
                    <a:bodyPr wrap="square"/>
                    <a:lstStyle/>
                    <a:p>
                      <a:r>
                        <a:rPr sz="900" b="0" i="0">
                          <a:solidFill>
                            <a:srgbClr val="1A1A1A"/>
                          </a:solidFill>
                          <a:latin typeface="Helvetica Neue"/>
                        </a:rPr>
                        <a:t>Guangzhou pediatric chest X-ray (Kermany)</a:t>
                      </a:r>
                    </a:p>
                  </a:txBody>
                  <a:tcPr marL="45720" marR="45720" marT="18288" marB="18288" anchor="t"/>
                </a:tc>
                <a:tc>
                  <a:txBody>
                    <a:bodyPr wrap="square"/>
                    <a:lstStyle/>
                    <a:p>
                      <a:pPr algn="r"/>
                      <a:r>
                        <a:rPr sz="900" b="0" i="0">
                          <a:solidFill>
                            <a:srgbClr val="1A1A1A"/>
                          </a:solidFill>
                          <a:latin typeface="Helvetica Neue"/>
                        </a:rPr>
                        <a:t>2018</a:t>
                      </a:r>
                    </a:p>
                  </a:txBody>
                  <a:tcPr marL="45720" marR="45720" marT="18288" marB="18288" anchor="t"/>
                </a:tc>
                <a:tc>
                  <a:txBody>
                    <a:bodyPr wrap="square"/>
                    <a:lstStyle/>
                    <a:p>
                      <a:r>
                        <a:rPr sz="900" b="0" i="0">
                          <a:solidFill>
                            <a:srgbClr val="1A1A1A"/>
                          </a:solidFill>
                          <a:latin typeface="Helvetica Neue"/>
                        </a:rPr>
                        <a:t>chest radiographs</a:t>
                      </a:r>
                    </a:p>
                  </a:txBody>
                  <a:tcPr marL="45720" marR="45720" marT="18288" marB="18288" anchor="t"/>
                </a:tc>
                <a:tc>
                  <a:txBody>
                    <a:bodyPr wrap="square"/>
                    <a:lstStyle/>
                    <a:p>
                      <a:r>
                        <a:rPr sz="900" b="0" i="0">
                          <a:solidFill>
                            <a:srgbClr val="1A1A1A"/>
                          </a:solidFill>
                          <a:latin typeface="Helvetica Neue"/>
                        </a:rPr>
                        <a:t>5,856 images (normal / bacterial / viral pneumonia)</a:t>
                      </a:r>
                    </a:p>
                  </a:txBody>
                  <a:tcPr marL="45720" marR="45720" marT="18288" marB="18288" anchor="t"/>
                </a:tc>
                <a:tc>
                  <a:txBody>
                    <a:bodyPr wrap="square"/>
                    <a:lstStyle/>
                    <a:p>
                      <a:r>
                        <a:rPr sz="900" b="0" i="0">
                          <a:solidFill>
                            <a:srgbClr val="1A1A1A"/>
                          </a:solidFill>
                          <a:latin typeface="Helvetica Neue"/>
                        </a:rPr>
                        <a:t>1–5 y</a:t>
                      </a:r>
                    </a:p>
                  </a:txBody>
                  <a:tcPr marL="45720" marR="45720" marT="18288" marB="18288" anchor="t"/>
                </a:tc>
                <a:tc>
                  <a:txBody>
                    <a:bodyPr wrap="square"/>
                    <a:lstStyle/>
                    <a:p>
                      <a:r>
                        <a:rPr sz="900" b="0" i="0">
                          <a:solidFill>
                            <a:srgbClr val="1A1A1A"/>
                          </a:solidFill>
                          <a:latin typeface="Helvetica Neue"/>
                        </a:rPr>
                        <a:t>open</a:t>
                      </a:r>
                    </a:p>
                  </a:txBody>
                  <a:tcPr marL="45720" marR="45720" marT="18288" marB="18288" anchor="t"/>
                </a:tc>
              </a:tr>
              <a:tr h="329184">
                <a:tc>
                  <a:txBody>
                    <a:bodyPr wrap="square"/>
                    <a:lstStyle/>
                    <a:p>
                      <a:r>
                        <a:rPr sz="900" b="0" i="0">
                          <a:solidFill>
                            <a:srgbClr val="1A1A1A"/>
                          </a:solidFill>
                          <a:latin typeface="Helvetica Neue"/>
                        </a:rPr>
                        <a:t>ABIDE I + II (autism)</a:t>
                      </a:r>
                    </a:p>
                  </a:txBody>
                  <a:tcPr marL="45720" marR="45720" marT="18288" marB="18288" anchor="t"/>
                </a:tc>
                <a:tc>
                  <a:txBody>
                    <a:bodyPr wrap="square"/>
                    <a:lstStyle/>
                    <a:p>
                      <a:pPr algn="r"/>
                      <a:r>
                        <a:rPr sz="900" b="0" i="0">
                          <a:solidFill>
                            <a:srgbClr val="1A1A1A"/>
                          </a:solidFill>
                          <a:latin typeface="Helvetica Neue"/>
                        </a:rPr>
                        <a:t>2012 / 2016</a:t>
                      </a:r>
                    </a:p>
                  </a:txBody>
                  <a:tcPr marL="45720" marR="45720" marT="18288" marB="18288" anchor="t"/>
                </a:tc>
                <a:tc>
                  <a:txBody>
                    <a:bodyPr wrap="square"/>
                    <a:lstStyle/>
                    <a:p>
                      <a:r>
                        <a:rPr sz="900" b="0" i="0">
                          <a:solidFill>
                            <a:srgbClr val="1A1A1A"/>
                          </a:solidFill>
                          <a:latin typeface="Helvetica Neue"/>
                        </a:rPr>
                        <a:t>brain MRI (structural, resting fMRI)</a:t>
                      </a:r>
                    </a:p>
                  </a:txBody>
                  <a:tcPr marL="45720" marR="45720" marT="18288" marB="18288" anchor="t"/>
                </a:tc>
                <a:tc>
                  <a:txBody>
                    <a:bodyPr wrap="square"/>
                    <a:lstStyle/>
                    <a:p>
                      <a:r>
                        <a:rPr sz="900" b="0" i="0">
                          <a:solidFill>
                            <a:srgbClr val="1A1A1A"/>
                          </a:solidFill>
                          <a:latin typeface="Helvetica Neue"/>
                        </a:rPr>
                        <a:t>2,156 subjects</a:t>
                      </a:r>
                    </a:p>
                  </a:txBody>
                  <a:tcPr marL="45720" marR="45720" marT="18288" marB="18288" anchor="t"/>
                </a:tc>
                <a:tc>
                  <a:txBody>
                    <a:bodyPr wrap="square"/>
                    <a:lstStyle/>
                    <a:p>
                      <a:r>
                        <a:rPr sz="900" b="0" i="0">
                          <a:solidFill>
                            <a:srgbClr val="1A1A1A"/>
                          </a:solidFill>
                          <a:latin typeface="Helvetica Neue"/>
                        </a:rPr>
                        <a:t>5–64 y (mostly children)</a:t>
                      </a:r>
                    </a:p>
                  </a:txBody>
                  <a:tcPr marL="45720" marR="45720" marT="18288" marB="18288" anchor="t"/>
                </a:tc>
                <a:tc>
                  <a:txBody>
                    <a:bodyPr wrap="square"/>
                    <a:lstStyle/>
                    <a:p>
                      <a:r>
                        <a:rPr sz="900" b="0" i="0">
                          <a:solidFill>
                            <a:srgbClr val="1A1A1A"/>
                          </a:solidFill>
                          <a:latin typeface="Helvetica Neue"/>
                        </a:rPr>
                        <a:t>open</a:t>
                      </a:r>
                    </a:p>
                  </a:txBody>
                  <a:tcPr marL="45720" marR="45720" marT="18288" marB="18288" anchor="t"/>
                </a:tc>
              </a:tr>
              <a:tr h="192024">
                <a:tc>
                  <a:txBody>
                    <a:bodyPr wrap="square"/>
                    <a:lstStyle/>
                    <a:p>
                      <a:r>
                        <a:rPr sz="900" b="0" i="0">
                          <a:solidFill>
                            <a:srgbClr val="1A1A1A"/>
                          </a:solidFill>
                          <a:latin typeface="Helvetica Neue"/>
                        </a:rPr>
                        <a:t>Regensburg Pediatric Appendicitis</a:t>
                      </a:r>
                    </a:p>
                  </a:txBody>
                  <a:tcPr marL="45720" marR="45720" marT="18288" marB="18288" anchor="t"/>
                </a:tc>
                <a:tc>
                  <a:txBody>
                    <a:bodyPr wrap="square"/>
                    <a:lstStyle/>
                    <a:p>
                      <a:pPr algn="r"/>
                      <a:r>
                        <a:rPr sz="900" b="0" i="0">
                          <a:solidFill>
                            <a:srgbClr val="1A1A1A"/>
                          </a:solidFill>
                          <a:latin typeface="Helvetica Neue"/>
                        </a:rPr>
                        <a:t>2023</a:t>
                      </a:r>
                    </a:p>
                  </a:txBody>
                  <a:tcPr marL="45720" marR="45720" marT="18288" marB="18288" anchor="t"/>
                </a:tc>
                <a:tc>
                  <a:txBody>
                    <a:bodyPr wrap="square"/>
                    <a:lstStyle/>
                    <a:p>
                      <a:r>
                        <a:rPr sz="900" b="0" i="0">
                          <a:solidFill>
                            <a:srgbClr val="1A1A1A"/>
                          </a:solidFill>
                          <a:latin typeface="Helvetica Neue"/>
                        </a:rPr>
                        <a:t>abdominal ultrasound + labs</a:t>
                      </a:r>
                    </a:p>
                  </a:txBody>
                  <a:tcPr marL="45720" marR="45720" marT="18288" marB="18288" anchor="t"/>
                </a:tc>
                <a:tc>
                  <a:txBody>
                    <a:bodyPr wrap="square"/>
                    <a:lstStyle/>
                    <a:p>
                      <a:r>
                        <a:rPr sz="900" b="0" i="0">
                          <a:solidFill>
                            <a:srgbClr val="1A1A1A"/>
                          </a:solidFill>
                          <a:latin typeface="Helvetica Neue"/>
                        </a:rPr>
                        <a:t>1,709 images (579 patients)</a:t>
                      </a:r>
                    </a:p>
                  </a:txBody>
                  <a:tcPr marL="45720" marR="45720" marT="18288" marB="18288" anchor="t"/>
                </a:tc>
                <a:tc>
                  <a:txBody>
                    <a:bodyPr wrap="square"/>
                    <a:lstStyle/>
                    <a:p>
                      <a:r>
                        <a:rPr sz="900" b="0" i="0">
                          <a:solidFill>
                            <a:srgbClr val="1A1A1A"/>
                          </a:solidFill>
                          <a:latin typeface="Helvetica Neue"/>
                        </a:rPr>
                        <a:t>0–18 y</a:t>
                      </a:r>
                    </a:p>
                  </a:txBody>
                  <a:tcPr marL="45720" marR="45720" marT="18288" marB="18288" anchor="t"/>
                </a:tc>
                <a:tc>
                  <a:txBody>
                    <a:bodyPr wrap="square"/>
                    <a:lstStyle/>
                    <a:p>
                      <a:r>
                        <a:rPr sz="900" b="0" i="0">
                          <a:solidFill>
                            <a:srgbClr val="1A1A1A"/>
                          </a:solidFill>
                          <a:latin typeface="Helvetica Neue"/>
                        </a:rPr>
                        <a:t>open</a:t>
                      </a:r>
                    </a:p>
                  </a:txBody>
                  <a:tcPr marL="45720" marR="45720" marT="18288" marB="18288" anchor="t"/>
                </a:tc>
              </a:tr>
              <a:tr h="329184">
                <a:tc>
                  <a:txBody>
                    <a:bodyPr wrap="square"/>
                    <a:lstStyle/>
                    <a:p>
                      <a:r>
                        <a:rPr sz="900" b="0" i="0">
                          <a:solidFill>
                            <a:srgbClr val="1A1A1A"/>
                          </a:solidFill>
                          <a:latin typeface="Helvetica Neue"/>
                        </a:rPr>
                        <a:t>dHCP (Developing Human Connectome Project)</a:t>
                      </a:r>
                    </a:p>
                  </a:txBody>
                  <a:tcPr marL="45720" marR="45720" marT="18288" marB="18288" anchor="t"/>
                </a:tc>
                <a:tc>
                  <a:txBody>
                    <a:bodyPr wrap="square"/>
                    <a:lstStyle/>
                    <a:p>
                      <a:pPr algn="r"/>
                      <a:r>
                        <a:rPr sz="900" b="0" i="0">
                          <a:solidFill>
                            <a:srgbClr val="1A1A1A"/>
                          </a:solidFill>
                          <a:latin typeface="Helvetica Neue"/>
                        </a:rPr>
                        <a:t>2022–24</a:t>
                      </a:r>
                    </a:p>
                  </a:txBody>
                  <a:tcPr marL="45720" marR="45720" marT="18288" marB="18288" anchor="t"/>
                </a:tc>
                <a:tc>
                  <a:txBody>
                    <a:bodyPr wrap="square"/>
                    <a:lstStyle/>
                    <a:p>
                      <a:r>
                        <a:rPr sz="900" b="0" i="0">
                          <a:solidFill>
                            <a:srgbClr val="1A1A1A"/>
                          </a:solidFill>
                          <a:latin typeface="Helvetica Neue"/>
                        </a:rPr>
                        <a:t>neonatal + fetal brain MRI</a:t>
                      </a:r>
                    </a:p>
                  </a:txBody>
                  <a:tcPr marL="45720" marR="45720" marT="18288" marB="18288" anchor="t"/>
                </a:tc>
                <a:tc>
                  <a:txBody>
                    <a:bodyPr wrap="square"/>
                    <a:lstStyle/>
                    <a:p>
                      <a:r>
                        <a:rPr sz="900" b="0" i="0">
                          <a:solidFill>
                            <a:srgbClr val="1A1A1A"/>
                          </a:solidFill>
                          <a:latin typeface="Helvetica Neue"/>
                        </a:rPr>
                        <a:t>886 neonatal + 297 fetal datasets, with segmentations</a:t>
                      </a:r>
                    </a:p>
                  </a:txBody>
                  <a:tcPr marL="45720" marR="45720" marT="18288" marB="18288" anchor="t"/>
                </a:tc>
                <a:tc>
                  <a:txBody>
                    <a:bodyPr wrap="square"/>
                    <a:lstStyle/>
                    <a:p>
                      <a:r>
                        <a:rPr sz="900" b="0" i="0">
                          <a:solidFill>
                            <a:srgbClr val="1A1A1A"/>
                          </a:solidFill>
                          <a:latin typeface="Helvetica Neue"/>
                        </a:rPr>
                        <a:t>20–45 weeks</a:t>
                      </a:r>
                    </a:p>
                  </a:txBody>
                  <a:tcPr marL="45720" marR="45720" marT="18288" marB="18288" anchor="t"/>
                </a:tc>
                <a:tc>
                  <a:txBody>
                    <a:bodyPr wrap="square"/>
                    <a:lstStyle/>
                    <a:p>
                      <a:r>
                        <a:rPr sz="900" b="0" i="0">
                          <a:solidFill>
                            <a:srgbClr val="1A1A1A"/>
                          </a:solidFill>
                          <a:latin typeface="Helvetica Neue"/>
                        </a:rPr>
                        <a:t>open (NDA)</a:t>
                      </a:r>
                    </a:p>
                  </a:txBody>
                  <a:tcPr marL="45720" marR="45720" marT="18288" marB="18288" anchor="t"/>
                </a:tc>
              </a:tr>
              <a:tr h="192024">
                <a:tc>
                  <a:txBody>
                    <a:bodyPr wrap="square"/>
                    <a:lstStyle/>
                    <a:p>
                      <a:r>
                        <a:rPr sz="900" b="0" i="0">
                          <a:solidFill>
                            <a:srgbClr val="1A1A1A"/>
                          </a:solidFill>
                          <a:latin typeface="Helvetica Neue"/>
                        </a:rPr>
                        <a:t>Pediatric-CT-SEG (TCIA)</a:t>
                      </a:r>
                    </a:p>
                  </a:txBody>
                  <a:tcPr marL="45720" marR="45720" marT="18288" marB="18288" anchor="t"/>
                </a:tc>
                <a:tc>
                  <a:txBody>
                    <a:bodyPr wrap="square"/>
                    <a:lstStyle/>
                    <a:p>
                      <a:pPr algn="r"/>
                      <a:r>
                        <a:rPr sz="900" b="0" i="0">
                          <a:solidFill>
                            <a:srgbClr val="1A1A1A"/>
                          </a:solidFill>
                          <a:latin typeface="Helvetica Neue"/>
                        </a:rPr>
                        <a:t>2022</a:t>
                      </a:r>
                    </a:p>
                  </a:txBody>
                  <a:tcPr marL="45720" marR="45720" marT="18288" marB="18288" anchor="t"/>
                </a:tc>
                <a:tc>
                  <a:txBody>
                    <a:bodyPr wrap="square"/>
                    <a:lstStyle/>
                    <a:p>
                      <a:r>
                        <a:rPr sz="900" b="0" i="0">
                          <a:solidFill>
                            <a:srgbClr val="1A1A1A"/>
                          </a:solidFill>
                          <a:latin typeface="Helvetica Neue"/>
                        </a:rPr>
                        <a:t>chest / abdomen / pelvis CT</a:t>
                      </a:r>
                    </a:p>
                  </a:txBody>
                  <a:tcPr marL="45720" marR="45720" marT="18288" marB="18288" anchor="t"/>
                </a:tc>
                <a:tc>
                  <a:txBody>
                    <a:bodyPr wrap="square"/>
                    <a:lstStyle/>
                    <a:p>
                      <a:r>
                        <a:rPr sz="900" b="0" i="0">
                          <a:solidFill>
                            <a:srgbClr val="1A1A1A"/>
                          </a:solidFill>
                          <a:latin typeface="Helvetica Neue"/>
                        </a:rPr>
                        <a:t>718 series (359 patients); 29 organ contours</a:t>
                      </a:r>
                    </a:p>
                  </a:txBody>
                  <a:tcPr marL="45720" marR="45720" marT="18288" marB="18288" anchor="t"/>
                </a:tc>
                <a:tc>
                  <a:txBody>
                    <a:bodyPr wrap="square"/>
                    <a:lstStyle/>
                    <a:p>
                      <a:r>
                        <a:rPr sz="900" b="0" i="0">
                          <a:solidFill>
                            <a:srgbClr val="1A1A1A"/>
                          </a:solidFill>
                          <a:latin typeface="Helvetica Neue"/>
                        </a:rPr>
                        <a:t>5 days – 16 y</a:t>
                      </a:r>
                    </a:p>
                  </a:txBody>
                  <a:tcPr marL="45720" marR="45720" marT="18288" marB="18288" anchor="t"/>
                </a:tc>
                <a:tc>
                  <a:txBody>
                    <a:bodyPr wrap="square"/>
                    <a:lstStyle/>
                    <a:p>
                      <a:r>
                        <a:rPr sz="900" b="0" i="0">
                          <a:solidFill>
                            <a:srgbClr val="1A1A1A"/>
                          </a:solidFill>
                          <a:latin typeface="Helvetica Neue"/>
                        </a:rPr>
                        <a:t>open</a:t>
                      </a:r>
                    </a:p>
                  </a:txBody>
                  <a:tcPr marL="45720" marR="45720" marT="18288" marB="18288" anchor="t"/>
                </a:tc>
              </a:tr>
              <a:tr h="329184">
                <a:tc>
                  <a:txBody>
                    <a:bodyPr wrap="square"/>
                    <a:lstStyle/>
                    <a:p>
                      <a:r>
                        <a:rPr sz="900" b="0" i="0">
                          <a:solidFill>
                            <a:srgbClr val="1A1A1A"/>
                          </a:solidFill>
                          <a:latin typeface="Helvetica Neue"/>
                        </a:rPr>
                        <a:t>BraTS-PEDs (pediatric brain tumor challenge)</a:t>
                      </a:r>
                    </a:p>
                  </a:txBody>
                  <a:tcPr marL="45720" marR="45720" marT="18288" marB="18288" anchor="t"/>
                </a:tc>
                <a:tc>
                  <a:txBody>
                    <a:bodyPr wrap="square"/>
                    <a:lstStyle/>
                    <a:p>
                      <a:pPr algn="r"/>
                      <a:r>
                        <a:rPr sz="900" b="0" i="0">
                          <a:solidFill>
                            <a:srgbClr val="1A1A1A"/>
                          </a:solidFill>
                          <a:latin typeface="Helvetica Neue"/>
                        </a:rPr>
                        <a:t>2023–25</a:t>
                      </a:r>
                    </a:p>
                  </a:txBody>
                  <a:tcPr marL="45720" marR="45720" marT="18288" marB="18288" anchor="t"/>
                </a:tc>
                <a:tc>
                  <a:txBody>
                    <a:bodyPr wrap="square"/>
                    <a:lstStyle/>
                    <a:p>
                      <a:r>
                        <a:rPr sz="900" b="0" i="0">
                          <a:solidFill>
                            <a:srgbClr val="1A1A1A"/>
                          </a:solidFill>
                          <a:latin typeface="Helvetica Neue"/>
                        </a:rPr>
                        <a:t>brain tumor MRI</a:t>
                      </a:r>
                    </a:p>
                  </a:txBody>
                  <a:tcPr marL="45720" marR="45720" marT="18288" marB="18288" anchor="t"/>
                </a:tc>
                <a:tc>
                  <a:txBody>
                    <a:bodyPr wrap="square"/>
                    <a:lstStyle/>
                    <a:p>
                      <a:r>
                        <a:rPr sz="900" b="0" i="0">
                          <a:solidFill>
                            <a:srgbClr val="1A1A1A"/>
                          </a:solidFill>
                          <a:latin typeface="Helvetica Neue"/>
                        </a:rPr>
                        <a:t>464 patients (2024 challenge); 1,649 series on TCIA</a:t>
                      </a:r>
                    </a:p>
                  </a:txBody>
                  <a:tcPr marL="45720" marR="45720" marT="18288" marB="18288" anchor="t"/>
                </a:tc>
                <a:tc>
                  <a:txBody>
                    <a:bodyPr wrap="square"/>
                    <a:lstStyle/>
                    <a:p>
                      <a:r>
                        <a:rPr sz="900" b="0" i="0">
                          <a:solidFill>
                            <a:srgbClr val="1A1A1A"/>
                          </a:solidFill>
                          <a:latin typeface="Helvetica Neue"/>
                        </a:rPr>
                        <a:t>pediatric</a:t>
                      </a:r>
                    </a:p>
                  </a:txBody>
                  <a:tcPr marL="45720" marR="45720" marT="18288" marB="18288" anchor="t"/>
                </a:tc>
                <a:tc>
                  <a:txBody>
                    <a:bodyPr wrap="square"/>
                    <a:lstStyle/>
                    <a:p>
                      <a:r>
                        <a:rPr sz="900" b="0" i="0">
                          <a:solidFill>
                            <a:srgbClr val="1A1A1A"/>
                          </a:solidFill>
                          <a:latin typeface="Helvetica Neue"/>
                        </a:rPr>
                        <a:t>registration / TCIA</a:t>
                      </a:r>
                    </a:p>
                  </a:txBody>
                  <a:tcPr marL="45720" marR="45720" marT="18288" marB="18288" anchor="t"/>
                </a:tc>
              </a:tr>
              <a:tr h="329184">
                <a:tc>
                  <a:txBody>
                    <a:bodyPr wrap="square"/>
                    <a:lstStyle/>
                    <a:p>
                      <a:r>
                        <a:rPr sz="900" b="0" i="0">
                          <a:solidFill>
                            <a:srgbClr val="1A1A1A"/>
                          </a:solidFill>
                          <a:latin typeface="Helvetica Neue"/>
                        </a:rPr>
                        <a:t>FeTA (fetal brain tissue annotation)</a:t>
                      </a:r>
                    </a:p>
                  </a:txBody>
                  <a:tcPr marL="45720" marR="45720" marT="18288" marB="18288" anchor="t"/>
                </a:tc>
                <a:tc>
                  <a:txBody>
                    <a:bodyPr wrap="square"/>
                    <a:lstStyle/>
                    <a:p>
                      <a:pPr algn="r"/>
                      <a:r>
                        <a:rPr sz="900" b="0" i="0">
                          <a:solidFill>
                            <a:srgbClr val="1A1A1A"/>
                          </a:solidFill>
                          <a:latin typeface="Helvetica Neue"/>
                        </a:rPr>
                        <a:t>2021–24</a:t>
                      </a:r>
                    </a:p>
                  </a:txBody>
                  <a:tcPr marL="45720" marR="45720" marT="18288" marB="18288" anchor="t"/>
                </a:tc>
                <a:tc>
                  <a:txBody>
                    <a:bodyPr wrap="square"/>
                    <a:lstStyle/>
                    <a:p>
                      <a:r>
                        <a:rPr sz="900" b="0" i="0">
                          <a:solidFill>
                            <a:srgbClr val="1A1A1A"/>
                          </a:solidFill>
                          <a:latin typeface="Helvetica Neue"/>
                        </a:rPr>
                        <a:t>fetal brain MRI</a:t>
                      </a:r>
                    </a:p>
                  </a:txBody>
                  <a:tcPr marL="45720" marR="45720" marT="18288" marB="18288" anchor="t"/>
                </a:tc>
                <a:tc>
                  <a:txBody>
                    <a:bodyPr wrap="square"/>
                    <a:lstStyle/>
                    <a:p>
                      <a:r>
                        <a:rPr sz="900" b="0" i="0">
                          <a:solidFill>
                            <a:srgbClr val="1A1A1A"/>
                          </a:solidFill>
                          <a:latin typeface="Helvetica Neue"/>
                        </a:rPr>
                        <a:t>280 volumes (120 train + 160 test); 7 tissue labels</a:t>
                      </a:r>
                    </a:p>
                  </a:txBody>
                  <a:tcPr marL="45720" marR="45720" marT="18288" marB="18288" anchor="t"/>
                </a:tc>
                <a:tc>
                  <a:txBody>
                    <a:bodyPr wrap="square"/>
                    <a:lstStyle/>
                    <a:p>
                      <a:r>
                        <a:rPr sz="900" b="0" i="0">
                          <a:solidFill>
                            <a:srgbClr val="1A1A1A"/>
                          </a:solidFill>
                          <a:latin typeface="Helvetica Neue"/>
                        </a:rPr>
                        <a:t>18–35 weeks</a:t>
                      </a:r>
                    </a:p>
                  </a:txBody>
                  <a:tcPr marL="45720" marR="45720" marT="18288" marB="18288" anchor="t"/>
                </a:tc>
                <a:tc>
                  <a:txBody>
                    <a:bodyPr wrap="square"/>
                    <a:lstStyle/>
                    <a:p>
                      <a:r>
                        <a:rPr sz="900" b="0" i="0">
                          <a:solidFill>
                            <a:srgbClr val="1A1A1A"/>
                          </a:solidFill>
                          <a:latin typeface="Helvetica Neue"/>
                        </a:rPr>
                        <a:t>registration</a:t>
                      </a:r>
                    </a:p>
                  </a:txBody>
                  <a:tcPr marL="45720" marR="45720" marT="18288" marB="18288" anchor="t"/>
                </a:tc>
              </a:tr>
            </a:tbl>
          </a:graphicData>
        </a:graphic>
      </p:graphicFrame>
      <p:sp>
        <p:nvSpPr>
          <p:cNvPr id="5" name="TextBox 4"/>
          <p:cNvSpPr txBox="1"/>
          <p:nvPr/>
        </p:nvSpPr>
        <p:spPr>
          <a:xfrm>
            <a:off x="411480" y="4873751"/>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Sizes verified against the primary paper or hosting page (2026-09). Only two pediatric radiograph sets exceed 10,000 images; the largest public pediatric-only CT set has 359 patients; no RSNA pediatric challenge has run since bone age in 2017. Adult benchmarks (CheXpert 224k, MIMIC-CXR 377k) exclude children.</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25 / 83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radiology AI papers, 2008-2022</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4" cy="3621024"/>
        </p:xfrm>
        <a:graphic>
          <a:graphicData uri="http://schemas.openxmlformats.org/drawingml/2006/table">
            <a:tbl>
              <a:tblPr firstRow="1" bandRow="1">
                <a:tableStyleId>{5C22544A-7EE6-4342-B048-85BDC9FD1C3A}</a:tableStyleId>
              </a:tblPr>
              <a:tblGrid>
                <a:gridCol w="512064"/>
                <a:gridCol w="512064"/>
                <a:gridCol w="4748174"/>
                <a:gridCol w="2099955"/>
                <a:gridCol w="3496477"/>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329184">
                <a:tc>
                  <a:txBody>
                    <a:bodyPr wrap="square"/>
                    <a:lstStyle/>
                    <a:p>
                      <a:pPr algn="r"/>
                      <a:r>
                        <a:rPr sz="900" b="0" i="0">
                          <a:solidFill>
                            <a:srgbClr val="1A1A1A"/>
                          </a:solidFill>
                          <a:latin typeface="Helvetica Neue"/>
                        </a:rPr>
                        <a:t>14,326</a:t>
                      </a:r>
                    </a:p>
                  </a:txBody>
                  <a:tcPr marL="45720" marR="45720" marT="18288" marB="18288" anchor="t"/>
                </a:tc>
                <a:tc>
                  <a:txBody>
                    <a:bodyPr wrap="square"/>
                    <a:lstStyle/>
                    <a:p>
                      <a:pPr algn="r"/>
                      <a:r>
                        <a:rPr sz="900" b="0" i="0">
                          <a:solidFill>
                            <a:srgbClr val="1A1A1A"/>
                          </a:solidFill>
                          <a:latin typeface="Helvetica Neue"/>
                        </a:rPr>
                        <a:t>1023.0</a:t>
                      </a:r>
                    </a:p>
                  </a:txBody>
                  <a:tcPr marL="45720" marR="45720" marT="18288" marB="18288" anchor="t"/>
                </a:tc>
                <a:tc>
                  <a:txBody>
                    <a:bodyPr wrap="square"/>
                    <a:lstStyle/>
                    <a:p>
                      <a:r>
                        <a:rPr sz="900" b="0" i="0">
                          <a:solidFill>
                            <a:srgbClr val="1A1A1A"/>
                          </a:solidFill>
                          <a:latin typeface="Helvetica Neue"/>
                        </a:rPr>
                        <a:t>A survey on deep learning in medical image analysis (2017)</a:t>
                      </a:r>
                    </a:p>
                  </a:txBody>
                  <a:tcPr marL="45720" marR="45720" marT="18288" marB="18288" anchor="t"/>
                </a:tc>
                <a:tc>
                  <a:txBody>
                    <a:bodyPr wrap="square"/>
                    <a:lstStyle/>
                    <a:p>
                      <a:r>
                        <a:rPr sz="900" b="0" i="0">
                          <a:solidFill>
                            <a:srgbClr val="1A1A1A"/>
                          </a:solidFill>
                          <a:latin typeface="Helvetica Neue"/>
                        </a:rPr>
                        <a:t>Medical Image Anal.</a:t>
                      </a:r>
                    </a:p>
                  </a:txBody>
                  <a:tcPr marL="45720" marR="45720" marT="18288" marB="18288" anchor="t"/>
                </a:tc>
                <a:tc>
                  <a:txBody>
                    <a:bodyPr wrap="square"/>
                    <a:lstStyle/>
                    <a:p>
                      <a:r>
                        <a:rPr sz="900" b="0" i="1">
                          <a:solidFill>
                            <a:srgbClr val="1A1A1A"/>
                          </a:solidFill>
                          <a:latin typeface="Helvetica Neue"/>
                        </a:rPr>
                        <a:t>survey</a:t>
                      </a:r>
                      <a:r>
                        <a:rPr sz="900" b="0" i="0">
                          <a:solidFill>
                            <a:srgbClr val="1A1A1A"/>
                          </a:solidFill>
                          <a:latin typeface="Helvetica Neue"/>
                        </a:rPr>
                        <a:t>: What can deep learning do across medical imaging? (the field's reference survey)</a:t>
                      </a:r>
                    </a:p>
                  </a:txBody>
                  <a:tcPr marL="45720" marR="45720" marT="18288" marB="18288" anchor="t"/>
                </a:tc>
              </a:tr>
              <a:tr h="329184">
                <a:tc>
                  <a:txBody>
                    <a:bodyPr wrap="square"/>
                    <a:lstStyle/>
                    <a:p>
                      <a:pPr algn="r"/>
                      <a:r>
                        <a:rPr sz="900" b="0" i="0">
                          <a:solidFill>
                            <a:srgbClr val="1A1A1A"/>
                          </a:solidFill>
                          <a:latin typeface="Helvetica Neue"/>
                        </a:rPr>
                        <a:t>5,658</a:t>
                      </a:r>
                    </a:p>
                  </a:txBody>
                  <a:tcPr marL="45720" marR="45720" marT="18288" marB="18288" anchor="t"/>
                </a:tc>
                <a:tc>
                  <a:txBody>
                    <a:bodyPr wrap="square"/>
                    <a:lstStyle/>
                    <a:p>
                      <a:pPr algn="r"/>
                      <a:r>
                        <a:rPr sz="900" b="0" i="0">
                          <a:solidFill>
                            <a:srgbClr val="1A1A1A"/>
                          </a:solidFill>
                          <a:latin typeface="Helvetica Neue"/>
                        </a:rPr>
                        <a:t>446.6</a:t>
                      </a:r>
                    </a:p>
                  </a:txBody>
                  <a:tcPr marL="45720" marR="45720" marT="18288" marB="18288" anchor="t"/>
                </a:tc>
                <a:tc>
                  <a:txBody>
                    <a:bodyPr wrap="square"/>
                    <a:lstStyle/>
                    <a:p>
                      <a:r>
                        <a:rPr sz="900" b="0" i="0">
                          <a:solidFill>
                            <a:srgbClr val="1A1A1A"/>
                          </a:solidFill>
                          <a:latin typeface="Helvetica Neue"/>
                        </a:rPr>
                        <a:t>Swin-Unet: Unet-like Pure Transformer for Medical Image Segmentation (2021)</a:t>
                      </a:r>
                    </a:p>
                  </a:txBody>
                  <a:tcPr marL="45720" marR="45720" marT="18288" marB="18288" anchor="t"/>
                </a:tc>
                <a:tc>
                  <a:txBody>
                    <a:bodyPr wrap="square"/>
                    <a:lstStyle/>
                    <a:p>
                      <a:r>
                        <a:rPr sz="900" b="0" i="0">
                          <a:solidFill>
                            <a:srgbClr val="1A1A1A"/>
                          </a:solidFill>
                          <a:latin typeface="Helvetica Neue"/>
                        </a:rPr>
                        <a:t>ECCV Workshops</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2,990</a:t>
                      </a:r>
                    </a:p>
                  </a:txBody>
                  <a:tcPr marL="45720" marR="45720" marT="18288" marB="18288" anchor="t"/>
                </a:tc>
                <a:tc>
                  <a:txBody>
                    <a:bodyPr wrap="square"/>
                    <a:lstStyle/>
                    <a:p>
                      <a:pPr algn="r"/>
                      <a:r>
                        <a:rPr sz="900" b="0" i="0">
                          <a:solidFill>
                            <a:srgbClr val="1A1A1A"/>
                          </a:solidFill>
                          <a:latin typeface="Helvetica Neue"/>
                        </a:rPr>
                        <a:t>340.4</a:t>
                      </a:r>
                    </a:p>
                  </a:txBody>
                  <a:tcPr marL="45720" marR="45720" marT="18288" marB="18288" anchor="t"/>
                </a:tc>
                <a:tc>
                  <a:txBody>
                    <a:bodyPr wrap="square"/>
                    <a:lstStyle/>
                    <a:p>
                      <a:r>
                        <a:rPr sz="900" b="0" i="0">
                          <a:solidFill>
                            <a:srgbClr val="1A1A1A"/>
                          </a:solidFill>
                          <a:latin typeface="Helvetica Neue"/>
                        </a:rPr>
                        <a:t>Deep Learning in Medical Image Analysis (2017)</a:t>
                      </a:r>
                    </a:p>
                  </a:txBody>
                  <a:tcPr marL="45720" marR="45720" marT="18288" marB="18288" anchor="t"/>
                </a:tc>
                <a:tc>
                  <a:txBody>
                    <a:bodyPr wrap="square"/>
                    <a:lstStyle/>
                    <a:p>
                      <a:r>
                        <a:rPr sz="900" b="0" i="0">
                          <a:solidFill>
                            <a:srgbClr val="1A1A1A"/>
                          </a:solidFill>
                          <a:latin typeface="Helvetica Neue"/>
                        </a:rPr>
                        <a:t>Annual Review of Biomedical Engineering</a:t>
                      </a:r>
                    </a:p>
                  </a:txBody>
                  <a:tcPr marL="45720" marR="45720" marT="18288" marB="18288" anchor="t"/>
                </a:tc>
                <a:tc>
                  <a:txBody>
                    <a:bodyPr wrap="square"/>
                    <a:lstStyle/>
                    <a:p>
                      <a:r>
                        <a:rPr sz="900" b="0" i="1">
                          <a:solidFill>
                            <a:srgbClr val="1A1A1A"/>
                          </a:solidFill>
                          <a:latin typeface="Helvetica Neue"/>
                        </a:rPr>
                        <a:t>survey</a:t>
                      </a:r>
                      <a:r>
                        <a:rPr sz="900" b="0" i="0">
                          <a:solidFill>
                            <a:srgbClr val="1A1A1A"/>
                          </a:solidFill>
                          <a:latin typeface="Helvetica Neue"/>
                        </a:rPr>
                        <a:t>: How does deep learning apply to medical image analysis? (review)</a:t>
                      </a:r>
                    </a:p>
                  </a:txBody>
                  <a:tcPr marL="45720" marR="45720" marT="18288" marB="18288" anchor="t"/>
                </a:tc>
              </a:tr>
              <a:tr h="329184">
                <a:tc>
                  <a:txBody>
                    <a:bodyPr wrap="square"/>
                    <a:lstStyle/>
                    <a:p>
                      <a:pPr algn="r"/>
                      <a:r>
                        <a:rPr sz="900" b="0" i="0">
                          <a:solidFill>
                            <a:srgbClr val="1A1A1A"/>
                          </a:solidFill>
                          <a:latin typeface="Helvetica Neue"/>
                        </a:rPr>
                        <a:t>2,553</a:t>
                      </a:r>
                    </a:p>
                  </a:txBody>
                  <a:tcPr marL="45720" marR="45720" marT="18288" marB="18288" anchor="t"/>
                </a:tc>
                <a:tc>
                  <a:txBody>
                    <a:bodyPr wrap="square"/>
                    <a:lstStyle/>
                    <a:p>
                      <a:pPr algn="r"/>
                      <a:r>
                        <a:rPr sz="900" b="0" i="0">
                          <a:solidFill>
                            <a:srgbClr val="1A1A1A"/>
                          </a:solidFill>
                          <a:latin typeface="Helvetica Neue"/>
                        </a:rPr>
                        <a:t>290.0</a:t>
                      </a:r>
                    </a:p>
                  </a:txBody>
                  <a:tcPr marL="45720" marR="45720" marT="18288" marB="18288" anchor="t"/>
                </a:tc>
                <a:tc>
                  <a:txBody>
                    <a:bodyPr wrap="square"/>
                    <a:lstStyle/>
                    <a:p>
                      <a:r>
                        <a:rPr sz="900" b="0" i="0">
                          <a:solidFill>
                            <a:srgbClr val="1A1A1A"/>
                          </a:solidFill>
                          <a:latin typeface="Helvetica Neue"/>
                        </a:rPr>
                        <a:t>Swin UNETR: Swin Transformers for Semantic Segmentation of Brain Tumors in MRI Images (2022)</a:t>
                      </a:r>
                    </a:p>
                  </a:txBody>
                  <a:tcPr marL="45720" marR="45720" marT="18288" marB="18288" anchor="t"/>
                </a:tc>
                <a:tc>
                  <a:txBody>
                    <a:bodyPr wrap="square"/>
                    <a:lstStyle/>
                    <a:p>
                      <a:r>
                        <a:rPr sz="900" b="0" i="0">
                          <a:solidFill>
                            <a:srgbClr val="1A1A1A"/>
                          </a:solidFill>
                          <a:latin typeface="Helvetica Neue"/>
                        </a:rPr>
                        <a:t>BrainLes@MICCAI</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2,769</a:t>
                      </a:r>
                    </a:p>
                  </a:txBody>
                  <a:tcPr marL="45720" marR="45720" marT="18288" marB="18288" anchor="t"/>
                </a:tc>
                <a:tc>
                  <a:txBody>
                    <a:bodyPr wrap="square"/>
                    <a:lstStyle/>
                    <a:p>
                      <a:pPr algn="r"/>
                      <a:r>
                        <a:rPr sz="900" b="0" i="0">
                          <a:solidFill>
                            <a:srgbClr val="1A1A1A"/>
                          </a:solidFill>
                          <a:latin typeface="Helvetica Neue"/>
                        </a:rPr>
                        <a:t>272.4</a:t>
                      </a:r>
                    </a:p>
                  </a:txBody>
                  <a:tcPr marL="45720" marR="45720" marT="18288" marB="18288" anchor="t"/>
                </a:tc>
                <a:tc>
                  <a:txBody>
                    <a:bodyPr wrap="square"/>
                    <a:lstStyle/>
                    <a:p>
                      <a:r>
                        <a:rPr sz="900" b="0" i="0">
                          <a:solidFill>
                            <a:srgbClr val="1A1A1A"/>
                          </a:solidFill>
                          <a:latin typeface="Helvetica Neue"/>
                        </a:rPr>
                        <a:t>COVID-Net: a tailored deep convolutional neural network design for detection of COVID-19 cases from chest X-ray images (2020)</a:t>
                      </a:r>
                    </a:p>
                  </a:txBody>
                  <a:tcPr marL="45720" marR="45720" marT="18288" marB="18288" anchor="t"/>
                </a:tc>
                <a:tc>
                  <a:txBody>
                    <a:bodyPr wrap="square"/>
                    <a:lstStyle/>
                    <a:p>
                      <a:r>
                        <a:rPr sz="900" b="0" i="0">
                          <a:solidFill>
                            <a:srgbClr val="1A1A1A"/>
                          </a:solidFill>
                          <a:latin typeface="Helvetica Neue"/>
                        </a:rPr>
                        <a:t>Scientific Reports</a:t>
                      </a:r>
                    </a:p>
                  </a:txBody>
                  <a:tcPr marL="45720" marR="45720" marT="18288" marB="18288" anchor="t"/>
                </a:tc>
                <a:tc>
                  <a:txBody>
                    <a:bodyPr wrap="square"/>
                    <a:lstStyle/>
                    <a:p>
                      <a:r>
                        <a:rPr sz="900" b="0" i="1">
                          <a:solidFill>
                            <a:srgbClr val="1A1A1A"/>
                          </a:solidFill>
                          <a:latin typeface="Helvetica Neue"/>
                        </a:rPr>
                        <a:t>classification</a:t>
                      </a:r>
                      <a:r>
                        <a:rPr sz="900" b="0" i="0">
                          <a:solidFill>
                            <a:srgbClr val="1A1A1A"/>
                          </a:solidFill>
                          <a:latin typeface="Helvetica Neue"/>
                        </a:rPr>
                        <a:t>: Can a CNN detect COVID-19 on chest X-ray? (COVID-Net)</a:t>
                      </a:r>
                    </a:p>
                  </a:txBody>
                  <a:tcPr marL="45720" marR="45720" marT="18288" marB="18288" anchor="t"/>
                </a:tc>
              </a:tr>
              <a:tr h="466344">
                <a:tc>
                  <a:txBody>
                    <a:bodyPr wrap="square"/>
                    <a:lstStyle/>
                    <a:p>
                      <a:pPr algn="r"/>
                      <a:r>
                        <a:rPr sz="900" b="0" i="0">
                          <a:solidFill>
                            <a:srgbClr val="1A1A1A"/>
                          </a:solidFill>
                          <a:latin typeface="Helvetica Neue"/>
                        </a:rPr>
                        <a:t>3,634</a:t>
                      </a:r>
                    </a:p>
                  </a:txBody>
                  <a:tcPr marL="45720" marR="45720" marT="18288" marB="18288" anchor="t"/>
                </a:tc>
                <a:tc>
                  <a:txBody>
                    <a:bodyPr wrap="square"/>
                    <a:lstStyle/>
                    <a:p>
                      <a:pPr algn="r"/>
                      <a:r>
                        <a:rPr sz="900" b="0" i="0">
                          <a:solidFill>
                            <a:srgbClr val="1A1A1A"/>
                          </a:solidFill>
                          <a:latin typeface="Helvetica Neue"/>
                        </a:rPr>
                        <a:t>236.9</a:t>
                      </a:r>
                    </a:p>
                  </a:txBody>
                  <a:tcPr marL="45720" marR="45720" marT="18288" marB="18288" anchor="t"/>
                </a:tc>
                <a:tc>
                  <a:txBody>
                    <a:bodyPr wrap="square"/>
                    <a:lstStyle/>
                    <a:p>
                      <a:r>
                        <a:rPr sz="900" b="0" i="0">
                          <a:solidFill>
                            <a:srgbClr val="1A1A1A"/>
                          </a:solidFill>
                          <a:latin typeface="Helvetica Neue"/>
                        </a:rPr>
                        <a:t>ChestX-Ray8: Hospital-Scale Chest X-Ray Database and Benchmarks on Weakly-Supervised Classification and Localization of Common Thorax Diseases (2017)</a:t>
                      </a:r>
                    </a:p>
                  </a:txBody>
                  <a:tcPr marL="45720" marR="45720" marT="18288" marB="18288" anchor="t"/>
                </a:tc>
                <a:tc>
                  <a:txBody>
                    <a:bodyPr wrap="square"/>
                    <a:lstStyle/>
                    <a:p>
                      <a:r>
                        <a:rPr sz="900" b="0" i="0">
                          <a:solidFill>
                            <a:srgbClr val="1A1A1A"/>
                          </a:solidFill>
                          <a:latin typeface="Helvetica Neue"/>
                        </a:rPr>
                        <a:t>Computer Vision and Pattern Recognition</a:t>
                      </a:r>
                    </a:p>
                  </a:txBody>
                  <a:tcPr marL="45720" marR="45720" marT="18288" marB="18288" anchor="t"/>
                </a:tc>
                <a:tc>
                  <a:txBody>
                    <a:bodyPr wrap="square"/>
                    <a:lstStyle/>
                    <a:p>
                      <a:r>
                        <a:rPr sz="900" b="0" i="1">
                          <a:solidFill>
                            <a:srgbClr val="1A1A1A"/>
                          </a:solidFill>
                          <a:latin typeface="Helvetica Neue"/>
                        </a:rPr>
                        <a:t>classification</a:t>
                      </a:r>
                    </a:p>
                  </a:txBody>
                  <a:tcPr marL="45720" marR="45720" marT="18288" marB="18288" anchor="t"/>
                </a:tc>
              </a:tr>
              <a:tr h="329184">
                <a:tc>
                  <a:txBody>
                    <a:bodyPr wrap="square"/>
                    <a:lstStyle/>
                    <a:p>
                      <a:pPr algn="r"/>
                      <a:r>
                        <a:rPr sz="900" b="0" i="0">
                          <a:solidFill>
                            <a:srgbClr val="1A1A1A"/>
                          </a:solidFill>
                          <a:latin typeface="Helvetica Neue"/>
                        </a:rPr>
                        <a:t>10,044</a:t>
                      </a:r>
                    </a:p>
                  </a:txBody>
                  <a:tcPr marL="45720" marR="45720" marT="18288" marB="18288" anchor="t"/>
                </a:tc>
                <a:tc>
                  <a:txBody>
                    <a:bodyPr wrap="square"/>
                    <a:lstStyle/>
                    <a:p>
                      <a:pPr algn="r"/>
                      <a:r>
                        <a:rPr sz="900" b="0" i="0">
                          <a:solidFill>
                            <a:srgbClr val="1A1A1A"/>
                          </a:solidFill>
                          <a:latin typeface="Helvetica Neue"/>
                        </a:rPr>
                        <a:t>226.3</a:t>
                      </a:r>
                    </a:p>
                  </a:txBody>
                  <a:tcPr marL="45720" marR="45720" marT="18288" marB="18288" anchor="t"/>
                </a:tc>
                <a:tc>
                  <a:txBody>
                    <a:bodyPr wrap="square"/>
                    <a:lstStyle/>
                    <a:p>
                      <a:r>
                        <a:rPr sz="900" b="0" i="0">
                          <a:solidFill>
                            <a:srgbClr val="1A1A1A"/>
                          </a:solidFill>
                          <a:latin typeface="Helvetica Neue"/>
                        </a:rPr>
                        <a:t>nnU-Net: a self-configuring method for deep learning-based biomedical image segmentation (2020)</a:t>
                      </a:r>
                    </a:p>
                  </a:txBody>
                  <a:tcPr marL="45720" marR="45720" marT="18288" marB="18288" anchor="t"/>
                </a:tc>
                <a:tc>
                  <a:txBody>
                    <a:bodyPr wrap="square"/>
                    <a:lstStyle/>
                    <a:p>
                      <a:r>
                        <a:rPr sz="900" b="0" i="0">
                          <a:solidFill>
                            <a:srgbClr val="1A1A1A"/>
                          </a:solidFill>
                          <a:latin typeface="Helvetica Neue"/>
                        </a:rPr>
                        <a:t>Nature Methods</a:t>
                      </a:r>
                    </a:p>
                  </a:txBody>
                  <a:tcPr marL="45720" marR="45720" marT="18288" marB="18288" anchor="t"/>
                </a:tc>
                <a:tc>
                  <a:txBody>
                    <a:bodyPr wrap="square"/>
                    <a:lstStyle/>
                    <a:p>
                      <a:r>
                        <a:rPr sz="900" b="0" i="1">
                          <a:solidFill>
                            <a:srgbClr val="1A1A1A"/>
                          </a:solidFill>
                          <a:latin typeface="Helvetica Neue"/>
                        </a:rPr>
                        <a:t>segmentation</a:t>
                      </a:r>
                      <a:r>
                        <a:rPr sz="900" b="0" i="0">
                          <a:solidFill>
                            <a:srgbClr val="1A1A1A"/>
                          </a:solidFill>
                          <a:latin typeface="Helvetica Neue"/>
                        </a:rPr>
                        <a:t>: Can one self-configuring method segment any organ or lesion without hand tuning? (nnU-Net)</a:t>
                      </a:r>
                    </a:p>
                  </a:txBody>
                  <a:tcPr marL="45720" marR="45720" marT="18288" marB="18288" anchor="t"/>
                </a:tc>
              </a:tr>
              <a:tr h="329184">
                <a:tc>
                  <a:txBody>
                    <a:bodyPr wrap="square"/>
                    <a:lstStyle/>
                    <a:p>
                      <a:pPr algn="r"/>
                      <a:r>
                        <a:rPr sz="900" b="0" i="0">
                          <a:solidFill>
                            <a:srgbClr val="1A1A1A"/>
                          </a:solidFill>
                          <a:latin typeface="Helvetica Neue"/>
                        </a:rPr>
                        <a:t>4,100</a:t>
                      </a:r>
                    </a:p>
                  </a:txBody>
                  <a:tcPr marL="45720" marR="45720" marT="18288" marB="18288" anchor="t"/>
                </a:tc>
                <a:tc>
                  <a:txBody>
                    <a:bodyPr wrap="square"/>
                    <a:lstStyle/>
                    <a:p>
                      <a:pPr algn="r"/>
                      <a:r>
                        <a:rPr sz="900" b="0" i="0">
                          <a:solidFill>
                            <a:srgbClr val="1A1A1A"/>
                          </a:solidFill>
                          <a:latin typeface="Helvetica Neue"/>
                        </a:rPr>
                        <a:t>170.2</a:t>
                      </a:r>
                    </a:p>
                  </a:txBody>
                  <a:tcPr marL="45720" marR="45720" marT="18288" marB="18288" anchor="t"/>
                </a:tc>
                <a:tc>
                  <a:txBody>
                    <a:bodyPr wrap="square"/>
                    <a:lstStyle/>
                    <a:p>
                      <a:r>
                        <a:rPr sz="900" b="0" i="0">
                          <a:solidFill>
                            <a:srgbClr val="1A1A1A"/>
                          </a:solidFill>
                          <a:latin typeface="Helvetica Neue"/>
                        </a:rPr>
                        <a:t>Convolutional neural networks: an overview and application in radiology (2018)</a:t>
                      </a:r>
                    </a:p>
                  </a:txBody>
                  <a:tcPr marL="45720" marR="45720" marT="18288" marB="18288" anchor="t"/>
                </a:tc>
                <a:tc>
                  <a:txBody>
                    <a:bodyPr wrap="square"/>
                    <a:lstStyle/>
                    <a:p>
                      <a:r>
                        <a:rPr sz="900" b="0" i="0">
                          <a:solidFill>
                            <a:srgbClr val="1A1A1A"/>
                          </a:solidFill>
                          <a:latin typeface="Helvetica Neue"/>
                        </a:rPr>
                        <a:t>Insights into Imaging</a:t>
                      </a:r>
                    </a:p>
                  </a:txBody>
                  <a:tcPr marL="45720" marR="45720" marT="18288" marB="18288" anchor="t"/>
                </a:tc>
                <a:tc>
                  <a:txBody>
                    <a:bodyPr wrap="square"/>
                    <a:lstStyle/>
                    <a:p>
                      <a:r>
                        <a:rPr sz="900" b="0" i="1">
                          <a:solidFill>
                            <a:srgbClr val="1A1A1A"/>
                          </a:solidFill>
                          <a:latin typeface="Helvetica Neue"/>
                        </a:rPr>
                        <a:t>tutorial</a:t>
                      </a:r>
                      <a:r>
                        <a:rPr sz="900" b="0" i="0">
                          <a:solidFill>
                            <a:srgbClr val="1A1A1A"/>
                          </a:solidFill>
                          <a:latin typeface="Helvetica Neue"/>
                        </a:rPr>
                        <a:t>: What is a convolutional neural network, explained for radiologists?</a:t>
                      </a:r>
                    </a:p>
                  </a:txBody>
                  <a:tcPr marL="45720" marR="45720" marT="18288" marB="18288" anchor="t"/>
                </a:tc>
              </a:tr>
              <a:tr h="329184">
                <a:tc>
                  <a:txBody>
                    <a:bodyPr wrap="square"/>
                    <a:lstStyle/>
                    <a:p>
                      <a:pPr algn="r"/>
                      <a:r>
                        <a:rPr sz="900" b="0" i="0">
                          <a:solidFill>
                            <a:srgbClr val="1A1A1A"/>
                          </a:solidFill>
                          <a:latin typeface="Helvetica Neue"/>
                        </a:rPr>
                        <a:t>5,587</a:t>
                      </a:r>
                    </a:p>
                  </a:txBody>
                  <a:tcPr marL="45720" marR="45720" marT="18288" marB="18288" anchor="t"/>
                </a:tc>
                <a:tc>
                  <a:txBody>
                    <a:bodyPr wrap="square"/>
                    <a:lstStyle/>
                    <a:p>
                      <a:pPr algn="r"/>
                      <a:r>
                        <a:rPr sz="900" b="0" i="0">
                          <a:solidFill>
                            <a:srgbClr val="1A1A1A"/>
                          </a:solidFill>
                          <a:latin typeface="Helvetica Neue"/>
                        </a:rPr>
                        <a:t>158.4</a:t>
                      </a:r>
                    </a:p>
                  </a:txBody>
                  <a:tcPr marL="45720" marR="45720" marT="18288" marB="18288" anchor="t"/>
                </a:tc>
                <a:tc>
                  <a:txBody>
                    <a:bodyPr wrap="square"/>
                    <a:lstStyle/>
                    <a:p>
                      <a:r>
                        <a:rPr sz="900" b="0" i="0">
                          <a:solidFill>
                            <a:srgbClr val="1A1A1A"/>
                          </a:solidFill>
                          <a:latin typeface="Helvetica Neue"/>
                        </a:rPr>
                        <a:t>Computational Radiomics System to Decode the Radiographic Phenotype (2017)</a:t>
                      </a:r>
                    </a:p>
                  </a:txBody>
                  <a:tcPr marL="45720" marR="45720" marT="18288" marB="18288" anchor="t"/>
                </a:tc>
                <a:tc>
                  <a:txBody>
                    <a:bodyPr wrap="square"/>
                    <a:lstStyle/>
                    <a:p>
                      <a:r>
                        <a:rPr sz="900" b="0" i="0">
                          <a:solidFill>
                            <a:srgbClr val="1A1A1A"/>
                          </a:solidFill>
                          <a:latin typeface="Helvetica Neue"/>
                        </a:rPr>
                        <a:t>Cancer Research</a:t>
                      </a:r>
                    </a:p>
                  </a:txBody>
                  <a:tcPr marL="45720" marR="45720" marT="18288" marB="18288" anchor="t"/>
                </a:tc>
                <a:tc>
                  <a:txBody>
                    <a:bodyPr wrap="square"/>
                    <a:lstStyle/>
                    <a:p>
                      <a:r>
                        <a:rPr sz="900" b="0" i="1">
                          <a:solidFill>
                            <a:srgbClr val="1A1A1A"/>
                          </a:solidFill>
                          <a:latin typeface="Helvetica Neue"/>
                        </a:rPr>
                        <a:t>radiomics</a:t>
                      </a:r>
                      <a:r>
                        <a:rPr sz="900" b="0" i="0">
                          <a:solidFill>
                            <a:srgbClr val="1A1A1A"/>
                          </a:solidFill>
                          <a:latin typeface="Helvetica Neue"/>
                        </a:rPr>
                        <a:t>: Can standardized image features (radiomics) be extracted reproducibly? (PyRadiomics)</a:t>
                      </a:r>
                    </a:p>
                  </a:txBody>
                  <a:tcPr marL="45720" marR="45720" marT="18288" marB="18288" anchor="t"/>
                </a:tc>
              </a:tr>
              <a:tr h="329184">
                <a:tc>
                  <a:txBody>
                    <a:bodyPr wrap="square"/>
                    <a:lstStyle/>
                    <a:p>
                      <a:pPr algn="r"/>
                      <a:r>
                        <a:rPr sz="900" b="0" i="0">
                          <a:solidFill>
                            <a:srgbClr val="1A1A1A"/>
                          </a:solidFill>
                          <a:latin typeface="Helvetica Neue"/>
                        </a:rPr>
                        <a:t>3,322</a:t>
                      </a:r>
                    </a:p>
                  </a:txBody>
                  <a:tcPr marL="45720" marR="45720" marT="18288" marB="18288" anchor="t"/>
                </a:tc>
                <a:tc>
                  <a:txBody>
                    <a:bodyPr wrap="square"/>
                    <a:lstStyle/>
                    <a:p>
                      <a:pPr algn="r"/>
                      <a:r>
                        <a:rPr sz="900" b="0" i="0">
                          <a:solidFill>
                            <a:srgbClr val="1A1A1A"/>
                          </a:solidFill>
                          <a:latin typeface="Helvetica Neue"/>
                        </a:rPr>
                        <a:t>149.0</a:t>
                      </a:r>
                    </a:p>
                  </a:txBody>
                  <a:tcPr marL="45720" marR="45720" marT="18288" marB="18288" anchor="t"/>
                </a:tc>
                <a:tc>
                  <a:txBody>
                    <a:bodyPr wrap="square"/>
                    <a:lstStyle/>
                    <a:p>
                      <a:r>
                        <a:rPr sz="900" b="0" i="0">
                          <a:solidFill>
                            <a:srgbClr val="1A1A1A"/>
                          </a:solidFill>
                          <a:latin typeface="Helvetica Neue"/>
                        </a:rPr>
                        <a:t>Artificial intelligence in radiology (2018)</a:t>
                      </a:r>
                    </a:p>
                  </a:txBody>
                  <a:tcPr marL="45720" marR="45720" marT="18288" marB="18288" anchor="t"/>
                </a:tc>
                <a:tc>
                  <a:txBody>
                    <a:bodyPr wrap="square"/>
                    <a:lstStyle/>
                    <a:p>
                      <a:r>
                        <a:rPr sz="900" b="0" i="0">
                          <a:solidFill>
                            <a:srgbClr val="1A1A1A"/>
                          </a:solidFill>
                          <a:latin typeface="Helvetica Neue"/>
                        </a:rPr>
                        <a:t>Nature Reviews. Cancer</a:t>
                      </a:r>
                    </a:p>
                  </a:txBody>
                  <a:tcPr marL="45720" marR="45720" marT="18288" marB="18288" anchor="t"/>
                </a:tc>
                <a:tc>
                  <a:txBody>
                    <a:bodyPr wrap="square"/>
                    <a:lstStyle/>
                    <a:p>
                      <a:r>
                        <a:rPr sz="900" b="0" i="1">
                          <a:solidFill>
                            <a:srgbClr val="1A1A1A"/>
                          </a:solidFill>
                          <a:latin typeface="Helvetica Neue"/>
                        </a:rPr>
                        <a:t>review</a:t>
                      </a:r>
                      <a:r>
                        <a:rPr sz="900" b="0" i="0">
                          <a:solidFill>
                            <a:srgbClr val="1A1A1A"/>
                          </a:solidFill>
                          <a:latin typeface="Helvetica Neue"/>
                        </a:rPr>
                        <a:t>: How will AI change radiology practice? (Hosny et al.)</a:t>
                      </a:r>
                    </a:p>
                  </a:txBody>
                  <a:tcPr marL="45720" marR="45720" marT="18288" marB="18288" anchor="t"/>
                </a:tc>
              </a:tr>
            </a:tbl>
          </a:graphicData>
        </a:graphic>
      </p:graphicFrame>
      <p:sp>
        <p:nvSpPr>
          <p:cNvPr id="5" name="TextBox 4"/>
          <p:cNvSpPr txBox="1"/>
          <p:nvPr/>
        </p:nvSpPr>
        <p:spPr>
          <a:xfrm>
            <a:off x="411480" y="4571999"/>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Rows are the most-cited papers of the period, ordered by FWCI = field-weighted citation impact (OpenAlex): citations relative to the world average for papers of the same field and year (1 = average), so a recent paper can be compared with an older one. Preprints (arXiv, medRxiv) are included; the venue column names the server.</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26 / 83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radiology AI papers, 2023</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4" cy="3758184"/>
        </p:xfrm>
        <a:graphic>
          <a:graphicData uri="http://schemas.openxmlformats.org/drawingml/2006/table">
            <a:tbl>
              <a:tblPr firstRow="1" bandRow="1">
                <a:tableStyleId>{5C22544A-7EE6-4342-B048-85BDC9FD1C3A}</a:tableStyleId>
              </a:tblPr>
              <a:tblGrid>
                <a:gridCol w="480060"/>
                <a:gridCol w="448056"/>
                <a:gridCol w="4797041"/>
                <a:gridCol w="2116341"/>
                <a:gridCol w="3527236"/>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329184">
                <a:tc>
                  <a:txBody>
                    <a:bodyPr wrap="square"/>
                    <a:lstStyle/>
                    <a:p>
                      <a:pPr algn="r"/>
                      <a:r>
                        <a:rPr sz="900" b="0" i="0">
                          <a:solidFill>
                            <a:srgbClr val="1A1A1A"/>
                          </a:solidFill>
                          <a:latin typeface="Helvetica Neue"/>
                        </a:rPr>
                        <a:t>1,608</a:t>
                      </a:r>
                    </a:p>
                  </a:txBody>
                  <a:tcPr marL="45720" marR="45720" marT="18288" marB="18288" anchor="t"/>
                </a:tc>
                <a:tc>
                  <a:txBody>
                    <a:bodyPr wrap="square"/>
                    <a:lstStyle/>
                    <a:p>
                      <a:pPr algn="r"/>
                      <a:r>
                        <a:rPr sz="900" b="0" i="0">
                          <a:solidFill>
                            <a:srgbClr val="1A1A1A"/>
                          </a:solidFill>
                          <a:latin typeface="Helvetica Neue"/>
                        </a:rPr>
                        <a:t>615.8</a:t>
                      </a:r>
                    </a:p>
                  </a:txBody>
                  <a:tcPr marL="45720" marR="45720" marT="18288" marB="18288" anchor="t"/>
                </a:tc>
                <a:tc>
                  <a:txBody>
                    <a:bodyPr wrap="square"/>
                    <a:lstStyle/>
                    <a:p>
                      <a:r>
                        <a:rPr sz="900" b="0" i="0">
                          <a:solidFill>
                            <a:srgbClr val="1A1A1A"/>
                          </a:solidFill>
                          <a:latin typeface="Helvetica Neue"/>
                        </a:rPr>
                        <a:t>Segment anything in medical images</a:t>
                      </a:r>
                    </a:p>
                  </a:txBody>
                  <a:tcPr marL="45720" marR="45720" marT="18288" marB="18288" anchor="t"/>
                </a:tc>
                <a:tc>
                  <a:txBody>
                    <a:bodyPr wrap="square"/>
                    <a:lstStyle/>
                    <a:p>
                      <a:r>
                        <a:rPr sz="900" b="0" i="0">
                          <a:solidFill>
                            <a:srgbClr val="1A1A1A"/>
                          </a:solidFill>
                          <a:latin typeface="Helvetica Neue"/>
                        </a:rPr>
                        <a:t>Nature Communications</a:t>
                      </a:r>
                    </a:p>
                  </a:txBody>
                  <a:tcPr marL="45720" marR="45720" marT="18288" marB="18288" anchor="t"/>
                </a:tc>
                <a:tc>
                  <a:txBody>
                    <a:bodyPr wrap="square"/>
                    <a:lstStyle/>
                    <a:p>
                      <a:r>
                        <a:rPr sz="900" b="0" i="1">
                          <a:solidFill>
                            <a:srgbClr val="1A1A1A"/>
                          </a:solidFill>
                          <a:latin typeface="Helvetica Neue"/>
                        </a:rPr>
                        <a:t>foundation</a:t>
                      </a:r>
                      <a:r>
                        <a:rPr sz="900" b="0" i="0">
                          <a:solidFill>
                            <a:srgbClr val="1A1A1A"/>
                          </a:solidFill>
                          <a:latin typeface="Helvetica Neue"/>
                        </a:rPr>
                        <a:t>: Can a prompt-based 'segment anything' model work on medical images? (MedSAM)</a:t>
                      </a:r>
                    </a:p>
                  </a:txBody>
                  <a:tcPr marL="45720" marR="45720" marT="18288" marB="18288" anchor="t"/>
                </a:tc>
              </a:tr>
              <a:tr h="466344">
                <a:tc>
                  <a:txBody>
                    <a:bodyPr wrap="square"/>
                    <a:lstStyle/>
                    <a:p>
                      <a:pPr algn="r"/>
                      <a:r>
                        <a:rPr sz="900" b="0" i="0">
                          <a:solidFill>
                            <a:srgbClr val="1A1A1A"/>
                          </a:solidFill>
                          <a:latin typeface="Helvetica Neue"/>
                        </a:rPr>
                        <a:t>2,099</a:t>
                      </a:r>
                    </a:p>
                  </a:txBody>
                  <a:tcPr marL="45720" marR="45720" marT="18288" marB="18288" anchor="t"/>
                </a:tc>
                <a:tc>
                  <a:txBody>
                    <a:bodyPr wrap="square"/>
                    <a:lstStyle/>
                    <a:p>
                      <a:pPr algn="r"/>
                      <a:r>
                        <a:rPr sz="900" b="0" i="0">
                          <a:solidFill>
                            <a:srgbClr val="1A1A1A"/>
                          </a:solidFill>
                          <a:latin typeface="Helvetica Neue"/>
                        </a:rPr>
                        <a:t>243.8</a:t>
                      </a:r>
                    </a:p>
                  </a:txBody>
                  <a:tcPr marL="45720" marR="45720" marT="18288" marB="18288" anchor="t"/>
                </a:tc>
                <a:tc>
                  <a:txBody>
                    <a:bodyPr wrap="square"/>
                    <a:lstStyle/>
                    <a:p>
                      <a:r>
                        <a:rPr sz="900" b="0" i="0">
                          <a:solidFill>
                            <a:srgbClr val="1A1A1A"/>
                          </a:solidFill>
                          <a:latin typeface="Helvetica Neue"/>
                        </a:rPr>
                        <a:t>Foundation models for generalist medical artificial intelligence</a:t>
                      </a:r>
                    </a:p>
                  </a:txBody>
                  <a:tcPr marL="45720" marR="45720" marT="18288" marB="18288" anchor="t"/>
                </a:tc>
                <a:tc>
                  <a:txBody>
                    <a:bodyPr wrap="square"/>
                    <a:lstStyle/>
                    <a:p>
                      <a:r>
                        <a:rPr sz="900" b="0" i="0">
                          <a:solidFill>
                            <a:srgbClr val="1A1A1A"/>
                          </a:solidFill>
                          <a:latin typeface="Helvetica Neue"/>
                        </a:rPr>
                        <a:t>Nature</a:t>
                      </a:r>
                    </a:p>
                  </a:txBody>
                  <a:tcPr marL="45720" marR="45720" marT="18288" marB="18288" anchor="t"/>
                </a:tc>
                <a:tc>
                  <a:txBody>
                    <a:bodyPr wrap="square"/>
                    <a:lstStyle/>
                    <a:p>
                      <a:r>
                        <a:rPr sz="900" b="0" i="1">
                          <a:solidFill>
                            <a:srgbClr val="1A1A1A"/>
                          </a:solidFill>
                          <a:latin typeface="Helvetica Neue"/>
                        </a:rPr>
                        <a:t>foundation model</a:t>
                      </a:r>
                      <a:r>
                        <a:rPr sz="900" b="0" i="0">
                          <a:solidFill>
                            <a:srgbClr val="1A1A1A"/>
                          </a:solidFill>
                          <a:latin typeface="Helvetica Neue"/>
                        </a:rPr>
                        <a:t>: What would a single generalist medical AI model that handles images, text and records look like? (perspective)</a:t>
                      </a:r>
                    </a:p>
                  </a:txBody>
                  <a:tcPr marL="45720" marR="45720" marT="18288" marB="18288" anchor="t"/>
                </a:tc>
              </a:tr>
              <a:tr h="329184">
                <a:tc>
                  <a:txBody>
                    <a:bodyPr wrap="square"/>
                    <a:lstStyle/>
                    <a:p>
                      <a:pPr algn="r"/>
                      <a:r>
                        <a:rPr sz="900" b="0" i="0">
                          <a:solidFill>
                            <a:srgbClr val="1A1A1A"/>
                          </a:solidFill>
                          <a:latin typeface="Helvetica Neue"/>
                        </a:rPr>
                        <a:t>702</a:t>
                      </a:r>
                    </a:p>
                  </a:txBody>
                  <a:tcPr marL="45720" marR="45720" marT="18288" marB="18288" anchor="t"/>
                </a:tc>
                <a:tc>
                  <a:txBody>
                    <a:bodyPr wrap="square"/>
                    <a:lstStyle/>
                    <a:p>
                      <a:pPr algn="r"/>
                      <a:r>
                        <a:rPr sz="900" b="0" i="0">
                          <a:solidFill>
                            <a:srgbClr val="1A1A1A"/>
                          </a:solidFill>
                          <a:latin typeface="Helvetica Neue"/>
                        </a:rPr>
                        <a:t>118.5</a:t>
                      </a:r>
                    </a:p>
                  </a:txBody>
                  <a:tcPr marL="45720" marR="45720" marT="18288" marB="18288" anchor="t"/>
                </a:tc>
                <a:tc>
                  <a:txBody>
                    <a:bodyPr wrap="square"/>
                    <a:lstStyle/>
                    <a:p>
                      <a:r>
                        <a:rPr sz="900" b="0" i="0">
                          <a:solidFill>
                            <a:srgbClr val="1A1A1A"/>
                          </a:solidFill>
                          <a:latin typeface="Helvetica Neue"/>
                        </a:rPr>
                        <a:t>Redefining Radiology: A Review of Artificial Intelligence Integration in Medical Imaging</a:t>
                      </a:r>
                    </a:p>
                  </a:txBody>
                  <a:tcPr marL="45720" marR="45720" marT="18288" marB="18288" anchor="t"/>
                </a:tc>
                <a:tc>
                  <a:txBody>
                    <a:bodyPr wrap="square"/>
                    <a:lstStyle/>
                    <a:p>
                      <a:r>
                        <a:rPr sz="900" b="0" i="0">
                          <a:solidFill>
                            <a:srgbClr val="1A1A1A"/>
                          </a:solidFill>
                          <a:latin typeface="Helvetica Neue"/>
                        </a:rPr>
                        <a:t>Diagnostics</a:t>
                      </a:r>
                    </a:p>
                  </a:txBody>
                  <a:tcPr marL="45720" marR="45720" marT="18288" marB="18288" anchor="t"/>
                </a:tc>
                <a:tc>
                  <a:txBody>
                    <a:bodyPr wrap="square"/>
                    <a:lstStyle/>
                    <a:p>
                      <a:r>
                        <a:rPr sz="900" b="0" i="1">
                          <a:solidFill>
                            <a:srgbClr val="1A1A1A"/>
                          </a:solidFill>
                          <a:latin typeface="Helvetica Neue"/>
                        </a:rPr>
                        <a:t>survey / review</a:t>
                      </a:r>
                      <a:r>
                        <a:rPr sz="900" b="0" i="0">
                          <a:solidFill>
                            <a:srgbClr val="1A1A1A"/>
                          </a:solidFill>
                          <a:latin typeface="Helvetica Neue"/>
                        </a:rPr>
                        <a:t>: Where does AI fit in radiology workflow, from acquisition to reporting? (review)</a:t>
                      </a:r>
                    </a:p>
                  </a:txBody>
                  <a:tcPr marL="45720" marR="45720" marT="18288" marB="18288" anchor="t"/>
                </a:tc>
              </a:tr>
              <a:tr h="192024">
                <a:tc>
                  <a:txBody>
                    <a:bodyPr wrap="square"/>
                    <a:lstStyle/>
                    <a:p>
                      <a:pPr algn="r"/>
                      <a:r>
                        <a:rPr sz="900" b="0" i="0">
                          <a:solidFill>
                            <a:srgbClr val="1A1A1A"/>
                          </a:solidFill>
                          <a:latin typeface="Helvetica Neue"/>
                        </a:rPr>
                        <a:t>509</a:t>
                      </a:r>
                    </a:p>
                  </a:txBody>
                  <a:tcPr marL="45720" marR="45720" marT="18288" marB="18288" anchor="t"/>
                </a:tc>
                <a:tc>
                  <a:txBody>
                    <a:bodyPr wrap="square"/>
                    <a:lstStyle/>
                    <a:p>
                      <a:pPr algn="r"/>
                      <a:r>
                        <a:rPr sz="900" b="0" i="0">
                          <a:solidFill>
                            <a:srgbClr val="1A1A1A"/>
                          </a:solidFill>
                          <a:latin typeface="Helvetica Neue"/>
                        </a:rPr>
                        <a:t>75.2</a:t>
                      </a:r>
                    </a:p>
                  </a:txBody>
                  <a:tcPr marL="45720" marR="45720" marT="18288" marB="18288" anchor="t"/>
                </a:tc>
                <a:tc>
                  <a:txBody>
                    <a:bodyPr wrap="square"/>
                    <a:lstStyle/>
                    <a:p>
                      <a:r>
                        <a:rPr sz="900" b="0" i="0">
                          <a:solidFill>
                            <a:srgbClr val="1A1A1A"/>
                          </a:solidFill>
                          <a:latin typeface="Helvetica Neue"/>
                        </a:rPr>
                        <a:t>Medical image analysis using deep learning algorithms</a:t>
                      </a:r>
                    </a:p>
                  </a:txBody>
                  <a:tcPr marL="45720" marR="45720" marT="18288" marB="18288" anchor="t"/>
                </a:tc>
                <a:tc>
                  <a:txBody>
                    <a:bodyPr wrap="square"/>
                    <a:lstStyle/>
                    <a:p>
                      <a:r>
                        <a:rPr sz="900" b="0" i="0">
                          <a:solidFill>
                            <a:srgbClr val="1A1A1A"/>
                          </a:solidFill>
                          <a:latin typeface="Helvetica Neue"/>
                        </a:rPr>
                        <a:t>Frontiers in Public Health</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r h="329184">
                <a:tc>
                  <a:txBody>
                    <a:bodyPr wrap="square"/>
                    <a:lstStyle/>
                    <a:p>
                      <a:pPr algn="r"/>
                      <a:r>
                        <a:rPr sz="900" b="0" i="0">
                          <a:solidFill>
                            <a:srgbClr val="1A1A1A"/>
                          </a:solidFill>
                          <a:latin typeface="Helvetica Neue"/>
                        </a:rPr>
                        <a:t>562</a:t>
                      </a:r>
                    </a:p>
                  </a:txBody>
                  <a:tcPr marL="45720" marR="45720" marT="18288" marB="18288" anchor="t"/>
                </a:tc>
                <a:tc>
                  <a:txBody>
                    <a:bodyPr wrap="square"/>
                    <a:lstStyle/>
                    <a:p>
                      <a:pPr algn="r"/>
                      <a:r>
                        <a:rPr sz="900" b="0" i="0">
                          <a:solidFill>
                            <a:srgbClr val="1A1A1A"/>
                          </a:solidFill>
                          <a:latin typeface="Helvetica Neue"/>
                        </a:rPr>
                        <a:t>74.5</a:t>
                      </a:r>
                    </a:p>
                  </a:txBody>
                  <a:tcPr marL="45720" marR="45720" marT="18288" marB="18288" anchor="t"/>
                </a:tc>
                <a:tc>
                  <a:txBody>
                    <a:bodyPr wrap="square"/>
                    <a:lstStyle/>
                    <a:p>
                      <a:r>
                        <a:rPr sz="900" b="0" i="0">
                          <a:solidFill>
                            <a:srgbClr val="1A1A1A"/>
                          </a:solidFill>
                          <a:latin typeface="Helvetica Neue"/>
                        </a:rPr>
                        <a:t>A Study of CNN and Transfer Learning in Medical Imaging: Advantages, Challenges, Future Scope</a:t>
                      </a:r>
                    </a:p>
                  </a:txBody>
                  <a:tcPr marL="45720" marR="45720" marT="18288" marB="18288" anchor="t"/>
                </a:tc>
                <a:tc>
                  <a:txBody>
                    <a:bodyPr wrap="square"/>
                    <a:lstStyle/>
                    <a:p>
                      <a:r>
                        <a:rPr sz="900" b="0" i="0">
                          <a:solidFill>
                            <a:srgbClr val="1A1A1A"/>
                          </a:solidFill>
                          <a:latin typeface="Helvetica Neue"/>
                        </a:rPr>
                        <a:t>Sustainability</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r h="466344">
                <a:tc>
                  <a:txBody>
                    <a:bodyPr wrap="square"/>
                    <a:lstStyle/>
                    <a:p>
                      <a:pPr algn="r"/>
                      <a:r>
                        <a:rPr sz="900" b="0" i="0">
                          <a:solidFill>
                            <a:srgbClr val="1A1A1A"/>
                          </a:solidFill>
                          <a:latin typeface="Helvetica Neue"/>
                        </a:rPr>
                        <a:t>861</a:t>
                      </a:r>
                    </a:p>
                  </a:txBody>
                  <a:tcPr marL="45720" marR="45720" marT="18288" marB="18288" anchor="t"/>
                </a:tc>
                <a:tc>
                  <a:txBody>
                    <a:bodyPr wrap="square"/>
                    <a:lstStyle/>
                    <a:p>
                      <a:pPr algn="r"/>
                      <a:r>
                        <a:rPr sz="900" b="0" i="0">
                          <a:solidFill>
                            <a:srgbClr val="1A1A1A"/>
                          </a:solidFill>
                          <a:latin typeface="Helvetica Neue"/>
                        </a:rPr>
                        <a:t>69.6</a:t>
                      </a:r>
                    </a:p>
                  </a:txBody>
                  <a:tcPr marL="45720" marR="45720" marT="18288" marB="18288" anchor="t"/>
                </a:tc>
                <a:tc>
                  <a:txBody>
                    <a:bodyPr wrap="square"/>
                    <a:lstStyle/>
                    <a:p>
                      <a:r>
                        <a:rPr sz="900" b="0" i="0">
                          <a:solidFill>
                            <a:srgbClr val="1A1A1A"/>
                          </a:solidFill>
                          <a:latin typeface="Helvetica Neue"/>
                        </a:rPr>
                        <a:t>Segment Anything Model for medical image analysis: an experimental study</a:t>
                      </a:r>
                    </a:p>
                  </a:txBody>
                  <a:tcPr marL="45720" marR="45720" marT="18288" marB="18288" anchor="t"/>
                </a:tc>
                <a:tc>
                  <a:txBody>
                    <a:bodyPr wrap="square"/>
                    <a:lstStyle/>
                    <a:p>
                      <a:r>
                        <a:rPr sz="900" b="0" i="0">
                          <a:solidFill>
                            <a:srgbClr val="1A1A1A"/>
                          </a:solidFill>
                          <a:latin typeface="Helvetica Neue"/>
                        </a:rPr>
                        <a:t>Medical Image Anal.</a:t>
                      </a:r>
                    </a:p>
                  </a:txBody>
                  <a:tcPr marL="45720" marR="45720" marT="18288" marB="18288" anchor="t"/>
                </a:tc>
                <a:tc>
                  <a:txBody>
                    <a:bodyPr wrap="square"/>
                    <a:lstStyle/>
                    <a:p>
                      <a:r>
                        <a:rPr sz="900" b="0" i="1">
                          <a:solidFill>
                            <a:srgbClr val="1A1A1A"/>
                          </a:solidFill>
                          <a:latin typeface="Helvetica Neue"/>
                        </a:rPr>
                        <a:t>segmentation</a:t>
                      </a:r>
                      <a:r>
                        <a:rPr sz="900" b="0" i="0">
                          <a:solidFill>
                            <a:srgbClr val="1A1A1A"/>
                          </a:solidFill>
                          <a:latin typeface="Helvetica Neue"/>
                        </a:rPr>
                        <a:t>: How well does the unmodified Segment Anything Model work on medical images? (it needs prompts and adaptation)</a:t>
                      </a:r>
                    </a:p>
                  </a:txBody>
                  <a:tcPr marL="45720" marR="45720" marT="18288" marB="18288" anchor="t"/>
                </a:tc>
              </a:tr>
              <a:tr h="329184">
                <a:tc>
                  <a:txBody>
                    <a:bodyPr wrap="square"/>
                    <a:lstStyle/>
                    <a:p>
                      <a:pPr algn="r"/>
                      <a:r>
                        <a:rPr sz="900" b="0" i="0">
                          <a:solidFill>
                            <a:srgbClr val="1A1A1A"/>
                          </a:solidFill>
                          <a:latin typeface="Helvetica Neue"/>
                        </a:rPr>
                        <a:t>573</a:t>
                      </a:r>
                    </a:p>
                  </a:txBody>
                  <a:tcPr marL="45720" marR="45720" marT="18288" marB="18288" anchor="t"/>
                </a:tc>
                <a:tc>
                  <a:txBody>
                    <a:bodyPr wrap="square"/>
                    <a:lstStyle/>
                    <a:p>
                      <a:pPr algn="r"/>
                      <a:r>
                        <a:rPr sz="900" b="0" i="0">
                          <a:solidFill>
                            <a:srgbClr val="1A1A1A"/>
                          </a:solidFill>
                          <a:latin typeface="Helvetica Neue"/>
                        </a:rPr>
                        <a:t>55.8</a:t>
                      </a:r>
                    </a:p>
                  </a:txBody>
                  <a:tcPr marL="45720" marR="45720" marT="18288" marB="18288" anchor="t"/>
                </a:tc>
                <a:tc>
                  <a:txBody>
                    <a:bodyPr wrap="square"/>
                    <a:lstStyle/>
                    <a:p>
                      <a:r>
                        <a:rPr sz="900" b="0" i="0">
                          <a:solidFill>
                            <a:srgbClr val="1A1A1A"/>
                          </a:solidFill>
                          <a:latin typeface="Helvetica Neue"/>
                        </a:rPr>
                        <a:t>MRI-based brain tumor detection using convolutional deep learning methods and chosen machine learning techniques</a:t>
                      </a:r>
                    </a:p>
                  </a:txBody>
                  <a:tcPr marL="45720" marR="45720" marT="18288" marB="18288" anchor="t"/>
                </a:tc>
                <a:tc>
                  <a:txBody>
                    <a:bodyPr wrap="square"/>
                    <a:lstStyle/>
                    <a:p>
                      <a:r>
                        <a:rPr sz="900" b="0" i="0">
                          <a:solidFill>
                            <a:srgbClr val="1A1A1A"/>
                          </a:solidFill>
                          <a:latin typeface="Helvetica Neue"/>
                        </a:rPr>
                        <a:t>BMC Medical Informatics and Decision Making</a:t>
                      </a:r>
                    </a:p>
                  </a:txBody>
                  <a:tcPr marL="45720" marR="45720" marT="18288" marB="18288" anchor="t"/>
                </a:tc>
                <a:tc>
                  <a:txBody>
                    <a:bodyPr wrap="square"/>
                    <a:lstStyle/>
                    <a:p>
                      <a:r>
                        <a:rPr sz="900" b="0" i="1">
                          <a:solidFill>
                            <a:srgbClr val="1A1A1A"/>
                          </a:solidFill>
                          <a:latin typeface="Helvetica Neue"/>
                        </a:rPr>
                        <a:t>oncology</a:t>
                      </a:r>
                    </a:p>
                  </a:txBody>
                  <a:tcPr marL="45720" marR="45720" marT="18288" marB="18288" anchor="t"/>
                </a:tc>
              </a:tr>
              <a:tr h="329184">
                <a:tc>
                  <a:txBody>
                    <a:bodyPr wrap="square"/>
                    <a:lstStyle/>
                    <a:p>
                      <a:pPr algn="r"/>
                      <a:r>
                        <a:rPr sz="900" b="0" i="0">
                          <a:solidFill>
                            <a:srgbClr val="1A1A1A"/>
                          </a:solidFill>
                          <a:latin typeface="Helvetica Neue"/>
                        </a:rPr>
                        <a:t>460</a:t>
                      </a:r>
                    </a:p>
                  </a:txBody>
                  <a:tcPr marL="45720" marR="45720" marT="18288" marB="18288" anchor="t"/>
                </a:tc>
                <a:tc>
                  <a:txBody>
                    <a:bodyPr wrap="square"/>
                    <a:lstStyle/>
                    <a:p>
                      <a:pPr algn="r"/>
                      <a:r>
                        <a:rPr sz="900" b="0" i="0">
                          <a:solidFill>
                            <a:srgbClr val="1A1A1A"/>
                          </a:solidFill>
                          <a:latin typeface="Helvetica Neue"/>
                        </a:rPr>
                        <a:t>44.5</a:t>
                      </a:r>
                    </a:p>
                  </a:txBody>
                  <a:tcPr marL="45720" marR="45720" marT="18288" marB="18288" anchor="t"/>
                </a:tc>
                <a:tc>
                  <a:txBody>
                    <a:bodyPr wrap="square"/>
                    <a:lstStyle/>
                    <a:p>
                      <a:r>
                        <a:rPr sz="900" b="0" i="0">
                          <a:solidFill>
                            <a:srgbClr val="1A1A1A"/>
                          </a:solidFill>
                          <a:latin typeface="Helvetica Neue"/>
                        </a:rPr>
                        <a:t>Brain Tumor Detection Based on Deep Learning Approaches and Magnetic Resonance Imaging</a:t>
                      </a:r>
                    </a:p>
                  </a:txBody>
                  <a:tcPr marL="45720" marR="45720" marT="18288" marB="18288" anchor="t"/>
                </a:tc>
                <a:tc>
                  <a:txBody>
                    <a:bodyPr wrap="square"/>
                    <a:lstStyle/>
                    <a:p>
                      <a:r>
                        <a:rPr sz="900" b="0" i="0">
                          <a:solidFill>
                            <a:srgbClr val="1A1A1A"/>
                          </a:solidFill>
                          <a:latin typeface="Helvetica Neue"/>
                        </a:rPr>
                        <a:t>Cancers</a:t>
                      </a:r>
                    </a:p>
                  </a:txBody>
                  <a:tcPr marL="45720" marR="45720" marT="18288" marB="18288" anchor="t"/>
                </a:tc>
                <a:tc>
                  <a:txBody>
                    <a:bodyPr wrap="square"/>
                    <a:lstStyle/>
                    <a:p>
                      <a:r>
                        <a:rPr sz="900" b="0" i="1">
                          <a:solidFill>
                            <a:srgbClr val="1A1A1A"/>
                          </a:solidFill>
                          <a:latin typeface="Helvetica Neue"/>
                        </a:rPr>
                        <a:t>oncology</a:t>
                      </a:r>
                    </a:p>
                  </a:txBody>
                  <a:tcPr marL="45720" marR="45720" marT="18288" marB="18288" anchor="t"/>
                </a:tc>
              </a:tr>
              <a:tr h="466344">
                <a:tc>
                  <a:txBody>
                    <a:bodyPr wrap="square"/>
                    <a:lstStyle/>
                    <a:p>
                      <a:pPr algn="r"/>
                      <a:r>
                        <a:rPr sz="900" b="0" i="0">
                          <a:solidFill>
                            <a:srgbClr val="1A1A1A"/>
                          </a:solidFill>
                          <a:latin typeface="Helvetica Neue"/>
                        </a:rPr>
                        <a:t>391</a:t>
                      </a:r>
                    </a:p>
                  </a:txBody>
                  <a:tcPr marL="45720" marR="45720" marT="18288" marB="18288" anchor="t"/>
                </a:tc>
                <a:tc>
                  <a:txBody>
                    <a:bodyPr wrap="square"/>
                    <a:lstStyle/>
                    <a:p>
                      <a:pPr algn="r"/>
                      <a:r>
                        <a:rPr sz="900" b="0" i="0">
                          <a:solidFill>
                            <a:srgbClr val="1A1A1A"/>
                          </a:solidFill>
                          <a:latin typeface="Helvetica Neue"/>
                        </a:rPr>
                        <a:t>42.2</a:t>
                      </a:r>
                    </a:p>
                  </a:txBody>
                  <a:tcPr marL="45720" marR="45720" marT="18288" marB="18288" anchor="t"/>
                </a:tc>
                <a:tc>
                  <a:txBody>
                    <a:bodyPr wrap="square"/>
                    <a:lstStyle/>
                    <a:p>
                      <a:r>
                        <a:rPr sz="900" b="0" i="0">
                          <a:solidFill>
                            <a:srgbClr val="1A1A1A"/>
                          </a:solidFill>
                          <a:latin typeface="Helvetica Neue"/>
                        </a:rPr>
                        <a:t>SAM-Adapter: Adapting Segment Anything in Underperformed Scenes</a:t>
                      </a:r>
                    </a:p>
                  </a:txBody>
                  <a:tcPr marL="45720" marR="45720" marT="18288" marB="18288" anchor="t"/>
                </a:tc>
                <a:tc>
                  <a:txBody>
                    <a:bodyPr wrap="square"/>
                    <a:lstStyle/>
                    <a:p>
                      <a:r>
                        <a:rPr sz="900" b="0" i="0">
                          <a:solidFill>
                            <a:srgbClr val="1A1A1A"/>
                          </a:solidFill>
                          <a:latin typeface="Helvetica Neue"/>
                        </a:rPr>
                        <a:t>2023 IEEE/CVF International Conference on Computer Vision Workshops (ICCVW)</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442</a:t>
                      </a:r>
                    </a:p>
                  </a:txBody>
                  <a:tcPr marL="45720" marR="45720" marT="18288" marB="18288" anchor="t"/>
                </a:tc>
                <a:tc>
                  <a:txBody>
                    <a:bodyPr wrap="square"/>
                    <a:lstStyle/>
                    <a:p>
                      <a:pPr algn="r"/>
                      <a:r>
                        <a:rPr sz="900" b="0" i="0">
                          <a:solidFill>
                            <a:srgbClr val="1A1A1A"/>
                          </a:solidFill>
                          <a:latin typeface="Helvetica Neue"/>
                        </a:rPr>
                        <a:t>37.4</a:t>
                      </a:r>
                    </a:p>
                  </a:txBody>
                  <a:tcPr marL="45720" marR="45720" marT="18288" marB="18288" anchor="t"/>
                </a:tc>
                <a:tc>
                  <a:txBody>
                    <a:bodyPr wrap="square"/>
                    <a:lstStyle/>
                    <a:p>
                      <a:r>
                        <a:rPr sz="900" b="0" i="0">
                          <a:solidFill>
                            <a:srgbClr val="1A1A1A"/>
                          </a:solidFill>
                          <a:latin typeface="Helvetica Neue"/>
                        </a:rPr>
                        <a:t>A generalist vision–language foundation model for diverse biomedical tasks</a:t>
                      </a:r>
                    </a:p>
                  </a:txBody>
                  <a:tcPr marL="45720" marR="45720" marT="18288" marB="18288" anchor="t"/>
                </a:tc>
                <a:tc>
                  <a:txBody>
                    <a:bodyPr wrap="square"/>
                    <a:lstStyle/>
                    <a:p>
                      <a:r>
                        <a:rPr sz="900" b="0" i="0">
                          <a:solidFill>
                            <a:srgbClr val="1A1A1A"/>
                          </a:solidFill>
                          <a:latin typeface="Helvetica Neue"/>
                        </a:rPr>
                        <a:t>Nature Medicine</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bl>
          </a:graphicData>
        </a:graphic>
      </p:graphicFrame>
      <p:sp>
        <p:nvSpPr>
          <p:cNvPr id="5" name="TextBox 4"/>
          <p:cNvSpPr txBox="1"/>
          <p:nvPr/>
        </p:nvSpPr>
        <p:spPr>
          <a:xfrm>
            <a:off x="411480" y="4709159"/>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Rows are the most-cited papers of the period, ordered by FWCI = field-weighted citation impact (OpenAlex): citations relative to the world average for papers of the same field and year (1 = average), so a recent paper can be compared with an older one. Preprints (arXiv, medRxiv) are included; the venue column names the server. 1 of the 10 rows are preprints.</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27 / 83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radiology AI papers, 2024</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4" cy="3758184"/>
        </p:xfrm>
        <a:graphic>
          <a:graphicData uri="http://schemas.openxmlformats.org/drawingml/2006/table">
            <a:tbl>
              <a:tblPr firstRow="1" bandRow="1">
                <a:tableStyleId>{5C22544A-7EE6-4342-B048-85BDC9FD1C3A}</a:tableStyleId>
              </a:tblPr>
              <a:tblGrid>
                <a:gridCol w="480060"/>
                <a:gridCol w="448056"/>
                <a:gridCol w="4797041"/>
                <a:gridCol w="2116341"/>
                <a:gridCol w="3527236"/>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466344">
                <a:tc>
                  <a:txBody>
                    <a:bodyPr wrap="square"/>
                    <a:lstStyle/>
                    <a:p>
                      <a:pPr algn="r"/>
                      <a:r>
                        <a:rPr sz="900" b="0" i="0">
                          <a:solidFill>
                            <a:srgbClr val="1A1A1A"/>
                          </a:solidFill>
                          <a:latin typeface="Helvetica Neue"/>
                        </a:rPr>
                        <a:t>1,074</a:t>
                      </a:r>
                    </a:p>
                  </a:txBody>
                  <a:tcPr marL="45720" marR="45720" marT="18288" marB="18288" anchor="t"/>
                </a:tc>
                <a:tc>
                  <a:txBody>
                    <a:bodyPr wrap="square"/>
                    <a:lstStyle/>
                    <a:p>
                      <a:pPr algn="r"/>
                      <a:r>
                        <a:rPr sz="900" b="0" i="0">
                          <a:solidFill>
                            <a:srgbClr val="1A1A1A"/>
                          </a:solidFill>
                          <a:latin typeface="Helvetica Neue"/>
                        </a:rPr>
                        <a:t>225.2</a:t>
                      </a:r>
                    </a:p>
                  </a:txBody>
                  <a:tcPr marL="45720" marR="45720" marT="18288" marB="18288" anchor="t"/>
                </a:tc>
                <a:tc>
                  <a:txBody>
                    <a:bodyPr wrap="square"/>
                    <a:lstStyle/>
                    <a:p>
                      <a:r>
                        <a:rPr sz="900" b="0" i="0">
                          <a:solidFill>
                            <a:srgbClr val="1A1A1A"/>
                          </a:solidFill>
                          <a:latin typeface="Helvetica Neue"/>
                        </a:rPr>
                        <a:t>VM-UNet: Vision Mamba UNet for Medical Image Segmentation</a:t>
                      </a:r>
                    </a:p>
                  </a:txBody>
                  <a:tcPr marL="45720" marR="45720" marT="18288" marB="18288" anchor="t"/>
                </a:tc>
                <a:tc>
                  <a:txBody>
                    <a:bodyPr wrap="square"/>
                    <a:lstStyle/>
                    <a:p>
                      <a:r>
                        <a:rPr sz="900" b="0" i="0">
                          <a:solidFill>
                            <a:srgbClr val="1A1A1A"/>
                          </a:solidFill>
                          <a:latin typeface="Helvetica Neue"/>
                        </a:rPr>
                        <a:t>ACM Transactions on Multimedia Computing, Communications, and Applications (TOMCCAP)</a:t>
                      </a:r>
                    </a:p>
                  </a:txBody>
                  <a:tcPr marL="45720" marR="45720" marT="18288" marB="18288" anchor="t"/>
                </a:tc>
                <a:tc>
                  <a:txBody>
                    <a:bodyPr wrap="square"/>
                    <a:lstStyle/>
                    <a:p>
                      <a:r>
                        <a:rPr sz="900" b="0" i="1">
                          <a:solidFill>
                            <a:srgbClr val="1A1A1A"/>
                          </a:solidFill>
                          <a:latin typeface="Helvetica Neue"/>
                        </a:rPr>
                        <a:t>segmentation</a:t>
                      </a:r>
                      <a:r>
                        <a:rPr sz="900" b="0" i="0">
                          <a:solidFill>
                            <a:srgbClr val="1A1A1A"/>
                          </a:solidFill>
                          <a:latin typeface="Helvetica Neue"/>
                        </a:rPr>
                        <a:t>: Does a state-space (Mamba) backbone beat convolutions and transformers for medical segmentation?</a:t>
                      </a:r>
                    </a:p>
                  </a:txBody>
                  <a:tcPr marL="45720" marR="45720" marT="18288" marB="18288" anchor="t"/>
                </a:tc>
              </a:tr>
              <a:tr h="329184">
                <a:tc>
                  <a:txBody>
                    <a:bodyPr wrap="square"/>
                    <a:lstStyle/>
                    <a:p>
                      <a:pPr algn="r"/>
                      <a:r>
                        <a:rPr sz="900" b="0" i="0">
                          <a:solidFill>
                            <a:srgbClr val="1A1A1A"/>
                          </a:solidFill>
                          <a:latin typeface="Helvetica Neue"/>
                        </a:rPr>
                        <a:t>242</a:t>
                      </a:r>
                    </a:p>
                  </a:txBody>
                  <a:tcPr marL="45720" marR="45720" marT="18288" marB="18288" anchor="t"/>
                </a:tc>
                <a:tc>
                  <a:txBody>
                    <a:bodyPr wrap="square"/>
                    <a:lstStyle/>
                    <a:p>
                      <a:pPr algn="r"/>
                      <a:r>
                        <a:rPr sz="900" b="0" i="0">
                          <a:solidFill>
                            <a:srgbClr val="1A1A1A"/>
                          </a:solidFill>
                          <a:latin typeface="Helvetica Neue"/>
                        </a:rPr>
                        <a:t>110.3</a:t>
                      </a:r>
                    </a:p>
                  </a:txBody>
                  <a:tcPr marL="45720" marR="45720" marT="18288" marB="18288" anchor="t"/>
                </a:tc>
                <a:tc>
                  <a:txBody>
                    <a:bodyPr wrap="square"/>
                    <a:lstStyle/>
                    <a:p>
                      <a:r>
                        <a:rPr sz="900" b="0" i="0">
                          <a:solidFill>
                            <a:srgbClr val="1A1A1A"/>
                          </a:solidFill>
                          <a:latin typeface="Helvetica Neue"/>
                        </a:rPr>
                        <a:t>Generalist foundation models from a multimodal dataset for 3D computed tomography</a:t>
                      </a:r>
                    </a:p>
                  </a:txBody>
                  <a:tcPr marL="45720" marR="45720" marT="18288" marB="18288" anchor="t"/>
                </a:tc>
                <a:tc>
                  <a:txBody>
                    <a:bodyPr wrap="square"/>
                    <a:lstStyle/>
                    <a:p>
                      <a:r>
                        <a:rPr sz="900" b="0" i="0">
                          <a:solidFill>
                            <a:srgbClr val="1A1A1A"/>
                          </a:solidFill>
                          <a:latin typeface="Helvetica Neue"/>
                        </a:rPr>
                        <a:t>Nature Biomedical Engineering</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r h="329184">
                <a:tc>
                  <a:txBody>
                    <a:bodyPr wrap="square"/>
                    <a:lstStyle/>
                    <a:p>
                      <a:pPr algn="r"/>
                      <a:r>
                        <a:rPr sz="900" b="0" i="0">
                          <a:solidFill>
                            <a:srgbClr val="1A1A1A"/>
                          </a:solidFill>
                          <a:latin typeface="Helvetica Neue"/>
                        </a:rPr>
                        <a:t>282</a:t>
                      </a:r>
                    </a:p>
                  </a:txBody>
                  <a:tcPr marL="45720" marR="45720" marT="18288" marB="18288" anchor="t"/>
                </a:tc>
                <a:tc>
                  <a:txBody>
                    <a:bodyPr wrap="square"/>
                    <a:lstStyle/>
                    <a:p>
                      <a:pPr algn="r"/>
                      <a:r>
                        <a:rPr sz="900" b="0" i="0">
                          <a:solidFill>
                            <a:srgbClr val="1A1A1A"/>
                          </a:solidFill>
                          <a:latin typeface="Helvetica Neue"/>
                        </a:rPr>
                        <a:t>74.6</a:t>
                      </a:r>
                    </a:p>
                  </a:txBody>
                  <a:tcPr marL="45720" marR="45720" marT="18288" marB="18288" anchor="t"/>
                </a:tc>
                <a:tc>
                  <a:txBody>
                    <a:bodyPr wrap="square"/>
                    <a:lstStyle/>
                    <a:p>
                      <a:r>
                        <a:rPr sz="900" b="0" i="0">
                          <a:solidFill>
                            <a:srgbClr val="1A1A1A"/>
                          </a:solidFill>
                          <a:latin typeface="Helvetica Neue"/>
                        </a:rPr>
                        <a:t>Artificial intelligence in neuro-oncology: advances and challenges in brain tumor diagnosis, prognosis, and precision treatment</a:t>
                      </a:r>
                    </a:p>
                  </a:txBody>
                  <a:tcPr marL="45720" marR="45720" marT="18288" marB="18288" anchor="t"/>
                </a:tc>
                <a:tc>
                  <a:txBody>
                    <a:bodyPr wrap="square"/>
                    <a:lstStyle/>
                    <a:p>
                      <a:r>
                        <a:rPr sz="900" b="0" i="0">
                          <a:solidFill>
                            <a:srgbClr val="1A1A1A"/>
                          </a:solidFill>
                          <a:latin typeface="Helvetica Neue"/>
                        </a:rPr>
                        <a:t>npj Precision Oncology</a:t>
                      </a:r>
                    </a:p>
                  </a:txBody>
                  <a:tcPr marL="45720" marR="45720" marT="18288" marB="18288" anchor="t"/>
                </a:tc>
                <a:tc>
                  <a:txBody>
                    <a:bodyPr wrap="square"/>
                    <a:lstStyle/>
                    <a:p>
                      <a:r>
                        <a:rPr sz="900" b="0" i="1">
                          <a:solidFill>
                            <a:srgbClr val="1A1A1A"/>
                          </a:solidFill>
                          <a:latin typeface="Helvetica Neue"/>
                        </a:rPr>
                        <a:t>oncology</a:t>
                      </a:r>
                    </a:p>
                  </a:txBody>
                  <a:tcPr marL="45720" marR="45720" marT="18288" marB="18288" anchor="t"/>
                </a:tc>
              </a:tr>
              <a:tr h="329184">
                <a:tc>
                  <a:txBody>
                    <a:bodyPr wrap="square"/>
                    <a:lstStyle/>
                    <a:p>
                      <a:pPr algn="r"/>
                      <a:r>
                        <a:rPr sz="900" b="0" i="0">
                          <a:solidFill>
                            <a:srgbClr val="1A1A1A"/>
                          </a:solidFill>
                          <a:latin typeface="Helvetica Neue"/>
                        </a:rPr>
                        <a:t>279</a:t>
                      </a:r>
                    </a:p>
                  </a:txBody>
                  <a:tcPr marL="45720" marR="45720" marT="18288" marB="18288" anchor="t"/>
                </a:tc>
                <a:tc>
                  <a:txBody>
                    <a:bodyPr wrap="square"/>
                    <a:lstStyle/>
                    <a:p>
                      <a:pPr algn="r"/>
                      <a:r>
                        <a:rPr sz="900" b="0" i="0">
                          <a:solidFill>
                            <a:srgbClr val="1A1A1A"/>
                          </a:solidFill>
                          <a:latin typeface="Helvetica Neue"/>
                        </a:rPr>
                        <a:t>72.6</a:t>
                      </a:r>
                    </a:p>
                  </a:txBody>
                  <a:tcPr marL="45720" marR="45720" marT="18288" marB="18288" anchor="t"/>
                </a:tc>
                <a:tc>
                  <a:txBody>
                    <a:bodyPr wrap="square"/>
                    <a:lstStyle/>
                    <a:p>
                      <a:r>
                        <a:rPr sz="900" b="0" i="0">
                          <a:solidFill>
                            <a:srgbClr val="1A1A1A"/>
                          </a:solidFill>
                          <a:latin typeface="Helvetica Neue"/>
                        </a:rPr>
                        <a:t>METhodological RadiomICs Score (METRICS): a quality scoring tool for radiomics research endorsed by EuSoMII</a:t>
                      </a:r>
                    </a:p>
                  </a:txBody>
                  <a:tcPr marL="45720" marR="45720" marT="18288" marB="18288" anchor="t"/>
                </a:tc>
                <a:tc>
                  <a:txBody>
                    <a:bodyPr wrap="square"/>
                    <a:lstStyle/>
                    <a:p>
                      <a:r>
                        <a:rPr sz="900" b="0" i="0">
                          <a:solidFill>
                            <a:srgbClr val="1A1A1A"/>
                          </a:solidFill>
                          <a:latin typeface="Helvetica Neue"/>
                        </a:rPr>
                        <a:t>Insights into Imaging</a:t>
                      </a:r>
                    </a:p>
                  </a:txBody>
                  <a:tcPr marL="45720" marR="45720" marT="18288" marB="18288" anchor="t"/>
                </a:tc>
                <a:tc>
                  <a:txBody>
                    <a:bodyPr wrap="square"/>
                    <a:lstStyle/>
                    <a:p>
                      <a:r>
                        <a:rPr sz="900" b="0" i="1">
                          <a:solidFill>
                            <a:srgbClr val="1A1A1A"/>
                          </a:solidFill>
                          <a:latin typeface="Helvetica Neue"/>
                        </a:rPr>
                        <a:t>radiomics</a:t>
                      </a:r>
                      <a:r>
                        <a:rPr sz="900" b="0" i="0">
                          <a:solidFill>
                            <a:srgbClr val="1A1A1A"/>
                          </a:solidFill>
                          <a:latin typeface="Helvetica Neue"/>
                        </a:rPr>
                        <a:t>: How should the quality of a radiomics study be scored? (METRICS checklist)</a:t>
                      </a:r>
                    </a:p>
                  </a:txBody>
                  <a:tcPr marL="45720" marR="45720" marT="18288" marB="18288" anchor="t"/>
                </a:tc>
              </a:tr>
              <a:tr h="329184">
                <a:tc>
                  <a:txBody>
                    <a:bodyPr wrap="square"/>
                    <a:lstStyle/>
                    <a:p>
                      <a:pPr algn="r"/>
                      <a:r>
                        <a:rPr sz="900" b="0" i="0">
                          <a:solidFill>
                            <a:srgbClr val="1A1A1A"/>
                          </a:solidFill>
                          <a:latin typeface="Helvetica Neue"/>
                        </a:rPr>
                        <a:t>349</a:t>
                      </a:r>
                    </a:p>
                  </a:txBody>
                  <a:tcPr marL="45720" marR="45720" marT="18288" marB="18288" anchor="t"/>
                </a:tc>
                <a:tc>
                  <a:txBody>
                    <a:bodyPr wrap="square"/>
                    <a:lstStyle/>
                    <a:p>
                      <a:pPr algn="r"/>
                      <a:r>
                        <a:rPr sz="900" b="0" i="0">
                          <a:solidFill>
                            <a:srgbClr val="1A1A1A"/>
                          </a:solidFill>
                          <a:latin typeface="Helvetica Neue"/>
                        </a:rPr>
                        <a:t>47.6</a:t>
                      </a:r>
                    </a:p>
                  </a:txBody>
                  <a:tcPr marL="45720" marR="45720" marT="18288" marB="18288" anchor="t"/>
                </a:tc>
                <a:tc>
                  <a:txBody>
                    <a:bodyPr wrap="square"/>
                    <a:lstStyle/>
                    <a:p>
                      <a:r>
                        <a:rPr sz="900" b="0" i="0">
                          <a:solidFill>
                            <a:srgbClr val="1A1A1A"/>
                          </a:solidFill>
                          <a:latin typeface="Helvetica Neue"/>
                        </a:rPr>
                        <a:t>Deep learning for medical image segmentation: State-of-the-art advancements and challenges</a:t>
                      </a:r>
                    </a:p>
                  </a:txBody>
                  <a:tcPr marL="45720" marR="45720" marT="18288" marB="18288" anchor="t"/>
                </a:tc>
                <a:tc>
                  <a:txBody>
                    <a:bodyPr wrap="square"/>
                    <a:lstStyle/>
                    <a:p>
                      <a:r>
                        <a:rPr sz="900" b="0" i="0">
                          <a:solidFill>
                            <a:srgbClr val="1A1A1A"/>
                          </a:solidFill>
                          <a:latin typeface="Helvetica Neue"/>
                        </a:rPr>
                        <a:t>Informatics in Medicine Unlocked</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317</a:t>
                      </a:r>
                    </a:p>
                  </a:txBody>
                  <a:tcPr marL="45720" marR="45720" marT="18288" marB="18288" anchor="t"/>
                </a:tc>
                <a:tc>
                  <a:txBody>
                    <a:bodyPr wrap="square"/>
                    <a:lstStyle/>
                    <a:p>
                      <a:pPr algn="r"/>
                      <a:r>
                        <a:rPr sz="900" b="0" i="0">
                          <a:solidFill>
                            <a:srgbClr val="1A1A1A"/>
                          </a:solidFill>
                          <a:latin typeface="Helvetica Neue"/>
                        </a:rPr>
                        <a:t>43.4</a:t>
                      </a:r>
                    </a:p>
                  </a:txBody>
                  <a:tcPr marL="45720" marR="45720" marT="18288" marB="18288" anchor="t"/>
                </a:tc>
                <a:tc>
                  <a:txBody>
                    <a:bodyPr wrap="square"/>
                    <a:lstStyle/>
                    <a:p>
                      <a:r>
                        <a:rPr sz="900" b="0" i="0">
                          <a:solidFill>
                            <a:srgbClr val="1A1A1A"/>
                          </a:solidFill>
                          <a:latin typeface="Helvetica Neue"/>
                        </a:rPr>
                        <a:t>Advances in Medical Image Segmentation: A Comprehensive Review of Traditional, Deep Learning and Hybrid Approaches</a:t>
                      </a:r>
                    </a:p>
                  </a:txBody>
                  <a:tcPr marL="45720" marR="45720" marT="18288" marB="18288" anchor="t"/>
                </a:tc>
                <a:tc>
                  <a:txBody>
                    <a:bodyPr wrap="square"/>
                    <a:lstStyle/>
                    <a:p>
                      <a:r>
                        <a:rPr sz="900" b="0" i="0">
                          <a:solidFill>
                            <a:srgbClr val="1A1A1A"/>
                          </a:solidFill>
                          <a:latin typeface="Helvetica Neue"/>
                        </a:rPr>
                        <a:t>Bioengineering</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238</a:t>
                      </a:r>
                    </a:p>
                  </a:txBody>
                  <a:tcPr marL="45720" marR="45720" marT="18288" marB="18288" anchor="t"/>
                </a:tc>
                <a:tc>
                  <a:txBody>
                    <a:bodyPr wrap="square"/>
                    <a:lstStyle/>
                    <a:p>
                      <a:pPr algn="r"/>
                      <a:r>
                        <a:rPr sz="900" b="0" i="0">
                          <a:solidFill>
                            <a:srgbClr val="1A1A1A"/>
                          </a:solidFill>
                          <a:latin typeface="Helvetica Neue"/>
                        </a:rPr>
                        <a:t>37.0</a:t>
                      </a:r>
                    </a:p>
                  </a:txBody>
                  <a:tcPr marL="45720" marR="45720" marT="18288" marB="18288" anchor="t"/>
                </a:tc>
                <a:tc>
                  <a:txBody>
                    <a:bodyPr wrap="square"/>
                    <a:lstStyle/>
                    <a:p>
                      <a:r>
                        <a:rPr sz="900" b="0" i="0">
                          <a:solidFill>
                            <a:srgbClr val="1A1A1A"/>
                          </a:solidFill>
                          <a:latin typeface="Helvetica Neue"/>
                        </a:rPr>
                        <a:t>Employing deep learning and transfer learning for accurate brain tumor detection</a:t>
                      </a:r>
                    </a:p>
                  </a:txBody>
                  <a:tcPr marL="45720" marR="45720" marT="18288" marB="18288" anchor="t"/>
                </a:tc>
                <a:tc>
                  <a:txBody>
                    <a:bodyPr wrap="square"/>
                    <a:lstStyle/>
                    <a:p>
                      <a:r>
                        <a:rPr sz="900" b="0" i="0">
                          <a:solidFill>
                            <a:srgbClr val="1A1A1A"/>
                          </a:solidFill>
                          <a:latin typeface="Helvetica Neue"/>
                        </a:rPr>
                        <a:t>Scientific Reports</a:t>
                      </a:r>
                    </a:p>
                  </a:txBody>
                  <a:tcPr marL="45720" marR="45720" marT="18288" marB="18288" anchor="t"/>
                </a:tc>
                <a:tc>
                  <a:txBody>
                    <a:bodyPr wrap="square"/>
                    <a:lstStyle/>
                    <a:p>
                      <a:r>
                        <a:rPr sz="900" b="0" i="1">
                          <a:solidFill>
                            <a:srgbClr val="1A1A1A"/>
                          </a:solidFill>
                          <a:latin typeface="Helvetica Neue"/>
                        </a:rPr>
                        <a:t>oncology</a:t>
                      </a:r>
                    </a:p>
                  </a:txBody>
                  <a:tcPr marL="45720" marR="45720" marT="18288" marB="18288" anchor="t"/>
                </a:tc>
              </a:tr>
              <a:tr h="329184">
                <a:tc>
                  <a:txBody>
                    <a:bodyPr wrap="square"/>
                    <a:lstStyle/>
                    <a:p>
                      <a:pPr algn="r"/>
                      <a:r>
                        <a:rPr sz="900" b="0" i="0">
                          <a:solidFill>
                            <a:srgbClr val="1A1A1A"/>
                          </a:solidFill>
                          <a:latin typeface="Helvetica Neue"/>
                        </a:rPr>
                        <a:t>242</a:t>
                      </a:r>
                    </a:p>
                  </a:txBody>
                  <a:tcPr marL="45720" marR="45720" marT="18288" marB="18288" anchor="t"/>
                </a:tc>
                <a:tc>
                  <a:txBody>
                    <a:bodyPr wrap="square"/>
                    <a:lstStyle/>
                    <a:p>
                      <a:pPr algn="r"/>
                      <a:r>
                        <a:rPr sz="900" b="0" i="0">
                          <a:solidFill>
                            <a:srgbClr val="1A1A1A"/>
                          </a:solidFill>
                          <a:latin typeface="Helvetica Neue"/>
                        </a:rPr>
                        <a:t>36.0</a:t>
                      </a:r>
                    </a:p>
                  </a:txBody>
                  <a:tcPr marL="45720" marR="45720" marT="18288" marB="18288" anchor="t"/>
                </a:tc>
                <a:tc>
                  <a:txBody>
                    <a:bodyPr wrap="square"/>
                    <a:lstStyle/>
                    <a:p>
                      <a:r>
                        <a:rPr sz="900" b="0" i="0">
                          <a:solidFill>
                            <a:srgbClr val="1A1A1A"/>
                          </a:solidFill>
                          <a:latin typeface="Helvetica Neue"/>
                        </a:rPr>
                        <a:t>Deep semi-supervised learning for medical image segmentation: A review</a:t>
                      </a:r>
                    </a:p>
                  </a:txBody>
                  <a:tcPr marL="45720" marR="45720" marT="18288" marB="18288" anchor="t"/>
                </a:tc>
                <a:tc>
                  <a:txBody>
                    <a:bodyPr wrap="square"/>
                    <a:lstStyle/>
                    <a:p>
                      <a:r>
                        <a:rPr sz="900" b="0" i="0">
                          <a:solidFill>
                            <a:srgbClr val="1A1A1A"/>
                          </a:solidFill>
                          <a:latin typeface="Helvetica Neue"/>
                        </a:rPr>
                        <a:t>Expert systems with applications</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241</a:t>
                      </a:r>
                    </a:p>
                  </a:txBody>
                  <a:tcPr marL="45720" marR="45720" marT="18288" marB="18288" anchor="t"/>
                </a:tc>
                <a:tc>
                  <a:txBody>
                    <a:bodyPr wrap="square"/>
                    <a:lstStyle/>
                    <a:p>
                      <a:pPr algn="r"/>
                      <a:r>
                        <a:rPr sz="900" b="0" i="0">
                          <a:solidFill>
                            <a:srgbClr val="1A1A1A"/>
                          </a:solidFill>
                          <a:latin typeface="Helvetica Neue"/>
                        </a:rPr>
                        <a:t>34.5</a:t>
                      </a:r>
                    </a:p>
                  </a:txBody>
                  <a:tcPr marL="45720" marR="45720" marT="18288" marB="18288" anchor="t"/>
                </a:tc>
                <a:tc>
                  <a:txBody>
                    <a:bodyPr wrap="square"/>
                    <a:lstStyle/>
                    <a:p>
                      <a:r>
                        <a:rPr sz="900" b="0" i="0">
                          <a:solidFill>
                            <a:srgbClr val="1A1A1A"/>
                          </a:solidFill>
                          <a:latin typeface="Helvetica Neue"/>
                        </a:rPr>
                        <a:t>A review of deep learning-based information fusion techniques for multimodal medical image classification</a:t>
                      </a:r>
                    </a:p>
                  </a:txBody>
                  <a:tcPr marL="45720" marR="45720" marT="18288" marB="18288" anchor="t"/>
                </a:tc>
                <a:tc>
                  <a:txBody>
                    <a:bodyPr wrap="square"/>
                    <a:lstStyle/>
                    <a:p>
                      <a:r>
                        <a:rPr sz="900" b="0" i="0">
                          <a:solidFill>
                            <a:srgbClr val="1A1A1A"/>
                          </a:solidFill>
                          <a:latin typeface="Helvetica Neue"/>
                        </a:rPr>
                        <a:t>Comput. Biol. Medicine</a:t>
                      </a:r>
                    </a:p>
                  </a:txBody>
                  <a:tcPr marL="45720" marR="45720" marT="18288" marB="18288" anchor="t"/>
                </a:tc>
                <a:tc>
                  <a:txBody>
                    <a:bodyPr wrap="square"/>
                    <a:lstStyle/>
                    <a:p>
                      <a:r>
                        <a:rPr sz="900" b="0" i="1">
                          <a:solidFill>
                            <a:srgbClr val="1A1A1A"/>
                          </a:solidFill>
                          <a:latin typeface="Helvetica Neue"/>
                        </a:rPr>
                        <a:t>survey / review</a:t>
                      </a:r>
                    </a:p>
                  </a:txBody>
                  <a:tcPr marL="45720" marR="45720" marT="18288" marB="18288" anchor="t"/>
                </a:tc>
              </a:tr>
              <a:tr h="466344">
                <a:tc>
                  <a:txBody>
                    <a:bodyPr wrap="square"/>
                    <a:lstStyle/>
                    <a:p>
                      <a:pPr algn="r"/>
                      <a:r>
                        <a:rPr sz="900" b="0" i="0">
                          <a:solidFill>
                            <a:srgbClr val="1A1A1A"/>
                          </a:solidFill>
                          <a:latin typeface="Helvetica Neue"/>
                        </a:rPr>
                        <a:t>298</a:t>
                      </a:r>
                    </a:p>
                  </a:txBody>
                  <a:tcPr marL="45720" marR="45720" marT="18288" marB="18288" anchor="t"/>
                </a:tc>
                <a:tc>
                  <a:txBody>
                    <a:bodyPr wrap="square"/>
                    <a:lstStyle/>
                    <a:p>
                      <a:pPr algn="r"/>
                      <a:r>
                        <a:rPr sz="900" b="0" i="0">
                          <a:solidFill>
                            <a:srgbClr val="1A1A1A"/>
                          </a:solidFill>
                          <a:latin typeface="Helvetica Neue"/>
                        </a:rPr>
                        <a:t>31.8</a:t>
                      </a:r>
                    </a:p>
                  </a:txBody>
                  <a:tcPr marL="45720" marR="45720" marT="18288" marB="18288" anchor="t"/>
                </a:tc>
                <a:tc>
                  <a:txBody>
                    <a:bodyPr wrap="square"/>
                    <a:lstStyle/>
                    <a:p>
                      <a:r>
                        <a:rPr sz="900" b="0" i="0">
                          <a:solidFill>
                            <a:srgbClr val="1A1A1A"/>
                          </a:solidFill>
                          <a:latin typeface="Helvetica Neue"/>
                        </a:rPr>
                        <a:t>Vision-language models for medical report generation and visual question answering: a review</a:t>
                      </a:r>
                    </a:p>
                  </a:txBody>
                  <a:tcPr marL="45720" marR="45720" marT="18288" marB="18288" anchor="t"/>
                </a:tc>
                <a:tc>
                  <a:txBody>
                    <a:bodyPr wrap="square"/>
                    <a:lstStyle/>
                    <a:p>
                      <a:r>
                        <a:rPr sz="900" b="0" i="0">
                          <a:solidFill>
                            <a:srgbClr val="1A1A1A"/>
                          </a:solidFill>
                          <a:latin typeface="Helvetica Neue"/>
                        </a:rPr>
                        <a:t>Frontiers Artif. Intell.</a:t>
                      </a:r>
                    </a:p>
                  </a:txBody>
                  <a:tcPr marL="45720" marR="45720" marT="18288" marB="18288" anchor="t"/>
                </a:tc>
                <a:tc>
                  <a:txBody>
                    <a:bodyPr wrap="square"/>
                    <a:lstStyle/>
                    <a:p>
                      <a:r>
                        <a:rPr sz="900" b="0" i="1">
                          <a:solidFill>
                            <a:srgbClr val="1A1A1A"/>
                          </a:solidFill>
                          <a:latin typeface="Helvetica Neue"/>
                        </a:rPr>
                        <a:t>report generation / LLM</a:t>
                      </a:r>
                      <a:r>
                        <a:rPr sz="900" b="0" i="0">
                          <a:solidFill>
                            <a:srgbClr val="1A1A1A"/>
                          </a:solidFill>
                          <a:latin typeface="Helvetica Neue"/>
                        </a:rPr>
                        <a:t>: What can vision-language models do for report generation and visual question answering? (review)</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28 / 83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radiology AI papers, 2025</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4" cy="3483864"/>
        </p:xfrm>
        <a:graphic>
          <a:graphicData uri="http://schemas.openxmlformats.org/drawingml/2006/table">
            <a:tbl>
              <a:tblPr firstRow="1" bandRow="1">
                <a:tableStyleId>{5C22544A-7EE6-4342-B048-85BDC9FD1C3A}</a:tableStyleId>
              </a:tblPr>
              <a:tblGrid>
                <a:gridCol w="480060"/>
                <a:gridCol w="448056"/>
                <a:gridCol w="4792244"/>
                <a:gridCol w="2119445"/>
                <a:gridCol w="3528929"/>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192024">
                <a:tc>
                  <a:txBody>
                    <a:bodyPr wrap="square"/>
                    <a:lstStyle/>
                    <a:p>
                      <a:pPr algn="r"/>
                      <a:r>
                        <a:rPr sz="900" b="0" i="0">
                          <a:solidFill>
                            <a:srgbClr val="1A1A1A"/>
                          </a:solidFill>
                          <a:latin typeface="Helvetica Neue"/>
                        </a:rPr>
                        <a:t>258</a:t>
                      </a:r>
                    </a:p>
                  </a:txBody>
                  <a:tcPr marL="45720" marR="45720" marT="18288" marB="18288" anchor="t"/>
                </a:tc>
                <a:tc>
                  <a:txBody>
                    <a:bodyPr wrap="square"/>
                    <a:lstStyle/>
                    <a:p>
                      <a:pPr algn="r"/>
                      <a:r>
                        <a:rPr sz="900" b="0" i="0">
                          <a:solidFill>
                            <a:srgbClr val="1A1A1A"/>
                          </a:solidFill>
                          <a:latin typeface="Helvetica Neue"/>
                        </a:rPr>
                        <a:t>225.8</a:t>
                      </a:r>
                    </a:p>
                  </a:txBody>
                  <a:tcPr marL="45720" marR="45720" marT="18288" marB="18288" anchor="t"/>
                </a:tc>
                <a:tc>
                  <a:txBody>
                    <a:bodyPr wrap="square"/>
                    <a:lstStyle/>
                    <a:p>
                      <a:r>
                        <a:rPr sz="900" b="0" i="0">
                          <a:solidFill>
                            <a:srgbClr val="1A1A1A"/>
                          </a:solidFill>
                          <a:latin typeface="Helvetica Neue"/>
                        </a:rPr>
                        <a:t>Deep Convolutional Neural Networks in Medical Image Analysis: A Review</a:t>
                      </a:r>
                    </a:p>
                  </a:txBody>
                  <a:tcPr marL="45720" marR="45720" marT="18288" marB="18288" anchor="t"/>
                </a:tc>
                <a:tc>
                  <a:txBody>
                    <a:bodyPr wrap="square"/>
                    <a:lstStyle/>
                    <a:p>
                      <a:r>
                        <a:rPr sz="900" b="0" i="0">
                          <a:solidFill>
                            <a:srgbClr val="1A1A1A"/>
                          </a:solidFill>
                          <a:latin typeface="Helvetica Neue"/>
                        </a:rPr>
                        <a:t>Inf.</a:t>
                      </a:r>
                    </a:p>
                  </a:txBody>
                  <a:tcPr marL="45720" marR="45720" marT="18288" marB="18288" anchor="t"/>
                </a:tc>
                <a:tc>
                  <a:txBody>
                    <a:bodyPr wrap="square"/>
                    <a:lstStyle/>
                    <a:p>
                      <a:r>
                        <a:rPr sz="900" b="0" i="1">
                          <a:solidFill>
                            <a:srgbClr val="1A1A1A"/>
                          </a:solidFill>
                          <a:latin typeface="Helvetica Neue"/>
                        </a:rPr>
                        <a:t>survey / review</a:t>
                      </a:r>
                    </a:p>
                  </a:txBody>
                  <a:tcPr marL="45720" marR="45720" marT="18288" marB="18288" anchor="t"/>
                </a:tc>
              </a:tr>
              <a:tr h="466344">
                <a:tc>
                  <a:txBody>
                    <a:bodyPr wrap="square"/>
                    <a:lstStyle/>
                    <a:p>
                      <a:pPr algn="r"/>
                      <a:r>
                        <a:rPr sz="900" b="0" i="0">
                          <a:solidFill>
                            <a:srgbClr val="1A1A1A"/>
                          </a:solidFill>
                          <a:latin typeface="Helvetica Neue"/>
                        </a:rPr>
                        <a:t>145</a:t>
                      </a:r>
                    </a:p>
                  </a:txBody>
                  <a:tcPr marL="45720" marR="45720" marT="18288" marB="18288" anchor="t"/>
                </a:tc>
                <a:tc>
                  <a:txBody>
                    <a:bodyPr wrap="square"/>
                    <a:lstStyle/>
                    <a:p>
                      <a:pPr algn="r"/>
                      <a:r>
                        <a:rPr sz="900" b="0" i="0">
                          <a:solidFill>
                            <a:srgbClr val="1A1A1A"/>
                          </a:solidFill>
                          <a:latin typeface="Helvetica Neue"/>
                        </a:rPr>
                        <a:t>158.8</a:t>
                      </a:r>
                    </a:p>
                  </a:txBody>
                  <a:tcPr marL="45720" marR="45720" marT="18288" marB="18288" anchor="t"/>
                </a:tc>
                <a:tc>
                  <a:txBody>
                    <a:bodyPr wrap="square"/>
                    <a:lstStyle/>
                    <a:p>
                      <a:r>
                        <a:rPr sz="900" b="0" i="0">
                          <a:solidFill>
                            <a:srgbClr val="1A1A1A"/>
                          </a:solidFill>
                          <a:latin typeface="Helvetica Neue"/>
                        </a:rPr>
                        <a:t>Multi-model assurance analysis showing large language models are highly vulnerable to adversarial hallucination attacks during clinical decision support</a:t>
                      </a:r>
                    </a:p>
                  </a:txBody>
                  <a:tcPr marL="45720" marR="45720" marT="18288" marB="18288" anchor="t"/>
                </a:tc>
                <a:tc>
                  <a:txBody>
                    <a:bodyPr wrap="square"/>
                    <a:lstStyle/>
                    <a:p>
                      <a:r>
                        <a:rPr sz="900" b="0" i="0">
                          <a:solidFill>
                            <a:srgbClr val="1A1A1A"/>
                          </a:solidFill>
                          <a:latin typeface="Helvetica Neue"/>
                        </a:rPr>
                        <a:t>Communications Medicine</a:t>
                      </a:r>
                    </a:p>
                  </a:txBody>
                  <a:tcPr marL="45720" marR="45720" marT="18288" marB="18288" anchor="t"/>
                </a:tc>
                <a:tc>
                  <a:txBody>
                    <a:bodyPr wrap="square"/>
                    <a:lstStyle/>
                    <a:p>
                      <a:r>
                        <a:rPr sz="900" b="0" i="1">
                          <a:solidFill>
                            <a:srgbClr val="1A1A1A"/>
                          </a:solidFill>
                          <a:latin typeface="Helvetica Neue"/>
                        </a:rPr>
                        <a:t>LLM / reports</a:t>
                      </a:r>
                    </a:p>
                  </a:txBody>
                  <a:tcPr marL="45720" marR="45720" marT="18288" marB="18288" anchor="t"/>
                </a:tc>
              </a:tr>
              <a:tr h="192024">
                <a:tc>
                  <a:txBody>
                    <a:bodyPr wrap="square"/>
                    <a:lstStyle/>
                    <a:p>
                      <a:pPr algn="r"/>
                      <a:r>
                        <a:rPr sz="900" b="0" i="0">
                          <a:solidFill>
                            <a:srgbClr val="1A1A1A"/>
                          </a:solidFill>
                          <a:latin typeface="Helvetica Neue"/>
                        </a:rPr>
                        <a:t>122</a:t>
                      </a:r>
                    </a:p>
                  </a:txBody>
                  <a:tcPr marL="45720" marR="45720" marT="18288" marB="18288" anchor="t"/>
                </a:tc>
                <a:tc>
                  <a:txBody>
                    <a:bodyPr wrap="square"/>
                    <a:lstStyle/>
                    <a:p>
                      <a:pPr algn="r"/>
                      <a:r>
                        <a:rPr sz="900" b="0" i="0">
                          <a:solidFill>
                            <a:srgbClr val="1A1A1A"/>
                          </a:solidFill>
                          <a:latin typeface="Helvetica Neue"/>
                        </a:rPr>
                        <a:t>108.2</a:t>
                      </a:r>
                    </a:p>
                  </a:txBody>
                  <a:tcPr marL="45720" marR="45720" marT="18288" marB="18288" anchor="t"/>
                </a:tc>
                <a:tc>
                  <a:txBody>
                    <a:bodyPr wrap="square"/>
                    <a:lstStyle/>
                    <a:p>
                      <a:r>
                        <a:rPr sz="900" b="0" i="0">
                          <a:solidFill>
                            <a:srgbClr val="1A1A1A"/>
                          </a:solidFill>
                          <a:latin typeface="Helvetica Neue"/>
                        </a:rPr>
                        <a:t>Multimodal generative AI for medical image interpretation</a:t>
                      </a:r>
                    </a:p>
                  </a:txBody>
                  <a:tcPr marL="45720" marR="45720" marT="18288" marB="18288" anchor="t"/>
                </a:tc>
                <a:tc>
                  <a:txBody>
                    <a:bodyPr wrap="square"/>
                    <a:lstStyle/>
                    <a:p>
                      <a:r>
                        <a:rPr sz="900" b="0" i="0">
                          <a:solidFill>
                            <a:srgbClr val="1A1A1A"/>
                          </a:solidFill>
                          <a:latin typeface="Helvetica Neue"/>
                        </a:rPr>
                        <a:t>Nature</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r h="466344">
                <a:tc>
                  <a:txBody>
                    <a:bodyPr wrap="square"/>
                    <a:lstStyle/>
                    <a:p>
                      <a:pPr algn="r"/>
                      <a:r>
                        <a:rPr sz="900" b="0" i="0">
                          <a:solidFill>
                            <a:srgbClr val="1A1A1A"/>
                          </a:solidFill>
                          <a:latin typeface="Helvetica Neue"/>
                        </a:rPr>
                        <a:t>313</a:t>
                      </a:r>
                    </a:p>
                  </a:txBody>
                  <a:tcPr marL="45720" marR="45720" marT="18288" marB="18288" anchor="t"/>
                </a:tc>
                <a:tc>
                  <a:txBody>
                    <a:bodyPr wrap="square"/>
                    <a:lstStyle/>
                    <a:p>
                      <a:pPr algn="r"/>
                      <a:r>
                        <a:rPr sz="900" b="0" i="0">
                          <a:solidFill>
                            <a:srgbClr val="1A1A1A"/>
                          </a:solidFill>
                          <a:latin typeface="Helvetica Neue"/>
                        </a:rPr>
                        <a:t>94.9</a:t>
                      </a:r>
                    </a:p>
                  </a:txBody>
                  <a:tcPr marL="45720" marR="45720" marT="18288" marB="18288" anchor="t"/>
                </a:tc>
                <a:tc>
                  <a:txBody>
                    <a:bodyPr wrap="square"/>
                    <a:lstStyle/>
                    <a:p>
                      <a:r>
                        <a:rPr sz="900" b="0" i="0">
                          <a:solidFill>
                            <a:srgbClr val="1A1A1A"/>
                          </a:solidFill>
                          <a:latin typeface="Helvetica Neue"/>
                        </a:rPr>
                        <a:t>Towards generalist foundation model for radiology by leveraging web-scale 2D&amp;3D medical data</a:t>
                      </a:r>
                    </a:p>
                  </a:txBody>
                  <a:tcPr marL="45720" marR="45720" marT="18288" marB="18288" anchor="t"/>
                </a:tc>
                <a:tc>
                  <a:txBody>
                    <a:bodyPr wrap="square"/>
                    <a:lstStyle/>
                    <a:p>
                      <a:r>
                        <a:rPr sz="900" b="0" i="0">
                          <a:solidFill>
                            <a:srgbClr val="1A1A1A"/>
                          </a:solidFill>
                          <a:latin typeface="Helvetica Neue"/>
                        </a:rPr>
                        <a:t>Nature Communications</a:t>
                      </a:r>
                    </a:p>
                  </a:txBody>
                  <a:tcPr marL="45720" marR="45720" marT="18288" marB="18288" anchor="t"/>
                </a:tc>
                <a:tc>
                  <a:txBody>
                    <a:bodyPr wrap="square"/>
                    <a:lstStyle/>
                    <a:p>
                      <a:r>
                        <a:rPr sz="900" b="0" i="1">
                          <a:solidFill>
                            <a:srgbClr val="1A1A1A"/>
                          </a:solidFill>
                          <a:latin typeface="Helvetica Neue"/>
                        </a:rPr>
                        <a:t>foundation model</a:t>
                      </a:r>
                      <a:r>
                        <a:rPr sz="900" b="0" i="0">
                          <a:solidFill>
                            <a:srgbClr val="1A1A1A"/>
                          </a:solidFill>
                          <a:latin typeface="Helvetica Neue"/>
                        </a:rPr>
                        <a:t>: Can a radiology foundation model trained on web-scale 2D and 3D scans generalize across modalities and tasks? (RadFM)</a:t>
                      </a:r>
                    </a:p>
                  </a:txBody>
                  <a:tcPr marL="45720" marR="45720" marT="18288" marB="18288" anchor="t"/>
                </a:tc>
              </a:tr>
              <a:tr h="466344">
                <a:tc>
                  <a:txBody>
                    <a:bodyPr wrap="square"/>
                    <a:lstStyle/>
                    <a:p>
                      <a:pPr algn="r"/>
                      <a:r>
                        <a:rPr sz="900" b="0" i="0">
                          <a:solidFill>
                            <a:srgbClr val="1A1A1A"/>
                          </a:solidFill>
                          <a:latin typeface="Helvetica Neue"/>
                        </a:rPr>
                        <a:t>173</a:t>
                      </a:r>
                    </a:p>
                  </a:txBody>
                  <a:tcPr marL="45720" marR="45720" marT="18288" marB="18288" anchor="t"/>
                </a:tc>
                <a:tc>
                  <a:txBody>
                    <a:bodyPr wrap="square"/>
                    <a:lstStyle/>
                    <a:p>
                      <a:pPr algn="r"/>
                      <a:r>
                        <a:rPr sz="900" b="0" i="0">
                          <a:solidFill>
                            <a:srgbClr val="1A1A1A"/>
                          </a:solidFill>
                          <a:latin typeface="Helvetica Neue"/>
                        </a:rPr>
                        <a:t>87.2</a:t>
                      </a:r>
                    </a:p>
                  </a:txBody>
                  <a:tcPr marL="45720" marR="45720" marT="18288" marB="18288" anchor="t"/>
                </a:tc>
                <a:tc>
                  <a:txBody>
                    <a:bodyPr wrap="square"/>
                    <a:lstStyle/>
                    <a:p>
                      <a:r>
                        <a:rPr sz="900" b="0" i="0">
                          <a:solidFill>
                            <a:srgbClr val="1A1A1A"/>
                          </a:solidFill>
                          <a:latin typeface="Helvetica Neue"/>
                        </a:rPr>
                        <a:t>Development and validation of an autonomous artificial intelligence agent for clinical decision-making in oncology</a:t>
                      </a:r>
                    </a:p>
                  </a:txBody>
                  <a:tcPr marL="45720" marR="45720" marT="18288" marB="18288" anchor="t"/>
                </a:tc>
                <a:tc>
                  <a:txBody>
                    <a:bodyPr wrap="square"/>
                    <a:lstStyle/>
                    <a:p>
                      <a:r>
                        <a:rPr sz="900" b="0" i="0">
                          <a:solidFill>
                            <a:srgbClr val="1A1A1A"/>
                          </a:solidFill>
                          <a:latin typeface="Helvetica Neue"/>
                        </a:rPr>
                        <a:t>Nature Cancer</a:t>
                      </a:r>
                    </a:p>
                  </a:txBody>
                  <a:tcPr marL="45720" marR="45720" marT="18288" marB="18288" anchor="t"/>
                </a:tc>
                <a:tc>
                  <a:txBody>
                    <a:bodyPr wrap="square"/>
                    <a:lstStyle/>
                    <a:p>
                      <a:r>
                        <a:rPr sz="900" b="0" i="1">
                          <a:solidFill>
                            <a:srgbClr val="1A1A1A"/>
                          </a:solidFill>
                          <a:latin typeface="Helvetica Neue"/>
                        </a:rPr>
                        <a:t>agent / autonomous</a:t>
                      </a:r>
                      <a:r>
                        <a:rPr sz="900" b="0" i="0">
                          <a:solidFill>
                            <a:srgbClr val="1A1A1A"/>
                          </a:solidFill>
                          <a:latin typeface="Helvetica Neue"/>
                        </a:rPr>
                        <a:t>: Can an autonomous LLM agent that calls imaging and other tools support oncology decisions? (validation study)</a:t>
                      </a:r>
                    </a:p>
                  </a:txBody>
                  <a:tcPr marL="45720" marR="45720" marT="18288" marB="18288" anchor="t"/>
                </a:tc>
              </a:tr>
              <a:tr h="192024">
                <a:tc>
                  <a:txBody>
                    <a:bodyPr wrap="square"/>
                    <a:lstStyle/>
                    <a:p>
                      <a:pPr algn="r"/>
                      <a:r>
                        <a:rPr sz="900" b="0" i="0">
                          <a:solidFill>
                            <a:srgbClr val="1A1A1A"/>
                          </a:solidFill>
                          <a:latin typeface="Helvetica Neue"/>
                        </a:rPr>
                        <a:t>208</a:t>
                      </a:r>
                    </a:p>
                  </a:txBody>
                  <a:tcPr marL="45720" marR="45720" marT="18288" marB="18288" anchor="t"/>
                </a:tc>
                <a:tc>
                  <a:txBody>
                    <a:bodyPr wrap="square"/>
                    <a:lstStyle/>
                    <a:p>
                      <a:pPr algn="r"/>
                      <a:r>
                        <a:rPr sz="900" b="0" i="0">
                          <a:solidFill>
                            <a:srgbClr val="1A1A1A"/>
                          </a:solidFill>
                          <a:latin typeface="Helvetica Neue"/>
                        </a:rPr>
                        <a:t>65.9</a:t>
                      </a:r>
                    </a:p>
                  </a:txBody>
                  <a:tcPr marL="45720" marR="45720" marT="18288" marB="18288" anchor="t"/>
                </a:tc>
                <a:tc>
                  <a:txBody>
                    <a:bodyPr wrap="square"/>
                    <a:lstStyle/>
                    <a:p>
                      <a:r>
                        <a:rPr sz="900" b="0" i="0">
                          <a:solidFill>
                            <a:srgbClr val="1A1A1A"/>
                          </a:solidFill>
                          <a:latin typeface="Helvetica Neue"/>
                        </a:rPr>
                        <a:t>A review of deep learning for brain tumor analysis in MRI</a:t>
                      </a:r>
                    </a:p>
                  </a:txBody>
                  <a:tcPr marL="45720" marR="45720" marT="18288" marB="18288" anchor="t"/>
                </a:tc>
                <a:tc>
                  <a:txBody>
                    <a:bodyPr wrap="square"/>
                    <a:lstStyle/>
                    <a:p>
                      <a:r>
                        <a:rPr sz="900" b="0" i="0">
                          <a:solidFill>
                            <a:srgbClr val="1A1A1A"/>
                          </a:solidFill>
                          <a:latin typeface="Helvetica Neue"/>
                        </a:rPr>
                        <a:t>npj Precision Oncology</a:t>
                      </a:r>
                    </a:p>
                  </a:txBody>
                  <a:tcPr marL="45720" marR="45720" marT="18288" marB="18288" anchor="t"/>
                </a:tc>
                <a:tc>
                  <a:txBody>
                    <a:bodyPr wrap="square"/>
                    <a:lstStyle/>
                    <a:p>
                      <a:r>
                        <a:rPr sz="900" b="0" i="1">
                          <a:solidFill>
                            <a:srgbClr val="1A1A1A"/>
                          </a:solidFill>
                          <a:latin typeface="Helvetica Neue"/>
                        </a:rPr>
                        <a:t>survey / review</a:t>
                      </a:r>
                    </a:p>
                  </a:txBody>
                  <a:tcPr marL="45720" marR="45720" marT="18288" marB="18288" anchor="t"/>
                </a:tc>
              </a:tr>
              <a:tr h="329184">
                <a:tc>
                  <a:txBody>
                    <a:bodyPr wrap="square"/>
                    <a:lstStyle/>
                    <a:p>
                      <a:pPr algn="r"/>
                      <a:r>
                        <a:rPr sz="900" b="0" i="0">
                          <a:solidFill>
                            <a:srgbClr val="1A1A1A"/>
                          </a:solidFill>
                          <a:latin typeface="Helvetica Neue"/>
                        </a:rPr>
                        <a:t>150</a:t>
                      </a:r>
                    </a:p>
                  </a:txBody>
                  <a:tcPr marL="45720" marR="45720" marT="18288" marB="18288" anchor="t"/>
                </a:tc>
                <a:tc>
                  <a:txBody>
                    <a:bodyPr wrap="square"/>
                    <a:lstStyle/>
                    <a:p>
                      <a:pPr algn="r"/>
                      <a:r>
                        <a:rPr sz="900" b="0" i="0">
                          <a:solidFill>
                            <a:srgbClr val="1A1A1A"/>
                          </a:solidFill>
                          <a:latin typeface="Helvetica Neue"/>
                        </a:rPr>
                        <a:t>65.8</a:t>
                      </a:r>
                    </a:p>
                  </a:txBody>
                  <a:tcPr marL="45720" marR="45720" marT="18288" marB="18288" anchor="t"/>
                </a:tc>
                <a:tc>
                  <a:txBody>
                    <a:bodyPr wrap="square"/>
                    <a:lstStyle/>
                    <a:p>
                      <a:r>
                        <a:rPr sz="900" b="0" i="0">
                          <a:solidFill>
                            <a:srgbClr val="1A1A1A"/>
                          </a:solidFill>
                          <a:latin typeface="Helvetica Neue"/>
                        </a:rPr>
                        <a:t>Med-R1: Reinforcement Learning for Generalizable Medical Reasoning in Vision-Language Models</a:t>
                      </a:r>
                    </a:p>
                  </a:txBody>
                  <a:tcPr marL="45720" marR="45720" marT="18288" marB="18288" anchor="t"/>
                </a:tc>
                <a:tc>
                  <a:txBody>
                    <a:bodyPr wrap="square"/>
                    <a:lstStyle/>
                    <a:p>
                      <a:r>
                        <a:rPr sz="900" b="0" i="0">
                          <a:solidFill>
                            <a:srgbClr val="1A1A1A"/>
                          </a:solidFill>
                          <a:latin typeface="Helvetica Neue"/>
                        </a:rPr>
                        <a:t>IEEE Transactions on Medical Imaging</a:t>
                      </a:r>
                    </a:p>
                  </a:txBody>
                  <a:tcPr marL="45720" marR="45720" marT="18288" marB="18288" anchor="t"/>
                </a:tc>
                <a:tc>
                  <a:txBody>
                    <a:bodyPr wrap="square"/>
                    <a:lstStyle/>
                    <a:p>
                      <a:r>
                        <a:rPr sz="900" b="0" i="1">
                          <a:solidFill>
                            <a:srgbClr val="1A1A1A"/>
                          </a:solidFill>
                          <a:latin typeface="Helvetica Neue"/>
                        </a:rPr>
                        <a:t>LLM / reports</a:t>
                      </a:r>
                    </a:p>
                  </a:txBody>
                  <a:tcPr marL="45720" marR="45720" marT="18288" marB="18288" anchor="t"/>
                </a:tc>
              </a:tr>
              <a:tr h="329184">
                <a:tc>
                  <a:txBody>
                    <a:bodyPr wrap="square"/>
                    <a:lstStyle/>
                    <a:p>
                      <a:pPr algn="r"/>
                      <a:r>
                        <a:rPr sz="900" b="0" i="0">
                          <a:solidFill>
                            <a:srgbClr val="1A1A1A"/>
                          </a:solidFill>
                          <a:latin typeface="Helvetica Neue"/>
                        </a:rPr>
                        <a:t>233</a:t>
                      </a:r>
                    </a:p>
                  </a:txBody>
                  <a:tcPr marL="45720" marR="45720" marT="18288" marB="18288" anchor="t"/>
                </a:tc>
                <a:tc>
                  <a:txBody>
                    <a:bodyPr wrap="square"/>
                    <a:lstStyle/>
                    <a:p>
                      <a:pPr algn="r"/>
                      <a:r>
                        <a:rPr sz="900" b="0" i="0">
                          <a:solidFill>
                            <a:srgbClr val="1A1A1A"/>
                          </a:solidFill>
                          <a:latin typeface="Helvetica Neue"/>
                        </a:rPr>
                        <a:t>64.6</a:t>
                      </a:r>
                    </a:p>
                  </a:txBody>
                  <a:tcPr marL="45720" marR="45720" marT="18288" marB="18288" anchor="t"/>
                </a:tc>
                <a:tc>
                  <a:txBody>
                    <a:bodyPr wrap="square"/>
                    <a:lstStyle/>
                    <a:p>
                      <a:r>
                        <a:rPr sz="900" b="0" i="0">
                          <a:solidFill>
                            <a:srgbClr val="1A1A1A"/>
                          </a:solidFill>
                          <a:latin typeface="Helvetica Neue"/>
                        </a:rPr>
                        <a:t>Artificial intelligence in healthcare and medicine: clinical applications, therapeutic advances, and future perspectives</a:t>
                      </a:r>
                    </a:p>
                  </a:txBody>
                  <a:tcPr marL="45720" marR="45720" marT="18288" marB="18288" anchor="t"/>
                </a:tc>
                <a:tc>
                  <a:txBody>
                    <a:bodyPr wrap="square"/>
                    <a:lstStyle/>
                    <a:p>
                      <a:r>
                        <a:rPr sz="900" b="0" i="0">
                          <a:solidFill>
                            <a:srgbClr val="1A1A1A"/>
                          </a:solidFill>
                          <a:latin typeface="Helvetica Neue"/>
                        </a:rPr>
                        <a:t>European Journal of Medical Research</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r h="329184">
                <a:tc>
                  <a:txBody>
                    <a:bodyPr wrap="square"/>
                    <a:lstStyle/>
                    <a:p>
                      <a:pPr algn="r"/>
                      <a:r>
                        <a:rPr sz="900" b="0" i="0">
                          <a:solidFill>
                            <a:srgbClr val="1A1A1A"/>
                          </a:solidFill>
                          <a:latin typeface="Helvetica Neue"/>
                        </a:rPr>
                        <a:t>151</a:t>
                      </a:r>
                    </a:p>
                  </a:txBody>
                  <a:tcPr marL="45720" marR="45720" marT="18288" marB="18288" anchor="t"/>
                </a:tc>
                <a:tc>
                  <a:txBody>
                    <a:bodyPr wrap="square"/>
                    <a:lstStyle/>
                    <a:p>
                      <a:pPr algn="r"/>
                      <a:r>
                        <a:rPr sz="900" b="0" i="0">
                          <a:solidFill>
                            <a:srgbClr val="1A1A1A"/>
                          </a:solidFill>
                          <a:latin typeface="Helvetica Neue"/>
                        </a:rPr>
                        <a:t>54.0</a:t>
                      </a:r>
                    </a:p>
                  </a:txBody>
                  <a:tcPr marL="45720" marR="45720" marT="18288" marB="18288" anchor="t"/>
                </a:tc>
                <a:tc>
                  <a:txBody>
                    <a:bodyPr wrap="square"/>
                    <a:lstStyle/>
                    <a:p>
                      <a:r>
                        <a:rPr sz="900" b="0" i="0">
                          <a:solidFill>
                            <a:srgbClr val="1A1A1A"/>
                          </a:solidFill>
                          <a:latin typeface="Helvetica Neue"/>
                        </a:rPr>
                        <a:t>Medical Image Segmentation: A Comprehensive Review of Deep Learning-Based Methods</a:t>
                      </a:r>
                    </a:p>
                  </a:txBody>
                  <a:tcPr marL="45720" marR="45720" marT="18288" marB="18288" anchor="t"/>
                </a:tc>
                <a:tc>
                  <a:txBody>
                    <a:bodyPr wrap="square"/>
                    <a:lstStyle/>
                    <a:p>
                      <a:r>
                        <a:rPr sz="900" b="0" i="0">
                          <a:solidFill>
                            <a:srgbClr val="1A1A1A"/>
                          </a:solidFill>
                          <a:latin typeface="Helvetica Neue"/>
                        </a:rPr>
                        <a:t>Tomography</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118</a:t>
                      </a:r>
                    </a:p>
                  </a:txBody>
                  <a:tcPr marL="45720" marR="45720" marT="18288" marB="18288" anchor="t"/>
                </a:tc>
                <a:tc>
                  <a:txBody>
                    <a:bodyPr wrap="square"/>
                    <a:lstStyle/>
                    <a:p>
                      <a:pPr algn="r"/>
                      <a:r>
                        <a:rPr sz="900" b="0" i="0">
                          <a:solidFill>
                            <a:srgbClr val="1A1A1A"/>
                          </a:solidFill>
                          <a:latin typeface="Helvetica Neue"/>
                        </a:rPr>
                        <a:t>39.5</a:t>
                      </a:r>
                    </a:p>
                  </a:txBody>
                  <a:tcPr marL="45720" marR="45720" marT="18288" marB="18288" anchor="t"/>
                </a:tc>
                <a:tc>
                  <a:txBody>
                    <a:bodyPr wrap="square"/>
                    <a:lstStyle/>
                    <a:p>
                      <a:r>
                        <a:rPr sz="900" b="0" i="0">
                          <a:solidFill>
                            <a:srgbClr val="1A1A1A"/>
                          </a:solidFill>
                          <a:latin typeface="Helvetica Neue"/>
                        </a:rPr>
                        <a:t>Advanced Brain Tumor Classification in MR Images Using Transfer Learning and Pre-Trained Deep CNN Models</a:t>
                      </a:r>
                    </a:p>
                  </a:txBody>
                  <a:tcPr marL="45720" marR="45720" marT="18288" marB="18288" anchor="t"/>
                </a:tc>
                <a:tc>
                  <a:txBody>
                    <a:bodyPr wrap="square"/>
                    <a:lstStyle/>
                    <a:p>
                      <a:r>
                        <a:rPr sz="900" b="0" i="0">
                          <a:solidFill>
                            <a:srgbClr val="1A1A1A"/>
                          </a:solidFill>
                          <a:latin typeface="Helvetica Neue"/>
                        </a:rPr>
                        <a:t>Cancers</a:t>
                      </a:r>
                    </a:p>
                  </a:txBody>
                  <a:tcPr marL="45720" marR="45720" marT="18288" marB="18288" anchor="t"/>
                </a:tc>
                <a:tc>
                  <a:txBody>
                    <a:bodyPr wrap="square"/>
                    <a:lstStyle/>
                    <a:p>
                      <a:r>
                        <a:rPr sz="900" b="0" i="1">
                          <a:solidFill>
                            <a:srgbClr val="1A1A1A"/>
                          </a:solidFill>
                          <a:latin typeface="Helvetica Neue"/>
                        </a:rPr>
                        <a:t>oncology</a:t>
                      </a:r>
                    </a:p>
                  </a:txBody>
                  <a:tcPr marL="45720" marR="45720" marT="18288" marB="18288" anchor="t"/>
                </a:tc>
              </a:tr>
            </a:tbl>
          </a:graphicData>
        </a:graphic>
      </p:graphicFrame>
      <p:sp>
        <p:nvSpPr>
          <p:cNvPr id="5" name="TextBox 4"/>
          <p:cNvSpPr txBox="1"/>
          <p:nvPr/>
        </p:nvSpPr>
        <p:spPr>
          <a:xfrm>
            <a:off x="411480" y="4434840"/>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1 of the 10 rows are preprints.</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29 / 83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radiology AI papers, 2026 (year to date)</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4" cy="3621024"/>
        </p:xfrm>
        <a:graphic>
          <a:graphicData uri="http://schemas.openxmlformats.org/drawingml/2006/table">
            <a:tbl>
              <a:tblPr firstRow="1" bandRow="1">
                <a:tableStyleId>{5C22544A-7EE6-4342-B048-85BDC9FD1C3A}</a:tableStyleId>
              </a:tblPr>
              <a:tblGrid>
                <a:gridCol w="480060"/>
                <a:gridCol w="448056"/>
                <a:gridCol w="4792244"/>
                <a:gridCol w="2119445"/>
                <a:gridCol w="3528929"/>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192024">
                <a:tc>
                  <a:txBody>
                    <a:bodyPr wrap="square"/>
                    <a:lstStyle/>
                    <a:p>
                      <a:pPr algn="r"/>
                      <a:r>
                        <a:rPr sz="900" b="0" i="0">
                          <a:solidFill>
                            <a:srgbClr val="1A1A1A"/>
                          </a:solidFill>
                          <a:latin typeface="Helvetica Neue"/>
                        </a:rPr>
                        <a:t>48</a:t>
                      </a:r>
                    </a:p>
                  </a:txBody>
                  <a:tcPr marL="45720" marR="45720" marT="18288" marB="18288" anchor="t"/>
                </a:tc>
                <a:tc>
                  <a:txBody>
                    <a:bodyPr wrap="square"/>
                    <a:lstStyle/>
                    <a:p>
                      <a:pPr algn="r"/>
                      <a:r>
                        <a:rPr sz="900" b="0" i="0">
                          <a:solidFill>
                            <a:srgbClr val="1A1A1A"/>
                          </a:solidFill>
                          <a:latin typeface="Helvetica Neue"/>
                        </a:rPr>
                        <a:t>102.6</a:t>
                      </a:r>
                    </a:p>
                  </a:txBody>
                  <a:tcPr marL="45720" marR="45720" marT="18288" marB="18288" anchor="t"/>
                </a:tc>
                <a:tc>
                  <a:txBody>
                    <a:bodyPr wrap="square"/>
                    <a:lstStyle/>
                    <a:p>
                      <a:r>
                        <a:rPr sz="900" b="0" i="0">
                          <a:solidFill>
                            <a:srgbClr val="1A1A1A"/>
                          </a:solidFill>
                          <a:latin typeface="Helvetica Neue"/>
                        </a:rPr>
                        <a:t>A generalizable foundation model for analysis of human brain MRI</a:t>
                      </a:r>
                    </a:p>
                  </a:txBody>
                  <a:tcPr marL="45720" marR="45720" marT="18288" marB="18288" anchor="t"/>
                </a:tc>
                <a:tc>
                  <a:txBody>
                    <a:bodyPr wrap="square"/>
                    <a:lstStyle/>
                    <a:p>
                      <a:r>
                        <a:rPr sz="900" b="0" i="0">
                          <a:solidFill>
                            <a:srgbClr val="1A1A1A"/>
                          </a:solidFill>
                          <a:latin typeface="Helvetica Neue"/>
                        </a:rPr>
                        <a:t>Nature Neuroscience</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r h="329184">
                <a:tc>
                  <a:txBody>
                    <a:bodyPr wrap="square"/>
                    <a:lstStyle/>
                    <a:p>
                      <a:pPr algn="r"/>
                      <a:r>
                        <a:rPr sz="900" b="0" i="0">
                          <a:solidFill>
                            <a:srgbClr val="1A1A1A"/>
                          </a:solidFill>
                          <a:latin typeface="Helvetica Neue"/>
                        </a:rPr>
                        <a:t>16</a:t>
                      </a:r>
                    </a:p>
                  </a:txBody>
                  <a:tcPr marL="45720" marR="45720" marT="18288" marB="18288" anchor="t"/>
                </a:tc>
                <a:tc>
                  <a:txBody>
                    <a:bodyPr wrap="square"/>
                    <a:lstStyle/>
                    <a:p>
                      <a:pPr algn="r"/>
                      <a:r>
                        <a:rPr sz="900" b="0" i="0">
                          <a:solidFill>
                            <a:srgbClr val="1A1A1A"/>
                          </a:solidFill>
                          <a:latin typeface="Helvetica Neue"/>
                        </a:rPr>
                        <a:t>90.5</a:t>
                      </a:r>
                    </a:p>
                  </a:txBody>
                  <a:tcPr marL="45720" marR="45720" marT="18288" marB="18288" anchor="t"/>
                </a:tc>
                <a:tc>
                  <a:txBody>
                    <a:bodyPr wrap="square"/>
                    <a:lstStyle/>
                    <a:p>
                      <a:r>
                        <a:rPr sz="900" b="0" i="0">
                          <a:solidFill>
                            <a:srgbClr val="1A1A1A"/>
                          </a:solidFill>
                          <a:latin typeface="Helvetica Neue"/>
                        </a:rPr>
                        <a:t>Reporting checklist for foundation and large language models in medical research (REFINE): an international consensus guideline.</a:t>
                      </a:r>
                    </a:p>
                  </a:txBody>
                  <a:tcPr marL="45720" marR="45720" marT="18288" marB="18288" anchor="t"/>
                </a:tc>
                <a:tc>
                  <a:txBody>
                    <a:bodyPr wrap="square"/>
                    <a:lstStyle/>
                    <a:p>
                      <a:r>
                        <a:rPr sz="900" b="0" i="0">
                          <a:solidFill>
                            <a:srgbClr val="1A1A1A"/>
                          </a:solidFill>
                          <a:latin typeface="Helvetica Neue"/>
                        </a:rPr>
                        <a:t>Diagnostic and Interventional Radiology</a:t>
                      </a:r>
                    </a:p>
                  </a:txBody>
                  <a:tcPr marL="45720" marR="45720" marT="18288" marB="18288" anchor="t"/>
                </a:tc>
                <a:tc>
                  <a:txBody>
                    <a:bodyPr wrap="square"/>
                    <a:lstStyle/>
                    <a:p>
                      <a:r>
                        <a:rPr sz="900" b="0" i="1">
                          <a:solidFill>
                            <a:srgbClr val="1A1A1A"/>
                          </a:solidFill>
                          <a:latin typeface="Helvetica Neue"/>
                        </a:rPr>
                        <a:t>LLM / reports</a:t>
                      </a:r>
                    </a:p>
                  </a:txBody>
                  <a:tcPr marL="45720" marR="45720" marT="18288" marB="18288" anchor="t"/>
                </a:tc>
              </a:tr>
              <a:tr h="466344">
                <a:tc>
                  <a:txBody>
                    <a:bodyPr wrap="square"/>
                    <a:lstStyle/>
                    <a:p>
                      <a:pPr algn="r"/>
                      <a:r>
                        <a:rPr sz="900" b="0" i="0">
                          <a:solidFill>
                            <a:srgbClr val="1A1A1A"/>
                          </a:solidFill>
                          <a:latin typeface="Helvetica Neue"/>
                        </a:rPr>
                        <a:t>15</a:t>
                      </a:r>
                    </a:p>
                  </a:txBody>
                  <a:tcPr marL="45720" marR="45720" marT="18288" marB="18288" anchor="t"/>
                </a:tc>
                <a:tc>
                  <a:txBody>
                    <a:bodyPr wrap="square"/>
                    <a:lstStyle/>
                    <a:p>
                      <a:pPr algn="r"/>
                      <a:r>
                        <a:rPr sz="900" b="0" i="0">
                          <a:solidFill>
                            <a:srgbClr val="1A1A1A"/>
                          </a:solidFill>
                          <a:latin typeface="Helvetica Neue"/>
                        </a:rPr>
                        <a:t>76.1</a:t>
                      </a:r>
                    </a:p>
                  </a:txBody>
                  <a:tcPr marL="45720" marR="45720" marT="18288" marB="18288" anchor="t"/>
                </a:tc>
                <a:tc>
                  <a:txBody>
                    <a:bodyPr wrap="square"/>
                    <a:lstStyle/>
                    <a:p>
                      <a:r>
                        <a:rPr sz="900" b="0" i="0">
                          <a:solidFill>
                            <a:srgbClr val="1A1A1A"/>
                          </a:solidFill>
                          <a:latin typeface="Helvetica Neue"/>
                        </a:rPr>
                        <a:t>Scaling medical AI across clinical contexts</a:t>
                      </a:r>
                    </a:p>
                  </a:txBody>
                  <a:tcPr marL="45720" marR="45720" marT="18288" marB="18288" anchor="t"/>
                </a:tc>
                <a:tc>
                  <a:txBody>
                    <a:bodyPr wrap="square"/>
                    <a:lstStyle/>
                    <a:p>
                      <a:r>
                        <a:rPr sz="900" b="0" i="0">
                          <a:solidFill>
                            <a:srgbClr val="1A1A1A"/>
                          </a:solidFill>
                          <a:latin typeface="Helvetica Neue"/>
                        </a:rPr>
                        <a:t>Nature Medicine</a:t>
                      </a:r>
                    </a:p>
                  </a:txBody>
                  <a:tcPr marL="45720" marR="45720" marT="18288" marB="18288" anchor="t"/>
                </a:tc>
                <a:tc>
                  <a:txBody>
                    <a:bodyPr wrap="square"/>
                    <a:lstStyle/>
                    <a:p>
                      <a:r>
                        <a:rPr sz="900" b="0" i="1">
                          <a:solidFill>
                            <a:srgbClr val="1A1A1A"/>
                          </a:solidFill>
                          <a:latin typeface="Helvetica Neue"/>
                        </a:rPr>
                        <a:t>foundation model</a:t>
                      </a:r>
                      <a:r>
                        <a:rPr sz="900" b="0" i="0">
                          <a:solidFill>
                            <a:srgbClr val="1A1A1A"/>
                          </a:solidFill>
                          <a:latin typeface="Helvetica Neue"/>
                        </a:rPr>
                        <a:t>: How can medical AI be scaled across hospitals, populations and tasks without breaking? (perspective)</a:t>
                      </a:r>
                    </a:p>
                  </a:txBody>
                  <a:tcPr marL="45720" marR="45720" marT="18288" marB="18288" anchor="t"/>
                </a:tc>
              </a:tr>
              <a:tr h="329184">
                <a:tc>
                  <a:txBody>
                    <a:bodyPr wrap="square"/>
                    <a:lstStyle/>
                    <a:p>
                      <a:pPr algn="r"/>
                      <a:r>
                        <a:rPr sz="900" b="0" i="0">
                          <a:solidFill>
                            <a:srgbClr val="1A1A1A"/>
                          </a:solidFill>
                          <a:latin typeface="Helvetica Neue"/>
                        </a:rPr>
                        <a:t>27</a:t>
                      </a:r>
                    </a:p>
                  </a:txBody>
                  <a:tcPr marL="45720" marR="45720" marT="18288" marB="18288" anchor="t"/>
                </a:tc>
                <a:tc>
                  <a:txBody>
                    <a:bodyPr wrap="square"/>
                    <a:lstStyle/>
                    <a:p>
                      <a:pPr algn="r"/>
                      <a:r>
                        <a:rPr sz="900" b="0" i="0">
                          <a:solidFill>
                            <a:srgbClr val="1A1A1A"/>
                          </a:solidFill>
                          <a:latin typeface="Helvetica Neue"/>
                        </a:rPr>
                        <a:t>67.3</a:t>
                      </a:r>
                    </a:p>
                  </a:txBody>
                  <a:tcPr marL="45720" marR="45720" marT="18288" marB="18288" anchor="t"/>
                </a:tc>
                <a:tc>
                  <a:txBody>
                    <a:bodyPr wrap="square"/>
                    <a:lstStyle/>
                    <a:p>
                      <a:r>
                        <a:rPr sz="900" b="0" i="0">
                          <a:solidFill>
                            <a:srgbClr val="1A1A1A"/>
                          </a:solidFill>
                          <a:latin typeface="Helvetica Neue"/>
                        </a:rPr>
                        <a:t>Applications and limitations of large language models to integrate medical context: a comprehensive review</a:t>
                      </a:r>
                    </a:p>
                  </a:txBody>
                  <a:tcPr marL="45720" marR="45720" marT="18288" marB="18288" anchor="t"/>
                </a:tc>
                <a:tc>
                  <a:txBody>
                    <a:bodyPr wrap="square"/>
                    <a:lstStyle/>
                    <a:p>
                      <a:r>
                        <a:rPr sz="900" b="0" i="0">
                          <a:solidFill>
                            <a:srgbClr val="1A1A1A"/>
                          </a:solidFill>
                          <a:latin typeface="Helvetica Neue"/>
                        </a:rPr>
                        <a:t>Iran Journal of Computer Science</a:t>
                      </a:r>
                    </a:p>
                  </a:txBody>
                  <a:tcPr marL="45720" marR="45720" marT="18288" marB="18288" anchor="t"/>
                </a:tc>
                <a:tc>
                  <a:txBody>
                    <a:bodyPr wrap="square"/>
                    <a:lstStyle/>
                    <a:p>
                      <a:r>
                        <a:rPr sz="900" b="0" i="1">
                          <a:solidFill>
                            <a:srgbClr val="1A1A1A"/>
                          </a:solidFill>
                          <a:latin typeface="Helvetica Neue"/>
                        </a:rPr>
                        <a:t>survey / review</a:t>
                      </a:r>
                    </a:p>
                  </a:txBody>
                  <a:tcPr marL="45720" marR="45720" marT="18288" marB="18288" anchor="t"/>
                </a:tc>
              </a:tr>
              <a:tr h="329184">
                <a:tc>
                  <a:txBody>
                    <a:bodyPr wrap="square"/>
                    <a:lstStyle/>
                    <a:p>
                      <a:pPr algn="r"/>
                      <a:r>
                        <a:rPr sz="900" b="0" i="0">
                          <a:solidFill>
                            <a:srgbClr val="1A1A1A"/>
                          </a:solidFill>
                          <a:latin typeface="Helvetica Neue"/>
                        </a:rPr>
                        <a:t>18</a:t>
                      </a:r>
                    </a:p>
                  </a:txBody>
                  <a:tcPr marL="45720" marR="45720" marT="18288" marB="18288" anchor="t"/>
                </a:tc>
                <a:tc>
                  <a:txBody>
                    <a:bodyPr wrap="square"/>
                    <a:lstStyle/>
                    <a:p>
                      <a:pPr algn="r"/>
                      <a:r>
                        <a:rPr sz="900" b="0" i="0">
                          <a:solidFill>
                            <a:srgbClr val="1A1A1A"/>
                          </a:solidFill>
                          <a:latin typeface="Helvetica Neue"/>
                        </a:rPr>
                        <a:t>62.7</a:t>
                      </a:r>
                    </a:p>
                  </a:txBody>
                  <a:tcPr marL="45720" marR="45720" marT="18288" marB="18288" anchor="t"/>
                </a:tc>
                <a:tc>
                  <a:txBody>
                    <a:bodyPr wrap="square"/>
                    <a:lstStyle/>
                    <a:p>
                      <a:r>
                        <a:rPr sz="900" b="0" i="0">
                          <a:solidFill>
                            <a:srgbClr val="1A1A1A"/>
                          </a:solidFill>
                          <a:latin typeface="Helvetica Neue"/>
                        </a:rPr>
                        <a:t>A hybrid deep learning framework based on VGG19 and U-Net for accurate brain tumor segmentation in MRI images</a:t>
                      </a:r>
                    </a:p>
                  </a:txBody>
                  <a:tcPr marL="45720" marR="45720" marT="18288" marB="18288" anchor="t"/>
                </a:tc>
                <a:tc>
                  <a:txBody>
                    <a:bodyPr wrap="square"/>
                    <a:lstStyle/>
                    <a:p>
                      <a:r>
                        <a:rPr sz="900" b="0" i="0">
                          <a:solidFill>
                            <a:srgbClr val="1A1A1A"/>
                          </a:solidFill>
                          <a:latin typeface="Helvetica Neue"/>
                        </a:rPr>
                        <a:t>Magnetic Resonance Letters</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37</a:t>
                      </a:r>
                    </a:p>
                  </a:txBody>
                  <a:tcPr marL="45720" marR="45720" marT="18288" marB="18288" anchor="t"/>
                </a:tc>
                <a:tc>
                  <a:txBody>
                    <a:bodyPr wrap="square"/>
                    <a:lstStyle/>
                    <a:p>
                      <a:pPr algn="r"/>
                      <a:r>
                        <a:rPr sz="900" b="0" i="0">
                          <a:solidFill>
                            <a:srgbClr val="1A1A1A"/>
                          </a:solidFill>
                          <a:latin typeface="Helvetica Neue"/>
                        </a:rPr>
                        <a:t>58.8</a:t>
                      </a:r>
                    </a:p>
                  </a:txBody>
                  <a:tcPr marL="45720" marR="45720" marT="18288" marB="18288" anchor="t"/>
                </a:tc>
                <a:tc>
                  <a:txBody>
                    <a:bodyPr wrap="square"/>
                    <a:lstStyle/>
                    <a:p>
                      <a:r>
                        <a:rPr sz="900" b="0" i="0">
                          <a:solidFill>
                            <a:srgbClr val="1A1A1A"/>
                          </a:solidFill>
                          <a:latin typeface="Helvetica Neue"/>
                        </a:rPr>
                        <a:t>Explainable artificial intelligence (XAI) in medical imaging: a systematic review of techniques, applications, and challenges</a:t>
                      </a:r>
                    </a:p>
                  </a:txBody>
                  <a:tcPr marL="45720" marR="45720" marT="18288" marB="18288" anchor="t"/>
                </a:tc>
                <a:tc>
                  <a:txBody>
                    <a:bodyPr wrap="square"/>
                    <a:lstStyle/>
                    <a:p>
                      <a:r>
                        <a:rPr sz="900" b="0" i="0">
                          <a:solidFill>
                            <a:srgbClr val="1A1A1A"/>
                          </a:solidFill>
                          <a:latin typeface="Helvetica Neue"/>
                        </a:rPr>
                        <a:t>BMC Medical Imaging</a:t>
                      </a:r>
                    </a:p>
                  </a:txBody>
                  <a:tcPr marL="45720" marR="45720" marT="18288" marB="18288" anchor="t"/>
                </a:tc>
                <a:tc>
                  <a:txBody>
                    <a:bodyPr wrap="square"/>
                    <a:lstStyle/>
                    <a:p>
                      <a:r>
                        <a:rPr sz="900" b="0" i="1">
                          <a:solidFill>
                            <a:srgbClr val="1A1A1A"/>
                          </a:solidFill>
                          <a:latin typeface="Helvetica Neue"/>
                        </a:rPr>
                        <a:t>survey / review</a:t>
                      </a:r>
                      <a:r>
                        <a:rPr sz="900" b="0" i="0">
                          <a:solidFill>
                            <a:srgbClr val="1A1A1A"/>
                          </a:solidFill>
                          <a:latin typeface="Helvetica Neue"/>
                        </a:rPr>
                        <a:t>: Which explainability methods are used in medical imaging AI and do they help? (review)</a:t>
                      </a:r>
                    </a:p>
                  </a:txBody>
                  <a:tcPr marL="45720" marR="45720" marT="18288" marB="18288" anchor="t"/>
                </a:tc>
              </a:tr>
              <a:tr h="329184">
                <a:tc>
                  <a:txBody>
                    <a:bodyPr wrap="square"/>
                    <a:lstStyle/>
                    <a:p>
                      <a:pPr algn="r"/>
                      <a:r>
                        <a:rPr sz="900" b="0" i="0">
                          <a:solidFill>
                            <a:srgbClr val="1A1A1A"/>
                          </a:solidFill>
                          <a:latin typeface="Helvetica Neue"/>
                        </a:rPr>
                        <a:t>12</a:t>
                      </a:r>
                    </a:p>
                  </a:txBody>
                  <a:tcPr marL="45720" marR="45720" marT="18288" marB="18288" anchor="t"/>
                </a:tc>
                <a:tc>
                  <a:txBody>
                    <a:bodyPr wrap="square"/>
                    <a:lstStyle/>
                    <a:p>
                      <a:pPr algn="r"/>
                      <a:r>
                        <a:rPr sz="900" b="0" i="0">
                          <a:solidFill>
                            <a:srgbClr val="1A1A1A"/>
                          </a:solidFill>
                          <a:latin typeface="Helvetica Neue"/>
                        </a:rPr>
                        <a:t>45.3</a:t>
                      </a:r>
                    </a:p>
                  </a:txBody>
                  <a:tcPr marL="45720" marR="45720" marT="18288" marB="18288" anchor="t"/>
                </a:tc>
                <a:tc>
                  <a:txBody>
                    <a:bodyPr wrap="square"/>
                    <a:lstStyle/>
                    <a:p>
                      <a:r>
                        <a:rPr sz="900" b="0" i="0">
                          <a:solidFill>
                            <a:srgbClr val="1A1A1A"/>
                          </a:solidFill>
                          <a:latin typeface="Helvetica Neue"/>
                        </a:rPr>
                        <a:t>Explainable AI-driven MRI-based brain tumor classification: a novel deep learning approach</a:t>
                      </a:r>
                    </a:p>
                  </a:txBody>
                  <a:tcPr marL="45720" marR="45720" marT="18288" marB="18288" anchor="t"/>
                </a:tc>
                <a:tc>
                  <a:txBody>
                    <a:bodyPr wrap="square"/>
                    <a:lstStyle/>
                    <a:p>
                      <a:r>
                        <a:rPr sz="900" b="0" i="0">
                          <a:solidFill>
                            <a:srgbClr val="1A1A1A"/>
                          </a:solidFill>
                          <a:latin typeface="Helvetica Neue"/>
                        </a:rPr>
                        <a:t>Frontiers Artif. Intell.</a:t>
                      </a:r>
                    </a:p>
                  </a:txBody>
                  <a:tcPr marL="45720" marR="45720" marT="18288" marB="18288" anchor="t"/>
                </a:tc>
                <a:tc>
                  <a:txBody>
                    <a:bodyPr wrap="square"/>
                    <a:lstStyle/>
                    <a:p>
                      <a:r>
                        <a:rPr sz="900" b="0" i="1">
                          <a:solidFill>
                            <a:srgbClr val="1A1A1A"/>
                          </a:solidFill>
                          <a:latin typeface="Helvetica Neue"/>
                        </a:rPr>
                        <a:t>oncology</a:t>
                      </a:r>
                    </a:p>
                  </a:txBody>
                  <a:tcPr marL="45720" marR="45720" marT="18288" marB="18288" anchor="t"/>
                </a:tc>
              </a:tr>
              <a:tr h="466344">
                <a:tc>
                  <a:txBody>
                    <a:bodyPr wrap="square"/>
                    <a:lstStyle/>
                    <a:p>
                      <a:pPr algn="r"/>
                      <a:r>
                        <a:rPr sz="900" b="0" i="0">
                          <a:solidFill>
                            <a:srgbClr val="1A1A1A"/>
                          </a:solidFill>
                          <a:latin typeface="Helvetica Neue"/>
                        </a:rPr>
                        <a:t>21</a:t>
                      </a:r>
                    </a:p>
                  </a:txBody>
                  <a:tcPr marL="45720" marR="45720" marT="18288" marB="18288" anchor="t"/>
                </a:tc>
                <a:tc>
                  <a:txBody>
                    <a:bodyPr wrap="square"/>
                    <a:lstStyle/>
                    <a:p>
                      <a:pPr algn="r"/>
                      <a:r>
                        <a:rPr sz="900" b="0" i="0">
                          <a:solidFill>
                            <a:srgbClr val="1A1A1A"/>
                          </a:solidFill>
                          <a:latin typeface="Helvetica Neue"/>
                        </a:rPr>
                        <a:t>44.2</a:t>
                      </a:r>
                    </a:p>
                  </a:txBody>
                  <a:tcPr marL="45720" marR="45720" marT="18288" marB="18288" anchor="t"/>
                </a:tc>
                <a:tc>
                  <a:txBody>
                    <a:bodyPr wrap="square"/>
                    <a:lstStyle/>
                    <a:p>
                      <a:r>
                        <a:rPr sz="900" b="0" i="0">
                          <a:solidFill>
                            <a:srgbClr val="1A1A1A"/>
                          </a:solidFill>
                          <a:latin typeface="Helvetica Neue"/>
                        </a:rPr>
                        <a:t>Agentic AI in Radiology: Evolution from Large Language Models to Future Clinical Integration.</a:t>
                      </a:r>
                    </a:p>
                  </a:txBody>
                  <a:tcPr marL="45720" marR="45720" marT="18288" marB="18288" anchor="t"/>
                </a:tc>
                <a:tc>
                  <a:txBody>
                    <a:bodyPr wrap="square"/>
                    <a:lstStyle/>
                    <a:p>
                      <a:r>
                        <a:rPr sz="900" b="0" i="0">
                          <a:solidFill>
                            <a:srgbClr val="1A1A1A"/>
                          </a:solidFill>
                          <a:latin typeface="Helvetica Neue"/>
                        </a:rPr>
                        <a:t>Radiology: Artificial Intelligence</a:t>
                      </a:r>
                    </a:p>
                  </a:txBody>
                  <a:tcPr marL="45720" marR="45720" marT="18288" marB="18288" anchor="t"/>
                </a:tc>
                <a:tc>
                  <a:txBody>
                    <a:bodyPr wrap="square"/>
                    <a:lstStyle/>
                    <a:p>
                      <a:r>
                        <a:rPr sz="900" b="0" i="1">
                          <a:solidFill>
                            <a:srgbClr val="1A1A1A"/>
                          </a:solidFill>
                          <a:latin typeface="Helvetica Neue"/>
                        </a:rPr>
                        <a:t>agent / autonomous</a:t>
                      </a:r>
                      <a:r>
                        <a:rPr sz="900" b="0" i="0">
                          <a:solidFill>
                            <a:srgbClr val="1A1A1A"/>
                          </a:solidFill>
                          <a:latin typeface="Helvetica Neue"/>
                        </a:rPr>
                        <a:t>: What are agentic AI systems in radiology and what stands between them and clinical use? (review)</a:t>
                      </a:r>
                    </a:p>
                  </a:txBody>
                  <a:tcPr marL="45720" marR="45720" marT="18288" marB="18288" anchor="t"/>
                </a:tc>
              </a:tr>
              <a:tr h="329184">
                <a:tc>
                  <a:txBody>
                    <a:bodyPr wrap="square"/>
                    <a:lstStyle/>
                    <a:p>
                      <a:pPr algn="r"/>
                      <a:r>
                        <a:rPr sz="900" b="0" i="0">
                          <a:solidFill>
                            <a:srgbClr val="1A1A1A"/>
                          </a:solidFill>
                          <a:latin typeface="Helvetica Neue"/>
                        </a:rPr>
                        <a:t>17</a:t>
                      </a:r>
                    </a:p>
                  </a:txBody>
                  <a:tcPr marL="45720" marR="45720" marT="18288" marB="18288" anchor="t"/>
                </a:tc>
                <a:tc>
                  <a:txBody>
                    <a:bodyPr wrap="square"/>
                    <a:lstStyle/>
                    <a:p>
                      <a:pPr algn="r"/>
                      <a:r>
                        <a:rPr sz="900" b="0" i="0">
                          <a:solidFill>
                            <a:srgbClr val="1A1A1A"/>
                          </a:solidFill>
                          <a:latin typeface="Helvetica Neue"/>
                        </a:rPr>
                        <a:t>28.4</a:t>
                      </a:r>
                    </a:p>
                  </a:txBody>
                  <a:tcPr marL="45720" marR="45720" marT="18288" marB="18288" anchor="t"/>
                </a:tc>
                <a:tc>
                  <a:txBody>
                    <a:bodyPr wrap="square"/>
                    <a:lstStyle/>
                    <a:p>
                      <a:r>
                        <a:rPr sz="900" b="0" i="0">
                          <a:solidFill>
                            <a:srgbClr val="1A1A1A"/>
                          </a:solidFill>
                          <a:latin typeface="Helvetica Neue"/>
                        </a:rPr>
                        <a:t>Leveraging multi-modal foundation models for analysing spatial multi-omic and histopathology data</a:t>
                      </a:r>
                    </a:p>
                  </a:txBody>
                  <a:tcPr marL="45720" marR="45720" marT="18288" marB="18288" anchor="t"/>
                </a:tc>
                <a:tc>
                  <a:txBody>
                    <a:bodyPr wrap="square"/>
                    <a:lstStyle/>
                    <a:p>
                      <a:r>
                        <a:rPr sz="900" b="0" i="0">
                          <a:solidFill>
                            <a:srgbClr val="1A1A1A"/>
                          </a:solidFill>
                          <a:latin typeface="Helvetica Neue"/>
                        </a:rPr>
                        <a:t>Nature Biomedical Engineering</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r h="329184">
                <a:tc>
                  <a:txBody>
                    <a:bodyPr wrap="square"/>
                    <a:lstStyle/>
                    <a:p>
                      <a:pPr algn="r"/>
                      <a:r>
                        <a:rPr sz="900" b="0" i="0">
                          <a:solidFill>
                            <a:srgbClr val="1A1A1A"/>
                          </a:solidFill>
                          <a:latin typeface="Helvetica Neue"/>
                        </a:rPr>
                        <a:t>19</a:t>
                      </a:r>
                    </a:p>
                  </a:txBody>
                  <a:tcPr marL="45720" marR="45720" marT="18288" marB="18288" anchor="t"/>
                </a:tc>
                <a:tc>
                  <a:txBody>
                    <a:bodyPr wrap="square"/>
                    <a:lstStyle/>
                    <a:p>
                      <a:pPr algn="r"/>
                      <a:r>
                        <a:rPr sz="900" b="0" i="0">
                          <a:solidFill>
                            <a:srgbClr val="1A1A1A"/>
                          </a:solidFill>
                          <a:latin typeface="Helvetica Neue"/>
                        </a:rPr>
                        <a:t>21.4</a:t>
                      </a:r>
                    </a:p>
                  </a:txBody>
                  <a:tcPr marL="45720" marR="45720" marT="18288" marB="18288" anchor="t"/>
                </a:tc>
                <a:tc>
                  <a:txBody>
                    <a:bodyPr wrap="square"/>
                    <a:lstStyle/>
                    <a:p>
                      <a:r>
                        <a:rPr sz="900" b="0" i="0">
                          <a:solidFill>
                            <a:srgbClr val="1A1A1A"/>
                          </a:solidFill>
                          <a:latin typeface="Helvetica Neue"/>
                        </a:rPr>
                        <a:t>BIBSNet: A deep learning baby image brain segmentation network for MRI scans</a:t>
                      </a:r>
                    </a:p>
                  </a:txBody>
                  <a:tcPr marL="45720" marR="45720" marT="18288" marB="18288" anchor="t"/>
                </a:tc>
                <a:tc>
                  <a:txBody>
                    <a:bodyPr wrap="square"/>
                    <a:lstStyle/>
                    <a:p>
                      <a:r>
                        <a:rPr sz="900" b="0" i="0">
                          <a:solidFill>
                            <a:srgbClr val="1A1A1A"/>
                          </a:solidFill>
                          <a:latin typeface="Helvetica Neue"/>
                        </a:rPr>
                        <a:t>Developmental Cognitive Neuroscience</a:t>
                      </a:r>
                    </a:p>
                  </a:txBody>
                  <a:tcPr marL="45720" marR="45720" marT="18288" marB="18288" anchor="t"/>
                </a:tc>
                <a:tc>
                  <a:txBody>
                    <a:bodyPr wrap="square"/>
                    <a:lstStyle/>
                    <a:p>
                      <a:r>
                        <a:rPr sz="900" b="0" i="1">
                          <a:solidFill>
                            <a:srgbClr val="1A1A1A"/>
                          </a:solidFill>
                          <a:latin typeface="Helvetica Neue"/>
                        </a:rPr>
                        <a:t>segmentation</a:t>
                      </a:r>
                      <a:r>
                        <a:rPr sz="900" b="0" i="0">
                          <a:solidFill>
                            <a:srgbClr val="1A1A1A"/>
                          </a:solidFill>
                          <a:latin typeface="Helvetica Neue"/>
                        </a:rPr>
                        <a:t>: Can one network segment infant brain MRI across the first years of life? (BIBSNet)</a:t>
                      </a:r>
                    </a:p>
                  </a:txBody>
                  <a:tcPr marL="45720" marR="45720" marT="18288" marB="18288" anchor="t"/>
                </a:tc>
              </a:tr>
            </a:tbl>
          </a:graphicData>
        </a:graphic>
      </p:graphicFrame>
      <p:sp>
        <p:nvSpPr>
          <p:cNvPr id="5" name="TextBox 4"/>
          <p:cNvSpPr txBox="1"/>
          <p:nvPr/>
        </p:nvSpPr>
        <p:spPr>
          <a:xfrm>
            <a:off x="411480" y="4571999"/>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Citations for the current year are still accumulating; the FWCI column is the more stable signal here. 1 of the 10 rows are preprints.</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30 / 83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pediatric radiology AI papers, 2008-2022</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4" cy="3483864"/>
        </p:xfrm>
        <a:graphic>
          <a:graphicData uri="http://schemas.openxmlformats.org/drawingml/2006/table">
            <a:tbl>
              <a:tblPr firstRow="1" bandRow="1">
                <a:tableStyleId>{5C22544A-7EE6-4342-B048-85BDC9FD1C3A}</a:tableStyleId>
              </a:tblPr>
              <a:tblGrid>
                <a:gridCol w="480060"/>
                <a:gridCol w="448056"/>
                <a:gridCol w="4792244"/>
                <a:gridCol w="2119445"/>
                <a:gridCol w="3528929"/>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329184">
                <a:tc>
                  <a:txBody>
                    <a:bodyPr wrap="square"/>
                    <a:lstStyle/>
                    <a:p>
                      <a:pPr algn="r"/>
                      <a:r>
                        <a:rPr sz="900" b="0" i="0">
                          <a:solidFill>
                            <a:srgbClr val="1A1A1A"/>
                          </a:solidFill>
                          <a:latin typeface="Helvetica Neue"/>
                        </a:rPr>
                        <a:t>426</a:t>
                      </a:r>
                    </a:p>
                  </a:txBody>
                  <a:tcPr marL="45720" marR="45720" marT="18288" marB="18288" anchor="t"/>
                </a:tc>
                <a:tc>
                  <a:txBody>
                    <a:bodyPr wrap="square"/>
                    <a:lstStyle/>
                    <a:p>
                      <a:pPr algn="r"/>
                      <a:r>
                        <a:rPr sz="900" b="0" i="0">
                          <a:solidFill>
                            <a:srgbClr val="1A1A1A"/>
                          </a:solidFill>
                          <a:latin typeface="Helvetica Neue"/>
                        </a:rPr>
                        <a:t>328.6</a:t>
                      </a:r>
                    </a:p>
                  </a:txBody>
                  <a:tcPr marL="45720" marR="45720" marT="18288" marB="18288" anchor="t"/>
                </a:tc>
                <a:tc>
                  <a:txBody>
                    <a:bodyPr wrap="square"/>
                    <a:lstStyle/>
                    <a:p>
                      <a:r>
                        <a:rPr sz="900" b="0" i="0">
                          <a:solidFill>
                            <a:srgbClr val="1A1A1A"/>
                          </a:solidFill>
                          <a:latin typeface="Helvetica Neue"/>
                        </a:rPr>
                        <a:t>Performance of a Deep-Learning Neural Network Model in Assessing Skeletal Maturity on Pediatric Hand Radiographs. (2017)</a:t>
                      </a:r>
                    </a:p>
                  </a:txBody>
                  <a:tcPr marL="45720" marR="45720" marT="18288" marB="18288" anchor="t"/>
                </a:tc>
                <a:tc>
                  <a:txBody>
                    <a:bodyPr wrap="square"/>
                    <a:lstStyle/>
                    <a:p>
                      <a:r>
                        <a:rPr sz="900" b="0" i="0">
                          <a:solidFill>
                            <a:srgbClr val="1A1A1A"/>
                          </a:solidFill>
                          <a:latin typeface="Helvetica Neue"/>
                        </a:rPr>
                        <a:t>Radiology</a:t>
                      </a:r>
                    </a:p>
                  </a:txBody>
                  <a:tcPr marL="45720" marR="45720" marT="18288" marB="18288" anchor="t"/>
                </a:tc>
                <a:tc>
                  <a:txBody>
                    <a:bodyPr wrap="square"/>
                    <a:lstStyle/>
                    <a:p>
                      <a:r>
                        <a:rPr sz="900" b="0" i="1">
                          <a:solidFill>
                            <a:srgbClr val="1A1A1A"/>
                          </a:solidFill>
                          <a:latin typeface="Helvetica Neue"/>
                        </a:rPr>
                        <a:t>bone age</a:t>
                      </a:r>
                      <a:r>
                        <a:rPr sz="900" b="0" i="0">
                          <a:solidFill>
                            <a:srgbClr val="1A1A1A"/>
                          </a:solidFill>
                          <a:latin typeface="Helvetica Neue"/>
                        </a:rPr>
                        <a:t>: Can a CNN assess skeletal maturity as accurately as radiologists?</a:t>
                      </a:r>
                    </a:p>
                  </a:txBody>
                  <a:tcPr marL="45720" marR="45720" marT="18288" marB="18288" anchor="t"/>
                </a:tc>
              </a:tr>
              <a:tr h="329184">
                <a:tc>
                  <a:txBody>
                    <a:bodyPr wrap="square"/>
                    <a:lstStyle/>
                    <a:p>
                      <a:pPr algn="r"/>
                      <a:r>
                        <a:rPr sz="900" b="0" i="0">
                          <a:solidFill>
                            <a:srgbClr val="1A1A1A"/>
                          </a:solidFill>
                          <a:latin typeface="Helvetica Neue"/>
                        </a:rPr>
                        <a:t>431</a:t>
                      </a:r>
                    </a:p>
                  </a:txBody>
                  <a:tcPr marL="45720" marR="45720" marT="18288" marB="18288" anchor="t"/>
                </a:tc>
                <a:tc>
                  <a:txBody>
                    <a:bodyPr wrap="square"/>
                    <a:lstStyle/>
                    <a:p>
                      <a:pPr algn="r"/>
                      <a:r>
                        <a:rPr sz="900" b="0" i="0">
                          <a:solidFill>
                            <a:srgbClr val="1A1A1A"/>
                          </a:solidFill>
                          <a:latin typeface="Helvetica Neue"/>
                        </a:rPr>
                        <a:t>321.5</a:t>
                      </a:r>
                    </a:p>
                  </a:txBody>
                  <a:tcPr marL="45720" marR="45720" marT="18288" marB="18288" anchor="t"/>
                </a:tc>
                <a:tc>
                  <a:txBody>
                    <a:bodyPr wrap="square"/>
                    <a:lstStyle/>
                    <a:p>
                      <a:r>
                        <a:rPr sz="900" b="0" i="0">
                          <a:solidFill>
                            <a:srgbClr val="1A1A1A"/>
                          </a:solidFill>
                          <a:latin typeface="Helvetica Neue"/>
                        </a:rPr>
                        <a:t>Fully Automated Deep Learning System for Bone Age Assessment (2017)</a:t>
                      </a:r>
                    </a:p>
                  </a:txBody>
                  <a:tcPr marL="45720" marR="45720" marT="18288" marB="18288" anchor="t"/>
                </a:tc>
                <a:tc>
                  <a:txBody>
                    <a:bodyPr wrap="square"/>
                    <a:lstStyle/>
                    <a:p>
                      <a:r>
                        <a:rPr sz="900" b="0" i="0">
                          <a:solidFill>
                            <a:srgbClr val="1A1A1A"/>
                          </a:solidFill>
                          <a:latin typeface="Helvetica Neue"/>
                        </a:rPr>
                        <a:t>Journal of digital imaging</a:t>
                      </a:r>
                    </a:p>
                  </a:txBody>
                  <a:tcPr marL="45720" marR="45720" marT="18288" marB="18288" anchor="t"/>
                </a:tc>
                <a:tc>
                  <a:txBody>
                    <a:bodyPr wrap="square"/>
                    <a:lstStyle/>
                    <a:p>
                      <a:r>
                        <a:rPr sz="900" b="0" i="1">
                          <a:solidFill>
                            <a:srgbClr val="1A1A1A"/>
                          </a:solidFill>
                          <a:latin typeface="Helvetica Neue"/>
                        </a:rPr>
                        <a:t>bone age</a:t>
                      </a:r>
                      <a:r>
                        <a:rPr sz="900" b="0" i="0">
                          <a:solidFill>
                            <a:srgbClr val="1A1A1A"/>
                          </a:solidFill>
                          <a:latin typeface="Helvetica Neue"/>
                        </a:rPr>
                        <a:t>: Fully automated bone age from hand radiographs</a:t>
                      </a:r>
                    </a:p>
                  </a:txBody>
                  <a:tcPr marL="45720" marR="45720" marT="18288" marB="18288" anchor="t"/>
                </a:tc>
              </a:tr>
              <a:tr h="329184">
                <a:tc>
                  <a:txBody>
                    <a:bodyPr wrap="square"/>
                    <a:lstStyle/>
                    <a:p>
                      <a:pPr algn="r"/>
                      <a:r>
                        <a:rPr sz="900" b="0" i="0">
                          <a:solidFill>
                            <a:srgbClr val="1A1A1A"/>
                          </a:solidFill>
                          <a:latin typeface="Helvetica Neue"/>
                        </a:rPr>
                        <a:t>403</a:t>
                      </a:r>
                    </a:p>
                  </a:txBody>
                  <a:tcPr marL="45720" marR="45720" marT="18288" marB="18288" anchor="t"/>
                </a:tc>
                <a:tc>
                  <a:txBody>
                    <a:bodyPr wrap="square"/>
                    <a:lstStyle/>
                    <a:p>
                      <a:pPr algn="r"/>
                      <a:r>
                        <a:rPr sz="900" b="0" i="0">
                          <a:solidFill>
                            <a:srgbClr val="1A1A1A"/>
                          </a:solidFill>
                          <a:latin typeface="Helvetica Neue"/>
                        </a:rPr>
                        <a:t>221.2</a:t>
                      </a:r>
                    </a:p>
                  </a:txBody>
                  <a:tcPr marL="45720" marR="45720" marT="18288" marB="18288" anchor="t"/>
                </a:tc>
                <a:tc>
                  <a:txBody>
                    <a:bodyPr wrap="square"/>
                    <a:lstStyle/>
                    <a:p>
                      <a:r>
                        <a:rPr sz="900" b="0" i="0">
                          <a:solidFill>
                            <a:srgbClr val="1A1A1A"/>
                          </a:solidFill>
                          <a:latin typeface="Helvetica Neue"/>
                        </a:rPr>
                        <a:t>Deep learning for automated skeletal bone age assessment in X-ray images (2017)</a:t>
                      </a:r>
                    </a:p>
                  </a:txBody>
                  <a:tcPr marL="45720" marR="45720" marT="18288" marB="18288" anchor="t"/>
                </a:tc>
                <a:tc>
                  <a:txBody>
                    <a:bodyPr wrap="square"/>
                    <a:lstStyle/>
                    <a:p>
                      <a:r>
                        <a:rPr sz="900" b="0" i="0">
                          <a:solidFill>
                            <a:srgbClr val="1A1A1A"/>
                          </a:solidFill>
                          <a:latin typeface="Helvetica Neue"/>
                        </a:rPr>
                        <a:t>Medical Image Anal.</a:t>
                      </a:r>
                    </a:p>
                  </a:txBody>
                  <a:tcPr marL="45720" marR="45720" marT="18288" marB="18288" anchor="t"/>
                </a:tc>
                <a:tc>
                  <a:txBody>
                    <a:bodyPr wrap="square"/>
                    <a:lstStyle/>
                    <a:p>
                      <a:r>
                        <a:rPr sz="900" b="0" i="1">
                          <a:solidFill>
                            <a:srgbClr val="1A1A1A"/>
                          </a:solidFill>
                          <a:latin typeface="Helvetica Neue"/>
                        </a:rPr>
                        <a:t>bone age</a:t>
                      </a:r>
                      <a:r>
                        <a:rPr sz="900" b="0" i="0">
                          <a:solidFill>
                            <a:srgbClr val="1A1A1A"/>
                          </a:solidFill>
                          <a:latin typeface="Helvetica Neue"/>
                        </a:rPr>
                        <a:t>: Deep learning for automated bone age (BoNet)</a:t>
                      </a:r>
                    </a:p>
                  </a:txBody>
                  <a:tcPr marL="45720" marR="45720" marT="18288" marB="18288" anchor="t"/>
                </a:tc>
              </a:tr>
              <a:tr h="329184">
                <a:tc>
                  <a:txBody>
                    <a:bodyPr wrap="square"/>
                    <a:lstStyle/>
                    <a:p>
                      <a:pPr algn="r"/>
                      <a:r>
                        <a:rPr sz="900" b="0" i="0">
                          <a:solidFill>
                            <a:srgbClr val="1A1A1A"/>
                          </a:solidFill>
                          <a:latin typeface="Helvetica Neue"/>
                        </a:rPr>
                        <a:t>143</a:t>
                      </a:r>
                    </a:p>
                  </a:txBody>
                  <a:tcPr marL="45720" marR="45720" marT="18288" marB="18288" anchor="t"/>
                </a:tc>
                <a:tc>
                  <a:txBody>
                    <a:bodyPr wrap="square"/>
                    <a:lstStyle/>
                    <a:p>
                      <a:pPr algn="r"/>
                      <a:r>
                        <a:rPr sz="900" b="0" i="0">
                          <a:solidFill>
                            <a:srgbClr val="1A1A1A"/>
                          </a:solidFill>
                          <a:latin typeface="Helvetica Neue"/>
                        </a:rPr>
                        <a:t>73.0</a:t>
                      </a:r>
                    </a:p>
                  </a:txBody>
                  <a:tcPr marL="45720" marR="45720" marT="18288" marB="18288" anchor="t"/>
                </a:tc>
                <a:tc>
                  <a:txBody>
                    <a:bodyPr wrap="square"/>
                    <a:lstStyle/>
                    <a:p>
                      <a:r>
                        <a:rPr sz="900" b="0" i="0">
                          <a:solidFill>
                            <a:srgbClr val="1A1A1A"/>
                          </a:solidFill>
                          <a:latin typeface="Helvetica Neue"/>
                        </a:rPr>
                        <a:t>Computerized Bone Age Estimation Using Deep Learning Based Program: Evaluation of the Accuracy and Efficiency. (2017)</a:t>
                      </a:r>
                    </a:p>
                  </a:txBody>
                  <a:tcPr marL="45720" marR="45720" marT="18288" marB="18288" anchor="t"/>
                </a:tc>
                <a:tc>
                  <a:txBody>
                    <a:bodyPr wrap="square"/>
                    <a:lstStyle/>
                    <a:p>
                      <a:r>
                        <a:rPr sz="900" b="0" i="0">
                          <a:solidFill>
                            <a:srgbClr val="1A1A1A"/>
                          </a:solidFill>
                          <a:latin typeface="Helvetica Neue"/>
                        </a:rPr>
                        <a:t>AJR. American journal of roentgenology</a:t>
                      </a:r>
                    </a:p>
                  </a:txBody>
                  <a:tcPr marL="45720" marR="45720" marT="18288" marB="18288" anchor="t"/>
                </a:tc>
                <a:tc>
                  <a:txBody>
                    <a:bodyPr wrap="square"/>
                    <a:lstStyle/>
                    <a:p>
                      <a:r>
                        <a:rPr sz="900" b="0" i="1">
                          <a:solidFill>
                            <a:srgbClr val="1A1A1A"/>
                          </a:solidFill>
                          <a:latin typeface="Helvetica Neue"/>
                        </a:rPr>
                        <a:t>bone age</a:t>
                      </a:r>
                      <a:r>
                        <a:rPr sz="900" b="0" i="0">
                          <a:solidFill>
                            <a:srgbClr val="1A1A1A"/>
                          </a:solidFill>
                          <a:latin typeface="Helvetica Neue"/>
                        </a:rPr>
                        <a:t>: Is a commercial deep-learning bone-age program accurate and faster in practice?</a:t>
                      </a:r>
                    </a:p>
                  </a:txBody>
                  <a:tcPr marL="45720" marR="45720" marT="18288" marB="18288" anchor="t"/>
                </a:tc>
              </a:tr>
              <a:tr h="329184">
                <a:tc>
                  <a:txBody>
                    <a:bodyPr wrap="square"/>
                    <a:lstStyle/>
                    <a:p>
                      <a:pPr algn="r"/>
                      <a:r>
                        <a:rPr sz="900" b="0" i="0">
                          <a:solidFill>
                            <a:srgbClr val="1A1A1A"/>
                          </a:solidFill>
                          <a:latin typeface="Helvetica Neue"/>
                        </a:rPr>
                        <a:t>191</a:t>
                      </a:r>
                    </a:p>
                  </a:txBody>
                  <a:tcPr marL="45720" marR="45720" marT="18288" marB="18288" anchor="t"/>
                </a:tc>
                <a:tc>
                  <a:txBody>
                    <a:bodyPr wrap="square"/>
                    <a:lstStyle/>
                    <a:p>
                      <a:pPr algn="r"/>
                      <a:r>
                        <a:rPr sz="900" b="0" i="0">
                          <a:solidFill>
                            <a:srgbClr val="1A1A1A"/>
                          </a:solidFill>
                          <a:latin typeface="Helvetica Neue"/>
                        </a:rPr>
                        <a:t>57.8</a:t>
                      </a:r>
                    </a:p>
                  </a:txBody>
                  <a:tcPr marL="45720" marR="45720" marT="18288" marB="18288" anchor="t"/>
                </a:tc>
                <a:tc>
                  <a:txBody>
                    <a:bodyPr wrap="square"/>
                    <a:lstStyle/>
                    <a:p>
                      <a:r>
                        <a:rPr sz="900" b="0" i="0">
                          <a:solidFill>
                            <a:srgbClr val="1A1A1A"/>
                          </a:solidFill>
                          <a:latin typeface="Helvetica Neue"/>
                        </a:rPr>
                        <a:t>A Review on Deep-Learning Algorithms for Fetal Ultrasound-Image Analysis (2022)</a:t>
                      </a:r>
                    </a:p>
                  </a:txBody>
                  <a:tcPr marL="45720" marR="45720" marT="18288" marB="18288" anchor="t"/>
                </a:tc>
                <a:tc>
                  <a:txBody>
                    <a:bodyPr wrap="square"/>
                    <a:lstStyle/>
                    <a:p>
                      <a:r>
                        <a:rPr sz="900" b="0" i="0">
                          <a:solidFill>
                            <a:srgbClr val="1A1A1A"/>
                          </a:solidFill>
                          <a:latin typeface="Helvetica Neue"/>
                        </a:rPr>
                        <a:t>Medical Image Anal.</a:t>
                      </a:r>
                    </a:p>
                  </a:txBody>
                  <a:tcPr marL="45720" marR="45720" marT="18288" marB="18288" anchor="t"/>
                </a:tc>
                <a:tc>
                  <a:txBody>
                    <a:bodyPr wrap="square"/>
                    <a:lstStyle/>
                    <a:p>
                      <a:r>
                        <a:rPr sz="900" b="0" i="1">
                          <a:solidFill>
                            <a:srgbClr val="1A1A1A"/>
                          </a:solidFill>
                          <a:latin typeface="Helvetica Neue"/>
                        </a:rPr>
                        <a:t>survey / review</a:t>
                      </a:r>
                    </a:p>
                  </a:txBody>
                  <a:tcPr marL="45720" marR="45720" marT="18288" marB="18288" anchor="t"/>
                </a:tc>
              </a:tr>
              <a:tr h="329184">
                <a:tc>
                  <a:txBody>
                    <a:bodyPr wrap="square"/>
                    <a:lstStyle/>
                    <a:p>
                      <a:pPr algn="r"/>
                      <a:r>
                        <a:rPr sz="900" b="0" i="0">
                          <a:solidFill>
                            <a:srgbClr val="1A1A1A"/>
                          </a:solidFill>
                          <a:latin typeface="Helvetica Neue"/>
                        </a:rPr>
                        <a:t>352</a:t>
                      </a:r>
                    </a:p>
                  </a:txBody>
                  <a:tcPr marL="45720" marR="45720" marT="18288" marB="18288" anchor="t"/>
                </a:tc>
                <a:tc>
                  <a:txBody>
                    <a:bodyPr wrap="square"/>
                    <a:lstStyle/>
                    <a:p>
                      <a:pPr algn="r"/>
                      <a:r>
                        <a:rPr sz="900" b="0" i="0">
                          <a:solidFill>
                            <a:srgbClr val="1A1A1A"/>
                          </a:solidFill>
                          <a:latin typeface="Helvetica Neue"/>
                        </a:rPr>
                        <a:t>57.4</a:t>
                      </a:r>
                    </a:p>
                  </a:txBody>
                  <a:tcPr marL="45720" marR="45720" marT="18288" marB="18288" anchor="t"/>
                </a:tc>
                <a:tc>
                  <a:txBody>
                    <a:bodyPr wrap="square"/>
                    <a:lstStyle/>
                    <a:p>
                      <a:r>
                        <a:rPr sz="900" b="0" i="0">
                          <a:solidFill>
                            <a:srgbClr val="1A1A1A"/>
                          </a:solidFill>
                          <a:latin typeface="Helvetica Neue"/>
                        </a:rPr>
                        <a:t>Standard Plane Localization in Fetal Ultrasound via Domain Transferred Deep Neural Networks (2015)</a:t>
                      </a:r>
                    </a:p>
                  </a:txBody>
                  <a:tcPr marL="45720" marR="45720" marT="18288" marB="18288" anchor="t"/>
                </a:tc>
                <a:tc>
                  <a:txBody>
                    <a:bodyPr wrap="square"/>
                    <a:lstStyle/>
                    <a:p>
                      <a:r>
                        <a:rPr sz="900" b="0" i="0">
                          <a:solidFill>
                            <a:srgbClr val="1A1A1A"/>
                          </a:solidFill>
                          <a:latin typeface="Helvetica Neue"/>
                        </a:rPr>
                        <a:t>IEEE journal of biomedical and health informatics</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329184">
                <a:tc>
                  <a:txBody>
                    <a:bodyPr wrap="square"/>
                    <a:lstStyle/>
                    <a:p>
                      <a:pPr algn="r"/>
                      <a:r>
                        <a:rPr sz="900" b="0" i="0">
                          <a:solidFill>
                            <a:srgbClr val="1A1A1A"/>
                          </a:solidFill>
                          <a:latin typeface="Helvetica Neue"/>
                        </a:rPr>
                        <a:t>194</a:t>
                      </a:r>
                    </a:p>
                  </a:txBody>
                  <a:tcPr marL="45720" marR="45720" marT="18288" marB="18288" anchor="t"/>
                </a:tc>
                <a:tc>
                  <a:txBody>
                    <a:bodyPr wrap="square"/>
                    <a:lstStyle/>
                    <a:p>
                      <a:pPr algn="r"/>
                      <a:r>
                        <a:rPr sz="900" b="0" i="0">
                          <a:solidFill>
                            <a:srgbClr val="1A1A1A"/>
                          </a:solidFill>
                          <a:latin typeface="Helvetica Neue"/>
                        </a:rPr>
                        <a:t>57.0</a:t>
                      </a:r>
                    </a:p>
                  </a:txBody>
                  <a:tcPr marL="45720" marR="45720" marT="18288" marB="18288" anchor="t"/>
                </a:tc>
                <a:tc>
                  <a:txBody>
                    <a:bodyPr wrap="square"/>
                    <a:lstStyle/>
                    <a:p>
                      <a:r>
                        <a:rPr sz="900" b="0" i="0">
                          <a:solidFill>
                            <a:srgbClr val="1A1A1A"/>
                          </a:solidFill>
                          <a:latin typeface="Helvetica Neue"/>
                        </a:rPr>
                        <a:t>Automatic Fetal Ultrasound Standard Plane Recognition Based on Deep Learning and IIoT (2021)</a:t>
                      </a:r>
                    </a:p>
                  </a:txBody>
                  <a:tcPr marL="45720" marR="45720" marT="18288" marB="18288" anchor="t"/>
                </a:tc>
                <a:tc>
                  <a:txBody>
                    <a:bodyPr wrap="square"/>
                    <a:lstStyle/>
                    <a:p>
                      <a:r>
                        <a:rPr sz="900" b="0" i="0">
                          <a:solidFill>
                            <a:srgbClr val="1A1A1A"/>
                          </a:solidFill>
                          <a:latin typeface="Helvetica Neue"/>
                        </a:rPr>
                        <a:t>IEEE Transactions on Industrial Informatics</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329184">
                <a:tc>
                  <a:txBody>
                    <a:bodyPr wrap="square"/>
                    <a:lstStyle/>
                    <a:p>
                      <a:pPr algn="r"/>
                      <a:r>
                        <a:rPr sz="900" b="0" i="0">
                          <a:solidFill>
                            <a:srgbClr val="1A1A1A"/>
                          </a:solidFill>
                          <a:latin typeface="Helvetica Neue"/>
                        </a:rPr>
                        <a:t>233</a:t>
                      </a:r>
                    </a:p>
                  </a:txBody>
                  <a:tcPr marL="45720" marR="45720" marT="18288" marB="18288" anchor="t"/>
                </a:tc>
                <a:tc>
                  <a:txBody>
                    <a:bodyPr wrap="square"/>
                    <a:lstStyle/>
                    <a:p>
                      <a:pPr algn="r"/>
                      <a:r>
                        <a:rPr sz="900" b="0" i="0">
                          <a:solidFill>
                            <a:srgbClr val="1A1A1A"/>
                          </a:solidFill>
                          <a:latin typeface="Helvetica Neue"/>
                        </a:rPr>
                        <a:t>30.3</a:t>
                      </a:r>
                    </a:p>
                  </a:txBody>
                  <a:tcPr marL="45720" marR="45720" marT="18288" marB="18288" anchor="t"/>
                </a:tc>
                <a:tc>
                  <a:txBody>
                    <a:bodyPr wrap="square"/>
                    <a:lstStyle/>
                    <a:p>
                      <a:r>
                        <a:rPr sz="900" b="0" i="0">
                          <a:solidFill>
                            <a:srgbClr val="1A1A1A"/>
                          </a:solidFill>
                          <a:latin typeface="Helvetica Neue"/>
                        </a:rPr>
                        <a:t>Evaluation of deep convolutional neural networks for automatic classification of common maternal fetal ultrasound planes (2020)</a:t>
                      </a:r>
                    </a:p>
                  </a:txBody>
                  <a:tcPr marL="45720" marR="45720" marT="18288" marB="18288" anchor="t"/>
                </a:tc>
                <a:tc>
                  <a:txBody>
                    <a:bodyPr wrap="square"/>
                    <a:lstStyle/>
                    <a:p>
                      <a:r>
                        <a:rPr sz="900" b="0" i="0">
                          <a:solidFill>
                            <a:srgbClr val="1A1A1A"/>
                          </a:solidFill>
                          <a:latin typeface="Helvetica Neue"/>
                        </a:rPr>
                        <a:t>Scientific Reports</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329184">
                <a:tc>
                  <a:txBody>
                    <a:bodyPr wrap="square"/>
                    <a:lstStyle/>
                    <a:p>
                      <a:pPr algn="r"/>
                      <a:r>
                        <a:rPr sz="900" b="0" i="0">
                          <a:solidFill>
                            <a:srgbClr val="1A1A1A"/>
                          </a:solidFill>
                          <a:latin typeface="Helvetica Neue"/>
                        </a:rPr>
                        <a:t>458</a:t>
                      </a:r>
                    </a:p>
                  </a:txBody>
                  <a:tcPr marL="45720" marR="45720" marT="18288" marB="18288" anchor="t"/>
                </a:tc>
                <a:tc>
                  <a:txBody>
                    <a:bodyPr wrap="square"/>
                    <a:lstStyle/>
                    <a:p>
                      <a:pPr algn="r"/>
                      <a:r>
                        <a:rPr sz="900" b="0" i="0">
                          <a:solidFill>
                            <a:srgbClr val="1A1A1A"/>
                          </a:solidFill>
                          <a:latin typeface="Helvetica Neue"/>
                        </a:rPr>
                        <a:t>27.0</a:t>
                      </a:r>
                    </a:p>
                  </a:txBody>
                  <a:tcPr marL="45720" marR="45720" marT="18288" marB="18288" anchor="t"/>
                </a:tc>
                <a:tc>
                  <a:txBody>
                    <a:bodyPr wrap="square"/>
                    <a:lstStyle/>
                    <a:p>
                      <a:r>
                        <a:rPr sz="900" b="0" i="0">
                          <a:solidFill>
                            <a:srgbClr val="1A1A1A"/>
                          </a:solidFill>
                          <a:latin typeface="Helvetica Neue"/>
                        </a:rPr>
                        <a:t>The RSNA Pediatric Bone Age Machine Learning Challenge. (2019)</a:t>
                      </a:r>
                    </a:p>
                  </a:txBody>
                  <a:tcPr marL="45720" marR="45720" marT="18288" marB="18288" anchor="t"/>
                </a:tc>
                <a:tc>
                  <a:txBody>
                    <a:bodyPr wrap="square"/>
                    <a:lstStyle/>
                    <a:p>
                      <a:r>
                        <a:rPr sz="900" b="0" i="0">
                          <a:solidFill>
                            <a:srgbClr val="1A1A1A"/>
                          </a:solidFill>
                          <a:latin typeface="Helvetica Neue"/>
                        </a:rPr>
                        <a:t>Radiology</a:t>
                      </a:r>
                    </a:p>
                  </a:txBody>
                  <a:tcPr marL="45720" marR="45720" marT="18288" marB="18288" anchor="t"/>
                </a:tc>
                <a:tc>
                  <a:txBody>
                    <a:bodyPr wrap="square"/>
                    <a:lstStyle/>
                    <a:p>
                      <a:r>
                        <a:rPr sz="900" b="0" i="1">
                          <a:solidFill>
                            <a:srgbClr val="1A1A1A"/>
                          </a:solidFill>
                          <a:latin typeface="Helvetica Neue"/>
                        </a:rPr>
                        <a:t>bone age</a:t>
                      </a:r>
                      <a:r>
                        <a:rPr sz="900" b="0" i="0">
                          <a:solidFill>
                            <a:srgbClr val="1A1A1A"/>
                          </a:solidFill>
                          <a:latin typeface="Helvetica Neue"/>
                        </a:rPr>
                        <a:t>: How well can crowdsourced AI estimate bone age? (RSNA challenge, 260 teams)</a:t>
                      </a:r>
                    </a:p>
                  </a:txBody>
                  <a:tcPr marL="45720" marR="45720" marT="18288" marB="18288" anchor="t"/>
                </a:tc>
              </a:tr>
              <a:tr h="329184">
                <a:tc>
                  <a:txBody>
                    <a:bodyPr wrap="square"/>
                    <a:lstStyle/>
                    <a:p>
                      <a:pPr algn="r"/>
                      <a:r>
                        <a:rPr sz="900" b="0" i="0">
                          <a:solidFill>
                            <a:srgbClr val="1A1A1A"/>
                          </a:solidFill>
                          <a:latin typeface="Helvetica Neue"/>
                        </a:rPr>
                        <a:t>253</a:t>
                      </a:r>
                    </a:p>
                  </a:txBody>
                  <a:tcPr marL="45720" marR="45720" marT="18288" marB="18288" anchor="t"/>
                </a:tc>
                <a:tc>
                  <a:txBody>
                    <a:bodyPr wrap="square"/>
                    <a:lstStyle/>
                    <a:p>
                      <a:pPr algn="r"/>
                      <a:r>
                        <a:rPr sz="900" b="0" i="0">
                          <a:solidFill>
                            <a:srgbClr val="1A1A1A"/>
                          </a:solidFill>
                          <a:latin typeface="Helvetica Neue"/>
                        </a:rPr>
                        <a:t>25.8</a:t>
                      </a:r>
                    </a:p>
                  </a:txBody>
                  <a:tcPr marL="45720" marR="45720" marT="18288" marB="18288" anchor="t"/>
                </a:tc>
                <a:tc>
                  <a:txBody>
                    <a:bodyPr wrap="square"/>
                    <a:lstStyle/>
                    <a:p>
                      <a:r>
                        <a:rPr sz="900" b="0" i="0">
                          <a:solidFill>
                            <a:srgbClr val="1A1A1A"/>
                          </a:solidFill>
                          <a:latin typeface="Helvetica Neue"/>
                        </a:rPr>
                        <a:t>An ensemble of neural networks provides expert-level prenatal detection of complex congenital heart disease (2021)</a:t>
                      </a:r>
                    </a:p>
                  </a:txBody>
                  <a:tcPr marL="45720" marR="45720" marT="18288" marB="18288" anchor="t"/>
                </a:tc>
                <a:tc>
                  <a:txBody>
                    <a:bodyPr wrap="square"/>
                    <a:lstStyle/>
                    <a:p>
                      <a:r>
                        <a:rPr sz="900" b="0" i="0">
                          <a:solidFill>
                            <a:srgbClr val="1A1A1A"/>
                          </a:solidFill>
                          <a:latin typeface="Helvetica Neue"/>
                        </a:rPr>
                        <a:t>Nature Medicine</a:t>
                      </a:r>
                    </a:p>
                  </a:txBody>
                  <a:tcPr marL="45720" marR="45720" marT="18288" marB="18288" anchor="t"/>
                </a:tc>
                <a:tc>
                  <a:txBody>
                    <a:bodyPr wrap="square"/>
                    <a:lstStyle/>
                    <a:p>
                      <a:r>
                        <a:rPr sz="900" b="0" i="1">
                          <a:solidFill>
                            <a:srgbClr val="1A1A1A"/>
                          </a:solidFill>
                          <a:latin typeface="Helvetica Neue"/>
                        </a:rPr>
                        <a:t>detection</a:t>
                      </a:r>
                    </a:p>
                  </a:txBody>
                  <a:tcPr marL="45720" marR="45720" marT="18288" marB="18288" anchor="t"/>
                </a:tc>
              </a:tr>
            </a:tbl>
          </a:graphicData>
        </a:graphic>
      </p:graphicFrame>
      <p:sp>
        <p:nvSpPr>
          <p:cNvPr id="5" name="TextBox 4"/>
          <p:cNvSpPr txBox="1"/>
          <p:nvPr/>
        </p:nvSpPr>
        <p:spPr>
          <a:xfrm>
            <a:off x="411480" y="4434840"/>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A different corpus from the systematic-review tables earlier in the deck: this is a citation search of Semantic Scholar over radiology AI with a pediatric title filter, so it includes conference papers and is not screened for eligibility. The review tables rank the screened corpus. Both are shown because neither contains the other.</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31 / 83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pediatric radiology AI papers, 2023</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3" cy="4032503"/>
        </p:xfrm>
        <a:graphic>
          <a:graphicData uri="http://schemas.openxmlformats.org/drawingml/2006/table">
            <a:tbl>
              <a:tblPr firstRow="1" bandRow="1">
                <a:tableStyleId>{5C22544A-7EE6-4342-B048-85BDC9FD1C3A}</a:tableStyleId>
              </a:tblPr>
              <a:tblGrid>
                <a:gridCol w="480060"/>
                <a:gridCol w="409651"/>
                <a:gridCol w="4814686"/>
                <a:gridCol w="2124126"/>
                <a:gridCol w="3540210"/>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466344">
                <a:tc>
                  <a:txBody>
                    <a:bodyPr wrap="square"/>
                    <a:lstStyle/>
                    <a:p>
                      <a:pPr algn="r"/>
                      <a:r>
                        <a:rPr sz="900" b="0" i="0">
                          <a:solidFill>
                            <a:srgbClr val="1A1A1A"/>
                          </a:solidFill>
                          <a:latin typeface="Helvetica Neue"/>
                        </a:rPr>
                        <a:t>32</a:t>
                      </a:r>
                    </a:p>
                  </a:txBody>
                  <a:tcPr marL="45720" marR="45720" marT="18288" marB="18288" anchor="t"/>
                </a:tc>
                <a:tc>
                  <a:txBody>
                    <a:bodyPr wrap="square"/>
                    <a:lstStyle/>
                    <a:p>
                      <a:pPr algn="r"/>
                      <a:r>
                        <a:rPr sz="900" b="0" i="0">
                          <a:solidFill>
                            <a:srgbClr val="1A1A1A"/>
                          </a:solidFill>
                          <a:latin typeface="Helvetica Neue"/>
                        </a:rPr>
                        <a:t>36.6</a:t>
                      </a:r>
                    </a:p>
                  </a:txBody>
                  <a:tcPr marL="45720" marR="45720" marT="18288" marB="18288" anchor="t"/>
                </a:tc>
                <a:tc>
                  <a:txBody>
                    <a:bodyPr wrap="square"/>
                    <a:lstStyle/>
                    <a:p>
                      <a:r>
                        <a:rPr sz="900" b="0" i="0">
                          <a:solidFill>
                            <a:srgbClr val="1A1A1A"/>
                          </a:solidFill>
                          <a:latin typeface="Helvetica Neue"/>
                        </a:rPr>
                        <a:t>Bone Age Assessment Using Artificial Intelligence in Korean Pediatric Population: A Comparison of Deep-Learning Models Trained With Healthy Chronological and Greulich-Pyle Ages as Labels</a:t>
                      </a:r>
                    </a:p>
                  </a:txBody>
                  <a:tcPr marL="45720" marR="45720" marT="18288" marB="18288" anchor="t"/>
                </a:tc>
                <a:tc>
                  <a:txBody>
                    <a:bodyPr wrap="square"/>
                    <a:lstStyle/>
                    <a:p>
                      <a:r>
                        <a:rPr sz="900" b="0" i="0">
                          <a:solidFill>
                            <a:srgbClr val="1A1A1A"/>
                          </a:solidFill>
                          <a:latin typeface="Helvetica Neue"/>
                        </a:rPr>
                        <a:t>Korean Journal of Radiology</a:t>
                      </a:r>
                    </a:p>
                  </a:txBody>
                  <a:tcPr marL="45720" marR="45720" marT="18288" marB="18288" anchor="t"/>
                </a:tc>
                <a:tc>
                  <a:txBody>
                    <a:bodyPr wrap="square"/>
                    <a:lstStyle/>
                    <a:p>
                      <a:r>
                        <a:rPr sz="900" b="0" i="1">
                          <a:solidFill>
                            <a:srgbClr val="1A1A1A"/>
                          </a:solidFill>
                          <a:latin typeface="Helvetica Neue"/>
                        </a:rPr>
                        <a:t>bone age</a:t>
                      </a:r>
                    </a:p>
                  </a:txBody>
                  <a:tcPr marL="45720" marR="45720" marT="18288" marB="18288" anchor="t"/>
                </a:tc>
              </a:tr>
              <a:tr h="329184">
                <a:tc>
                  <a:txBody>
                    <a:bodyPr wrap="square"/>
                    <a:lstStyle/>
                    <a:p>
                      <a:pPr algn="r"/>
                      <a:r>
                        <a:rPr sz="900" b="0" i="0">
                          <a:solidFill>
                            <a:srgbClr val="1A1A1A"/>
                          </a:solidFill>
                          <a:latin typeface="Helvetica Neue"/>
                        </a:rPr>
                        <a:t>62</a:t>
                      </a:r>
                    </a:p>
                  </a:txBody>
                  <a:tcPr marL="45720" marR="45720" marT="18288" marB="18288" anchor="t"/>
                </a:tc>
                <a:tc>
                  <a:txBody>
                    <a:bodyPr wrap="square"/>
                    <a:lstStyle/>
                    <a:p>
                      <a:pPr algn="r"/>
                      <a:r>
                        <a:rPr sz="900" b="0" i="0">
                          <a:solidFill>
                            <a:srgbClr val="1A1A1A"/>
                          </a:solidFill>
                          <a:latin typeface="Helvetica Neue"/>
                        </a:rPr>
                        <a:t>33.6</a:t>
                      </a:r>
                    </a:p>
                  </a:txBody>
                  <a:tcPr marL="45720" marR="45720" marT="18288" marB="18288" anchor="t"/>
                </a:tc>
                <a:tc>
                  <a:txBody>
                    <a:bodyPr wrap="square"/>
                    <a:lstStyle/>
                    <a:p>
                      <a:r>
                        <a:rPr sz="900" b="0" i="0">
                          <a:solidFill>
                            <a:srgbClr val="1A1A1A"/>
                          </a:solidFill>
                          <a:latin typeface="Helvetica Neue"/>
                        </a:rPr>
                        <a:t>Standard fetal ultrasound plane classification based on stacked ensemble of deep learning models</a:t>
                      </a:r>
                    </a:p>
                  </a:txBody>
                  <a:tcPr marL="45720" marR="45720" marT="18288" marB="18288" anchor="t"/>
                </a:tc>
                <a:tc>
                  <a:txBody>
                    <a:bodyPr wrap="square"/>
                    <a:lstStyle/>
                    <a:p>
                      <a:r>
                        <a:rPr sz="900" b="0" i="0">
                          <a:solidFill>
                            <a:srgbClr val="1A1A1A"/>
                          </a:solidFill>
                          <a:latin typeface="Helvetica Neue"/>
                        </a:rPr>
                        <a:t>Expert systems with applications</a:t>
                      </a:r>
                    </a:p>
                  </a:txBody>
                  <a:tcPr marL="45720" marR="45720" marT="18288" marB="18288" anchor="t"/>
                </a:tc>
                <a:tc>
                  <a:txBody>
                    <a:bodyPr wrap="square"/>
                    <a:lstStyle/>
                    <a:p>
                      <a:r>
                        <a:rPr sz="900" b="0" i="1">
                          <a:solidFill>
                            <a:srgbClr val="1A1A1A"/>
                          </a:solidFill>
                          <a:latin typeface="Helvetica Neue"/>
                        </a:rPr>
                        <a:t>fetal ultrasound</a:t>
                      </a:r>
                      <a:r>
                        <a:rPr sz="900" b="0" i="0">
                          <a:solidFill>
                            <a:srgbClr val="1A1A1A"/>
                          </a:solidFill>
                          <a:latin typeface="Helvetica Neue"/>
                        </a:rPr>
                        <a:t>: Can an ensemble of networks classify the standard fetal ultrasound planes?</a:t>
                      </a:r>
                    </a:p>
                  </a:txBody>
                  <a:tcPr marL="45720" marR="45720" marT="18288" marB="18288" anchor="t"/>
                </a:tc>
              </a:tr>
              <a:tr h="329184">
                <a:tc>
                  <a:txBody>
                    <a:bodyPr wrap="square"/>
                    <a:lstStyle/>
                    <a:p>
                      <a:pPr algn="r"/>
                      <a:r>
                        <a:rPr sz="900" b="0" i="0">
                          <a:solidFill>
                            <a:srgbClr val="1A1A1A"/>
                          </a:solidFill>
                          <a:latin typeface="Helvetica Neue"/>
                        </a:rPr>
                        <a:t>27</a:t>
                      </a:r>
                    </a:p>
                  </a:txBody>
                  <a:tcPr marL="45720" marR="45720" marT="18288" marB="18288" anchor="t"/>
                </a:tc>
                <a:tc>
                  <a:txBody>
                    <a:bodyPr wrap="square"/>
                    <a:lstStyle/>
                    <a:p>
                      <a:pPr algn="r"/>
                      <a:r>
                        <a:rPr sz="900" b="0" i="0">
                          <a:solidFill>
                            <a:srgbClr val="1A1A1A"/>
                          </a:solidFill>
                          <a:latin typeface="Helvetica Neue"/>
                        </a:rPr>
                        <a:t>33.5</a:t>
                      </a:r>
                    </a:p>
                  </a:txBody>
                  <a:tcPr marL="45720" marR="45720" marT="18288" marB="18288" anchor="t"/>
                </a:tc>
                <a:tc>
                  <a:txBody>
                    <a:bodyPr wrap="square"/>
                    <a:lstStyle/>
                    <a:p>
                      <a:r>
                        <a:rPr sz="900" b="0" i="0">
                          <a:solidFill>
                            <a:srgbClr val="1A1A1A"/>
                          </a:solidFill>
                          <a:latin typeface="Helvetica Neue"/>
                        </a:rPr>
                        <a:t>Bone age assessment based on deep neural networks with annotation-free cascaded critical bone region extraction</a:t>
                      </a:r>
                    </a:p>
                  </a:txBody>
                  <a:tcPr marL="45720" marR="45720" marT="18288" marB="18288" anchor="t"/>
                </a:tc>
                <a:tc>
                  <a:txBody>
                    <a:bodyPr wrap="square"/>
                    <a:lstStyle/>
                    <a:p>
                      <a:r>
                        <a:rPr sz="900" b="0" i="0">
                          <a:solidFill>
                            <a:srgbClr val="1A1A1A"/>
                          </a:solidFill>
                          <a:latin typeface="Helvetica Neue"/>
                        </a:rPr>
                        <a:t>Frontiers in Artificial Intelligence</a:t>
                      </a:r>
                    </a:p>
                  </a:txBody>
                  <a:tcPr marL="45720" marR="45720" marT="18288" marB="18288" anchor="t"/>
                </a:tc>
                <a:tc>
                  <a:txBody>
                    <a:bodyPr wrap="square"/>
                    <a:lstStyle/>
                    <a:p>
                      <a:r>
                        <a:rPr sz="900" b="0" i="1">
                          <a:solidFill>
                            <a:srgbClr val="1A1A1A"/>
                          </a:solidFill>
                          <a:latin typeface="Helvetica Neue"/>
                        </a:rPr>
                        <a:t>bone age</a:t>
                      </a:r>
                    </a:p>
                  </a:txBody>
                  <a:tcPr marL="45720" marR="45720" marT="18288" marB="18288" anchor="t"/>
                </a:tc>
              </a:tr>
              <a:tr h="329184">
                <a:tc>
                  <a:txBody>
                    <a:bodyPr wrap="square"/>
                    <a:lstStyle/>
                    <a:p>
                      <a:pPr algn="r"/>
                      <a:r>
                        <a:rPr sz="900" b="0" i="0">
                          <a:solidFill>
                            <a:srgbClr val="1A1A1A"/>
                          </a:solidFill>
                          <a:latin typeface="Helvetica Neue"/>
                        </a:rPr>
                        <a:t>43</a:t>
                      </a:r>
                    </a:p>
                  </a:txBody>
                  <a:tcPr marL="45720" marR="45720" marT="18288" marB="18288" anchor="t"/>
                </a:tc>
                <a:tc>
                  <a:txBody>
                    <a:bodyPr wrap="square"/>
                    <a:lstStyle/>
                    <a:p>
                      <a:pPr algn="r"/>
                      <a:r>
                        <a:rPr sz="900" b="0" i="0">
                          <a:solidFill>
                            <a:srgbClr val="1A1A1A"/>
                          </a:solidFill>
                          <a:latin typeface="Helvetica Neue"/>
                        </a:rPr>
                        <a:t>23.8</a:t>
                      </a:r>
                    </a:p>
                  </a:txBody>
                  <a:tcPr marL="45720" marR="45720" marT="18288" marB="18288" anchor="t"/>
                </a:tc>
                <a:tc>
                  <a:txBody>
                    <a:bodyPr wrap="square"/>
                    <a:lstStyle/>
                    <a:p>
                      <a:r>
                        <a:rPr sz="900" b="0" i="0">
                          <a:solidFill>
                            <a:srgbClr val="1A1A1A"/>
                          </a:solidFill>
                          <a:latin typeface="Helvetica Neue"/>
                        </a:rPr>
                        <a:t>Review on deep learning fetal brain segmentation from Magnetic Resonance images</a:t>
                      </a:r>
                    </a:p>
                  </a:txBody>
                  <a:tcPr marL="45720" marR="45720" marT="18288" marB="18288" anchor="t"/>
                </a:tc>
                <a:tc>
                  <a:txBody>
                    <a:bodyPr wrap="square"/>
                    <a:lstStyle/>
                    <a:p>
                      <a:r>
                        <a:rPr sz="900" b="0" i="0">
                          <a:solidFill>
                            <a:srgbClr val="1A1A1A"/>
                          </a:solidFill>
                          <a:latin typeface="Helvetica Neue"/>
                        </a:rPr>
                        <a:t>Artif. Intell. Medicine</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37</a:t>
                      </a:r>
                    </a:p>
                  </a:txBody>
                  <a:tcPr marL="45720" marR="45720" marT="18288" marB="18288" anchor="t"/>
                </a:tc>
                <a:tc>
                  <a:txBody>
                    <a:bodyPr wrap="square"/>
                    <a:lstStyle/>
                    <a:p>
                      <a:pPr algn="r"/>
                      <a:r>
                        <a:rPr sz="900" b="0" i="0">
                          <a:solidFill>
                            <a:srgbClr val="1A1A1A"/>
                          </a:solidFill>
                          <a:latin typeface="Helvetica Neue"/>
                        </a:rPr>
                        <a:t>20.2</a:t>
                      </a:r>
                    </a:p>
                  </a:txBody>
                  <a:tcPr marL="45720" marR="45720" marT="18288" marB="18288" anchor="t"/>
                </a:tc>
                <a:tc>
                  <a:txBody>
                    <a:bodyPr wrap="square"/>
                    <a:lstStyle/>
                    <a:p>
                      <a:r>
                        <a:rPr sz="900" b="0" i="0">
                          <a:solidFill>
                            <a:srgbClr val="1A1A1A"/>
                          </a:solidFill>
                          <a:latin typeface="Helvetica Neue"/>
                        </a:rPr>
                        <a:t>Transfer learning for accurate fetal organ classification from ultrasound images: a potential tool for maternal healthcare providers</a:t>
                      </a:r>
                    </a:p>
                  </a:txBody>
                  <a:tcPr marL="45720" marR="45720" marT="18288" marB="18288" anchor="t"/>
                </a:tc>
                <a:tc>
                  <a:txBody>
                    <a:bodyPr wrap="square"/>
                    <a:lstStyle/>
                    <a:p>
                      <a:r>
                        <a:rPr sz="900" b="0" i="0">
                          <a:solidFill>
                            <a:srgbClr val="1A1A1A"/>
                          </a:solidFill>
                          <a:latin typeface="Helvetica Neue"/>
                        </a:rPr>
                        <a:t>Scientific Reports</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329184">
                <a:tc>
                  <a:txBody>
                    <a:bodyPr wrap="square"/>
                    <a:lstStyle/>
                    <a:p>
                      <a:pPr algn="r"/>
                      <a:r>
                        <a:rPr sz="900" b="0" i="0">
                          <a:solidFill>
                            <a:srgbClr val="1A1A1A"/>
                          </a:solidFill>
                          <a:latin typeface="Helvetica Neue"/>
                        </a:rPr>
                        <a:t>34</a:t>
                      </a:r>
                    </a:p>
                  </a:txBody>
                  <a:tcPr marL="45720" marR="45720" marT="18288" marB="18288" anchor="t"/>
                </a:tc>
                <a:tc>
                  <a:txBody>
                    <a:bodyPr wrap="square"/>
                    <a:lstStyle/>
                    <a:p>
                      <a:pPr algn="r"/>
                      <a:r>
                        <a:rPr sz="900" b="0" i="0">
                          <a:solidFill>
                            <a:srgbClr val="1A1A1A"/>
                          </a:solidFill>
                          <a:latin typeface="Helvetica Neue"/>
                        </a:rPr>
                        <a:t>16.6</a:t>
                      </a:r>
                    </a:p>
                  </a:txBody>
                  <a:tcPr marL="45720" marR="45720" marT="18288" marB="18288" anchor="t"/>
                </a:tc>
                <a:tc>
                  <a:txBody>
                    <a:bodyPr wrap="square"/>
                    <a:lstStyle/>
                    <a:p>
                      <a:r>
                        <a:rPr sz="900" b="0" i="0">
                          <a:solidFill>
                            <a:srgbClr val="1A1A1A"/>
                          </a:solidFill>
                          <a:latin typeface="Helvetica Neue"/>
                        </a:rPr>
                        <a:t>Deep Learning-Based Multiclass Brain Tissue Segmentation in Fetal MRIs</a:t>
                      </a:r>
                    </a:p>
                  </a:txBody>
                  <a:tcPr marL="45720" marR="45720" marT="18288" marB="18288" anchor="t"/>
                </a:tc>
                <a:tc>
                  <a:txBody>
                    <a:bodyPr wrap="square"/>
                    <a:lstStyle/>
                    <a:p>
                      <a:r>
                        <a:rPr sz="900" b="0" i="0">
                          <a:solidFill>
                            <a:srgbClr val="1A1A1A"/>
                          </a:solidFill>
                          <a:latin typeface="Helvetica Neue"/>
                        </a:rPr>
                        <a:t>Italian National Conference on Sensors</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43</a:t>
                      </a:r>
                    </a:p>
                  </a:txBody>
                  <a:tcPr marL="45720" marR="45720" marT="18288" marB="18288" anchor="t"/>
                </a:tc>
                <a:tc>
                  <a:txBody>
                    <a:bodyPr wrap="square"/>
                    <a:lstStyle/>
                    <a:p>
                      <a:pPr algn="r"/>
                      <a:r>
                        <a:rPr sz="900" b="0" i="0">
                          <a:solidFill>
                            <a:srgbClr val="1A1A1A"/>
                          </a:solidFill>
                          <a:latin typeface="Helvetica Neue"/>
                        </a:rPr>
                        <a:t>9.7</a:t>
                      </a:r>
                    </a:p>
                  </a:txBody>
                  <a:tcPr marL="45720" marR="45720" marT="18288" marB="18288" anchor="t"/>
                </a:tc>
                <a:tc>
                  <a:txBody>
                    <a:bodyPr wrap="square"/>
                    <a:lstStyle/>
                    <a:p>
                      <a:r>
                        <a:rPr sz="900" b="0" i="0">
                          <a:solidFill>
                            <a:srgbClr val="1A1A1A"/>
                          </a:solidFill>
                          <a:latin typeface="Helvetica Neue"/>
                        </a:rPr>
                        <a:t>Deeplasia: deep learning for bone age assessment validated on skeletal dysplasias</a:t>
                      </a:r>
                    </a:p>
                  </a:txBody>
                  <a:tcPr marL="45720" marR="45720" marT="18288" marB="18288" anchor="t"/>
                </a:tc>
                <a:tc>
                  <a:txBody>
                    <a:bodyPr wrap="square"/>
                    <a:lstStyle/>
                    <a:p>
                      <a:r>
                        <a:rPr sz="900" b="0" i="0">
                          <a:solidFill>
                            <a:srgbClr val="1A1A1A"/>
                          </a:solidFill>
                          <a:latin typeface="Helvetica Neue"/>
                        </a:rPr>
                        <a:t>Pediatric Radiology</a:t>
                      </a:r>
                    </a:p>
                  </a:txBody>
                  <a:tcPr marL="45720" marR="45720" marT="18288" marB="18288" anchor="t"/>
                </a:tc>
                <a:tc>
                  <a:txBody>
                    <a:bodyPr wrap="square"/>
                    <a:lstStyle/>
                    <a:p>
                      <a:r>
                        <a:rPr sz="900" b="0" i="1">
                          <a:solidFill>
                            <a:srgbClr val="1A1A1A"/>
                          </a:solidFill>
                          <a:latin typeface="Helvetica Neue"/>
                        </a:rPr>
                        <a:t>bone age</a:t>
                      </a:r>
                    </a:p>
                  </a:txBody>
                  <a:tcPr marL="45720" marR="45720" marT="18288" marB="18288" anchor="t"/>
                </a:tc>
              </a:tr>
              <a:tr h="329184">
                <a:tc>
                  <a:txBody>
                    <a:bodyPr wrap="square"/>
                    <a:lstStyle/>
                    <a:p>
                      <a:pPr algn="r"/>
                      <a:r>
                        <a:rPr sz="900" b="0" i="0">
                          <a:solidFill>
                            <a:srgbClr val="1A1A1A"/>
                          </a:solidFill>
                          <a:latin typeface="Helvetica Neue"/>
                        </a:rPr>
                        <a:t>30</a:t>
                      </a:r>
                    </a:p>
                  </a:txBody>
                  <a:tcPr marL="45720" marR="45720" marT="18288" marB="18288" anchor="t"/>
                </a:tc>
                <a:tc>
                  <a:txBody>
                    <a:bodyPr wrap="square"/>
                    <a:lstStyle/>
                    <a:p>
                      <a:pPr algn="r"/>
                      <a:r>
                        <a:rPr sz="900" b="0" i="0">
                          <a:solidFill>
                            <a:srgbClr val="1A1A1A"/>
                          </a:solidFill>
                          <a:latin typeface="Helvetica Neue"/>
                        </a:rPr>
                        <a:t>7.8</a:t>
                      </a:r>
                    </a:p>
                  </a:txBody>
                  <a:tcPr marL="45720" marR="45720" marT="18288" marB="18288" anchor="t"/>
                </a:tc>
                <a:tc>
                  <a:txBody>
                    <a:bodyPr wrap="square"/>
                    <a:lstStyle/>
                    <a:p>
                      <a:r>
                        <a:rPr sz="900" b="0" i="0">
                          <a:solidFill>
                            <a:srgbClr val="1A1A1A"/>
                          </a:solidFill>
                          <a:latin typeface="Helvetica Neue"/>
                        </a:rPr>
                        <a:t>Deep learning for estimation of fetal weight throughout the pregnancy from fetal abdominal ultrasound.</a:t>
                      </a:r>
                    </a:p>
                  </a:txBody>
                  <a:tcPr marL="45720" marR="45720" marT="18288" marB="18288" anchor="t"/>
                </a:tc>
                <a:tc>
                  <a:txBody>
                    <a:bodyPr wrap="square"/>
                    <a:lstStyle/>
                    <a:p>
                      <a:r>
                        <a:rPr sz="900" b="0" i="0">
                          <a:solidFill>
                            <a:srgbClr val="1A1A1A"/>
                          </a:solidFill>
                          <a:latin typeface="Helvetica Neue"/>
                        </a:rPr>
                        <a:t>American Journal of Obstetrics &amp; Gynecology MFM</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466344">
                <a:tc>
                  <a:txBody>
                    <a:bodyPr wrap="square"/>
                    <a:lstStyle/>
                    <a:p>
                      <a:pPr algn="r"/>
                      <a:r>
                        <a:rPr sz="900" b="0" i="0">
                          <a:solidFill>
                            <a:srgbClr val="1A1A1A"/>
                          </a:solidFill>
                          <a:latin typeface="Helvetica Neue"/>
                        </a:rPr>
                        <a:t>38</a:t>
                      </a:r>
                    </a:p>
                  </a:txBody>
                  <a:tcPr marL="45720" marR="45720" marT="18288" marB="18288" anchor="t"/>
                </a:tc>
                <a:tc>
                  <a:txBody>
                    <a:bodyPr wrap="square"/>
                    <a:lstStyle/>
                    <a:p>
                      <a:pPr algn="r"/>
                      <a:r>
                        <a:rPr sz="900" b="0" i="0">
                          <a:solidFill>
                            <a:srgbClr val="1A1A1A"/>
                          </a:solidFill>
                          <a:latin typeface="Helvetica Neue"/>
                        </a:rPr>
                        <a:t>7.3</a:t>
                      </a:r>
                    </a:p>
                  </a:txBody>
                  <a:tcPr marL="45720" marR="45720" marT="18288" marB="18288" anchor="t"/>
                </a:tc>
                <a:tc>
                  <a:txBody>
                    <a:bodyPr wrap="square"/>
                    <a:lstStyle/>
                    <a:p>
                      <a:r>
                        <a:rPr sz="900" b="0" i="0">
                          <a:solidFill>
                            <a:srgbClr val="1A1A1A"/>
                          </a:solidFill>
                          <a:latin typeface="Helvetica Neue"/>
                        </a:rPr>
                        <a:t>Deep learning model for prenatal congenital heart disease (CHD) screening can be applied to retrospective imaging from the community setting, outperforming initial clinical detection in a well-annotated cohort</a:t>
                      </a:r>
                    </a:p>
                  </a:txBody>
                  <a:tcPr marL="45720" marR="45720" marT="18288" marB="18288" anchor="t"/>
                </a:tc>
                <a:tc>
                  <a:txBody>
                    <a:bodyPr wrap="square"/>
                    <a:lstStyle/>
                    <a:p>
                      <a:r>
                        <a:rPr sz="900" b="0" i="0">
                          <a:solidFill>
                            <a:srgbClr val="1A1A1A"/>
                          </a:solidFill>
                          <a:latin typeface="Helvetica Neue"/>
                        </a:rPr>
                        <a:t>Ultrasound in Obstetrics and Gynecology</a:t>
                      </a:r>
                    </a:p>
                  </a:txBody>
                  <a:tcPr marL="45720" marR="45720" marT="18288" marB="18288" anchor="t"/>
                </a:tc>
                <a:tc>
                  <a:txBody>
                    <a:bodyPr wrap="square"/>
                    <a:lstStyle/>
                    <a:p>
                      <a:r>
                        <a:rPr sz="900" b="0" i="1">
                          <a:solidFill>
                            <a:srgbClr val="1A1A1A"/>
                          </a:solidFill>
                          <a:latin typeface="Helvetica Neue"/>
                        </a:rPr>
                        <a:t>fetal ultrasound</a:t>
                      </a:r>
                      <a:r>
                        <a:rPr sz="900" b="0" i="0">
                          <a:solidFill>
                            <a:srgbClr val="1A1A1A"/>
                          </a:solidFill>
                          <a:latin typeface="Helvetica Neue"/>
                        </a:rPr>
                        <a:t>: Does a prenatal congenital heart disease screening model work on retrospective real-world scans?</a:t>
                      </a:r>
                    </a:p>
                  </a:txBody>
                  <a:tcPr marL="45720" marR="45720" marT="18288" marB="18288" anchor="t"/>
                </a:tc>
              </a:tr>
              <a:tr h="603503">
                <a:tc>
                  <a:txBody>
                    <a:bodyPr wrap="square"/>
                    <a:lstStyle/>
                    <a:p>
                      <a:pPr algn="r"/>
                      <a:r>
                        <a:rPr sz="900" b="0" i="0">
                          <a:solidFill>
                            <a:srgbClr val="1A1A1A"/>
                          </a:solidFill>
                          <a:latin typeface="Helvetica Neue"/>
                        </a:rPr>
                        <a:t>31</a:t>
                      </a:r>
                    </a:p>
                  </a:txBody>
                  <a:tcPr marL="45720" marR="45720" marT="18288" marB="18288" anchor="t"/>
                </a:tc>
                <a:tc>
                  <a:txBody>
                    <a:bodyPr wrap="square"/>
                    <a:lstStyle/>
                    <a:p>
                      <a:pPr algn="r"/>
                      <a:r>
                        <a:rPr sz="900" b="0" i="0">
                          <a:solidFill>
                            <a:srgbClr val="1A1A1A"/>
                          </a:solidFill>
                          <a:latin typeface="Helvetica Neue"/>
                        </a:rPr>
                        <a:t>5.8</a:t>
                      </a:r>
                    </a:p>
                  </a:txBody>
                  <a:tcPr marL="45720" marR="45720" marT="18288" marB="18288" anchor="t"/>
                </a:tc>
                <a:tc>
                  <a:txBody>
                    <a:bodyPr wrap="square"/>
                    <a:lstStyle/>
                    <a:p>
                      <a:r>
                        <a:rPr sz="900" b="0" i="0">
                          <a:solidFill>
                            <a:srgbClr val="1A1A1A"/>
                          </a:solidFill>
                          <a:latin typeface="Helvetica Neue"/>
                        </a:rPr>
                        <a:t>MRI-Based End-To-End Pediatric Low-Grade Glioma Segmentation and Classification</a:t>
                      </a:r>
                    </a:p>
                  </a:txBody>
                  <a:tcPr marL="45720" marR="45720" marT="18288" marB="18288" anchor="t"/>
                </a:tc>
                <a:tc>
                  <a:txBody>
                    <a:bodyPr wrap="square"/>
                    <a:lstStyle/>
                    <a:p>
                      <a:r>
                        <a:rPr sz="900" b="0" i="0">
                          <a:solidFill>
                            <a:srgbClr val="1A1A1A"/>
                          </a:solidFill>
                          <a:latin typeface="Helvetica Neue"/>
                        </a:rPr>
                        <a:t>Canadian Association of Radiologists journal = Journal l'Association canadienne des radiologistes</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bl>
          </a:graphicData>
        </a:graphic>
      </p:graphicFrame>
      <p:sp>
        <p:nvSpPr>
          <p:cNvPr id="5" name="TextBox 4"/>
          <p:cNvSpPr txBox="1"/>
          <p:nvPr/>
        </p:nvSpPr>
        <p:spPr>
          <a:xfrm>
            <a:off x="411480" y="4983479"/>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Rows are the most-cited papers of the period, ordered by FWCI = field-weighted citation impact (OpenAlex): citations relative to the world average for papers of the same field and year (1 = average), so a recent paper can be compared with an older one. Preprints (arXiv, medRxiv) are included; the venue column names the server. 1 of the 10 rows are preprints.</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32 / 83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pediatric radiology AI papers, 2024</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4" cy="4032504"/>
        </p:xfrm>
        <a:graphic>
          <a:graphicData uri="http://schemas.openxmlformats.org/drawingml/2006/table">
            <a:tbl>
              <a:tblPr firstRow="1" bandRow="1">
                <a:tableStyleId>{5C22544A-7EE6-4342-B048-85BDC9FD1C3A}</a:tableStyleId>
              </a:tblPr>
              <a:tblGrid>
                <a:gridCol w="480060"/>
                <a:gridCol w="409651"/>
                <a:gridCol w="4819178"/>
                <a:gridCol w="2121220"/>
                <a:gridCol w="3538625"/>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466344">
                <a:tc>
                  <a:txBody>
                    <a:bodyPr wrap="square"/>
                    <a:lstStyle/>
                    <a:p>
                      <a:pPr algn="r"/>
                      <a:r>
                        <a:rPr sz="900" b="0" i="0">
                          <a:solidFill>
                            <a:srgbClr val="1A1A1A"/>
                          </a:solidFill>
                          <a:latin typeface="Helvetica Neue"/>
                        </a:rPr>
                        <a:t>17</a:t>
                      </a:r>
                    </a:p>
                  </a:txBody>
                  <a:tcPr marL="45720" marR="45720" marT="18288" marB="18288" anchor="t"/>
                </a:tc>
                <a:tc>
                  <a:txBody>
                    <a:bodyPr wrap="square"/>
                    <a:lstStyle/>
                    <a:p>
                      <a:pPr algn="r"/>
                      <a:r>
                        <a:rPr sz="900" b="0" i="0">
                          <a:solidFill>
                            <a:srgbClr val="1A1A1A"/>
                          </a:solidFill>
                          <a:latin typeface="Helvetica Neue"/>
                        </a:rPr>
                        <a:t>34.8</a:t>
                      </a:r>
                    </a:p>
                  </a:txBody>
                  <a:tcPr marL="45720" marR="45720" marT="18288" marB="18288" anchor="t"/>
                </a:tc>
                <a:tc>
                  <a:txBody>
                    <a:bodyPr wrap="square"/>
                    <a:lstStyle/>
                    <a:p>
                      <a:r>
                        <a:rPr sz="900" b="0" i="0">
                          <a:solidFill>
                            <a:srgbClr val="1A1A1A"/>
                          </a:solidFill>
                          <a:latin typeface="Helvetica Neue"/>
                        </a:rPr>
                        <a:t>Intrapartum Ultrasound Image Segmentation of Pubic Symphysis and Fetal Head Using Dual Student-Teacher Framework with CNN-ViT Collaborative Learning</a:t>
                      </a:r>
                    </a:p>
                  </a:txBody>
                  <a:tcPr marL="45720" marR="45720" marT="18288" marB="18288" anchor="t"/>
                </a:tc>
                <a:tc>
                  <a:txBody>
                    <a:bodyPr wrap="square"/>
                    <a:lstStyle/>
                    <a:p>
                      <a:r>
                        <a:rPr sz="900" b="0" i="0">
                          <a:solidFill>
                            <a:srgbClr val="1A1A1A"/>
                          </a:solidFill>
                          <a:latin typeface="Helvetica Neue"/>
                        </a:rPr>
                        <a:t>International Conference on Medical Image Computing and Computer-Assisted Intervention</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30</a:t>
                      </a:r>
                    </a:p>
                  </a:txBody>
                  <a:tcPr marL="45720" marR="45720" marT="18288" marB="18288" anchor="t"/>
                </a:tc>
                <a:tc>
                  <a:txBody>
                    <a:bodyPr wrap="square"/>
                    <a:lstStyle/>
                    <a:p>
                      <a:pPr algn="r"/>
                      <a:r>
                        <a:rPr sz="900" b="0" i="0">
                          <a:solidFill>
                            <a:srgbClr val="1A1A1A"/>
                          </a:solidFill>
                          <a:latin typeface="Helvetica Neue"/>
                        </a:rPr>
                        <a:t>23.8</a:t>
                      </a:r>
                    </a:p>
                  </a:txBody>
                  <a:tcPr marL="45720" marR="45720" marT="18288" marB="18288" anchor="t"/>
                </a:tc>
                <a:tc>
                  <a:txBody>
                    <a:bodyPr wrap="square"/>
                    <a:lstStyle/>
                    <a:p>
                      <a:r>
                        <a:rPr sz="900" b="0" i="0">
                          <a:solidFill>
                            <a:srgbClr val="1A1A1A"/>
                          </a:solidFill>
                          <a:latin typeface="Helvetica Neue"/>
                        </a:rPr>
                        <a:t>FetalBrainAwareNet: Bridging GANs with anatomical insight for fetal ultrasound brain plane synthesis</a:t>
                      </a:r>
                    </a:p>
                  </a:txBody>
                  <a:tcPr marL="45720" marR="45720" marT="18288" marB="18288" anchor="t"/>
                </a:tc>
                <a:tc>
                  <a:txBody>
                    <a:bodyPr wrap="square"/>
                    <a:lstStyle/>
                    <a:p>
                      <a:r>
                        <a:rPr sz="900" b="0" i="0">
                          <a:solidFill>
                            <a:srgbClr val="1A1A1A"/>
                          </a:solidFill>
                          <a:latin typeface="Helvetica Neue"/>
                        </a:rPr>
                        <a:t>Comput. Medical Imaging Graph.</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466344">
                <a:tc>
                  <a:txBody>
                    <a:bodyPr wrap="square"/>
                    <a:lstStyle/>
                    <a:p>
                      <a:pPr algn="r"/>
                      <a:r>
                        <a:rPr sz="900" b="0" i="0">
                          <a:solidFill>
                            <a:srgbClr val="1A1A1A"/>
                          </a:solidFill>
                          <a:latin typeface="Helvetica Neue"/>
                        </a:rPr>
                        <a:t>20</a:t>
                      </a:r>
                    </a:p>
                  </a:txBody>
                  <a:tcPr marL="45720" marR="45720" marT="18288" marB="18288" anchor="t"/>
                </a:tc>
                <a:tc>
                  <a:txBody>
                    <a:bodyPr wrap="square"/>
                    <a:lstStyle/>
                    <a:p>
                      <a:pPr algn="r"/>
                      <a:r>
                        <a:rPr sz="900" b="0" i="0">
                          <a:solidFill>
                            <a:srgbClr val="1A1A1A"/>
                          </a:solidFill>
                          <a:latin typeface="Helvetica Neue"/>
                        </a:rPr>
                        <a:t>19.5</a:t>
                      </a:r>
                    </a:p>
                  </a:txBody>
                  <a:tcPr marL="45720" marR="45720" marT="18288" marB="18288" anchor="t"/>
                </a:tc>
                <a:tc>
                  <a:txBody>
                    <a:bodyPr wrap="square"/>
                    <a:lstStyle/>
                    <a:p>
                      <a:r>
                        <a:rPr sz="900" b="0" i="0">
                          <a:solidFill>
                            <a:srgbClr val="1A1A1A"/>
                          </a:solidFill>
                          <a:latin typeface="Helvetica Neue"/>
                        </a:rPr>
                        <a:t>Artificial intelligence assisted common maternal fetal planes prediction from ultrasound images based on information fusion of customized convolutional neural networks</a:t>
                      </a:r>
                    </a:p>
                  </a:txBody>
                  <a:tcPr marL="45720" marR="45720" marT="18288" marB="18288" anchor="t"/>
                </a:tc>
                <a:tc>
                  <a:txBody>
                    <a:bodyPr wrap="square"/>
                    <a:lstStyle/>
                    <a:p>
                      <a:r>
                        <a:rPr sz="900" b="0" i="0">
                          <a:solidFill>
                            <a:srgbClr val="1A1A1A"/>
                          </a:solidFill>
                          <a:latin typeface="Helvetica Neue"/>
                        </a:rPr>
                        <a:t>Frontiers in Medicine</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329184">
                <a:tc>
                  <a:txBody>
                    <a:bodyPr wrap="square"/>
                    <a:lstStyle/>
                    <a:p>
                      <a:pPr algn="r"/>
                      <a:r>
                        <a:rPr sz="900" b="0" i="0">
                          <a:solidFill>
                            <a:srgbClr val="1A1A1A"/>
                          </a:solidFill>
                          <a:latin typeface="Helvetica Neue"/>
                        </a:rPr>
                        <a:t>18</a:t>
                      </a:r>
                    </a:p>
                  </a:txBody>
                  <a:tcPr marL="45720" marR="45720" marT="18288" marB="18288" anchor="t"/>
                </a:tc>
                <a:tc>
                  <a:txBody>
                    <a:bodyPr wrap="square"/>
                    <a:lstStyle/>
                    <a:p>
                      <a:pPr algn="r"/>
                      <a:r>
                        <a:rPr sz="900" b="0" i="0">
                          <a:solidFill>
                            <a:srgbClr val="1A1A1A"/>
                          </a:solidFill>
                          <a:latin typeface="Helvetica Neue"/>
                        </a:rPr>
                        <a:t>15.9</a:t>
                      </a:r>
                    </a:p>
                  </a:txBody>
                  <a:tcPr marL="45720" marR="45720" marT="18288" marB="18288" anchor="t"/>
                </a:tc>
                <a:tc>
                  <a:txBody>
                    <a:bodyPr wrap="square"/>
                    <a:lstStyle/>
                    <a:p>
                      <a:r>
                        <a:rPr sz="900" b="0" i="0">
                          <a:solidFill>
                            <a:srgbClr val="1A1A1A"/>
                          </a:solidFill>
                          <a:latin typeface="Helvetica Neue"/>
                        </a:rPr>
                        <a:t>Deep learning denoising reconstruction for improved image quality in fetal cardiac cine MRI</a:t>
                      </a:r>
                    </a:p>
                  </a:txBody>
                  <a:tcPr marL="45720" marR="45720" marT="18288" marB="18288" anchor="t"/>
                </a:tc>
                <a:tc>
                  <a:txBody>
                    <a:bodyPr wrap="square"/>
                    <a:lstStyle/>
                    <a:p>
                      <a:r>
                        <a:rPr sz="900" b="0" i="0">
                          <a:solidFill>
                            <a:srgbClr val="1A1A1A"/>
                          </a:solidFill>
                          <a:latin typeface="Helvetica Neue"/>
                        </a:rPr>
                        <a:t>Frontiers in Cardiovascular Medicine</a:t>
                      </a:r>
                    </a:p>
                  </a:txBody>
                  <a:tcPr marL="45720" marR="45720" marT="18288" marB="18288" anchor="t"/>
                </a:tc>
                <a:tc>
                  <a:txBody>
                    <a:bodyPr wrap="square"/>
                    <a:lstStyle/>
                    <a:p>
                      <a:r>
                        <a:rPr sz="900" b="0" i="1">
                          <a:solidFill>
                            <a:srgbClr val="1A1A1A"/>
                          </a:solidFill>
                          <a:latin typeface="Helvetica Neue"/>
                        </a:rPr>
                        <a:t>reconstruction</a:t>
                      </a:r>
                      <a:r>
                        <a:rPr sz="900" b="0" i="0">
                          <a:solidFill>
                            <a:srgbClr val="1A1A1A"/>
                          </a:solidFill>
                          <a:latin typeface="Helvetica Neue"/>
                        </a:rPr>
                        <a:t>: Does deep-learning denoising improve fetal cardiac cine MRI?</a:t>
                      </a:r>
                    </a:p>
                  </a:txBody>
                  <a:tcPr marL="45720" marR="45720" marT="18288" marB="18288" anchor="t"/>
                </a:tc>
              </a:tr>
              <a:tr h="329184">
                <a:tc>
                  <a:txBody>
                    <a:bodyPr wrap="square"/>
                    <a:lstStyle/>
                    <a:p>
                      <a:pPr algn="r"/>
                      <a:r>
                        <a:rPr sz="900" b="0" i="0">
                          <a:solidFill>
                            <a:srgbClr val="1A1A1A"/>
                          </a:solidFill>
                          <a:latin typeface="Helvetica Neue"/>
                        </a:rPr>
                        <a:t>30</a:t>
                      </a:r>
                    </a:p>
                  </a:txBody>
                  <a:tcPr marL="45720" marR="45720" marT="18288" marB="18288" anchor="t"/>
                </a:tc>
                <a:tc>
                  <a:txBody>
                    <a:bodyPr wrap="square"/>
                    <a:lstStyle/>
                    <a:p>
                      <a:pPr algn="r"/>
                      <a:r>
                        <a:rPr sz="900" b="0" i="0">
                          <a:solidFill>
                            <a:srgbClr val="1A1A1A"/>
                          </a:solidFill>
                          <a:latin typeface="Helvetica Neue"/>
                        </a:rPr>
                        <a:t>15.1</a:t>
                      </a:r>
                    </a:p>
                  </a:txBody>
                  <a:tcPr marL="45720" marR="45720" marT="18288" marB="18288" anchor="t"/>
                </a:tc>
                <a:tc>
                  <a:txBody>
                    <a:bodyPr wrap="square"/>
                    <a:lstStyle/>
                    <a:p>
                      <a:r>
                        <a:rPr sz="900" b="0" i="0">
                          <a:solidFill>
                            <a:srgbClr val="1A1A1A"/>
                          </a:solidFill>
                          <a:latin typeface="Helvetica Neue"/>
                        </a:rPr>
                        <a:t>RTSeg-net: A lightweight network for real-time segmentation of fetal head and pubic symphysis from intrapartum ultrasound images</a:t>
                      </a:r>
                    </a:p>
                  </a:txBody>
                  <a:tcPr marL="45720" marR="45720" marT="18288" marB="18288" anchor="t"/>
                </a:tc>
                <a:tc>
                  <a:txBody>
                    <a:bodyPr wrap="square"/>
                    <a:lstStyle/>
                    <a:p>
                      <a:r>
                        <a:rPr sz="900" b="0" i="0">
                          <a:solidFill>
                            <a:srgbClr val="1A1A1A"/>
                          </a:solidFill>
                          <a:latin typeface="Helvetica Neue"/>
                        </a:rPr>
                        <a:t>Comput. Biol. Medicine</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466344">
                <a:tc>
                  <a:txBody>
                    <a:bodyPr wrap="square"/>
                    <a:lstStyle/>
                    <a:p>
                      <a:pPr algn="r"/>
                      <a:r>
                        <a:rPr sz="900" b="0" i="0">
                          <a:solidFill>
                            <a:srgbClr val="1A1A1A"/>
                          </a:solidFill>
                          <a:latin typeface="Helvetica Neue"/>
                        </a:rPr>
                        <a:t>16</a:t>
                      </a:r>
                    </a:p>
                  </a:txBody>
                  <a:tcPr marL="45720" marR="45720" marT="18288" marB="18288" anchor="t"/>
                </a:tc>
                <a:tc>
                  <a:txBody>
                    <a:bodyPr wrap="square"/>
                    <a:lstStyle/>
                    <a:p>
                      <a:pPr algn="r"/>
                      <a:r>
                        <a:rPr sz="900" b="0" i="0">
                          <a:solidFill>
                            <a:srgbClr val="1A1A1A"/>
                          </a:solidFill>
                          <a:latin typeface="Helvetica Neue"/>
                        </a:rPr>
                        <a:t>13.4</a:t>
                      </a:r>
                    </a:p>
                  </a:txBody>
                  <a:tcPr marL="45720" marR="45720" marT="18288" marB="18288" anchor="t"/>
                </a:tc>
                <a:tc>
                  <a:txBody>
                    <a:bodyPr wrap="square"/>
                    <a:lstStyle/>
                    <a:p>
                      <a:r>
                        <a:rPr sz="900" b="0" i="0">
                          <a:solidFill>
                            <a:srgbClr val="1A1A1A"/>
                          </a:solidFill>
                          <a:latin typeface="Helvetica Neue"/>
                        </a:rPr>
                        <a:t>FetSAM: Advanced Segmentation Techniques for Fetal Head Biometrics in Ultrasound Imagery</a:t>
                      </a:r>
                    </a:p>
                  </a:txBody>
                  <a:tcPr marL="45720" marR="45720" marT="18288" marB="18288" anchor="t"/>
                </a:tc>
                <a:tc>
                  <a:txBody>
                    <a:bodyPr wrap="square"/>
                    <a:lstStyle/>
                    <a:p>
                      <a:r>
                        <a:rPr sz="900" b="0" i="0">
                          <a:solidFill>
                            <a:srgbClr val="1A1A1A"/>
                          </a:solidFill>
                          <a:latin typeface="Helvetica Neue"/>
                        </a:rPr>
                        <a:t>IEEE Open Journal of Engineering in Medicine and Biology</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23</a:t>
                      </a:r>
                    </a:p>
                  </a:txBody>
                  <a:tcPr marL="45720" marR="45720" marT="18288" marB="18288" anchor="t"/>
                </a:tc>
                <a:tc>
                  <a:txBody>
                    <a:bodyPr wrap="square"/>
                    <a:lstStyle/>
                    <a:p>
                      <a:pPr algn="r"/>
                      <a:r>
                        <a:rPr sz="900" b="0" i="0">
                          <a:solidFill>
                            <a:srgbClr val="1A1A1A"/>
                          </a:solidFill>
                          <a:latin typeface="Helvetica Neue"/>
                        </a:rPr>
                        <a:t>7.0</a:t>
                      </a:r>
                    </a:p>
                  </a:txBody>
                  <a:tcPr marL="45720" marR="45720" marT="18288" marB="18288" anchor="t"/>
                </a:tc>
                <a:tc>
                  <a:txBody>
                    <a:bodyPr wrap="square"/>
                    <a:lstStyle/>
                    <a:p>
                      <a:r>
                        <a:rPr sz="900" b="0" i="0">
                          <a:solidFill>
                            <a:srgbClr val="1A1A1A"/>
                          </a:solidFill>
                          <a:latin typeface="Helvetica Neue"/>
                        </a:rPr>
                        <a:t>Deep learning-based automated lesion segmentation on pediatric focal cortical dysplasia II preoperative MRI: a reliable approach</a:t>
                      </a:r>
                    </a:p>
                  </a:txBody>
                  <a:tcPr marL="45720" marR="45720" marT="18288" marB="18288" anchor="t"/>
                </a:tc>
                <a:tc>
                  <a:txBody>
                    <a:bodyPr wrap="square"/>
                    <a:lstStyle/>
                    <a:p>
                      <a:r>
                        <a:rPr sz="900" b="0" i="0">
                          <a:solidFill>
                            <a:srgbClr val="1A1A1A"/>
                          </a:solidFill>
                          <a:latin typeface="Helvetica Neue"/>
                        </a:rPr>
                        <a:t>Insights into Imaging</a:t>
                      </a:r>
                    </a:p>
                  </a:txBody>
                  <a:tcPr marL="45720" marR="45720" marT="18288" marB="18288" anchor="t"/>
                </a:tc>
                <a:tc>
                  <a:txBody>
                    <a:bodyPr wrap="square"/>
                    <a:lstStyle/>
                    <a:p>
                      <a:r>
                        <a:rPr sz="900" b="0" i="1">
                          <a:solidFill>
                            <a:srgbClr val="1A1A1A"/>
                          </a:solidFill>
                          <a:latin typeface="Helvetica Neue"/>
                        </a:rPr>
                        <a:t>epilepsy</a:t>
                      </a:r>
                      <a:r>
                        <a:rPr sz="900" b="0" i="0">
                          <a:solidFill>
                            <a:srgbClr val="1A1A1A"/>
                          </a:solidFill>
                          <a:latin typeface="Helvetica Neue"/>
                        </a:rPr>
                        <a:t>: Can focal cortical dysplasia lesions be found automatically on preoperative pediatric MRI?</a:t>
                      </a:r>
                    </a:p>
                  </a:txBody>
                  <a:tcPr marL="45720" marR="45720" marT="18288" marB="18288" anchor="t"/>
                </a:tc>
              </a:tr>
              <a:tr h="466344">
                <a:tc>
                  <a:txBody>
                    <a:bodyPr wrap="square"/>
                    <a:lstStyle/>
                    <a:p>
                      <a:pPr algn="r"/>
                      <a:r>
                        <a:rPr sz="900" b="0" i="0">
                          <a:solidFill>
                            <a:srgbClr val="1A1A1A"/>
                          </a:solidFill>
                          <a:latin typeface="Helvetica Neue"/>
                        </a:rPr>
                        <a:t>18</a:t>
                      </a:r>
                    </a:p>
                  </a:txBody>
                  <a:tcPr marL="45720" marR="45720" marT="18288" marB="18288" anchor="t"/>
                </a:tc>
                <a:tc>
                  <a:txBody>
                    <a:bodyPr wrap="square"/>
                    <a:lstStyle/>
                    <a:p>
                      <a:pPr algn="r"/>
                      <a:r>
                        <a:rPr sz="900" b="0" i="0">
                          <a:solidFill>
                            <a:srgbClr val="1A1A1A"/>
                          </a:solidFill>
                          <a:latin typeface="Helvetica Neue"/>
                        </a:rPr>
                        <a:t>5.3</a:t>
                      </a:r>
                    </a:p>
                  </a:txBody>
                  <a:tcPr marL="45720" marR="45720" marT="18288" marB="18288" anchor="t"/>
                </a:tc>
                <a:tc>
                  <a:txBody>
                    <a:bodyPr wrap="square"/>
                    <a:lstStyle/>
                    <a:p>
                      <a:r>
                        <a:rPr sz="900" b="0" i="0">
                          <a:solidFill>
                            <a:srgbClr val="1A1A1A"/>
                          </a:solidFill>
                          <a:latin typeface="Helvetica Neue"/>
                        </a:rPr>
                        <a:t>Integration of a Deep Convolutional Neural Network With Adaptive Channel Weight Technique for Automated Identification of Standard Fetal Biometry Planes</a:t>
                      </a:r>
                    </a:p>
                  </a:txBody>
                  <a:tcPr marL="45720" marR="45720" marT="18288" marB="18288" anchor="t"/>
                </a:tc>
                <a:tc>
                  <a:txBody>
                    <a:bodyPr wrap="square"/>
                    <a:lstStyle/>
                    <a:p>
                      <a:r>
                        <a:rPr sz="900" b="0" i="0">
                          <a:solidFill>
                            <a:srgbClr val="1A1A1A"/>
                          </a:solidFill>
                          <a:latin typeface="Helvetica Neue"/>
                        </a:rPr>
                        <a:t>IEEE Transactions on Instrumentation and Measurement</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329184">
                <a:tc>
                  <a:txBody>
                    <a:bodyPr wrap="square"/>
                    <a:lstStyle/>
                    <a:p>
                      <a:pPr algn="r"/>
                      <a:r>
                        <a:rPr sz="900" b="0" i="0">
                          <a:solidFill>
                            <a:srgbClr val="1A1A1A"/>
                          </a:solidFill>
                          <a:latin typeface="Helvetica Neue"/>
                        </a:rPr>
                        <a:t>18</a:t>
                      </a:r>
                    </a:p>
                  </a:txBody>
                  <a:tcPr marL="45720" marR="45720" marT="18288" marB="18288" anchor="t"/>
                </a:tc>
                <a:tc>
                  <a:txBody>
                    <a:bodyPr wrap="square"/>
                    <a:lstStyle/>
                    <a:p>
                      <a:pPr algn="r"/>
                      <a:r>
                        <a:rPr sz="900" b="0" i="0">
                          <a:solidFill>
                            <a:srgbClr val="1A1A1A"/>
                          </a:solidFill>
                          <a:latin typeface="Helvetica Neue"/>
                        </a:rPr>
                        <a:t>5.2</a:t>
                      </a:r>
                    </a:p>
                  </a:txBody>
                  <a:tcPr marL="45720" marR="45720" marT="18288" marB="18288" anchor="t"/>
                </a:tc>
                <a:tc>
                  <a:txBody>
                    <a:bodyPr wrap="square"/>
                    <a:lstStyle/>
                    <a:p>
                      <a:r>
                        <a:rPr sz="900" b="0" i="0">
                          <a:solidFill>
                            <a:srgbClr val="1A1A1A"/>
                          </a:solidFill>
                          <a:latin typeface="Helvetica Neue"/>
                        </a:rPr>
                        <a:t>Explainable AI in Deep Learning Based Classification of Fetal Ultrasound Image Planes</a:t>
                      </a:r>
                    </a:p>
                  </a:txBody>
                  <a:tcPr marL="45720" marR="45720" marT="18288" marB="18288" anchor="t"/>
                </a:tc>
                <a:tc>
                  <a:txBody>
                    <a:bodyPr wrap="square"/>
                    <a:lstStyle/>
                    <a:p>
                      <a:r>
                        <a:rPr sz="900" b="0" i="0">
                          <a:solidFill>
                            <a:srgbClr val="1A1A1A"/>
                          </a:solidFill>
                          <a:latin typeface="Helvetica Neue"/>
                        </a:rPr>
                        <a:t>Procedia Computer Science</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329184">
                <a:tc>
                  <a:txBody>
                    <a:bodyPr wrap="square"/>
                    <a:lstStyle/>
                    <a:p>
                      <a:pPr algn="r"/>
                      <a:r>
                        <a:rPr sz="900" b="0" i="0">
                          <a:solidFill>
                            <a:srgbClr val="1A1A1A"/>
                          </a:solidFill>
                          <a:latin typeface="Helvetica Neue"/>
                        </a:rPr>
                        <a:t>19</a:t>
                      </a:r>
                    </a:p>
                  </a:txBody>
                  <a:tcPr marL="45720" marR="45720" marT="18288" marB="18288" anchor="t"/>
                </a:tc>
                <a:tc>
                  <a:txBody>
                    <a:bodyPr wrap="square"/>
                    <a:lstStyle/>
                    <a:p>
                      <a:pPr algn="r"/>
                      <a:r>
                        <a:rPr sz="900" b="0" i="0">
                          <a:solidFill>
                            <a:srgbClr val="1A1A1A"/>
                          </a:solidFill>
                          <a:latin typeface="Helvetica Neue"/>
                        </a:rPr>
                        <a:t>4.8</a:t>
                      </a:r>
                    </a:p>
                  </a:txBody>
                  <a:tcPr marL="45720" marR="45720" marT="18288" marB="18288" anchor="t"/>
                </a:tc>
                <a:tc>
                  <a:txBody>
                    <a:bodyPr wrap="square"/>
                    <a:lstStyle/>
                    <a:p>
                      <a:r>
                        <a:rPr sz="900" b="0" i="0">
                          <a:solidFill>
                            <a:srgbClr val="1A1A1A"/>
                          </a:solidFill>
                          <a:latin typeface="Helvetica Neue"/>
                        </a:rPr>
                        <a:t>A deep learning framework for identifying and segmenting three vessels in fetal heart ultrasound images</a:t>
                      </a:r>
                    </a:p>
                  </a:txBody>
                  <a:tcPr marL="45720" marR="45720" marT="18288" marB="18288" anchor="t"/>
                </a:tc>
                <a:tc>
                  <a:txBody>
                    <a:bodyPr wrap="square"/>
                    <a:lstStyle/>
                    <a:p>
                      <a:r>
                        <a:rPr sz="900" b="0" i="0">
                          <a:solidFill>
                            <a:srgbClr val="1A1A1A"/>
                          </a:solidFill>
                          <a:latin typeface="Helvetica Neue"/>
                        </a:rPr>
                        <a:t>BioMedical Engineering OnLine</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33 / 83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pediatric radiology AI papers, 2025</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4" cy="3758183"/>
        </p:xfrm>
        <a:graphic>
          <a:graphicData uri="http://schemas.openxmlformats.org/drawingml/2006/table">
            <a:tbl>
              <a:tblPr firstRow="1" bandRow="1">
                <a:tableStyleId>{5C22544A-7EE6-4342-B048-85BDC9FD1C3A}</a:tableStyleId>
              </a:tblPr>
              <a:tblGrid>
                <a:gridCol w="480060"/>
                <a:gridCol w="448056"/>
                <a:gridCol w="4801516"/>
                <a:gridCol w="2113446"/>
                <a:gridCol w="3525656"/>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329184">
                <a:tc>
                  <a:txBody>
                    <a:bodyPr wrap="square"/>
                    <a:lstStyle/>
                    <a:p>
                      <a:pPr algn="r"/>
                      <a:r>
                        <a:rPr sz="900" b="0" i="0">
                          <a:solidFill>
                            <a:srgbClr val="1A1A1A"/>
                          </a:solidFill>
                          <a:latin typeface="Helvetica Neue"/>
                        </a:rPr>
                        <a:t>16</a:t>
                      </a:r>
                    </a:p>
                  </a:txBody>
                  <a:tcPr marL="45720" marR="45720" marT="18288" marB="18288" anchor="t"/>
                </a:tc>
                <a:tc>
                  <a:txBody>
                    <a:bodyPr wrap="square"/>
                    <a:lstStyle/>
                    <a:p>
                      <a:pPr algn="r"/>
                      <a:r>
                        <a:rPr sz="900" b="0" i="0">
                          <a:solidFill>
                            <a:srgbClr val="1A1A1A"/>
                          </a:solidFill>
                          <a:latin typeface="Helvetica Neue"/>
                        </a:rPr>
                        <a:t>171.3</a:t>
                      </a:r>
                    </a:p>
                  </a:txBody>
                  <a:tcPr marL="45720" marR="45720" marT="18288" marB="18288" anchor="t"/>
                </a:tc>
                <a:tc>
                  <a:txBody>
                    <a:bodyPr wrap="square"/>
                    <a:lstStyle/>
                    <a:p>
                      <a:r>
                        <a:rPr sz="900" b="0" i="0">
                          <a:solidFill>
                            <a:srgbClr val="1A1A1A"/>
                          </a:solidFill>
                          <a:latin typeface="Helvetica Neue"/>
                        </a:rPr>
                        <a:t>A comprehensive review of artificial intelligence - based algorithm towards fetal facial anomalies detection (2013–2024)</a:t>
                      </a:r>
                    </a:p>
                  </a:txBody>
                  <a:tcPr marL="45720" marR="45720" marT="18288" marB="18288" anchor="t"/>
                </a:tc>
                <a:tc>
                  <a:txBody>
                    <a:bodyPr wrap="square"/>
                    <a:lstStyle/>
                    <a:p>
                      <a:r>
                        <a:rPr sz="900" b="0" i="0">
                          <a:solidFill>
                            <a:srgbClr val="1A1A1A"/>
                          </a:solidFill>
                          <a:latin typeface="Helvetica Neue"/>
                        </a:rPr>
                        <a:t>Artificial Intelligence Review</a:t>
                      </a:r>
                    </a:p>
                  </a:txBody>
                  <a:tcPr marL="45720" marR="45720" marT="18288" marB="18288" anchor="t"/>
                </a:tc>
                <a:tc>
                  <a:txBody>
                    <a:bodyPr wrap="square"/>
                    <a:lstStyle/>
                    <a:p>
                      <a:r>
                        <a:rPr sz="900" b="0" i="1">
                          <a:solidFill>
                            <a:srgbClr val="1A1A1A"/>
                          </a:solidFill>
                          <a:latin typeface="Helvetica Neue"/>
                        </a:rPr>
                        <a:t>survey / review</a:t>
                      </a:r>
                    </a:p>
                  </a:txBody>
                  <a:tcPr marL="45720" marR="45720" marT="18288" marB="18288" anchor="t"/>
                </a:tc>
              </a:tr>
              <a:tr h="329184">
                <a:tc>
                  <a:txBody>
                    <a:bodyPr wrap="square"/>
                    <a:lstStyle/>
                    <a:p>
                      <a:pPr algn="r"/>
                      <a:r>
                        <a:rPr sz="900" b="0" i="0">
                          <a:solidFill>
                            <a:srgbClr val="1A1A1A"/>
                          </a:solidFill>
                          <a:latin typeface="Helvetica Neue"/>
                        </a:rPr>
                        <a:t>18</a:t>
                      </a:r>
                    </a:p>
                  </a:txBody>
                  <a:tcPr marL="45720" marR="45720" marT="18288" marB="18288" anchor="t"/>
                </a:tc>
                <a:tc>
                  <a:txBody>
                    <a:bodyPr wrap="square"/>
                    <a:lstStyle/>
                    <a:p>
                      <a:pPr algn="r"/>
                      <a:r>
                        <a:rPr sz="900" b="0" i="0">
                          <a:solidFill>
                            <a:srgbClr val="1A1A1A"/>
                          </a:solidFill>
                          <a:latin typeface="Helvetica Neue"/>
                        </a:rPr>
                        <a:t>85.1</a:t>
                      </a:r>
                    </a:p>
                  </a:txBody>
                  <a:tcPr marL="45720" marR="45720" marT="18288" marB="18288" anchor="t"/>
                </a:tc>
                <a:tc>
                  <a:txBody>
                    <a:bodyPr wrap="square"/>
                    <a:lstStyle/>
                    <a:p>
                      <a:r>
                        <a:rPr sz="900" b="0" i="0">
                          <a:solidFill>
                            <a:srgbClr val="1A1A1A"/>
                          </a:solidFill>
                          <a:latin typeface="Helvetica Neue"/>
                        </a:rPr>
                        <a:t>M-CNN-RF: A hybrid deep learning model for accurate pediatric skeletal age estimation using hand bone radiographs</a:t>
                      </a:r>
                    </a:p>
                  </a:txBody>
                  <a:tcPr marL="45720" marR="45720" marT="18288" marB="18288" anchor="t"/>
                </a:tc>
                <a:tc>
                  <a:txBody>
                    <a:bodyPr wrap="square"/>
                    <a:lstStyle/>
                    <a:p>
                      <a:r>
                        <a:rPr sz="900" b="0" i="0">
                          <a:solidFill>
                            <a:srgbClr val="1A1A1A"/>
                          </a:solidFill>
                          <a:latin typeface="Helvetica Neue"/>
                        </a:rPr>
                        <a:t>Alexandria Engineering Journal</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r h="329184">
                <a:tc>
                  <a:txBody>
                    <a:bodyPr wrap="square"/>
                    <a:lstStyle/>
                    <a:p>
                      <a:pPr algn="r"/>
                      <a:r>
                        <a:rPr sz="900" b="0" i="0">
                          <a:solidFill>
                            <a:srgbClr val="1A1A1A"/>
                          </a:solidFill>
                          <a:latin typeface="Helvetica Neue"/>
                        </a:rPr>
                        <a:t>20</a:t>
                      </a:r>
                    </a:p>
                  </a:txBody>
                  <a:tcPr marL="45720" marR="45720" marT="18288" marB="18288" anchor="t"/>
                </a:tc>
                <a:tc>
                  <a:txBody>
                    <a:bodyPr wrap="square"/>
                    <a:lstStyle/>
                    <a:p>
                      <a:pPr algn="r"/>
                      <a:r>
                        <a:rPr sz="900" b="0" i="0">
                          <a:solidFill>
                            <a:srgbClr val="1A1A1A"/>
                          </a:solidFill>
                          <a:latin typeface="Helvetica Neue"/>
                        </a:rPr>
                        <a:t>77.0</a:t>
                      </a:r>
                    </a:p>
                  </a:txBody>
                  <a:tcPr marL="45720" marR="45720" marT="18288" marB="18288" anchor="t"/>
                </a:tc>
                <a:tc>
                  <a:txBody>
                    <a:bodyPr wrap="square"/>
                    <a:lstStyle/>
                    <a:p>
                      <a:r>
                        <a:rPr sz="900" b="0" i="0">
                          <a:solidFill>
                            <a:srgbClr val="1A1A1A"/>
                          </a:solidFill>
                          <a:latin typeface="Helvetica Neue"/>
                        </a:rPr>
                        <a:t>Bone Age Assessment Using Various Medical Imaging Techniques Enhanced by Artificial Intelligence</a:t>
                      </a:r>
                    </a:p>
                  </a:txBody>
                  <a:tcPr marL="45720" marR="45720" marT="18288" marB="18288" anchor="t"/>
                </a:tc>
                <a:tc>
                  <a:txBody>
                    <a:bodyPr wrap="square"/>
                    <a:lstStyle/>
                    <a:p>
                      <a:r>
                        <a:rPr sz="900" b="0" i="0">
                          <a:solidFill>
                            <a:srgbClr val="1A1A1A"/>
                          </a:solidFill>
                          <a:latin typeface="Helvetica Neue"/>
                        </a:rPr>
                        <a:t>Diagnostics</a:t>
                      </a:r>
                    </a:p>
                  </a:txBody>
                  <a:tcPr marL="45720" marR="45720" marT="18288" marB="18288" anchor="t"/>
                </a:tc>
                <a:tc>
                  <a:txBody>
                    <a:bodyPr wrap="square"/>
                    <a:lstStyle/>
                    <a:p>
                      <a:r>
                        <a:rPr sz="900" b="0" i="1">
                          <a:solidFill>
                            <a:srgbClr val="1A1A1A"/>
                          </a:solidFill>
                          <a:latin typeface="Helvetica Neue"/>
                        </a:rPr>
                        <a:t>bone age</a:t>
                      </a:r>
                    </a:p>
                  </a:txBody>
                  <a:tcPr marL="45720" marR="45720" marT="18288" marB="18288" anchor="t"/>
                </a:tc>
              </a:tr>
              <a:tr h="329184">
                <a:tc>
                  <a:txBody>
                    <a:bodyPr wrap="square"/>
                    <a:lstStyle/>
                    <a:p>
                      <a:pPr algn="r"/>
                      <a:r>
                        <a:rPr sz="900" b="0" i="0">
                          <a:solidFill>
                            <a:srgbClr val="1A1A1A"/>
                          </a:solidFill>
                          <a:latin typeface="Helvetica Neue"/>
                        </a:rPr>
                        <a:t>18</a:t>
                      </a:r>
                    </a:p>
                  </a:txBody>
                  <a:tcPr marL="45720" marR="45720" marT="18288" marB="18288" anchor="t"/>
                </a:tc>
                <a:tc>
                  <a:txBody>
                    <a:bodyPr wrap="square"/>
                    <a:lstStyle/>
                    <a:p>
                      <a:pPr algn="r"/>
                      <a:r>
                        <a:rPr sz="900" b="0" i="0">
                          <a:solidFill>
                            <a:srgbClr val="1A1A1A"/>
                          </a:solidFill>
                          <a:latin typeface="Helvetica Neue"/>
                        </a:rPr>
                        <a:t>24.9</a:t>
                      </a:r>
                    </a:p>
                  </a:txBody>
                  <a:tcPr marL="45720" marR="45720" marT="18288" marB="18288" anchor="t"/>
                </a:tc>
                <a:tc>
                  <a:txBody>
                    <a:bodyPr wrap="square"/>
                    <a:lstStyle/>
                    <a:p>
                      <a:r>
                        <a:rPr sz="900" b="0" i="0">
                          <a:solidFill>
                            <a:srgbClr val="1A1A1A"/>
                          </a:solidFill>
                          <a:latin typeface="Helvetica Neue"/>
                        </a:rPr>
                        <a:t>Advancing prenatal healthcare by explainable AI enhanced fetal ultrasound image segmentation using U-Net++ with attention mechanisms</a:t>
                      </a:r>
                    </a:p>
                  </a:txBody>
                  <a:tcPr marL="45720" marR="45720" marT="18288" marB="18288" anchor="t"/>
                </a:tc>
                <a:tc>
                  <a:txBody>
                    <a:bodyPr wrap="square"/>
                    <a:lstStyle/>
                    <a:p>
                      <a:r>
                        <a:rPr sz="900" b="0" i="0">
                          <a:solidFill>
                            <a:srgbClr val="1A1A1A"/>
                          </a:solidFill>
                          <a:latin typeface="Helvetica Neue"/>
                        </a:rPr>
                        <a:t>Scientific Reports</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12</a:t>
                      </a:r>
                    </a:p>
                  </a:txBody>
                  <a:tcPr marL="45720" marR="45720" marT="18288" marB="18288" anchor="t"/>
                </a:tc>
                <a:tc>
                  <a:txBody>
                    <a:bodyPr wrap="square"/>
                    <a:lstStyle/>
                    <a:p>
                      <a:pPr algn="r"/>
                      <a:r>
                        <a:rPr sz="900" b="0" i="0">
                          <a:solidFill>
                            <a:srgbClr val="1A1A1A"/>
                          </a:solidFill>
                          <a:latin typeface="Helvetica Neue"/>
                        </a:rPr>
                        <a:t>21.8</a:t>
                      </a:r>
                    </a:p>
                  </a:txBody>
                  <a:tcPr marL="45720" marR="45720" marT="18288" marB="18288" anchor="t"/>
                </a:tc>
                <a:tc>
                  <a:txBody>
                    <a:bodyPr wrap="square"/>
                    <a:lstStyle/>
                    <a:p>
                      <a:r>
                        <a:rPr sz="900" b="0" i="0">
                          <a:solidFill>
                            <a:srgbClr val="1A1A1A"/>
                          </a:solidFill>
                          <a:latin typeface="Helvetica Neue"/>
                        </a:rPr>
                        <a:t>FetalMovNet: A Novel Deep Learning Model Based on Attention Mechanism for Fetal Movement Classification in US</a:t>
                      </a:r>
                    </a:p>
                  </a:txBody>
                  <a:tcPr marL="45720" marR="45720" marT="18288" marB="18288" anchor="t"/>
                </a:tc>
                <a:tc>
                  <a:txBody>
                    <a:bodyPr wrap="square"/>
                    <a:lstStyle/>
                    <a:p>
                      <a:r>
                        <a:rPr sz="900" b="0" i="0">
                          <a:solidFill>
                            <a:srgbClr val="1A1A1A"/>
                          </a:solidFill>
                          <a:latin typeface="Helvetica Neue"/>
                        </a:rPr>
                        <a:t>IEEE Access</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329184">
                <a:tc>
                  <a:txBody>
                    <a:bodyPr wrap="square"/>
                    <a:lstStyle/>
                    <a:p>
                      <a:pPr algn="r"/>
                      <a:r>
                        <a:rPr sz="900" b="0" i="0">
                          <a:solidFill>
                            <a:srgbClr val="1A1A1A"/>
                          </a:solidFill>
                          <a:latin typeface="Helvetica Neue"/>
                        </a:rPr>
                        <a:t>11</a:t>
                      </a:r>
                    </a:p>
                  </a:txBody>
                  <a:tcPr marL="45720" marR="45720" marT="18288" marB="18288" anchor="t"/>
                </a:tc>
                <a:tc>
                  <a:txBody>
                    <a:bodyPr wrap="square"/>
                    <a:lstStyle/>
                    <a:p>
                      <a:pPr algn="r"/>
                      <a:r>
                        <a:rPr sz="900" b="0" i="0">
                          <a:solidFill>
                            <a:srgbClr val="1A1A1A"/>
                          </a:solidFill>
                          <a:latin typeface="Helvetica Neue"/>
                        </a:rPr>
                        <a:t>14.5</a:t>
                      </a:r>
                    </a:p>
                  </a:txBody>
                  <a:tcPr marL="45720" marR="45720" marT="18288" marB="18288" anchor="t"/>
                </a:tc>
                <a:tc>
                  <a:txBody>
                    <a:bodyPr wrap="square"/>
                    <a:lstStyle/>
                    <a:p>
                      <a:r>
                        <a:rPr sz="900" b="0" i="0">
                          <a:solidFill>
                            <a:srgbClr val="1A1A1A"/>
                          </a:solidFill>
                          <a:latin typeface="Helvetica Neue"/>
                        </a:rPr>
                        <a:t>Effectiveness and clinical impact of using deep learning for first-trimester fetal ultrasound image quality auditing</a:t>
                      </a:r>
                    </a:p>
                  </a:txBody>
                  <a:tcPr marL="45720" marR="45720" marT="18288" marB="18288" anchor="t"/>
                </a:tc>
                <a:tc>
                  <a:txBody>
                    <a:bodyPr wrap="square"/>
                    <a:lstStyle/>
                    <a:p>
                      <a:r>
                        <a:rPr sz="900" b="0" i="0">
                          <a:solidFill>
                            <a:srgbClr val="1A1A1A"/>
                          </a:solidFill>
                          <a:latin typeface="Helvetica Neue"/>
                        </a:rPr>
                        <a:t>BMC Pregnancy and Childbirth</a:t>
                      </a:r>
                    </a:p>
                  </a:txBody>
                  <a:tcPr marL="45720" marR="45720" marT="18288" marB="18288" anchor="t"/>
                </a:tc>
                <a:tc>
                  <a:txBody>
                    <a:bodyPr wrap="square"/>
                    <a:lstStyle/>
                    <a:p>
                      <a:r>
                        <a:rPr sz="900" b="0" i="1">
                          <a:solidFill>
                            <a:srgbClr val="1A1A1A"/>
                          </a:solidFill>
                          <a:latin typeface="Helvetica Neue"/>
                        </a:rPr>
                        <a:t>fetal MRI</a:t>
                      </a:r>
                    </a:p>
                  </a:txBody>
                  <a:tcPr marL="45720" marR="45720" marT="18288" marB="18288" anchor="t"/>
                </a:tc>
              </a:tr>
              <a:tr h="329184">
                <a:tc>
                  <a:txBody>
                    <a:bodyPr wrap="square"/>
                    <a:lstStyle/>
                    <a:p>
                      <a:pPr algn="r"/>
                      <a:r>
                        <a:rPr sz="900" b="0" i="0">
                          <a:solidFill>
                            <a:srgbClr val="1A1A1A"/>
                          </a:solidFill>
                          <a:latin typeface="Helvetica Neue"/>
                        </a:rPr>
                        <a:t>12</a:t>
                      </a:r>
                    </a:p>
                  </a:txBody>
                  <a:tcPr marL="45720" marR="45720" marT="18288" marB="18288" anchor="t"/>
                </a:tc>
                <a:tc>
                  <a:txBody>
                    <a:bodyPr wrap="square"/>
                    <a:lstStyle/>
                    <a:p>
                      <a:pPr algn="r"/>
                      <a:r>
                        <a:rPr sz="900" b="0" i="0">
                          <a:solidFill>
                            <a:srgbClr val="1A1A1A"/>
                          </a:solidFill>
                          <a:latin typeface="Helvetica Neue"/>
                        </a:rPr>
                        <a:t>12.4</a:t>
                      </a:r>
                    </a:p>
                  </a:txBody>
                  <a:tcPr marL="45720" marR="45720" marT="18288" marB="18288" anchor="t"/>
                </a:tc>
                <a:tc>
                  <a:txBody>
                    <a:bodyPr wrap="square"/>
                    <a:lstStyle/>
                    <a:p>
                      <a:r>
                        <a:rPr sz="900" b="0" i="0">
                          <a:solidFill>
                            <a:srgbClr val="1A1A1A"/>
                          </a:solidFill>
                          <a:latin typeface="Helvetica Neue"/>
                        </a:rPr>
                        <a:t>Association between deep learning radiomics based on placental MRI and preeclampsia with fetal growth restriction: A multicenter study.</a:t>
                      </a:r>
                    </a:p>
                  </a:txBody>
                  <a:tcPr marL="45720" marR="45720" marT="18288" marB="18288" anchor="t"/>
                </a:tc>
                <a:tc>
                  <a:txBody>
                    <a:bodyPr wrap="square"/>
                    <a:lstStyle/>
                    <a:p>
                      <a:r>
                        <a:rPr sz="900" b="0" i="0">
                          <a:solidFill>
                            <a:srgbClr val="1A1A1A"/>
                          </a:solidFill>
                          <a:latin typeface="Helvetica Neue"/>
                        </a:rPr>
                        <a:t>European Journal of Radiology</a:t>
                      </a:r>
                    </a:p>
                  </a:txBody>
                  <a:tcPr marL="45720" marR="45720" marT="18288" marB="18288" anchor="t"/>
                </a:tc>
                <a:tc>
                  <a:txBody>
                    <a:bodyPr wrap="square"/>
                    <a:lstStyle/>
                    <a:p>
                      <a:r>
                        <a:rPr sz="900" b="0" i="1">
                          <a:solidFill>
                            <a:srgbClr val="1A1A1A"/>
                          </a:solidFill>
                          <a:latin typeface="Helvetica Neue"/>
                        </a:rPr>
                        <a:t>radiomics</a:t>
                      </a:r>
                    </a:p>
                  </a:txBody>
                  <a:tcPr marL="45720" marR="45720" marT="18288" marB="18288" anchor="t"/>
                </a:tc>
              </a:tr>
              <a:tr h="603503">
                <a:tc>
                  <a:txBody>
                    <a:bodyPr wrap="square"/>
                    <a:lstStyle/>
                    <a:p>
                      <a:pPr algn="r"/>
                      <a:r>
                        <a:rPr sz="900" b="0" i="0">
                          <a:solidFill>
                            <a:srgbClr val="1A1A1A"/>
                          </a:solidFill>
                          <a:latin typeface="Helvetica Neue"/>
                        </a:rPr>
                        <a:t>16</a:t>
                      </a:r>
                    </a:p>
                  </a:txBody>
                  <a:tcPr marL="45720" marR="45720" marT="18288" marB="18288" anchor="t"/>
                </a:tc>
                <a:tc>
                  <a:txBody>
                    <a:bodyPr wrap="square"/>
                    <a:lstStyle/>
                    <a:p>
                      <a:pPr algn="r"/>
                      <a:r>
                        <a:rPr sz="900" b="0" i="0">
                          <a:solidFill>
                            <a:srgbClr val="1A1A1A"/>
                          </a:solidFill>
                          <a:latin typeface="Helvetica Neue"/>
                        </a:rPr>
                        <a:t>8.7</a:t>
                      </a:r>
                    </a:p>
                  </a:txBody>
                  <a:tcPr marL="45720" marR="45720" marT="18288" marB="18288" anchor="t"/>
                </a:tc>
                <a:tc>
                  <a:txBody>
                    <a:bodyPr wrap="square"/>
                    <a:lstStyle/>
                    <a:p>
                      <a:r>
                        <a:rPr sz="900" b="0" i="0">
                          <a:solidFill>
                            <a:srgbClr val="1A1A1A"/>
                          </a:solidFill>
                          <a:latin typeface="Helvetica Neue"/>
                        </a:rPr>
                        <a:t>Prenatal detection of congenital heart defects using the deep learning-based image and video analysis: protocol for Clinical Artificial Intelligence in Fetal Echocardiography (CAIFE), an international multicentre multidisciplinary study</a:t>
                      </a:r>
                    </a:p>
                  </a:txBody>
                  <a:tcPr marL="45720" marR="45720" marT="18288" marB="18288" anchor="t"/>
                </a:tc>
                <a:tc>
                  <a:txBody>
                    <a:bodyPr wrap="square"/>
                    <a:lstStyle/>
                    <a:p>
                      <a:r>
                        <a:rPr sz="900" b="0" i="0">
                          <a:solidFill>
                            <a:srgbClr val="1A1A1A"/>
                          </a:solidFill>
                          <a:latin typeface="Helvetica Neue"/>
                        </a:rPr>
                        <a:t>BMJ Open</a:t>
                      </a:r>
                    </a:p>
                  </a:txBody>
                  <a:tcPr marL="45720" marR="45720" marT="18288" marB="18288" anchor="t"/>
                </a:tc>
                <a:tc>
                  <a:txBody>
                    <a:bodyPr wrap="square"/>
                    <a:lstStyle/>
                    <a:p>
                      <a:r>
                        <a:rPr sz="900" b="0" i="1">
                          <a:solidFill>
                            <a:srgbClr val="1A1A1A"/>
                          </a:solidFill>
                          <a:latin typeface="Helvetica Neue"/>
                        </a:rPr>
                        <a:t>fetal ultrasound</a:t>
                      </a:r>
                      <a:r>
                        <a:rPr sz="900" b="0" i="0">
                          <a:solidFill>
                            <a:srgbClr val="1A1A1A"/>
                          </a:solidFill>
                          <a:latin typeface="Helvetica Neue"/>
                        </a:rPr>
                        <a:t>: Can deep learning on prenatal ultrasound video detect congenital heart defects?</a:t>
                      </a:r>
                    </a:p>
                  </a:txBody>
                  <a:tcPr marL="45720" marR="45720" marT="18288" marB="18288" anchor="t"/>
                </a:tc>
              </a:tr>
              <a:tr h="329184">
                <a:tc>
                  <a:txBody>
                    <a:bodyPr wrap="square"/>
                    <a:lstStyle/>
                    <a:p>
                      <a:pPr algn="r"/>
                      <a:r>
                        <a:rPr sz="900" b="0" i="0">
                          <a:solidFill>
                            <a:srgbClr val="1A1A1A"/>
                          </a:solidFill>
                          <a:latin typeface="Helvetica Neue"/>
                        </a:rPr>
                        <a:t>11</a:t>
                      </a:r>
                    </a:p>
                  </a:txBody>
                  <a:tcPr marL="45720" marR="45720" marT="18288" marB="18288" anchor="t"/>
                </a:tc>
                <a:tc>
                  <a:txBody>
                    <a:bodyPr wrap="square"/>
                    <a:lstStyle/>
                    <a:p>
                      <a:pPr algn="r"/>
                      <a:r>
                        <a:rPr sz="900" b="0" i="0">
                          <a:solidFill>
                            <a:srgbClr val="1A1A1A"/>
                          </a:solidFill>
                          <a:latin typeface="Helvetica Neue"/>
                        </a:rPr>
                        <a:t>8.6</a:t>
                      </a:r>
                    </a:p>
                  </a:txBody>
                  <a:tcPr marL="45720" marR="45720" marT="18288" marB="18288" anchor="t"/>
                </a:tc>
                <a:tc>
                  <a:txBody>
                    <a:bodyPr wrap="square"/>
                    <a:lstStyle/>
                    <a:p>
                      <a:r>
                        <a:rPr sz="900" b="0" i="0">
                          <a:solidFill>
                            <a:srgbClr val="1A1A1A"/>
                          </a:solidFill>
                          <a:latin typeface="Helvetica Neue"/>
                        </a:rPr>
                        <a:t>Multi-view deep learning framework for the detection of chest X-rays compatible with pediatric pulmonary tuberculosis</a:t>
                      </a:r>
                    </a:p>
                  </a:txBody>
                  <a:tcPr marL="45720" marR="45720" marT="18288" marB="18288" anchor="t"/>
                </a:tc>
                <a:tc>
                  <a:txBody>
                    <a:bodyPr wrap="square"/>
                    <a:lstStyle/>
                    <a:p>
                      <a:r>
                        <a:rPr sz="900" b="0" i="0">
                          <a:solidFill>
                            <a:srgbClr val="1A1A1A"/>
                          </a:solidFill>
                          <a:latin typeface="Helvetica Neue"/>
                        </a:rPr>
                        <a:t>Nature Communications</a:t>
                      </a:r>
                    </a:p>
                  </a:txBody>
                  <a:tcPr marL="45720" marR="45720" marT="18288" marB="18288" anchor="t"/>
                </a:tc>
                <a:tc>
                  <a:txBody>
                    <a:bodyPr wrap="square"/>
                    <a:lstStyle/>
                    <a:p>
                      <a:r>
                        <a:rPr sz="900" b="0" i="1">
                          <a:solidFill>
                            <a:srgbClr val="1A1A1A"/>
                          </a:solidFill>
                          <a:latin typeface="Helvetica Neue"/>
                        </a:rPr>
                        <a:t>detection</a:t>
                      </a:r>
                    </a:p>
                  </a:txBody>
                  <a:tcPr marL="45720" marR="45720" marT="18288" marB="18288" anchor="t"/>
                </a:tc>
              </a:tr>
              <a:tr h="329184">
                <a:tc>
                  <a:txBody>
                    <a:bodyPr wrap="square"/>
                    <a:lstStyle/>
                    <a:p>
                      <a:pPr algn="r"/>
                      <a:r>
                        <a:rPr sz="900" b="0" i="0">
                          <a:solidFill>
                            <a:srgbClr val="1A1A1A"/>
                          </a:solidFill>
                          <a:latin typeface="Helvetica Neue"/>
                        </a:rPr>
                        <a:t>11</a:t>
                      </a:r>
                    </a:p>
                  </a:txBody>
                  <a:tcPr marL="45720" marR="45720" marT="18288" marB="18288" anchor="t"/>
                </a:tc>
                <a:tc>
                  <a:txBody>
                    <a:bodyPr wrap="square"/>
                    <a:lstStyle/>
                    <a:p>
                      <a:pPr algn="r"/>
                      <a:r>
                        <a:rPr sz="900" b="0" i="0">
                          <a:solidFill>
                            <a:srgbClr val="1A1A1A"/>
                          </a:solidFill>
                          <a:latin typeface="Helvetica Neue"/>
                        </a:rPr>
                        <a:t>7.0</a:t>
                      </a:r>
                    </a:p>
                  </a:txBody>
                  <a:tcPr marL="45720" marR="45720" marT="18288" marB="18288" anchor="t"/>
                </a:tc>
                <a:tc>
                  <a:txBody>
                    <a:bodyPr wrap="square"/>
                    <a:lstStyle/>
                    <a:p>
                      <a:r>
                        <a:rPr sz="900" b="0" i="0">
                          <a:solidFill>
                            <a:srgbClr val="1A1A1A"/>
                          </a:solidFill>
                          <a:latin typeface="Helvetica Neue"/>
                        </a:rPr>
                        <a:t>Evaluation of Image Quality and Scan Time Efficiency in Accelerated 3D T1-Weighted Pediatric Brain MRI Using Deep Learning-Based Reconstruction</a:t>
                      </a:r>
                    </a:p>
                  </a:txBody>
                  <a:tcPr marL="45720" marR="45720" marT="18288" marB="18288" anchor="t"/>
                </a:tc>
                <a:tc>
                  <a:txBody>
                    <a:bodyPr wrap="square"/>
                    <a:lstStyle/>
                    <a:p>
                      <a:r>
                        <a:rPr sz="900" b="0" i="0">
                          <a:solidFill>
                            <a:srgbClr val="1A1A1A"/>
                          </a:solidFill>
                          <a:latin typeface="Helvetica Neue"/>
                        </a:rPr>
                        <a:t>Korean Journal of Radiology</a:t>
                      </a:r>
                    </a:p>
                  </a:txBody>
                  <a:tcPr marL="45720" marR="45720" marT="18288" marB="18288" anchor="t"/>
                </a:tc>
                <a:tc>
                  <a:txBody>
                    <a:bodyPr wrap="square"/>
                    <a:lstStyle/>
                    <a:p>
                      <a:r>
                        <a:rPr sz="900" b="0" i="1">
                          <a:solidFill>
                            <a:srgbClr val="1A1A1A"/>
                          </a:solidFill>
                          <a:latin typeface="Helvetica Neue"/>
                        </a:rPr>
                        <a:t>reconstruction</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34 / 83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Most-cited pediatric radiology AI papers, 2026 (year to date)</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graphicFrame>
        <p:nvGraphicFramePr>
          <p:cNvPr id="4" name="Table 3"/>
          <p:cNvGraphicFramePr>
            <a:graphicFrameLocks noGrp="1"/>
          </p:cNvGraphicFramePr>
          <p:nvPr/>
        </p:nvGraphicFramePr>
        <p:xfrm>
          <a:off x="411480" y="877824"/>
          <a:ext cx="11368733" cy="3621024"/>
        </p:xfrm>
        <a:graphic>
          <a:graphicData uri="http://schemas.openxmlformats.org/drawingml/2006/table">
            <a:tbl>
              <a:tblPr firstRow="1" bandRow="1">
                <a:tableStyleId>{5C22544A-7EE6-4342-B048-85BDC9FD1C3A}</a:tableStyleId>
              </a:tblPr>
              <a:tblGrid>
                <a:gridCol w="480060"/>
                <a:gridCol w="409651"/>
                <a:gridCol w="4814686"/>
                <a:gridCol w="2124126"/>
                <a:gridCol w="3540210"/>
              </a:tblGrid>
              <a:tr h="192024">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c>
                  <a:txBody>
                    <a:bodyPr wrap="square"/>
                    <a:lstStyle/>
                    <a:p>
                      <a:r>
                        <a:rPr sz="900" b="1" i="0">
                          <a:solidFill>
                            <a:srgbClr val="FFFFFF"/>
                          </a:solidFill>
                          <a:latin typeface="Helvetica Neue"/>
                        </a:rPr>
                        <a:t>Venue</a:t>
                      </a:r>
                    </a:p>
                  </a:txBody>
                  <a:tcPr marL="45720" marR="45720" marT="18288" marB="18288" anchor="t"/>
                </a:tc>
                <a:tc>
                  <a:txBody>
                    <a:bodyPr wrap="square"/>
                    <a:lstStyle/>
                    <a:p>
                      <a:r>
                        <a:rPr sz="900" b="1" i="0">
                          <a:solidFill>
                            <a:srgbClr val="FFFFFF"/>
                          </a:solidFill>
                          <a:latin typeface="Helvetica Neue"/>
                        </a:rPr>
                        <a:t>What it answers</a:t>
                      </a:r>
                    </a:p>
                  </a:txBody>
                  <a:tcPr marL="45720" marR="45720" marT="18288" marB="18288" anchor="t"/>
                </a:tc>
              </a:tr>
              <a:tr h="329184">
                <a:tc>
                  <a:txBody>
                    <a:bodyPr wrap="square"/>
                    <a:lstStyle/>
                    <a:p>
                      <a:pPr algn="r"/>
                      <a:r>
                        <a:rPr sz="900" b="0" i="0">
                          <a:solidFill>
                            <a:srgbClr val="1A1A1A"/>
                          </a:solidFill>
                          <a:latin typeface="Helvetica Neue"/>
                        </a:rPr>
                        <a:t>11</a:t>
                      </a:r>
                    </a:p>
                  </a:txBody>
                  <a:tcPr marL="45720" marR="45720" marT="18288" marB="18288" anchor="t"/>
                </a:tc>
                <a:tc>
                  <a:txBody>
                    <a:bodyPr wrap="square"/>
                    <a:lstStyle/>
                    <a:p>
                      <a:pPr algn="r"/>
                      <a:r>
                        <a:rPr sz="900" b="0" i="0">
                          <a:solidFill>
                            <a:srgbClr val="1A1A1A"/>
                          </a:solidFill>
                          <a:latin typeface="Helvetica Neue"/>
                        </a:rPr>
                        <a:t>34.3</a:t>
                      </a:r>
                    </a:p>
                  </a:txBody>
                  <a:tcPr marL="45720" marR="45720" marT="18288" marB="18288" anchor="t"/>
                </a:tc>
                <a:tc>
                  <a:txBody>
                    <a:bodyPr wrap="square"/>
                    <a:lstStyle/>
                    <a:p>
                      <a:r>
                        <a:rPr sz="900" b="0" i="0">
                          <a:solidFill>
                            <a:srgbClr val="1A1A1A"/>
                          </a:solidFill>
                          <a:latin typeface="Helvetica Neue"/>
                        </a:rPr>
                        <a:t>Artificial intelligence and radiomics for pediatric brain tumor classification and molecular characterization: a systematic review</a:t>
                      </a:r>
                    </a:p>
                  </a:txBody>
                  <a:tcPr marL="45720" marR="45720" marT="18288" marB="18288" anchor="t"/>
                </a:tc>
                <a:tc>
                  <a:txBody>
                    <a:bodyPr wrap="square"/>
                    <a:lstStyle/>
                    <a:p>
                      <a:r>
                        <a:rPr sz="900" b="0" i="0">
                          <a:solidFill>
                            <a:srgbClr val="1A1A1A"/>
                          </a:solidFill>
                          <a:latin typeface="Helvetica Neue"/>
                        </a:rPr>
                        <a:t>Neuroradiology</a:t>
                      </a:r>
                    </a:p>
                  </a:txBody>
                  <a:tcPr marL="45720" marR="45720" marT="18288" marB="18288" anchor="t"/>
                </a:tc>
                <a:tc>
                  <a:txBody>
                    <a:bodyPr wrap="square"/>
                    <a:lstStyle/>
                    <a:p>
                      <a:r>
                        <a:rPr sz="900" b="0" i="1">
                          <a:solidFill>
                            <a:srgbClr val="1A1A1A"/>
                          </a:solidFill>
                          <a:latin typeface="Helvetica Neue"/>
                        </a:rPr>
                        <a:t>oncology</a:t>
                      </a:r>
                      <a:r>
                        <a:rPr sz="900" b="0" i="0">
                          <a:solidFill>
                            <a:srgbClr val="1A1A1A"/>
                          </a:solidFill>
                          <a:latin typeface="Helvetica Neue"/>
                        </a:rPr>
                        <a:t>: Can AI and radiomics classify pediatric brain tumors and their molecular subtypes? (review)</a:t>
                      </a:r>
                    </a:p>
                  </a:txBody>
                  <a:tcPr marL="45720" marR="45720" marT="18288" marB="18288" anchor="t"/>
                </a:tc>
              </a:tr>
              <a:tr h="329184">
                <a:tc>
                  <a:txBody>
                    <a:bodyPr wrap="square"/>
                    <a:lstStyle/>
                    <a:p>
                      <a:pPr algn="r"/>
                      <a:r>
                        <a:rPr sz="900" b="0" i="0">
                          <a:solidFill>
                            <a:srgbClr val="1A1A1A"/>
                          </a:solidFill>
                          <a:latin typeface="Helvetica Neue"/>
                        </a:rPr>
                        <a:t>5</a:t>
                      </a:r>
                    </a:p>
                  </a:txBody>
                  <a:tcPr marL="45720" marR="45720" marT="18288" marB="18288" anchor="t"/>
                </a:tc>
                <a:tc>
                  <a:txBody>
                    <a:bodyPr wrap="square"/>
                    <a:lstStyle/>
                    <a:p>
                      <a:pPr algn="r"/>
                      <a:r>
                        <a:rPr sz="900" b="0" i="0">
                          <a:solidFill>
                            <a:srgbClr val="1A1A1A"/>
                          </a:solidFill>
                          <a:latin typeface="Helvetica Neue"/>
                        </a:rPr>
                        <a:t>27.9</a:t>
                      </a:r>
                    </a:p>
                  </a:txBody>
                  <a:tcPr marL="45720" marR="45720" marT="18288" marB="18288" anchor="t"/>
                </a:tc>
                <a:tc>
                  <a:txBody>
                    <a:bodyPr wrap="square"/>
                    <a:lstStyle/>
                    <a:p>
                      <a:r>
                        <a:rPr sz="900" b="0" i="0">
                          <a:solidFill>
                            <a:srgbClr val="1A1A1A"/>
                          </a:solidFill>
                          <a:latin typeface="Helvetica Neue"/>
                        </a:rPr>
                        <a:t>Deep learning assessment of fetal brain maturation on 3D ultrasound volumes in early-onset fetal growth restriction</a:t>
                      </a:r>
                    </a:p>
                  </a:txBody>
                  <a:tcPr marL="45720" marR="45720" marT="18288" marB="18288" anchor="t"/>
                </a:tc>
                <a:tc>
                  <a:txBody>
                    <a:bodyPr wrap="square"/>
                    <a:lstStyle/>
                    <a:p>
                      <a:r>
                        <a:rPr sz="900" b="0" i="0">
                          <a:solidFill>
                            <a:srgbClr val="1A1A1A"/>
                          </a:solidFill>
                          <a:latin typeface="Helvetica Neue"/>
                        </a:rPr>
                        <a:t>Ultrasound in Obstetrics and Gynecology</a:t>
                      </a:r>
                    </a:p>
                  </a:txBody>
                  <a:tcPr marL="45720" marR="45720" marT="18288" marB="18288" anchor="t"/>
                </a:tc>
                <a:tc>
                  <a:txBody>
                    <a:bodyPr wrap="square"/>
                    <a:lstStyle/>
                    <a:p>
                      <a:r>
                        <a:rPr sz="900" b="0" i="1">
                          <a:solidFill>
                            <a:srgbClr val="1A1A1A"/>
                          </a:solidFill>
                          <a:latin typeface="Helvetica Neue"/>
                        </a:rPr>
                        <a:t>fetal ultrasound</a:t>
                      </a:r>
                      <a:r>
                        <a:rPr sz="900" b="0" i="0">
                          <a:solidFill>
                            <a:srgbClr val="1A1A1A"/>
                          </a:solidFill>
                          <a:latin typeface="Helvetica Neue"/>
                        </a:rPr>
                        <a:t>: Can deep learning grade fetal brain maturation on 3D ultrasound in growth restriction?</a:t>
                      </a:r>
                    </a:p>
                  </a:txBody>
                  <a:tcPr marL="45720" marR="45720" marT="18288" marB="18288" anchor="t"/>
                </a:tc>
              </a:tr>
              <a:tr h="329184">
                <a:tc>
                  <a:txBody>
                    <a:bodyPr wrap="square"/>
                    <a:lstStyle/>
                    <a:p>
                      <a:pPr algn="r"/>
                      <a:r>
                        <a:rPr sz="900" b="0" i="0">
                          <a:solidFill>
                            <a:srgbClr val="1A1A1A"/>
                          </a:solidFill>
                          <a:latin typeface="Helvetica Neue"/>
                        </a:rPr>
                        <a:t>3</a:t>
                      </a:r>
                    </a:p>
                  </a:txBody>
                  <a:tcPr marL="45720" marR="45720" marT="18288" marB="18288" anchor="t"/>
                </a:tc>
                <a:tc>
                  <a:txBody>
                    <a:bodyPr wrap="square"/>
                    <a:lstStyle/>
                    <a:p>
                      <a:pPr algn="r"/>
                      <a:r>
                        <a:rPr sz="900" b="0" i="0">
                          <a:solidFill>
                            <a:srgbClr val="1A1A1A"/>
                          </a:solidFill>
                          <a:latin typeface="Helvetica Neue"/>
                        </a:rPr>
                        <a:t>17.6</a:t>
                      </a:r>
                    </a:p>
                  </a:txBody>
                  <a:tcPr marL="45720" marR="45720" marT="18288" marB="18288" anchor="t"/>
                </a:tc>
                <a:tc>
                  <a:txBody>
                    <a:bodyPr wrap="square"/>
                    <a:lstStyle/>
                    <a:p>
                      <a:r>
                        <a:rPr sz="900" b="0" i="0">
                          <a:solidFill>
                            <a:srgbClr val="1A1A1A"/>
                          </a:solidFill>
                          <a:latin typeface="Helvetica Neue"/>
                        </a:rPr>
                        <a:t>Foundation models in radiology: a primer for pediatric radiologists</a:t>
                      </a:r>
                    </a:p>
                  </a:txBody>
                  <a:tcPr marL="45720" marR="45720" marT="18288" marB="18288" anchor="t"/>
                </a:tc>
                <a:tc>
                  <a:txBody>
                    <a:bodyPr wrap="square"/>
                    <a:lstStyle/>
                    <a:p>
                      <a:r>
                        <a:rPr sz="900" b="0" i="0">
                          <a:solidFill>
                            <a:srgbClr val="1A1A1A"/>
                          </a:solidFill>
                          <a:latin typeface="Helvetica Neue"/>
                        </a:rPr>
                        <a:t>Pediatric Radiology</a:t>
                      </a:r>
                    </a:p>
                  </a:txBody>
                  <a:tcPr marL="45720" marR="45720" marT="18288" marB="18288" anchor="t"/>
                </a:tc>
                <a:tc>
                  <a:txBody>
                    <a:bodyPr wrap="square"/>
                    <a:lstStyle/>
                    <a:p>
                      <a:r>
                        <a:rPr sz="900" b="0" i="1">
                          <a:solidFill>
                            <a:srgbClr val="1A1A1A"/>
                          </a:solidFill>
                          <a:latin typeface="Helvetica Neue"/>
                        </a:rPr>
                        <a:t>foundation model</a:t>
                      </a:r>
                      <a:r>
                        <a:rPr sz="900" b="0" i="0">
                          <a:solidFill>
                            <a:srgbClr val="1A1A1A"/>
                          </a:solidFill>
                          <a:latin typeface="Helvetica Neue"/>
                        </a:rPr>
                        <a:t>: What should a pediatric radiologist know about foundation models? (primer)</a:t>
                      </a:r>
                    </a:p>
                  </a:txBody>
                  <a:tcPr marL="45720" marR="45720" marT="18288" marB="18288" anchor="t"/>
                </a:tc>
              </a:tr>
              <a:tr h="466344">
                <a:tc>
                  <a:txBody>
                    <a:bodyPr wrap="square"/>
                    <a:lstStyle/>
                    <a:p>
                      <a:pPr algn="r"/>
                      <a:r>
                        <a:rPr sz="900" b="0" i="0">
                          <a:solidFill>
                            <a:srgbClr val="1A1A1A"/>
                          </a:solidFill>
                          <a:latin typeface="Helvetica Neue"/>
                        </a:rPr>
                        <a:t>2</a:t>
                      </a:r>
                    </a:p>
                  </a:txBody>
                  <a:tcPr marL="45720" marR="45720" marT="18288" marB="18288" anchor="t"/>
                </a:tc>
                <a:tc>
                  <a:txBody>
                    <a:bodyPr wrap="square"/>
                    <a:lstStyle/>
                    <a:p>
                      <a:pPr algn="r"/>
                      <a:r>
                        <a:rPr sz="900" b="0" i="0">
                          <a:solidFill>
                            <a:srgbClr val="1A1A1A"/>
                          </a:solidFill>
                          <a:latin typeface="Helvetica Neue"/>
                        </a:rPr>
                        <a:t>17.6</a:t>
                      </a:r>
                    </a:p>
                  </a:txBody>
                  <a:tcPr marL="45720" marR="45720" marT="18288" marB="18288" anchor="t"/>
                </a:tc>
                <a:tc>
                  <a:txBody>
                    <a:bodyPr wrap="square"/>
                    <a:lstStyle/>
                    <a:p>
                      <a:r>
                        <a:rPr sz="900" b="0" i="0">
                          <a:solidFill>
                            <a:srgbClr val="1A1A1A"/>
                          </a:solidFill>
                          <a:latin typeface="Helvetica Neue"/>
                        </a:rPr>
                        <a:t>Deep Learning-Based Multi-Class Pediatric Wrist Fracture Subtype Classification: A Pilot Study Comparing Convolutional Neural Network Architectures</a:t>
                      </a:r>
                    </a:p>
                  </a:txBody>
                  <a:tcPr marL="45720" marR="45720" marT="18288" marB="18288" anchor="t"/>
                </a:tc>
                <a:tc>
                  <a:txBody>
                    <a:bodyPr wrap="square"/>
                    <a:lstStyle/>
                    <a:p>
                      <a:r>
                        <a:rPr sz="900" b="0" i="0">
                          <a:solidFill>
                            <a:srgbClr val="1A1A1A"/>
                          </a:solidFill>
                          <a:latin typeface="Helvetica Neue"/>
                        </a:rPr>
                        <a:t>Journal of Imaging</a:t>
                      </a:r>
                    </a:p>
                  </a:txBody>
                  <a:tcPr marL="45720" marR="45720" marT="18288" marB="18288" anchor="t"/>
                </a:tc>
                <a:tc>
                  <a:txBody>
                    <a:bodyPr wrap="square"/>
                    <a:lstStyle/>
                    <a:p>
                      <a:r>
                        <a:rPr sz="900" b="0" i="1">
                          <a:solidFill>
                            <a:srgbClr val="1A1A1A"/>
                          </a:solidFill>
                          <a:latin typeface="Helvetica Neue"/>
                        </a:rPr>
                        <a:t>fracture</a:t>
                      </a:r>
                    </a:p>
                  </a:txBody>
                  <a:tcPr marL="45720" marR="45720" marT="18288" marB="18288" anchor="t"/>
                </a:tc>
              </a:tr>
              <a:tr h="329184">
                <a:tc>
                  <a:txBody>
                    <a:bodyPr wrap="square"/>
                    <a:lstStyle/>
                    <a:p>
                      <a:pPr algn="r"/>
                      <a:r>
                        <a:rPr sz="900" b="0" i="0">
                          <a:solidFill>
                            <a:srgbClr val="1A1A1A"/>
                          </a:solidFill>
                          <a:latin typeface="Helvetica Neue"/>
                        </a:rPr>
                        <a:t>3</a:t>
                      </a:r>
                    </a:p>
                  </a:txBody>
                  <a:tcPr marL="45720" marR="45720" marT="18288" marB="18288" anchor="t"/>
                </a:tc>
                <a:tc>
                  <a:txBody>
                    <a:bodyPr wrap="square"/>
                    <a:lstStyle/>
                    <a:p>
                      <a:pPr algn="r"/>
                      <a:r>
                        <a:rPr sz="900" b="0" i="0">
                          <a:solidFill>
                            <a:srgbClr val="1A1A1A"/>
                          </a:solidFill>
                          <a:latin typeface="Helvetica Neue"/>
                        </a:rPr>
                        <a:t>17.3</a:t>
                      </a:r>
                    </a:p>
                  </a:txBody>
                  <a:tcPr marL="45720" marR="45720" marT="18288" marB="18288" anchor="t"/>
                </a:tc>
                <a:tc>
                  <a:txBody>
                    <a:bodyPr wrap="square"/>
                    <a:lstStyle/>
                    <a:p>
                      <a:r>
                        <a:rPr sz="900" b="0" i="0">
                          <a:solidFill>
                            <a:srgbClr val="1A1A1A"/>
                          </a:solidFill>
                          <a:latin typeface="Helvetica Neue"/>
                        </a:rPr>
                        <a:t>Current applications and challenges of artificial intelligence applied to diagnostics in pediatric musculoskeletal imaging</a:t>
                      </a:r>
                    </a:p>
                  </a:txBody>
                  <a:tcPr marL="45720" marR="45720" marT="18288" marB="18288" anchor="t"/>
                </a:tc>
                <a:tc>
                  <a:txBody>
                    <a:bodyPr wrap="square"/>
                    <a:lstStyle/>
                    <a:p>
                      <a:r>
                        <a:rPr sz="900" b="0" i="0">
                          <a:solidFill>
                            <a:srgbClr val="1A1A1A"/>
                          </a:solidFill>
                          <a:latin typeface="Helvetica Neue"/>
                        </a:rPr>
                        <a:t>Pediatric Radiology</a:t>
                      </a:r>
                    </a:p>
                  </a:txBody>
                  <a:tcPr marL="45720" marR="45720" marT="18288" marB="18288" anchor="t"/>
                </a:tc>
                <a:tc>
                  <a:txBody>
                    <a:bodyPr wrap="square"/>
                    <a:lstStyle/>
                    <a:p>
                      <a:r>
                        <a:rPr sz="900" b="0" i="1">
                          <a:solidFill>
                            <a:srgbClr val="1A1A1A"/>
                          </a:solidFill>
                          <a:latin typeface="Helvetica Neue"/>
                        </a:rPr>
                        <a:t>classification</a:t>
                      </a:r>
                    </a:p>
                  </a:txBody>
                  <a:tcPr marL="45720" marR="45720" marT="18288" marB="18288" anchor="t"/>
                </a:tc>
              </a:tr>
              <a:tr h="192024">
                <a:tc>
                  <a:txBody>
                    <a:bodyPr wrap="square"/>
                    <a:lstStyle/>
                    <a:p>
                      <a:pPr algn="r"/>
                      <a:r>
                        <a:rPr sz="900" b="0" i="0">
                          <a:solidFill>
                            <a:srgbClr val="1A1A1A"/>
                          </a:solidFill>
                          <a:latin typeface="Helvetica Neue"/>
                        </a:rPr>
                        <a:t>4</a:t>
                      </a:r>
                    </a:p>
                  </a:txBody>
                  <a:tcPr marL="45720" marR="45720" marT="18288" marB="18288" anchor="t"/>
                </a:tc>
                <a:tc>
                  <a:txBody>
                    <a:bodyPr wrap="square"/>
                    <a:lstStyle/>
                    <a:p>
                      <a:pPr algn="r"/>
                      <a:r>
                        <a:rPr sz="900" b="0" i="0">
                          <a:solidFill>
                            <a:srgbClr val="1A1A1A"/>
                          </a:solidFill>
                          <a:latin typeface="Helvetica Neue"/>
                        </a:rPr>
                        <a:t>13.6</a:t>
                      </a:r>
                    </a:p>
                  </a:txBody>
                  <a:tcPr marL="45720" marR="45720" marT="18288" marB="18288" anchor="t"/>
                </a:tc>
                <a:tc>
                  <a:txBody>
                    <a:bodyPr wrap="square"/>
                    <a:lstStyle/>
                    <a:p>
                      <a:r>
                        <a:rPr sz="900" b="0" i="0">
                          <a:solidFill>
                            <a:srgbClr val="1A1A1A"/>
                          </a:solidFill>
                          <a:latin typeface="Helvetica Neue"/>
                        </a:rPr>
                        <a:t>Data mining in pediatric radiology in the era of artificial intelligence.</a:t>
                      </a:r>
                    </a:p>
                  </a:txBody>
                  <a:tcPr marL="45720" marR="45720" marT="18288" marB="18288" anchor="t"/>
                </a:tc>
                <a:tc>
                  <a:txBody>
                    <a:bodyPr wrap="square"/>
                    <a:lstStyle/>
                    <a:p>
                      <a:r>
                        <a:rPr sz="900" b="0" i="0">
                          <a:solidFill>
                            <a:srgbClr val="1A1A1A"/>
                          </a:solidFill>
                          <a:latin typeface="Helvetica Neue"/>
                        </a:rPr>
                        <a:t>Pediatric Radiology</a:t>
                      </a:r>
                    </a:p>
                  </a:txBody>
                  <a:tcPr marL="45720" marR="45720" marT="18288" marB="18288" anchor="t"/>
                </a:tc>
                <a:tc>
                  <a:txBody>
                    <a:bodyPr wrap="square"/>
                    <a:lstStyle/>
                    <a:p>
                      <a:r>
                        <a:rPr sz="900" b="0" i="1">
                          <a:solidFill>
                            <a:srgbClr val="1A1A1A"/>
                          </a:solidFill>
                          <a:latin typeface="Helvetica Neue"/>
                        </a:rPr>
                        <a:t>other</a:t>
                      </a:r>
                    </a:p>
                  </a:txBody>
                  <a:tcPr marL="45720" marR="45720" marT="18288" marB="18288" anchor="t"/>
                </a:tc>
              </a:tr>
              <a:tr h="329184">
                <a:tc>
                  <a:txBody>
                    <a:bodyPr wrap="square"/>
                    <a:lstStyle/>
                    <a:p>
                      <a:pPr algn="r"/>
                      <a:r>
                        <a:rPr sz="900" b="0" i="0">
                          <a:solidFill>
                            <a:srgbClr val="1A1A1A"/>
                          </a:solidFill>
                          <a:latin typeface="Helvetica Neue"/>
                        </a:rPr>
                        <a:t>2</a:t>
                      </a:r>
                    </a:p>
                  </a:txBody>
                  <a:tcPr marL="45720" marR="45720" marT="18288" marB="18288" anchor="t"/>
                </a:tc>
                <a:tc>
                  <a:txBody>
                    <a:bodyPr wrap="square"/>
                    <a:lstStyle/>
                    <a:p>
                      <a:pPr algn="r"/>
                      <a:r>
                        <a:rPr sz="900" b="0" i="0">
                          <a:solidFill>
                            <a:srgbClr val="1A1A1A"/>
                          </a:solidFill>
                          <a:latin typeface="Helvetica Neue"/>
                        </a:rPr>
                        <a:t>13.2</a:t>
                      </a:r>
                    </a:p>
                  </a:txBody>
                  <a:tcPr marL="45720" marR="45720" marT="18288" marB="18288" anchor="t"/>
                </a:tc>
                <a:tc>
                  <a:txBody>
                    <a:bodyPr wrap="square"/>
                    <a:lstStyle/>
                    <a:p>
                      <a:r>
                        <a:rPr sz="900" b="0" i="0">
                          <a:solidFill>
                            <a:srgbClr val="1A1A1A"/>
                          </a:solidFill>
                          <a:latin typeface="Helvetica Neue"/>
                        </a:rPr>
                        <a:t>Acquisition time/dose reduction in pediatric PET imaging using patch-based deep learning</a:t>
                      </a:r>
                    </a:p>
                  </a:txBody>
                  <a:tcPr marL="45720" marR="45720" marT="18288" marB="18288" anchor="t"/>
                </a:tc>
                <a:tc>
                  <a:txBody>
                    <a:bodyPr wrap="square"/>
                    <a:lstStyle/>
                    <a:p>
                      <a:r>
                        <a:rPr sz="900" b="0" i="0">
                          <a:solidFill>
                            <a:srgbClr val="1A1A1A"/>
                          </a:solidFill>
                          <a:latin typeface="Helvetica Neue"/>
                        </a:rPr>
                        <a:t>EJNMMI Physics</a:t>
                      </a:r>
                    </a:p>
                  </a:txBody>
                  <a:tcPr marL="45720" marR="45720" marT="18288" marB="18288" anchor="t"/>
                </a:tc>
                <a:tc>
                  <a:txBody>
                    <a:bodyPr wrap="square"/>
                    <a:lstStyle/>
                    <a:p>
                      <a:r>
                        <a:rPr sz="900" b="0" i="1">
                          <a:solidFill>
                            <a:srgbClr val="1A1A1A"/>
                          </a:solidFill>
                          <a:latin typeface="Helvetica Neue"/>
                        </a:rPr>
                        <a:t>reconstruction</a:t>
                      </a:r>
                      <a:r>
                        <a:rPr sz="900" b="0" i="0">
                          <a:solidFill>
                            <a:srgbClr val="1A1A1A"/>
                          </a:solidFill>
                          <a:latin typeface="Helvetica Neue"/>
                        </a:rPr>
                        <a:t>: Can pediatric PET use one fifth of the counts with patch-based deep-learning denoising?</a:t>
                      </a:r>
                    </a:p>
                  </a:txBody>
                  <a:tcPr marL="45720" marR="45720" marT="18288" marB="18288" anchor="t"/>
                </a:tc>
              </a:tr>
              <a:tr h="466344">
                <a:tc>
                  <a:txBody>
                    <a:bodyPr wrap="square"/>
                    <a:lstStyle/>
                    <a:p>
                      <a:pPr algn="r"/>
                      <a:r>
                        <a:rPr sz="900" b="0" i="0">
                          <a:solidFill>
                            <a:srgbClr val="1A1A1A"/>
                          </a:solidFill>
                          <a:latin typeface="Helvetica Neue"/>
                        </a:rPr>
                        <a:t>2</a:t>
                      </a:r>
                    </a:p>
                  </a:txBody>
                  <a:tcPr marL="45720" marR="45720" marT="18288" marB="18288" anchor="t"/>
                </a:tc>
                <a:tc>
                  <a:txBody>
                    <a:bodyPr wrap="square"/>
                    <a:lstStyle/>
                    <a:p>
                      <a:pPr algn="r"/>
                      <a:r>
                        <a:rPr sz="900" b="0" i="0">
                          <a:solidFill>
                            <a:srgbClr val="1A1A1A"/>
                          </a:solidFill>
                          <a:latin typeface="Helvetica Neue"/>
                        </a:rPr>
                        <a:t>12.6</a:t>
                      </a:r>
                    </a:p>
                  </a:txBody>
                  <a:tcPr marL="45720" marR="45720" marT="18288" marB="18288" anchor="t"/>
                </a:tc>
                <a:tc>
                  <a:txBody>
                    <a:bodyPr wrap="square"/>
                    <a:lstStyle/>
                    <a:p>
                      <a:r>
                        <a:rPr sz="900" b="0" i="0">
                          <a:solidFill>
                            <a:srgbClr val="1A1A1A"/>
                          </a:solidFill>
                          <a:latin typeface="Helvetica Neue"/>
                        </a:rPr>
                        <a:t>Optimizing pediatric chest CT: superior image quality and lower radiation dose with deep learning reconstruction.</a:t>
                      </a:r>
                    </a:p>
                  </a:txBody>
                  <a:tcPr marL="45720" marR="45720" marT="18288" marB="18288" anchor="t"/>
                </a:tc>
                <a:tc>
                  <a:txBody>
                    <a:bodyPr wrap="square"/>
                    <a:lstStyle/>
                    <a:p>
                      <a:r>
                        <a:rPr sz="900" b="0" i="0">
                          <a:solidFill>
                            <a:srgbClr val="1A1A1A"/>
                          </a:solidFill>
                          <a:latin typeface="Helvetica Neue"/>
                        </a:rPr>
                        <a:t>European Journal of Radiology</a:t>
                      </a:r>
                    </a:p>
                  </a:txBody>
                  <a:tcPr marL="45720" marR="45720" marT="18288" marB="18288" anchor="t"/>
                </a:tc>
                <a:tc>
                  <a:txBody>
                    <a:bodyPr wrap="square"/>
                    <a:lstStyle/>
                    <a:p>
                      <a:r>
                        <a:rPr sz="900" b="0" i="1">
                          <a:solidFill>
                            <a:srgbClr val="1A1A1A"/>
                          </a:solidFill>
                          <a:latin typeface="Helvetica Neue"/>
                        </a:rPr>
                        <a:t>reconstruction</a:t>
                      </a:r>
                      <a:r>
                        <a:rPr sz="900" b="0" i="0">
                          <a:solidFill>
                            <a:srgbClr val="1A1A1A"/>
                          </a:solidFill>
                          <a:latin typeface="Helvetica Neue"/>
                        </a:rPr>
                        <a:t>: Can deep-learning reconstruction lower pediatric chest CT dose while improving image quality?</a:t>
                      </a:r>
                    </a:p>
                  </a:txBody>
                  <a:tcPr marL="45720" marR="45720" marT="18288" marB="18288" anchor="t"/>
                </a:tc>
              </a:tr>
              <a:tr h="329184">
                <a:tc>
                  <a:txBody>
                    <a:bodyPr wrap="square"/>
                    <a:lstStyle/>
                    <a:p>
                      <a:pPr algn="r"/>
                      <a:r>
                        <a:rPr sz="900" b="0" i="0">
                          <a:solidFill>
                            <a:srgbClr val="1A1A1A"/>
                          </a:solidFill>
                          <a:latin typeface="Helvetica Neue"/>
                        </a:rPr>
                        <a:t>2</a:t>
                      </a:r>
                    </a:p>
                  </a:txBody>
                  <a:tcPr marL="45720" marR="45720" marT="18288" marB="18288" anchor="t"/>
                </a:tc>
                <a:tc>
                  <a:txBody>
                    <a:bodyPr wrap="square"/>
                    <a:lstStyle/>
                    <a:p>
                      <a:pPr algn="r"/>
                      <a:r>
                        <a:rPr sz="900" b="0" i="0">
                          <a:solidFill>
                            <a:srgbClr val="1A1A1A"/>
                          </a:solidFill>
                          <a:latin typeface="Helvetica Neue"/>
                        </a:rPr>
                        <a:t>12.2</a:t>
                      </a:r>
                    </a:p>
                  </a:txBody>
                  <a:tcPr marL="45720" marR="45720" marT="18288" marB="18288" anchor="t"/>
                </a:tc>
                <a:tc>
                  <a:txBody>
                    <a:bodyPr wrap="square"/>
                    <a:lstStyle/>
                    <a:p>
                      <a:r>
                        <a:rPr sz="900" b="0" i="0">
                          <a:solidFill>
                            <a:srgbClr val="1A1A1A"/>
                          </a:solidFill>
                          <a:latin typeface="Helvetica Neue"/>
                        </a:rPr>
                        <a:t>Enhancing efficiency in pediatric brain tumor segmentation using a pathologically diverse single-center clinical dataset</a:t>
                      </a:r>
                    </a:p>
                  </a:txBody>
                  <a:tcPr marL="45720" marR="45720" marT="18288" marB="18288" anchor="t"/>
                </a:tc>
                <a:tc>
                  <a:txBody>
                    <a:bodyPr wrap="square"/>
                    <a:lstStyle/>
                    <a:p>
                      <a:r>
                        <a:rPr sz="900" b="0" i="0">
                          <a:solidFill>
                            <a:srgbClr val="1A1A1A"/>
                          </a:solidFill>
                          <a:latin typeface="Helvetica Neue"/>
                        </a:rPr>
                        <a:t>Neuro-Oncology Advances</a:t>
                      </a:r>
                    </a:p>
                  </a:txBody>
                  <a:tcPr marL="45720" marR="45720" marT="18288" marB="18288" anchor="t"/>
                </a:tc>
                <a:tc>
                  <a:txBody>
                    <a:bodyPr wrap="square"/>
                    <a:lstStyle/>
                    <a:p>
                      <a:r>
                        <a:rPr sz="900" b="0" i="1">
                          <a:solidFill>
                            <a:srgbClr val="1A1A1A"/>
                          </a:solidFill>
                          <a:latin typeface="Helvetica Neue"/>
                        </a:rPr>
                        <a:t>segmentation</a:t>
                      </a:r>
                    </a:p>
                  </a:txBody>
                  <a:tcPr marL="45720" marR="45720" marT="18288" marB="18288" anchor="t"/>
                </a:tc>
              </a:tr>
              <a:tr h="329184">
                <a:tc>
                  <a:txBody>
                    <a:bodyPr wrap="square"/>
                    <a:lstStyle/>
                    <a:p>
                      <a:pPr algn="r"/>
                      <a:r>
                        <a:rPr sz="900" b="0" i="0">
                          <a:solidFill>
                            <a:srgbClr val="1A1A1A"/>
                          </a:solidFill>
                          <a:latin typeface="Helvetica Neue"/>
                        </a:rPr>
                        <a:t>3</a:t>
                      </a:r>
                    </a:p>
                  </a:txBody>
                  <a:tcPr marL="45720" marR="45720" marT="18288" marB="18288" anchor="t"/>
                </a:tc>
                <a:tc>
                  <a:txBody>
                    <a:bodyPr wrap="square"/>
                    <a:lstStyle/>
                    <a:p>
                      <a:pPr algn="r"/>
                      <a:r>
                        <a:rPr sz="900" b="0" i="0">
                          <a:solidFill>
                            <a:srgbClr val="1A1A1A"/>
                          </a:solidFill>
                          <a:latin typeface="Helvetica Neue"/>
                        </a:rPr>
                        <a:t>11.7</a:t>
                      </a:r>
                    </a:p>
                  </a:txBody>
                  <a:tcPr marL="45720" marR="45720" marT="18288" marB="18288" anchor="t"/>
                </a:tc>
                <a:tc>
                  <a:txBody>
                    <a:bodyPr wrap="square"/>
                    <a:lstStyle/>
                    <a:p>
                      <a:r>
                        <a:rPr sz="900" b="0" i="0">
                          <a:solidFill>
                            <a:srgbClr val="1A1A1A"/>
                          </a:solidFill>
                          <a:latin typeface="Helvetica Neue"/>
                        </a:rPr>
                        <a:t>Automated bone age assessment in rare pediatric growth disorders: a comparative study using Deeplasia</a:t>
                      </a:r>
                    </a:p>
                  </a:txBody>
                  <a:tcPr marL="45720" marR="45720" marT="18288" marB="18288" anchor="t"/>
                </a:tc>
                <a:tc>
                  <a:txBody>
                    <a:bodyPr wrap="square"/>
                    <a:lstStyle/>
                    <a:p>
                      <a:r>
                        <a:rPr sz="900" b="0" i="0">
                          <a:solidFill>
                            <a:srgbClr val="1A1A1A"/>
                          </a:solidFill>
                          <a:latin typeface="Helvetica Neue"/>
                        </a:rPr>
                        <a:t>Frontiers in Endocrinology</a:t>
                      </a:r>
                    </a:p>
                  </a:txBody>
                  <a:tcPr marL="45720" marR="45720" marT="18288" marB="18288" anchor="t"/>
                </a:tc>
                <a:tc>
                  <a:txBody>
                    <a:bodyPr wrap="square"/>
                    <a:lstStyle/>
                    <a:p>
                      <a:r>
                        <a:rPr sz="900" b="0" i="1">
                          <a:solidFill>
                            <a:srgbClr val="1A1A1A"/>
                          </a:solidFill>
                          <a:latin typeface="Helvetica Neue"/>
                        </a:rPr>
                        <a:t>bone age</a:t>
                      </a:r>
                      <a:r>
                        <a:rPr sz="900" b="0" i="0">
                          <a:solidFill>
                            <a:srgbClr val="1A1A1A"/>
                          </a:solidFill>
                          <a:latin typeface="Helvetica Neue"/>
                        </a:rPr>
                        <a:t>: Does an open bone-age model hold up in rare growth disorders against several experts? (Deeplasia)</a:t>
                      </a:r>
                    </a:p>
                  </a:txBody>
                  <a:tcPr marL="45720" marR="45720" marT="18288" marB="18288" anchor="t"/>
                </a:tc>
              </a:tr>
            </a:tbl>
          </a:graphicData>
        </a:graphic>
      </p:graphicFrame>
      <p:sp>
        <p:nvSpPr>
          <p:cNvPr id="5" name="TextBox 4"/>
          <p:cNvSpPr txBox="1"/>
          <p:nvPr/>
        </p:nvSpPr>
        <p:spPr>
          <a:xfrm>
            <a:off x="411480" y="4572000"/>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Citations for the current year are still accumulating; the FWCI column is the more stable signal here.</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35 / 83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Radiology AI works per year, by conference</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pic>
        <p:nvPicPr>
          <p:cNvPr id="4" name="venue_works_by_year" descr="venue_works_by_year.png"/>
          <p:cNvPicPr>
            <a:picLocks noChangeAspect="1"/>
          </p:cNvPicPr>
          <p:nvPr/>
        </p:nvPicPr>
        <p:blipFill>
          <a:blip r:embed="rId2"/>
          <a:stretch>
            <a:fillRect/>
          </a:stretch>
        </p:blipFill>
        <p:spPr>
          <a:xfrm>
            <a:off x="1492026" y="877824"/>
            <a:ext cx="9207642" cy="4603821"/>
          </a:xfrm>
          <a:prstGeom prst="rect">
            <a:avLst/>
          </a:prstGeom>
        </p:spPr>
      </p:pic>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36 / 83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NeurIPS: radiology AI works, 2023–2026</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475614"/>
          </a:xfrm>
          <a:prstGeom prst="rect">
            <a:avLst/>
          </a:prstGeom>
          <a:noFill/>
        </p:spPr>
        <p:txBody>
          <a:bodyPr wrap="square" lIns="45720" rIns="45720" tIns="27432" bIns="27432" anchor="t">
            <a:spAutoFit/>
          </a:bodyPr>
          <a:lstStyle/>
          <a:p>
            <a:pPr algn="l">
              <a:spcAft>
                <a:spcPts val="384"/>
              </a:spcAft>
            </a:pPr>
            <a:r>
              <a:rPr sz="1100" b="1" i="0">
                <a:solidFill>
                  <a:srgbClr val="1A1A1A"/>
                </a:solidFill>
                <a:latin typeface="Helvetica Neue"/>
              </a:rPr>
              <a:t>Conference on Neural Information Processing Systems</a:t>
            </a:r>
            <a:r>
              <a:rPr sz="1100" b="0" i="0">
                <a:solidFill>
                  <a:srgbClr val="1A1A1A"/>
                </a:solidFill>
                <a:latin typeface="Helvetica Neue"/>
              </a:rPr>
              <a:t>. Radiology-AI works accepted (from the meeting's paper list), 2023–2026: 58 (2023: 12, 2024: 17, 2025: 29); 0 pediatric (marked ★).</a:t>
            </a:r>
          </a:p>
        </p:txBody>
      </p:sp>
      <p:graphicFrame>
        <p:nvGraphicFramePr>
          <p:cNvPr id="5" name="Table 4"/>
          <p:cNvGraphicFramePr>
            <a:graphicFrameLocks noGrp="1"/>
          </p:cNvGraphicFramePr>
          <p:nvPr/>
        </p:nvGraphicFramePr>
        <p:xfrm>
          <a:off x="411480" y="1426590"/>
          <a:ext cx="11368734" cy="2633472"/>
        </p:xfrm>
        <a:graphic>
          <a:graphicData uri="http://schemas.openxmlformats.org/drawingml/2006/table">
            <a:tbl>
              <a:tblPr firstRow="1" bandRow="1">
                <a:tableStyleId>{5C22544A-7EE6-4342-B048-85BDC9FD1C3A}</a:tableStyleId>
              </a:tblPr>
              <a:tblGrid>
                <a:gridCol w="409651"/>
                <a:gridCol w="480060"/>
                <a:gridCol w="409651"/>
                <a:gridCol w="10069372"/>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24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3D-RAD: A Comprehensive 3D Radiology Med-VQA Dataset with Multi-Temporal Analysis and Diverse Diagnostic Tasks</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20</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Better Tokens for Better 3D: Advancing Vision-Language Modeling in 3D Medical Imaging</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47</a:t>
                      </a:r>
                    </a:p>
                  </a:txBody>
                  <a:tcPr marL="45720" marR="45720" marT="18288" marB="18288" anchor="t"/>
                </a:tc>
                <a:tc>
                  <a:txBody>
                    <a:bodyPr wrap="square"/>
                    <a:lstStyle/>
                    <a:p>
                      <a:pPr algn="r"/>
                      <a:r>
                        <a:rPr sz="900" b="0" i="0">
                          <a:solidFill>
                            <a:srgbClr val="1A1A1A"/>
                          </a:solidFill>
                          <a:latin typeface="Helvetica Neue"/>
                        </a:rPr>
                        <a:t>2.0</a:t>
                      </a:r>
                    </a:p>
                  </a:txBody>
                  <a:tcPr marL="45720" marR="45720" marT="18288" marB="18288" anchor="t"/>
                </a:tc>
                <a:tc>
                  <a:txBody>
                    <a:bodyPr wrap="square"/>
                    <a:lstStyle/>
                    <a:p>
                      <a:r>
                        <a:rPr sz="900" b="0" i="0">
                          <a:solidFill>
                            <a:srgbClr val="1A1A1A"/>
                          </a:solidFill>
                          <a:latin typeface="Helvetica Neue"/>
                        </a:rPr>
                        <a:t>Touchstone Benchmark: Are We on the Right Way for Evaluating AI Algorithms for Medical Segmentation?</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26</a:t>
                      </a:r>
                    </a:p>
                  </a:txBody>
                  <a:tcPr marL="45720" marR="45720" marT="18288" marB="18288" anchor="t"/>
                </a:tc>
                <a:tc>
                  <a:txBody>
                    <a:bodyPr wrap="square"/>
                    <a:lstStyle/>
                    <a:p>
                      <a:pPr algn="r"/>
                      <a:r>
                        <a:rPr sz="900" b="0" i="0">
                          <a:solidFill>
                            <a:srgbClr val="1A1A1A"/>
                          </a:solidFill>
                          <a:latin typeface="Helvetica Neue"/>
                        </a:rPr>
                        <a:t>0.9</a:t>
                      </a:r>
                    </a:p>
                  </a:txBody>
                  <a:tcPr marL="45720" marR="45720" marT="18288" marB="18288" anchor="t"/>
                </a:tc>
                <a:tc>
                  <a:txBody>
                    <a:bodyPr wrap="square"/>
                    <a:lstStyle/>
                    <a:p>
                      <a:r>
                        <a:rPr sz="900" b="0" i="0">
                          <a:solidFill>
                            <a:srgbClr val="1A1A1A"/>
                          </a:solidFill>
                          <a:latin typeface="Helvetica Neue"/>
                        </a:rPr>
                        <a:t>Eye-gaze Guided Multi-modal Alignment for Medical Representation Learning</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25</a:t>
                      </a:r>
                    </a:p>
                  </a:txBody>
                  <a:tcPr marL="45720" marR="45720" marT="18288" marB="18288" anchor="t"/>
                </a:tc>
                <a:tc>
                  <a:txBody>
                    <a:bodyPr wrap="square"/>
                    <a:lstStyle/>
                    <a:p>
                      <a:pPr algn="r"/>
                      <a:r>
                        <a:rPr sz="900" b="0" i="0">
                          <a:solidFill>
                            <a:srgbClr val="1A1A1A"/>
                          </a:solidFill>
                          <a:latin typeface="Helvetica Neue"/>
                        </a:rPr>
                        <a:t>1.2</a:t>
                      </a:r>
                    </a:p>
                  </a:txBody>
                  <a:tcPr marL="45720" marR="45720" marT="18288" marB="18288" anchor="t"/>
                </a:tc>
                <a:tc>
                  <a:txBody>
                    <a:bodyPr wrap="square"/>
                    <a:lstStyle/>
                    <a:p>
                      <a:r>
                        <a:rPr sz="900" b="0" i="0">
                          <a:solidFill>
                            <a:srgbClr val="1A1A1A"/>
                          </a:solidFill>
                          <a:latin typeface="Helvetica Neue"/>
                        </a:rPr>
                        <a:t>Enhancing vision-language models for medical imaging: bridging the 3D gap with innovative slice selection</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20</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DiffusionBlend: Learning 3D Image Prior through Position-aware Diffusion Score Blending for 3D Computed Tomography Reconstruction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144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SegVol: Universal and Interactive Volumetric Medical Image Segmentation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104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LVM-Med: Learning Large-Scale Self-Supervised Vision Models for Medical Imaging via Second-order Graph Matching</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72</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EHRXQA: A Multi-Modal Question Answering Dataset for Electronic Health Records with Chest X-ray Images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66</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SwiFT: Swin 4D fMRI Transformer</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64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NeuroGraph: Benchmarks for Graph Machine Learning in Brain Connectomics</a:t>
                      </a:r>
                    </a:p>
                  </a:txBody>
                  <a:tcPr marL="45720" marR="45720" marT="18288" marB="18288" anchor="t"/>
                </a:tc>
              </a:tr>
              <a:tr h="32918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19</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Knowledge-based in silico models and dataset for the comparative evaluation of mammography AI for a range of breast characteristics, lesion conspicuities and doses</a:t>
                      </a:r>
                    </a:p>
                  </a:txBody>
                  <a:tcPr marL="45720" marR="45720" marT="18288" marB="18288" anchor="t"/>
                </a:tc>
              </a:tr>
            </a:tbl>
          </a:graphicData>
        </a:graphic>
      </p:graphicFrame>
      <p:sp>
        <p:nvSpPr>
          <p:cNvPr id="6" name="TextBox 5"/>
          <p:cNvSpPr txBox="1"/>
          <p:nvPr/>
        </p:nvSpPr>
        <p:spPr>
          <a:xfrm>
            <a:off x="411480" y="4133215"/>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Semantic Scholar venue search, citations and FWCI from OpenAlex; title-level relevance filter; the 12 most-cited of the 45 works indexed there, newest year first.</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37 / 83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ICLR: radiology AI works, 2023–2026</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475614"/>
          </a:xfrm>
          <a:prstGeom prst="rect">
            <a:avLst/>
          </a:prstGeom>
          <a:noFill/>
        </p:spPr>
        <p:txBody>
          <a:bodyPr wrap="square" lIns="45720" rIns="45720" tIns="27432" bIns="27432" anchor="t">
            <a:spAutoFit/>
          </a:bodyPr>
          <a:lstStyle/>
          <a:p>
            <a:pPr algn="l">
              <a:spcAft>
                <a:spcPts val="384"/>
              </a:spcAft>
            </a:pPr>
            <a:r>
              <a:rPr sz="1100" b="1" i="0">
                <a:solidFill>
                  <a:srgbClr val="1A1A1A"/>
                </a:solidFill>
                <a:latin typeface="Helvetica Neue"/>
              </a:rPr>
              <a:t>International Conference on Learning Representations</a:t>
            </a:r>
            <a:r>
              <a:rPr sz="1100" b="0" i="0">
                <a:solidFill>
                  <a:srgbClr val="1A1A1A"/>
                </a:solidFill>
                <a:latin typeface="Helvetica Neue"/>
              </a:rPr>
              <a:t>. Radiology-AI works accepted (from the meeting's paper list), 2023–2026: 42 (2023: 6, 2024: 3, 2025: 7, 2026: 26); 1 pediatric (marked ★).</a:t>
            </a:r>
          </a:p>
        </p:txBody>
      </p:sp>
      <p:graphicFrame>
        <p:nvGraphicFramePr>
          <p:cNvPr id="5" name="Table 4"/>
          <p:cNvGraphicFramePr>
            <a:graphicFrameLocks noGrp="1"/>
          </p:cNvGraphicFramePr>
          <p:nvPr/>
        </p:nvGraphicFramePr>
        <p:xfrm>
          <a:off x="411480" y="1426590"/>
          <a:ext cx="11368734" cy="2688336"/>
        </p:xfrm>
        <a:graphic>
          <a:graphicData uri="http://schemas.openxmlformats.org/drawingml/2006/table">
            <a:tbl>
              <a:tblPr firstRow="1" bandRow="1">
                <a:tableStyleId>{5C22544A-7EE6-4342-B048-85BDC9FD1C3A}</a:tableStyleId>
              </a:tblPr>
              <a:tblGrid>
                <a:gridCol w="409651"/>
                <a:gridCol w="480060"/>
                <a:gridCol w="409651"/>
                <a:gridCol w="10069372"/>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70</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Large-scale and Fine-grained Vision-language Pre-training for Enhanced CT Image Understanding</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13</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SimXRD-4M: Big Simulated X-ray Diffraction Data and Crystal Symmetry Classification Benchmark</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9</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Self-Supervised Diffusion MRI Denoising via Iterative and Stable Refinement</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9</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Score-based Self-supervised MRI Denoising</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143</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MMed-RAG: Versatile Multimodal RAG System for Medical Vision Language Models</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31</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MediConfusion: Can you trust your AI radiologist? Probing the reliability of multimodal medical foundation models</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19</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The Effect of Intrinsic Dataset Properties on Generalization: Unraveling Learning Differences Between Natural and Medical Images</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16</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LeFusion: Controllable Pathology Synthesis via Lesion-Focused Diffusion Models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107</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Advancing Radiograph Representation Learning with Masked Record Modeling</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84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DDM2: Self-Supervised Diffusion MRI Denoising with Generative Diffusion Models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40</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AE-FLOW: Autoencoders with Normalizing Flows for Medical Images Anomaly Detection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18</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Improved Training of Physics-Informed Neural Networks Using Energy-Based Priors: a Study on Electrical Impedance Tomography</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Fetal-Gauge: A Benchmark For Assessing Vision-Language Models In Fetal Ultrasound ★</a:t>
                      </a:r>
                    </a:p>
                  </a:txBody>
                  <a:tcPr marL="45720" marR="45720" marT="18288" marB="18288" anchor="t"/>
                </a:tc>
              </a:tr>
            </a:tbl>
          </a:graphicData>
        </a:graphic>
      </p:graphicFrame>
      <p:sp>
        <p:nvSpPr>
          <p:cNvPr id="6" name="TextBox 5"/>
          <p:cNvSpPr txBox="1"/>
          <p:nvPr/>
        </p:nvSpPr>
        <p:spPr>
          <a:xfrm>
            <a:off x="411480" y="4188078"/>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Semantic Scholar venue search, citations and FWCI from OpenAlex; title-level relevance filter; the 13 most-cited of the 17 works indexed there, newest year first.</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38 / 83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ICML: radiology AI works, 2023–2026</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475614"/>
          </a:xfrm>
          <a:prstGeom prst="rect">
            <a:avLst/>
          </a:prstGeom>
          <a:noFill/>
        </p:spPr>
        <p:txBody>
          <a:bodyPr wrap="square" lIns="45720" rIns="45720" tIns="27432" bIns="27432" anchor="t">
            <a:spAutoFit/>
          </a:bodyPr>
          <a:lstStyle/>
          <a:p>
            <a:pPr algn="l">
              <a:spcAft>
                <a:spcPts val="384"/>
              </a:spcAft>
            </a:pPr>
            <a:r>
              <a:rPr sz="1100" b="1" i="0">
                <a:solidFill>
                  <a:srgbClr val="1A1A1A"/>
                </a:solidFill>
                <a:latin typeface="Helvetica Neue"/>
              </a:rPr>
              <a:t>International Conference on Machine Learning</a:t>
            </a:r>
            <a:r>
              <a:rPr sz="1100" b="0" i="0">
                <a:solidFill>
                  <a:srgbClr val="1A1A1A"/>
                </a:solidFill>
                <a:latin typeface="Helvetica Neue"/>
              </a:rPr>
              <a:t>. Radiology-AI works accepted (from the meeting's paper list), 2023–2026: 27 (2023: 2, 2024: 3, 2025: 7, 2026: 15); 0 pediatric (marked ★).</a:t>
            </a:r>
          </a:p>
        </p:txBody>
      </p:sp>
      <p:graphicFrame>
        <p:nvGraphicFramePr>
          <p:cNvPr id="5" name="Table 4"/>
          <p:cNvGraphicFramePr>
            <a:graphicFrameLocks noGrp="1"/>
          </p:cNvGraphicFramePr>
          <p:nvPr/>
        </p:nvGraphicFramePr>
        <p:xfrm>
          <a:off x="411480" y="1426590"/>
          <a:ext cx="11368734" cy="2496312"/>
        </p:xfrm>
        <a:graphic>
          <a:graphicData uri="http://schemas.openxmlformats.org/drawingml/2006/table">
            <a:tbl>
              <a:tblPr firstRow="1" bandRow="1">
                <a:tableStyleId>{5C22544A-7EE6-4342-B048-85BDC9FD1C3A}</a:tableStyleId>
              </a:tblPr>
              <a:tblGrid>
                <a:gridCol w="409651"/>
                <a:gridCol w="480060"/>
                <a:gridCol w="409651"/>
                <a:gridCol w="10069372"/>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21</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CLIMB: Data Foundations for Large Scale Multimodal Clinical Foundation Models</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17</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MindLLM: A Subject-Agnostic and Versatile Model for fMRI-to-Text Decoding</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11</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Raptor: Scalable Train-Free Embeddings for 3D Medical Volumes Leveraging Pretrained 2D Foundation Models</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5</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Efficient Noise Calculation in Deep Learning-based MRI Reconstructions</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2</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LangDAug: Langevin Data Augmentation for Multi-Source Domain Generalization in Medical Image Segmentation</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0</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Staged and Physics-Grounded Learning Framework with Hyperintensity Prior for Pre-Contrast MRI Synthesis</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14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Unsupervised Domain Adaptation for Anatomical Structure Detection in Ultrasound Images</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10</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Adaptive Sampling of k-Space in Magnetic Resonance for Rapid Pathology Prediction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17</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ACAT: Adversarial Counterfactual Attention for Classification and Detection in Medical Imaging</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16</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Robustness of Deep Learning for Accelerated MRI: Benefits of Diverse Training Data</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15</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Learning High-Order Relationships of Brain Regions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8</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Contextualized Policy Recovery: Modeling and Interpreting Medical Decisions with Adaptive Imitation Learning</a:t>
                      </a:r>
                    </a:p>
                  </a:txBody>
                  <a:tcPr marL="45720" marR="45720" marT="18288" marB="18288" anchor="t"/>
                </a:tc>
              </a:tr>
            </a:tbl>
          </a:graphicData>
        </a:graphic>
      </p:graphicFrame>
      <p:sp>
        <p:nvSpPr>
          <p:cNvPr id="6" name="TextBox 5"/>
          <p:cNvSpPr txBox="1"/>
          <p:nvPr/>
        </p:nvSpPr>
        <p:spPr>
          <a:xfrm>
            <a:off x="411480" y="3996054"/>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Semantic Scholar venue search, citations and FWCI from OpenAlex; title-level relevance filter; the 12 most-cited of the 12 works indexed there, newest year first.</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39 / 83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CVPR: radiology AI works, 2023–2026</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475614"/>
          </a:xfrm>
          <a:prstGeom prst="rect">
            <a:avLst/>
          </a:prstGeom>
          <a:noFill/>
        </p:spPr>
        <p:txBody>
          <a:bodyPr wrap="square" lIns="45720" rIns="45720" tIns="27432" bIns="27432" anchor="t">
            <a:spAutoFit/>
          </a:bodyPr>
          <a:lstStyle/>
          <a:p>
            <a:pPr algn="l">
              <a:spcAft>
                <a:spcPts val="384"/>
              </a:spcAft>
            </a:pPr>
            <a:r>
              <a:rPr sz="1100" b="1" i="0">
                <a:solidFill>
                  <a:srgbClr val="1A1A1A"/>
                </a:solidFill>
                <a:latin typeface="Helvetica Neue"/>
              </a:rPr>
              <a:t>IEEE/CVF Conference on Computer Vision and Pattern Recognition</a:t>
            </a:r>
            <a:r>
              <a:rPr sz="1100" b="0" i="0">
                <a:solidFill>
                  <a:srgbClr val="1A1A1A"/>
                </a:solidFill>
                <a:latin typeface="Helvetica Neue"/>
              </a:rPr>
              <a:t>. Radiology-AI works accepted (from the meeting's paper list), 2023–2026: 154 (2023: 18, 2024: 35, 2025: 42, 2026: 59); 1 pediatric (marked ★).</a:t>
            </a:r>
          </a:p>
        </p:txBody>
      </p:sp>
      <p:graphicFrame>
        <p:nvGraphicFramePr>
          <p:cNvPr id="5" name="Table 4"/>
          <p:cNvGraphicFramePr>
            <a:graphicFrameLocks noGrp="1"/>
          </p:cNvGraphicFramePr>
          <p:nvPr/>
        </p:nvGraphicFramePr>
        <p:xfrm>
          <a:off x="411480" y="1426590"/>
          <a:ext cx="11368734" cy="2688336"/>
        </p:xfrm>
        <a:graphic>
          <a:graphicData uri="http://schemas.openxmlformats.org/drawingml/2006/table">
            <a:tbl>
              <a:tblPr firstRow="1" bandRow="1">
                <a:tableStyleId>{5C22544A-7EE6-4342-B048-85BDC9FD1C3A}</a:tableStyleId>
              </a:tblPr>
              <a:tblGrid>
                <a:gridCol w="409651"/>
                <a:gridCol w="480060"/>
                <a:gridCol w="448056"/>
                <a:gridCol w="10030967"/>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68</a:t>
                      </a:r>
                    </a:p>
                  </a:txBody>
                  <a:tcPr marL="45720" marR="45720" marT="18288" marB="18288" anchor="t"/>
                </a:tc>
                <a:tc>
                  <a:txBody>
                    <a:bodyPr wrap="square"/>
                    <a:lstStyle/>
                    <a:p>
                      <a:pPr algn="r"/>
                      <a:r>
                        <a:rPr sz="900" b="0" i="0">
                          <a:solidFill>
                            <a:srgbClr val="1A1A1A"/>
                          </a:solidFill>
                          <a:latin typeface="Helvetica Neue"/>
                        </a:rPr>
                        <a:t>265.4</a:t>
                      </a:r>
                    </a:p>
                  </a:txBody>
                  <a:tcPr marL="45720" marR="45720" marT="18288" marB="18288" anchor="t"/>
                </a:tc>
                <a:tc>
                  <a:txBody>
                    <a:bodyPr wrap="square"/>
                    <a:lstStyle/>
                    <a:p>
                      <a:r>
                        <a:rPr sz="900" b="0" i="0">
                          <a:solidFill>
                            <a:srgbClr val="1A1A1A"/>
                          </a:solidFill>
                          <a:latin typeface="Helvetica Neue"/>
                        </a:rPr>
                        <a:t>Enhanced Contrastive Learning with Multi-view Longitudinal Data for Chest X-ray Report Generation</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84</a:t>
                      </a:r>
                    </a:p>
                  </a:txBody>
                  <a:tcPr marL="45720" marR="45720" marT="18288" marB="18288" anchor="t"/>
                </a:tc>
                <a:tc>
                  <a:txBody>
                    <a:bodyPr wrap="square"/>
                    <a:lstStyle/>
                    <a:p>
                      <a:pPr algn="r"/>
                      <a:r>
                        <a:rPr sz="900" b="0" i="0">
                          <a:solidFill>
                            <a:srgbClr val="1A1A1A"/>
                          </a:solidFill>
                          <a:latin typeface="Helvetica Neue"/>
                        </a:rPr>
                        <a:t>47.9</a:t>
                      </a:r>
                    </a:p>
                  </a:txBody>
                  <a:tcPr marL="45720" marR="45720" marT="18288" marB="18288" anchor="t"/>
                </a:tc>
                <a:tc>
                  <a:txBody>
                    <a:bodyPr wrap="square"/>
                    <a:lstStyle/>
                    <a:p>
                      <a:r>
                        <a:rPr sz="900" b="0" i="0">
                          <a:solidFill>
                            <a:srgbClr val="1A1A1A"/>
                          </a:solidFill>
                          <a:latin typeface="Helvetica Neue"/>
                        </a:rPr>
                        <a:t>Towards Generalizable Tumor Synthesis</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81</a:t>
                      </a:r>
                    </a:p>
                  </a:txBody>
                  <a:tcPr marL="45720" marR="45720" marT="18288" marB="18288" anchor="t"/>
                </a:tc>
                <a:tc>
                  <a:txBody>
                    <a:bodyPr wrap="square"/>
                    <a:lstStyle/>
                    <a:p>
                      <a:pPr algn="r"/>
                      <a:r>
                        <a:rPr sz="900" b="0" i="0">
                          <a:solidFill>
                            <a:srgbClr val="1A1A1A"/>
                          </a:solidFill>
                          <a:latin typeface="Helvetica Neue"/>
                        </a:rPr>
                        <a:t>14.6</a:t>
                      </a:r>
                    </a:p>
                  </a:txBody>
                  <a:tcPr marL="45720" marR="45720" marT="18288" marB="18288" anchor="t"/>
                </a:tc>
                <a:tc>
                  <a:txBody>
                    <a:bodyPr wrap="square"/>
                    <a:lstStyle/>
                    <a:p>
                      <a:r>
                        <a:rPr sz="900" b="0" i="0">
                          <a:solidFill>
                            <a:srgbClr val="1A1A1A"/>
                          </a:solidFill>
                          <a:latin typeface="Helvetica Neue"/>
                        </a:rPr>
                        <a:t>Rethinking Diffusion Model for Multi-Contrast MRI Super-Resolution</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73</a:t>
                      </a:r>
                    </a:p>
                  </a:txBody>
                  <a:tcPr marL="45720" marR="45720" marT="18288" marB="18288" anchor="t"/>
                </a:tc>
                <a:tc>
                  <a:txBody>
                    <a:bodyPr wrap="square"/>
                    <a:lstStyle/>
                    <a:p>
                      <a:pPr algn="r"/>
                      <a:r>
                        <a:rPr sz="900" b="0" i="0">
                          <a:solidFill>
                            <a:srgbClr val="1A1A1A"/>
                          </a:solidFill>
                          <a:latin typeface="Helvetica Neue"/>
                        </a:rPr>
                        <a:t>13.8</a:t>
                      </a:r>
                    </a:p>
                  </a:txBody>
                  <a:tcPr marL="45720" marR="45720" marT="18288" marB="18288" anchor="t"/>
                </a:tc>
                <a:tc>
                  <a:txBody>
                    <a:bodyPr wrap="square"/>
                    <a:lstStyle/>
                    <a:p>
                      <a:r>
                        <a:rPr sz="900" b="0" i="0">
                          <a:solidFill>
                            <a:srgbClr val="1A1A1A"/>
                          </a:solidFill>
                          <a:latin typeface="Helvetica Neue"/>
                        </a:rPr>
                        <a:t>MemSAM: Taming Segment Anything Model for Echocardiography Video Segmentation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243</a:t>
                      </a:r>
                    </a:p>
                  </a:txBody>
                  <a:tcPr marL="45720" marR="45720" marT="18288" marB="18288" anchor="t"/>
                </a:tc>
                <a:tc>
                  <a:txBody>
                    <a:bodyPr wrap="square"/>
                    <a:lstStyle/>
                    <a:p>
                      <a:pPr algn="r"/>
                      <a:r>
                        <a:rPr sz="900" b="0" i="0">
                          <a:solidFill>
                            <a:srgbClr val="1A1A1A"/>
                          </a:solidFill>
                          <a:latin typeface="Helvetica Neue"/>
                        </a:rPr>
                        <a:t>20.2</a:t>
                      </a:r>
                    </a:p>
                  </a:txBody>
                  <a:tcPr marL="45720" marR="45720" marT="18288" marB="18288" anchor="t"/>
                </a:tc>
                <a:tc>
                  <a:txBody>
                    <a:bodyPr wrap="square"/>
                    <a:lstStyle/>
                    <a:p>
                      <a:r>
                        <a:rPr sz="900" b="0" i="0">
                          <a:solidFill>
                            <a:srgbClr val="1A1A1A"/>
                          </a:solidFill>
                          <a:latin typeface="Helvetica Neue"/>
                        </a:rPr>
                        <a:t>Dynamic Graph Enhanced Contrastive Learning for Chest X-Ray Report Generation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222</a:t>
                      </a:r>
                    </a:p>
                  </a:txBody>
                  <a:tcPr marL="45720" marR="45720" marT="18288" marB="18288" anchor="t"/>
                </a:tc>
                <a:tc>
                  <a:txBody>
                    <a:bodyPr wrap="square"/>
                    <a:lstStyle/>
                    <a:p>
                      <a:pPr algn="r"/>
                      <a:r>
                        <a:rPr sz="900" b="0" i="0">
                          <a:solidFill>
                            <a:srgbClr val="1A1A1A"/>
                          </a:solidFill>
                          <a:latin typeface="Helvetica Neue"/>
                        </a:rPr>
                        <a:t>75.5</a:t>
                      </a:r>
                    </a:p>
                  </a:txBody>
                  <a:tcPr marL="45720" marR="45720" marT="18288" marB="18288" anchor="t"/>
                </a:tc>
                <a:tc>
                  <a:txBody>
                    <a:bodyPr wrap="square"/>
                    <a:lstStyle/>
                    <a:p>
                      <a:r>
                        <a:rPr sz="900" b="0" i="0">
                          <a:solidFill>
                            <a:srgbClr val="1A1A1A"/>
                          </a:solidFill>
                          <a:latin typeface="Helvetica Neue"/>
                        </a:rPr>
                        <a:t>Ambiguous Medical Image Segmentation Using Diffusion Models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217</a:t>
                      </a:r>
                    </a:p>
                  </a:txBody>
                  <a:tcPr marL="45720" marR="45720" marT="18288" marB="18288" anchor="t"/>
                </a:tc>
                <a:tc>
                  <a:txBody>
                    <a:bodyPr wrap="square"/>
                    <a:lstStyle/>
                    <a:p>
                      <a:pPr algn="r"/>
                      <a:r>
                        <a:rPr sz="900" b="0" i="0">
                          <a:solidFill>
                            <a:srgbClr val="1A1A1A"/>
                          </a:solidFill>
                          <a:latin typeface="Helvetica Neue"/>
                        </a:rPr>
                        <a:t>18.7</a:t>
                      </a:r>
                    </a:p>
                  </a:txBody>
                  <a:tcPr marL="45720" marR="45720" marT="18288" marB="18288" anchor="t"/>
                </a:tc>
                <a:tc>
                  <a:txBody>
                    <a:bodyPr wrap="square"/>
                    <a:lstStyle/>
                    <a:p>
                      <a:r>
                        <a:rPr sz="900" b="0" i="0">
                          <a:solidFill>
                            <a:srgbClr val="1A1A1A"/>
                          </a:solidFill>
                          <a:latin typeface="Helvetica Neue"/>
                        </a:rPr>
                        <a:t>METransformer: Radiology Report Generation by Transformer with Multiple Learnable Expert Tokens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164</a:t>
                      </a:r>
                    </a:p>
                  </a:txBody>
                  <a:tcPr marL="45720" marR="45720" marT="18288" marB="18288" anchor="t"/>
                </a:tc>
                <a:tc>
                  <a:txBody>
                    <a:bodyPr wrap="square"/>
                    <a:lstStyle/>
                    <a:p>
                      <a:pPr algn="r"/>
                      <a:r>
                        <a:rPr sz="900" b="0" i="0">
                          <a:solidFill>
                            <a:srgbClr val="1A1A1A"/>
                          </a:solidFill>
                          <a:latin typeface="Helvetica Neue"/>
                        </a:rPr>
                        <a:t>21.9</a:t>
                      </a:r>
                    </a:p>
                  </a:txBody>
                  <a:tcPr marL="45720" marR="45720" marT="18288" marB="18288" anchor="t"/>
                </a:tc>
                <a:tc>
                  <a:txBody>
                    <a:bodyPr wrap="square"/>
                    <a:lstStyle/>
                    <a:p>
                      <a:r>
                        <a:rPr sz="900" b="0" i="0">
                          <a:solidFill>
                            <a:srgbClr val="1A1A1A"/>
                          </a:solidFill>
                          <a:latin typeface="Helvetica Neue"/>
                        </a:rPr>
                        <a:t>MCF: Mutual Correction Framework for Semi-Supervised Medical Image Segmentation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133</a:t>
                      </a:r>
                    </a:p>
                  </a:txBody>
                  <a:tcPr marL="45720" marR="45720" marT="18288" marB="18288" anchor="t"/>
                </a:tc>
                <a:tc>
                  <a:txBody>
                    <a:bodyPr wrap="square"/>
                    <a:lstStyle/>
                    <a:p>
                      <a:pPr algn="r"/>
                      <a:r>
                        <a:rPr sz="900" b="0" i="0">
                          <a:solidFill>
                            <a:srgbClr val="1A1A1A"/>
                          </a:solidFill>
                          <a:latin typeface="Helvetica Neue"/>
                        </a:rPr>
                        <a:t>14.4</a:t>
                      </a:r>
                    </a:p>
                  </a:txBody>
                  <a:tcPr marL="45720" marR="45720" marT="18288" marB="18288" anchor="t"/>
                </a:tc>
                <a:tc>
                  <a:txBody>
                    <a:bodyPr wrap="square"/>
                    <a:lstStyle/>
                    <a:p>
                      <a:r>
                        <a:rPr sz="900" b="0" i="0">
                          <a:solidFill>
                            <a:srgbClr val="1A1A1A"/>
                          </a:solidFill>
                          <a:latin typeface="Helvetica Neue"/>
                        </a:rPr>
                        <a:t>KiUT: Knowledge-injected U-Transformer for Radiology Report Generation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117</a:t>
                      </a:r>
                    </a:p>
                  </a:txBody>
                  <a:tcPr marL="45720" marR="45720" marT="18288" marB="18288" anchor="t"/>
                </a:tc>
                <a:tc>
                  <a:txBody>
                    <a:bodyPr wrap="square"/>
                    <a:lstStyle/>
                    <a:p>
                      <a:pPr algn="r"/>
                      <a:r>
                        <a:rPr sz="900" b="0" i="0">
                          <a:solidFill>
                            <a:srgbClr val="1A1A1A"/>
                          </a:solidFill>
                          <a:latin typeface="Helvetica Neue"/>
                        </a:rPr>
                        <a:t>67.2</a:t>
                      </a:r>
                    </a:p>
                  </a:txBody>
                  <a:tcPr marL="45720" marR="45720" marT="18288" marB="18288" anchor="t"/>
                </a:tc>
                <a:tc>
                  <a:txBody>
                    <a:bodyPr wrap="square"/>
                    <a:lstStyle/>
                    <a:p>
                      <a:r>
                        <a:rPr sz="900" b="0" i="0">
                          <a:solidFill>
                            <a:srgbClr val="1A1A1A"/>
                          </a:solidFill>
                          <a:latin typeface="Helvetica Neue"/>
                        </a:rPr>
                        <a:t>Structure-Aware Sparse-View X-Ray 3D Reconstruction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103</a:t>
                      </a:r>
                    </a:p>
                  </a:txBody>
                  <a:tcPr marL="45720" marR="45720" marT="18288" marB="18288" anchor="t"/>
                </a:tc>
                <a:tc>
                  <a:txBody>
                    <a:bodyPr wrap="square"/>
                    <a:lstStyle/>
                    <a:p>
                      <a:pPr algn="r"/>
                      <a:r>
                        <a:rPr sz="900" b="0" i="0">
                          <a:solidFill>
                            <a:srgbClr val="1A1A1A"/>
                          </a:solidFill>
                          <a:latin typeface="Helvetica Neue"/>
                        </a:rPr>
                        <a:t>11.0</a:t>
                      </a:r>
                    </a:p>
                  </a:txBody>
                  <a:tcPr marL="45720" marR="45720" marT="18288" marB="18288" anchor="t"/>
                </a:tc>
                <a:tc>
                  <a:txBody>
                    <a:bodyPr wrap="square"/>
                    <a:lstStyle/>
                    <a:p>
                      <a:r>
                        <a:rPr sz="900" b="0" i="0">
                          <a:solidFill>
                            <a:srgbClr val="1A1A1A"/>
                          </a:solidFill>
                          <a:latin typeface="Helvetica Neue"/>
                        </a:rPr>
                        <a:t>Label-Free Liver Tumor Segmentation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75</a:t>
                      </a:r>
                    </a:p>
                  </a:txBody>
                  <a:tcPr marL="45720" marR="45720" marT="18288" marB="18288" anchor="t"/>
                </a:tc>
                <a:tc>
                  <a:txBody>
                    <a:bodyPr wrap="square"/>
                    <a:lstStyle/>
                    <a:p>
                      <a:pPr algn="r"/>
                      <a:r>
                        <a:rPr sz="900" b="0" i="0">
                          <a:solidFill>
                            <a:srgbClr val="1A1A1A"/>
                          </a:solidFill>
                          <a:latin typeface="Helvetica Neue"/>
                        </a:rPr>
                        <a:t>14.1</a:t>
                      </a:r>
                    </a:p>
                  </a:txBody>
                  <a:tcPr marL="45720" marR="45720" marT="18288" marB="18288" anchor="t"/>
                </a:tc>
                <a:tc>
                  <a:txBody>
                    <a:bodyPr wrap="square"/>
                    <a:lstStyle/>
                    <a:p>
                      <a:r>
                        <a:rPr sz="900" b="0" i="0">
                          <a:solidFill>
                            <a:srgbClr val="1A1A1A"/>
                          </a:solidFill>
                          <a:latin typeface="Helvetica Neue"/>
                        </a:rPr>
                        <a:t>Learning Federated Visual Prompt in Null Space for MRI Reconstruction</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22</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M3-UDA: A New Benchmark for Unsupervised Domain Adaptive Fetal Cardiac Structure Detection ★</a:t>
                      </a:r>
                    </a:p>
                  </a:txBody>
                  <a:tcPr marL="45720" marR="45720" marT="18288" marB="18288" anchor="t"/>
                </a:tc>
              </a:tr>
            </a:tbl>
          </a:graphicData>
        </a:graphic>
      </p:graphicFrame>
      <p:sp>
        <p:nvSpPr>
          <p:cNvPr id="6" name="TextBox 5"/>
          <p:cNvSpPr txBox="1"/>
          <p:nvPr/>
        </p:nvSpPr>
        <p:spPr>
          <a:xfrm>
            <a:off x="411480" y="4188078"/>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Semantic Scholar venue search, citations and FWCI from OpenAlex; title-level relevance filter; the 13 most-cited of the 57 works indexed there, newest year first.</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40 / 83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MICCAI: radiology AI works, 2023–2026</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204038"/>
          </a:xfrm>
          <a:prstGeom prst="rect">
            <a:avLst/>
          </a:prstGeom>
          <a:noFill/>
        </p:spPr>
        <p:txBody>
          <a:bodyPr wrap="square" lIns="45720" rIns="45720" tIns="27432" bIns="27432" anchor="t">
            <a:spAutoFit/>
          </a:bodyPr>
          <a:lstStyle/>
          <a:p>
            <a:pPr algn="l">
              <a:spcAft>
                <a:spcPts val="200"/>
              </a:spcAft>
            </a:pPr>
            <a:r>
              <a:rPr sz="572" b="1" i="0">
                <a:solidFill>
                  <a:srgbClr val="1A1A1A"/>
                </a:solidFill>
                <a:latin typeface="Helvetica Neue"/>
              </a:rPr>
              <a:t>Medical Image Computing and Computer-Assisted Intervention</a:t>
            </a:r>
            <a:r>
              <a:rPr sz="572" b="0" i="0">
                <a:solidFill>
                  <a:srgbClr val="1A1A1A"/>
                </a:solidFill>
                <a:latin typeface="Helvetica Neue"/>
              </a:rPr>
              <a:t>. Radiology-AI works accepted (from the meeting's paper list), 2023–2026: 854 (2023: 236, 2024: 298, 2025: 320); 26 pediatric (marked ★).</a:t>
            </a:r>
          </a:p>
        </p:txBody>
      </p:sp>
      <p:graphicFrame>
        <p:nvGraphicFramePr>
          <p:cNvPr id="5" name="Table 4"/>
          <p:cNvGraphicFramePr>
            <a:graphicFrameLocks noGrp="1"/>
          </p:cNvGraphicFramePr>
          <p:nvPr/>
        </p:nvGraphicFramePr>
        <p:xfrm>
          <a:off x="411480" y="1155014"/>
          <a:ext cx="11368735" cy="4921293"/>
        </p:xfrm>
        <a:graphic>
          <a:graphicData uri="http://schemas.openxmlformats.org/drawingml/2006/table">
            <a:tbl>
              <a:tblPr firstRow="1" bandRow="1">
                <a:tableStyleId>{5C22544A-7EE6-4342-B048-85BDC9FD1C3A}</a:tableStyleId>
              </a:tblPr>
              <a:tblGrid>
                <a:gridCol w="365760"/>
                <a:gridCol w="365760"/>
                <a:gridCol w="365760"/>
                <a:gridCol w="10271455"/>
              </a:tblGrid>
              <a:tr h="126187">
                <a:tc>
                  <a:txBody>
                    <a:bodyPr wrap="square"/>
                    <a:lstStyle/>
                    <a:p>
                      <a:pPr algn="r"/>
                      <a:r>
                        <a:rPr sz="468" b="1" i="0">
                          <a:solidFill>
                            <a:srgbClr val="FFFFFF"/>
                          </a:solidFill>
                          <a:latin typeface="Helvetica Neue"/>
                        </a:rPr>
                        <a:t>Year</a:t>
                      </a:r>
                    </a:p>
                  </a:txBody>
                  <a:tcPr marL="45720" marR="45720" marT="18288" marB="18288" anchor="t"/>
                </a:tc>
                <a:tc>
                  <a:txBody>
                    <a:bodyPr wrap="square"/>
                    <a:lstStyle/>
                    <a:p>
                      <a:pPr algn="r"/>
                      <a:r>
                        <a:rPr sz="468" b="1" i="0">
                          <a:solidFill>
                            <a:srgbClr val="FFFFFF"/>
                          </a:solidFill>
                          <a:latin typeface="Helvetica Neue"/>
                        </a:rPr>
                        <a:t>Cites</a:t>
                      </a:r>
                    </a:p>
                  </a:txBody>
                  <a:tcPr marL="45720" marR="45720" marT="18288" marB="18288" anchor="t"/>
                </a:tc>
                <a:tc>
                  <a:txBody>
                    <a:bodyPr wrap="square"/>
                    <a:lstStyle/>
                    <a:p>
                      <a:pPr algn="r"/>
                      <a:r>
                        <a:rPr sz="468" b="1" i="0">
                          <a:solidFill>
                            <a:srgbClr val="FFFFFF"/>
                          </a:solidFill>
                          <a:latin typeface="Helvetica Neue"/>
                        </a:rPr>
                        <a:t>FWCI</a:t>
                      </a:r>
                    </a:p>
                  </a:txBody>
                  <a:tcPr marL="45720" marR="45720" marT="18288" marB="18288" anchor="t"/>
                </a:tc>
                <a:tc>
                  <a:txBody>
                    <a:bodyPr wrap="square"/>
                    <a:lstStyle/>
                    <a:p>
                      <a:r>
                        <a:rPr sz="468" b="1" i="0">
                          <a:solidFill>
                            <a:srgbClr val="FFFFFF"/>
                          </a:solidFill>
                          <a:latin typeface="Helvetica Neue"/>
                        </a:rPr>
                        <a:t>Paper</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208</a:t>
                      </a:r>
                    </a:p>
                  </a:txBody>
                  <a:tcPr marL="45720" marR="45720" marT="18288" marB="18288" anchor="t"/>
                </a:tc>
                <a:tc>
                  <a:txBody>
                    <a:bodyPr wrap="square"/>
                    <a:lstStyle/>
                    <a:p>
                      <a:pPr algn="r"/>
                      <a:r>
                        <a:rPr sz="468" b="0" i="0">
                          <a:solidFill>
                            <a:srgbClr val="1A1A1A"/>
                          </a:solidFill>
                          <a:latin typeface="Helvetica Neue"/>
                        </a:rPr>
                        <a:t>1.1</a:t>
                      </a:r>
                    </a:p>
                  </a:txBody>
                  <a:tcPr marL="45720" marR="45720" marT="18288" marB="18288" anchor="t"/>
                </a:tc>
                <a:tc>
                  <a:txBody>
                    <a:bodyPr wrap="square"/>
                    <a:lstStyle/>
                    <a:p>
                      <a:r>
                        <a:rPr sz="468" b="0" i="0">
                          <a:solidFill>
                            <a:srgbClr val="1A1A1A"/>
                          </a:solidFill>
                          <a:latin typeface="Helvetica Neue"/>
                        </a:rPr>
                        <a:t>MedVLM-R1: Incentivizing Medical Reasoning Capability of Vision-Language Models (VLMs) via Reinforcement Learning</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133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CT2Rep: Automated Radiology Report Generation for 3D Medical Imaging</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102</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Anatomically-Controllable Medical Image Generation with Segmentation-Guided Diffusion Models</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87</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MedCLIP-SAM: Bridging Text and Image Towards Universal Medical Image Segmentation</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462</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MedNeXt: Transformer-driven Scaling of ConvNets for Medical Image Segmentation</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128</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CoLa-Diff: Conditional Latent Diffusion Model for Multi-Modal MRI Synthesis</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105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DiffMIC: Dual-Guidance Diffusion Network for Medical Image Classification</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97</a:t>
                      </a:r>
                    </a:p>
                  </a:txBody>
                  <a:tcPr marL="45720" marR="45720" marT="18288" marB="18288" anchor="t"/>
                </a:tc>
                <a:tc>
                  <a:txBody>
                    <a:bodyPr wrap="square"/>
                    <a:lstStyle/>
                    <a:p>
                      <a:pPr algn="r"/>
                      <a:r>
                        <a:rPr sz="468" b="0" i="0">
                          <a:solidFill>
                            <a:srgbClr val="1A1A1A"/>
                          </a:solidFill>
                          <a:latin typeface="Helvetica Neue"/>
                        </a:rPr>
                        <a:t>13.9</a:t>
                      </a:r>
                    </a:p>
                  </a:txBody>
                  <a:tcPr marL="45720" marR="45720" marT="18288" marB="18288" anchor="t"/>
                </a:tc>
                <a:tc>
                  <a:txBody>
                    <a:bodyPr wrap="square"/>
                    <a:lstStyle/>
                    <a:p>
                      <a:r>
                        <a:rPr sz="468" b="0" i="0">
                          <a:solidFill>
                            <a:srgbClr val="1A1A1A"/>
                          </a:solidFill>
                          <a:latin typeface="Helvetica Neue"/>
                        </a:rPr>
                        <a:t>Beyond Adapting SAM: Towards End-to-End Ultrasound Image Segmentation via Auto Prompting</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95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Self-Supervised MRI Reconstruction with Unrolled Diffusion Models</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83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Make-A-Volume: Leveraging Latent Diffusion Models for Cross-Modality 3D Brain MRI Synthesis</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72</a:t>
                      </a:r>
                    </a:p>
                  </a:txBody>
                  <a:tcPr marL="45720" marR="45720" marT="18288" marB="18288" anchor="t"/>
                </a:tc>
                <a:tc>
                  <a:txBody>
                    <a:bodyPr wrap="square"/>
                    <a:lstStyle/>
                    <a:p>
                      <a:pPr algn="r"/>
                      <a:r>
                        <a:rPr sz="468" b="0" i="0">
                          <a:solidFill>
                            <a:srgbClr val="1A1A1A"/>
                          </a:solidFill>
                          <a:latin typeface="Helvetica Neue"/>
                        </a:rPr>
                        <a:t>19.0</a:t>
                      </a:r>
                    </a:p>
                  </a:txBody>
                  <a:tcPr marL="45720" marR="45720" marT="18288" marB="18288" anchor="t"/>
                </a:tc>
                <a:tc>
                  <a:txBody>
                    <a:bodyPr wrap="square"/>
                    <a:lstStyle/>
                    <a:p>
                      <a:r>
                        <a:rPr sz="468" b="0" i="0">
                          <a:solidFill>
                            <a:srgbClr val="1A1A1A"/>
                          </a:solidFill>
                          <a:latin typeface="Helvetica Neue"/>
                        </a:rPr>
                        <a:t>BerDiff: Conditional Bernoulli Diffusion Model for Medical Image Segmentation</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71</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Ariadne's Thread: Using Text Prompts to Improve Segmentation of Infected Areas from Chest X-ray images</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An automated pipeline for quantitative T2* fetal body MRI and segmentation at low field ★</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ASC: Appearance and Structure Consistency for Unsupervised Domain Adaptation in Fetal Brain MRI Segmentation ★</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Dual Conditioned Diffusion Models for Out-Of-Distribution Detection: Application to Fetal Ultrasound Videos ★</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Improving Automatic Fetal Biometry Measurement with Swoosh Activation Function ★</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Punctate White Matter Lesion Segmentation in Preterm Infants Powered by Counterfactually Generative Learning ★</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Simulation-based parameter optimization for fetal brain MRI super-resolution reconstruction ★</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SurfFlow: A Flow-Based Approach for Rapid and Accurate Cortical Surface Reconstruction from Infant Brain MRI ★</a:t>
                      </a:r>
                    </a:p>
                  </a:txBody>
                  <a:tcPr marL="45720" marR="45720" marT="18288" marB="18288" anchor="t"/>
                </a:tc>
              </a:tr>
              <a:tr h="126187">
                <a:tc>
                  <a:txBody>
                    <a:bodyPr wrap="square"/>
                    <a:lstStyle/>
                    <a:p>
                      <a:pPr algn="r"/>
                      <a:r>
                        <a:rPr sz="468" b="0" i="0">
                          <a:solidFill>
                            <a:srgbClr val="1A1A1A"/>
                          </a:solidFill>
                          <a:latin typeface="Helvetica Neue"/>
                        </a:rPr>
                        <a:t>2023</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UM-CAM: Uncertainty-weighted Multi-resolution Class Activation Maps for Weakly-supervised Fetal Brain Segmentation ★</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Cycle-consistent Learning for Fetal Cortical Surface Reconstruction ★</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Efficient and Gender-adaptive Graph Vision Mamba for Pediatric Bone Age Assessment ★</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Fetal MRI Reconstruction by Global Diffusion and Consistent Implicit Representation ★</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Geometric Transformation Uncertainty for Improving 3D Fetal Brain Pose Prediction from Freehand 2D Ultrasound Videos ★</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Improving cross-domain brain tissue segmentation in fetal MRI with synthetic data ★</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Intrapartum Ultrasound Image Segmentation of Pubic Symphysis and Fetal Head Using Dual Student-Teacher Framework with CNN-ViT Collaborative Learning ★</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Pose-GuideNet: Automatic Scanning Guidance for Fetal Head Ultrasound from Pose Estimation ★</a:t>
                      </a:r>
                    </a:p>
                  </a:txBody>
                  <a:tcPr marL="45720" marR="45720" marT="18288" marB="18288" anchor="t"/>
                </a:tc>
              </a:tr>
              <a:tr h="126187">
                <a:tc>
                  <a:txBody>
                    <a:bodyPr wrap="square"/>
                    <a:lstStyle/>
                    <a:p>
                      <a:pPr algn="r"/>
                      <a:r>
                        <a:rPr sz="468" b="0" i="0">
                          <a:solidFill>
                            <a:srgbClr val="1A1A1A"/>
                          </a:solidFill>
                          <a:latin typeface="Helvetica Neue"/>
                        </a:rPr>
                        <a:t>2024</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Super-Field MRI Synthesis for Infant Brains Enhanced by Dual Channel Latent Diffusion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Accurate and Efficient Fetal Birth Weight Estimation from 3D Ultrasound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Adaptive Frame Selection for Gestational Age Estimation from Blind Sweep Fetal Ultrasound Videos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Flexibly Distilled 3D Rectified Flow with Anatomical Constraints for Developmental Infant Brain MRI Prediction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Fusing Radiomic Features with Deep Representations for Gestational Age Estimation in Fetal Ultrasound Images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General Methods Make Great Domain-specific Foundation Models: A Case-study on Fetal Ultrasound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Influence of Classification Task and Distribution Shift Type on OOD Detection in Fetal Ultrasound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Latent Motion Profiling for Annotation-free Cardiac Phase Detection in Adult and Fetal Echocardiography Videos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Robust Fetal Pose Estimation across Gestational Ages via Cross-Population Augmentation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Self-supervised Normality Learning and Divergence Vector-guided Model Merging for Zero-shot Congenital Heart Disease Detection in Fetal Ultrasound Videos ★</a:t>
                      </a:r>
                    </a:p>
                  </a:txBody>
                  <a:tcPr marL="45720" marR="45720" marT="18288" marB="18288" anchor="t"/>
                </a:tc>
              </a:tr>
              <a:tr h="126187">
                <a:tc>
                  <a:txBody>
                    <a:bodyPr wrap="square"/>
                    <a:lstStyle/>
                    <a:p>
                      <a:pPr algn="r"/>
                      <a:r>
                        <a:rPr sz="468" b="0" i="0">
                          <a:solidFill>
                            <a:srgbClr val="1A1A1A"/>
                          </a:solidFill>
                          <a:latin typeface="Helvetica Neue"/>
                        </a:rPr>
                        <a:t>2025</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pPr algn="r"/>
                      <a:r>
                        <a:rPr sz="468" b="0" i="0">
                          <a:solidFill>
                            <a:srgbClr val="1A1A1A"/>
                          </a:solidFill>
                          <a:latin typeface="Helvetica Neue"/>
                        </a:rPr>
                        <a:t>–</a:t>
                      </a:r>
                    </a:p>
                  </a:txBody>
                  <a:tcPr marL="45720" marR="45720" marT="18288" marB="18288" anchor="t"/>
                </a:tc>
                <a:tc>
                  <a:txBody>
                    <a:bodyPr wrap="square"/>
                    <a:lstStyle/>
                    <a:p>
                      <a:r>
                        <a:rPr sz="468" b="0" i="0">
                          <a:solidFill>
                            <a:srgbClr val="1A1A1A"/>
                          </a:solidFill>
                          <a:latin typeface="Helvetica Neue"/>
                        </a:rPr>
                        <a:t>You Can Detect It: Fetal Biometric Estimation Using Ellipse Detection ★</a:t>
                      </a:r>
                    </a:p>
                  </a:txBody>
                  <a:tcPr marL="45720" marR="45720" marT="18288" marB="18288" anchor="t"/>
                </a:tc>
              </a:tr>
            </a:tbl>
          </a:graphicData>
        </a:graphic>
      </p:graphicFrame>
      <p:sp>
        <p:nvSpPr>
          <p:cNvPr id="6" name="TextBox 5"/>
          <p:cNvSpPr txBox="1"/>
          <p:nvPr/>
        </p:nvSpPr>
        <p:spPr>
          <a:xfrm>
            <a:off x="411480" y="6149466"/>
            <a:ext cx="11368735" cy="183565"/>
          </a:xfrm>
          <a:prstGeom prst="rect">
            <a:avLst/>
          </a:prstGeom>
          <a:noFill/>
        </p:spPr>
        <p:txBody>
          <a:bodyPr wrap="square" lIns="45720" rIns="45720" tIns="27432" bIns="27432" anchor="t">
            <a:spAutoFit/>
          </a:bodyPr>
          <a:lstStyle/>
          <a:p>
            <a:pPr algn="l">
              <a:spcAft>
                <a:spcPts val="163"/>
              </a:spcAft>
            </a:pPr>
            <a:r>
              <a:rPr sz="468" b="0" i="0">
                <a:solidFill>
                  <a:srgbClr val="1A1A1A"/>
                </a:solidFill>
                <a:latin typeface="Helvetica Neue"/>
              </a:rPr>
              <a:t>Source: Semantic Scholar venue search, citations and FWCI from OpenAlex; title-level relevance filter; the 38 most-cited of the 521 works indexed there, newest year first.</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41 / 83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MIDL: radiology AI works, 2023–2026</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475614"/>
          </a:xfrm>
          <a:prstGeom prst="rect">
            <a:avLst/>
          </a:prstGeom>
          <a:noFill/>
        </p:spPr>
        <p:txBody>
          <a:bodyPr wrap="square" lIns="45720" rIns="45720" tIns="27432" bIns="27432" anchor="t">
            <a:spAutoFit/>
          </a:bodyPr>
          <a:lstStyle/>
          <a:p>
            <a:pPr algn="l">
              <a:spcAft>
                <a:spcPts val="384"/>
              </a:spcAft>
            </a:pPr>
            <a:r>
              <a:rPr sz="1100" b="1" i="0">
                <a:solidFill>
                  <a:srgbClr val="1A1A1A"/>
                </a:solidFill>
                <a:latin typeface="Helvetica Neue"/>
              </a:rPr>
              <a:t>Medical Imaging with Deep Learning</a:t>
            </a:r>
            <a:r>
              <a:rPr sz="1100" b="0" i="0">
                <a:solidFill>
                  <a:srgbClr val="1A1A1A"/>
                </a:solidFill>
                <a:latin typeface="Helvetica Neue"/>
              </a:rPr>
              <a:t>. Radiology-AI works accepted (from the meeting's paper list), 2023–2026: 200 (2023: 47, 2024: 39, 2025: 40, 2026: 74); 9 pediatric (marked ★).</a:t>
            </a:r>
          </a:p>
        </p:txBody>
      </p:sp>
      <p:graphicFrame>
        <p:nvGraphicFramePr>
          <p:cNvPr id="5" name="Table 4"/>
          <p:cNvGraphicFramePr>
            <a:graphicFrameLocks noGrp="1"/>
          </p:cNvGraphicFramePr>
          <p:nvPr/>
        </p:nvGraphicFramePr>
        <p:xfrm>
          <a:off x="411480" y="1426590"/>
          <a:ext cx="11368734" cy="4224528"/>
        </p:xfrm>
        <a:graphic>
          <a:graphicData uri="http://schemas.openxmlformats.org/drawingml/2006/table">
            <a:tbl>
              <a:tblPr firstRow="1" bandRow="1">
                <a:tableStyleId>{5C22544A-7EE6-4342-B048-85BDC9FD1C3A}</a:tableStyleId>
              </a:tblPr>
              <a:tblGrid>
                <a:gridCol w="409651"/>
                <a:gridCol w="480060"/>
                <a:gridCol w="409651"/>
                <a:gridCol w="10069372"/>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14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Imbalance-aware loss functions improve medical image classification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78</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Patched Diffusion Models for Unsupervised Anomaly Detection in Brain MRI</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39</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MMCFormer: Missing Modality Compensation Transformer for Brain Tumor Segmentation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29</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Medical diffusion on a budget: textual inversion for medical image generation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23</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MProtoNet: A Case-Based Interpretable Model for Brain Tumor Classification with 3D Multi-parametric Magnetic Resonance Imaging</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22</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Diffusion Models for Contrast Harmonization of Magnetic Resonance Images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20</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Exploring Image Augmentations for Siamese Representation Learning with Chest X-Rays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19</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3D Medical Axial Transformer: A Lightweight Transformer Model for 3D Brain Tumor Segmentation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19</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Vision-Language Modelling For Radiological Imaging and Reports In The Low Data Regime</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E(3) x SO(3)-Equivariant Networks for Spherical Deconvolution in Diffusion MRI</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Amortized Normalizing Flows for Transcranial Ultrasound with Uncertainty Quantification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13</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Selective experience replay compression using coresets for lifelong deep reinforcement learning in medical imaging</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FUSQA: Fetal Ultrasound Segmentation Quality Assessment ★</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Joint Motion Estimation with Geometric Deformation Correction for Fetal Echo Planar Images Via Deep Learning ★</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GAMBAS: Generalised-Hilbert Mamba for Super-resolution of Paediatric Ultra-Low-Field MRI ★</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FERN: A Fetal Echocardiography Registration Network for 2D-to-3D Alignment ★</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WristMIR: Coarse-to-Fine Region-Aware Retrieval of Pediatric Wrist Radiographs with Radiology Report-Driven Learning ★</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Ultra-ECP: Ellipse-Constrained and Point-Robust Foundation Model Adaptation for Fetal Cardiac Ultrasound Segmentation ★</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Calibration-Aware Semi-Supervised Fetal Head Segmentation with Boundary-Positive Contrast ★</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SuD-CoTAN: Sulcal Depth-guided Anatomically Consistent Fetal Cortical Surface Reconstruction ★</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Orientation-Aware Diffusion Super-Resolution for 3T-Like Fetal MRI from Routine 1.5T Scans ★</a:t>
                      </a:r>
                    </a:p>
                  </a:txBody>
                  <a:tcPr marL="45720" marR="45720" marT="18288" marB="18288" anchor="t"/>
                </a:tc>
              </a:tr>
            </a:tbl>
          </a:graphicData>
        </a:graphic>
      </p:graphicFrame>
      <p:sp>
        <p:nvSpPr>
          <p:cNvPr id="6" name="TextBox 5"/>
          <p:cNvSpPr txBox="1"/>
          <p:nvPr/>
        </p:nvSpPr>
        <p:spPr>
          <a:xfrm>
            <a:off x="411480" y="5724271"/>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Semantic Scholar venue search, citations and FWCI from OpenAlex; title-level relevance filter; the 21 most-cited of the 62 works indexed there, newest year first.</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42 / 83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RSNA: radiology AI works, 2023–2026</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475614"/>
          </a:xfrm>
          <a:prstGeom prst="rect">
            <a:avLst/>
          </a:prstGeom>
          <a:noFill/>
        </p:spPr>
        <p:txBody>
          <a:bodyPr wrap="square" lIns="45720" rIns="45720" tIns="27432" bIns="27432" anchor="t">
            <a:spAutoFit/>
          </a:bodyPr>
          <a:lstStyle/>
          <a:p>
            <a:pPr algn="l">
              <a:spcAft>
                <a:spcPts val="384"/>
              </a:spcAft>
            </a:pPr>
            <a:r>
              <a:rPr sz="1100" b="1" i="0">
                <a:solidFill>
                  <a:srgbClr val="1A1A1A"/>
                </a:solidFill>
                <a:latin typeface="Helvetica Neue"/>
              </a:rPr>
              <a:t>Radiological Society of North America: Radiology, Radiology: AI, RadioGraphics</a:t>
            </a:r>
            <a:r>
              <a:rPr sz="1100" b="0" i="0">
                <a:solidFill>
                  <a:srgbClr val="1A1A1A"/>
                </a:solidFill>
                <a:latin typeface="Helvetica Neue"/>
              </a:rPr>
              <a:t>. Radiology-AI works found, 2023–2026: 616 (2023: 151, 2024: 174, 2025: 185, 2026: 106); 13 pediatric (marked ★). RSNA annual-meeting abstracts are not indexed; the society's journals stand in.</a:t>
            </a:r>
          </a:p>
        </p:txBody>
      </p:sp>
      <p:graphicFrame>
        <p:nvGraphicFramePr>
          <p:cNvPr id="5" name="Table 4"/>
          <p:cNvGraphicFramePr>
            <a:graphicFrameLocks noGrp="1"/>
          </p:cNvGraphicFramePr>
          <p:nvPr/>
        </p:nvGraphicFramePr>
        <p:xfrm>
          <a:off x="411480" y="1426590"/>
          <a:ext cx="11368735" cy="2496312"/>
        </p:xfrm>
        <a:graphic>
          <a:graphicData uri="http://schemas.openxmlformats.org/drawingml/2006/table">
            <a:tbl>
              <a:tblPr firstRow="1" bandRow="1">
                <a:tableStyleId>{5C22544A-7EE6-4342-B048-85BDC9FD1C3A}</a:tableStyleId>
              </a:tblPr>
              <a:tblGrid>
                <a:gridCol w="409651"/>
                <a:gridCol w="480060"/>
                <a:gridCol w="448056"/>
                <a:gridCol w="10030968"/>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452</a:t>
                      </a:r>
                    </a:p>
                  </a:txBody>
                  <a:tcPr marL="45720" marR="45720" marT="18288" marB="18288" anchor="t"/>
                </a:tc>
                <a:tc>
                  <a:txBody>
                    <a:bodyPr wrap="square"/>
                    <a:lstStyle/>
                    <a:p>
                      <a:pPr algn="r"/>
                      <a:r>
                        <a:rPr sz="900" b="0" i="0">
                          <a:solidFill>
                            <a:srgbClr val="1A1A1A"/>
                          </a:solidFill>
                          <a:latin typeface="Helvetica Neue"/>
                        </a:rPr>
                        <a:t>113.7</a:t>
                      </a:r>
                    </a:p>
                  </a:txBody>
                  <a:tcPr marL="45720" marR="45720" marT="18288" marB="18288" anchor="t"/>
                </a:tc>
                <a:tc>
                  <a:txBody>
                    <a:bodyPr wrap="square"/>
                    <a:lstStyle/>
                    <a:p>
                      <a:r>
                        <a:rPr sz="900" b="0" i="0">
                          <a:solidFill>
                            <a:srgbClr val="1A1A1A"/>
                          </a:solidFill>
                          <a:latin typeface="Helvetica Neue"/>
                        </a:rPr>
                        <a:t>Checklist for Artificial Intelligence in Medical Imaging (CLAIM): 2024 Update.</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324</a:t>
                      </a:r>
                    </a:p>
                  </a:txBody>
                  <a:tcPr marL="45720" marR="45720" marT="18288" marB="18288" anchor="t"/>
                </a:tc>
                <a:tc>
                  <a:txBody>
                    <a:bodyPr wrap="square"/>
                    <a:lstStyle/>
                    <a:p>
                      <a:pPr algn="r"/>
                      <a:r>
                        <a:rPr sz="900" b="0" i="0">
                          <a:solidFill>
                            <a:srgbClr val="1A1A1A"/>
                          </a:solidFill>
                          <a:latin typeface="Helvetica Neue"/>
                        </a:rPr>
                        <a:t>26.4</a:t>
                      </a:r>
                    </a:p>
                  </a:txBody>
                  <a:tcPr marL="45720" marR="45720" marT="18288" marB="18288" anchor="t"/>
                </a:tc>
                <a:tc>
                  <a:txBody>
                    <a:bodyPr wrap="square"/>
                    <a:lstStyle/>
                    <a:p>
                      <a:r>
                        <a:rPr sz="900" b="0" i="0">
                          <a:solidFill>
                            <a:srgbClr val="1A1A1A"/>
                          </a:solidFill>
                          <a:latin typeface="Helvetica Neue"/>
                        </a:rPr>
                        <a:t>Chatbots and Large Language Models in Radiology: A Practical Primer for Clinical and Research Applications.</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215</a:t>
                      </a:r>
                    </a:p>
                  </a:txBody>
                  <a:tcPr marL="45720" marR="45720" marT="18288" marB="18288" anchor="t"/>
                </a:tc>
                <a:tc>
                  <a:txBody>
                    <a:bodyPr wrap="square"/>
                    <a:lstStyle/>
                    <a:p>
                      <a:pPr algn="r"/>
                      <a:r>
                        <a:rPr sz="900" b="0" i="0">
                          <a:solidFill>
                            <a:srgbClr val="1A1A1A"/>
                          </a:solidFill>
                          <a:latin typeface="Helvetica Neue"/>
                        </a:rPr>
                        <a:t>58.7</a:t>
                      </a:r>
                    </a:p>
                  </a:txBody>
                  <a:tcPr marL="45720" marR="45720" marT="18288" marB="18288" anchor="t"/>
                </a:tc>
                <a:tc>
                  <a:txBody>
                    <a:bodyPr wrap="square"/>
                    <a:lstStyle/>
                    <a:p>
                      <a:r>
                        <a:rPr sz="900" b="0" i="0">
                          <a:solidFill>
                            <a:srgbClr val="1A1A1A"/>
                          </a:solidFill>
                          <a:latin typeface="Helvetica Neue"/>
                        </a:rPr>
                        <a:t>The Image Biomarker Standardization Initiative: Standardized Convolutional Filters for Reproducible Radiomics and Enhanced Clinical Insights.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919</a:t>
                      </a:r>
                    </a:p>
                  </a:txBody>
                  <a:tcPr marL="45720" marR="45720" marT="18288" marB="18288" anchor="t"/>
                </a:tc>
                <a:tc>
                  <a:txBody>
                    <a:bodyPr wrap="square"/>
                    <a:lstStyle/>
                    <a:p>
                      <a:pPr algn="r"/>
                      <a:r>
                        <a:rPr sz="900" b="0" i="0">
                          <a:solidFill>
                            <a:srgbClr val="1A1A1A"/>
                          </a:solidFill>
                          <a:latin typeface="Helvetica Neue"/>
                        </a:rPr>
                        <a:t>29.4</a:t>
                      </a:r>
                    </a:p>
                  </a:txBody>
                  <a:tcPr marL="45720" marR="45720" marT="18288" marB="18288" anchor="t"/>
                </a:tc>
                <a:tc>
                  <a:txBody>
                    <a:bodyPr wrap="square"/>
                    <a:lstStyle/>
                    <a:p>
                      <a:r>
                        <a:rPr sz="900" b="0" i="0">
                          <a:solidFill>
                            <a:srgbClr val="1A1A1A"/>
                          </a:solidFill>
                          <a:latin typeface="Helvetica Neue"/>
                        </a:rPr>
                        <a:t>ChatGPT and Other Large Language Models Are Double-edged Swords.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419</a:t>
                      </a:r>
                    </a:p>
                  </a:txBody>
                  <a:tcPr marL="45720" marR="45720" marT="18288" marB="18288" anchor="t"/>
                </a:tc>
                <a:tc>
                  <a:txBody>
                    <a:bodyPr wrap="square"/>
                    <a:lstStyle/>
                    <a:p>
                      <a:pPr algn="r"/>
                      <a:r>
                        <a:rPr sz="900" b="0" i="0">
                          <a:solidFill>
                            <a:srgbClr val="1A1A1A"/>
                          </a:solidFill>
                          <a:latin typeface="Helvetica Neue"/>
                        </a:rPr>
                        <a:t>13.5</a:t>
                      </a:r>
                    </a:p>
                  </a:txBody>
                  <a:tcPr marL="45720" marR="45720" marT="18288" marB="18288" anchor="t"/>
                </a:tc>
                <a:tc>
                  <a:txBody>
                    <a:bodyPr wrap="square"/>
                    <a:lstStyle/>
                    <a:p>
                      <a:r>
                        <a:rPr sz="900" b="0" i="0">
                          <a:solidFill>
                            <a:srgbClr val="1A1A1A"/>
                          </a:solidFill>
                          <a:latin typeface="Helvetica Neue"/>
                        </a:rPr>
                        <a:t>Performance of ChatGPT on a Radiology Board-style Examination: Insights into Current Strengths and Limitations.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392</a:t>
                      </a:r>
                    </a:p>
                  </a:txBody>
                  <a:tcPr marL="45720" marR="45720" marT="18288" marB="18288" anchor="t"/>
                </a:tc>
                <a:tc>
                  <a:txBody>
                    <a:bodyPr wrap="square"/>
                    <a:lstStyle/>
                    <a:p>
                      <a:pPr algn="r"/>
                      <a:r>
                        <a:rPr sz="900" b="0" i="0">
                          <a:solidFill>
                            <a:srgbClr val="1A1A1A"/>
                          </a:solidFill>
                          <a:latin typeface="Helvetica Neue"/>
                        </a:rPr>
                        <a:t>33.2</a:t>
                      </a:r>
                    </a:p>
                  </a:txBody>
                  <a:tcPr marL="45720" marR="45720" marT="18288" marB="18288" anchor="t"/>
                </a:tc>
                <a:tc>
                  <a:txBody>
                    <a:bodyPr wrap="square"/>
                    <a:lstStyle/>
                    <a:p>
                      <a:r>
                        <a:rPr sz="900" b="0" i="0">
                          <a:solidFill>
                            <a:srgbClr val="1A1A1A"/>
                          </a:solidFill>
                          <a:latin typeface="Helvetica Neue"/>
                        </a:rPr>
                        <a:t>Deep Learning Image Reconstruction for CT: Technical Principles and Clinical Prospects.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282</a:t>
                      </a:r>
                    </a:p>
                  </a:txBody>
                  <a:tcPr marL="45720" marR="45720" marT="18288" marB="18288" anchor="t"/>
                </a:tc>
                <a:tc>
                  <a:txBody>
                    <a:bodyPr wrap="square"/>
                    <a:lstStyle/>
                    <a:p>
                      <a:pPr algn="r"/>
                      <a:r>
                        <a:rPr sz="900" b="0" i="0">
                          <a:solidFill>
                            <a:srgbClr val="1A1A1A"/>
                          </a:solidFill>
                          <a:latin typeface="Helvetica Neue"/>
                        </a:rPr>
                        <a:t>9.1</a:t>
                      </a:r>
                    </a:p>
                  </a:txBody>
                  <a:tcPr marL="45720" marR="45720" marT="18288" marB="18288" anchor="t"/>
                </a:tc>
                <a:tc>
                  <a:txBody>
                    <a:bodyPr wrap="square"/>
                    <a:lstStyle/>
                    <a:p>
                      <a:r>
                        <a:rPr sz="900" b="0" i="0">
                          <a:solidFill>
                            <a:srgbClr val="1A1A1A"/>
                          </a:solidFill>
                          <a:latin typeface="Helvetica Neue"/>
                        </a:rPr>
                        <a:t>Automation Bias in Mammography: The Impact of Artificial Intelligence BI-RADS Suggestions on Reader Performance.</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273</a:t>
                      </a:r>
                    </a:p>
                  </a:txBody>
                  <a:tcPr marL="45720" marR="45720" marT="18288" marB="18288" anchor="t"/>
                </a:tc>
                <a:tc>
                  <a:txBody>
                    <a:bodyPr wrap="square"/>
                    <a:lstStyle/>
                    <a:p>
                      <a:pPr algn="r"/>
                      <a:r>
                        <a:rPr sz="900" b="0" i="0">
                          <a:solidFill>
                            <a:srgbClr val="1A1A1A"/>
                          </a:solidFill>
                          <a:latin typeface="Helvetica Neue"/>
                        </a:rPr>
                        <a:t>44.4</a:t>
                      </a:r>
                    </a:p>
                  </a:txBody>
                  <a:tcPr marL="45720" marR="45720" marT="18288" marB="18288" anchor="t"/>
                </a:tc>
                <a:tc>
                  <a:txBody>
                    <a:bodyPr wrap="square"/>
                    <a:lstStyle/>
                    <a:p>
                      <a:r>
                        <a:rPr sz="900" b="0" i="0">
                          <a:solidFill>
                            <a:srgbClr val="1A1A1A"/>
                          </a:solidFill>
                          <a:latin typeface="Helvetica Neue"/>
                        </a:rPr>
                        <a:t>Potential of ChatGPT and GPT-4 for Data Mining of Free-Text CT Reports on Lung Cancer.</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265</a:t>
                      </a:r>
                    </a:p>
                  </a:txBody>
                  <a:tcPr marL="45720" marR="45720" marT="18288" marB="18288" anchor="t"/>
                </a:tc>
                <a:tc>
                  <a:txBody>
                    <a:bodyPr wrap="square"/>
                    <a:lstStyle/>
                    <a:p>
                      <a:pPr algn="r"/>
                      <a:r>
                        <a:rPr sz="900" b="0" i="0">
                          <a:solidFill>
                            <a:srgbClr val="1A1A1A"/>
                          </a:solidFill>
                          <a:latin typeface="Helvetica Neue"/>
                        </a:rPr>
                        <a:t>37.0</a:t>
                      </a:r>
                    </a:p>
                  </a:txBody>
                  <a:tcPr marL="45720" marR="45720" marT="18288" marB="18288" anchor="t"/>
                </a:tc>
                <a:tc>
                  <a:txBody>
                    <a:bodyPr wrap="square"/>
                    <a:lstStyle/>
                    <a:p>
                      <a:r>
                        <a:rPr sz="900" b="0" i="0">
                          <a:solidFill>
                            <a:srgbClr val="1A1A1A"/>
                          </a:solidFill>
                          <a:latin typeface="Helvetica Neue"/>
                        </a:rPr>
                        <a:t>MRI-based Quantification of Intratumoral Heterogeneity for Predicting Treatment Response to Neoadjuvant Chemotherapy in Breast Cancer.</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259</a:t>
                      </a:r>
                    </a:p>
                  </a:txBody>
                  <a:tcPr marL="45720" marR="45720" marT="18288" marB="18288" anchor="t"/>
                </a:tc>
                <a:tc>
                  <a:txBody>
                    <a:bodyPr wrap="square"/>
                    <a:lstStyle/>
                    <a:p>
                      <a:pPr algn="r"/>
                      <a:r>
                        <a:rPr sz="900" b="0" i="0">
                          <a:solidFill>
                            <a:srgbClr val="1A1A1A"/>
                          </a:solidFill>
                          <a:latin typeface="Helvetica Neue"/>
                        </a:rPr>
                        <a:t>47.2</a:t>
                      </a:r>
                    </a:p>
                  </a:txBody>
                  <a:tcPr marL="45720" marR="45720" marT="18288" marB="18288" anchor="t"/>
                </a:tc>
                <a:tc>
                  <a:txBody>
                    <a:bodyPr wrap="square"/>
                    <a:lstStyle/>
                    <a:p>
                      <a:r>
                        <a:rPr sz="900" b="0" i="0">
                          <a:solidFill>
                            <a:srgbClr val="1A1A1A"/>
                          </a:solidFill>
                          <a:latin typeface="Helvetica Neue"/>
                        </a:rPr>
                        <a:t>How AI Responds to Common Lung Cancer Questions: ChatGPT vs Google Bard.</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258</a:t>
                      </a:r>
                    </a:p>
                  </a:txBody>
                  <a:tcPr marL="45720" marR="45720" marT="18288" marB="18288" anchor="t"/>
                </a:tc>
                <a:tc>
                  <a:txBody>
                    <a:bodyPr wrap="square"/>
                    <a:lstStyle/>
                    <a:p>
                      <a:pPr algn="r"/>
                      <a:r>
                        <a:rPr sz="900" b="0" i="0">
                          <a:solidFill>
                            <a:srgbClr val="1A1A1A"/>
                          </a:solidFill>
                          <a:latin typeface="Helvetica Neue"/>
                        </a:rPr>
                        <a:t>35.5</a:t>
                      </a:r>
                    </a:p>
                  </a:txBody>
                  <a:tcPr marL="45720" marR="45720" marT="18288" marB="18288" anchor="t"/>
                </a:tc>
                <a:tc>
                  <a:txBody>
                    <a:bodyPr wrap="square"/>
                    <a:lstStyle/>
                    <a:p>
                      <a:r>
                        <a:rPr sz="900" b="0" i="0">
                          <a:solidFill>
                            <a:srgbClr val="1A1A1A"/>
                          </a:solidFill>
                          <a:latin typeface="Helvetica Neue"/>
                        </a:rPr>
                        <a:t>A Guide to Cross-Validation for Artificial Intelligence in Medical Imaging.</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225</a:t>
                      </a:r>
                    </a:p>
                  </a:txBody>
                  <a:tcPr marL="45720" marR="45720" marT="18288" marB="18288" anchor="t"/>
                </a:tc>
                <a:tc>
                  <a:txBody>
                    <a:bodyPr wrap="square"/>
                    <a:lstStyle/>
                    <a:p>
                      <a:pPr algn="r"/>
                      <a:r>
                        <a:rPr sz="900" b="0" i="0">
                          <a:solidFill>
                            <a:srgbClr val="1A1A1A"/>
                          </a:solidFill>
                          <a:latin typeface="Helvetica Neue"/>
                        </a:rPr>
                        <a:t>36.2</a:t>
                      </a:r>
                    </a:p>
                  </a:txBody>
                  <a:tcPr marL="45720" marR="45720" marT="18288" marB="18288" anchor="t"/>
                </a:tc>
                <a:tc>
                  <a:txBody>
                    <a:bodyPr wrap="square"/>
                    <a:lstStyle/>
                    <a:p>
                      <a:r>
                        <a:rPr sz="900" b="0" i="0">
                          <a:solidFill>
                            <a:srgbClr val="1A1A1A"/>
                          </a:solidFill>
                          <a:latin typeface="Helvetica Neue"/>
                        </a:rPr>
                        <a:t>Predicting Microvascular Invasion in Hepatocellular Carcinoma Using CT-based Radiomics Model.</a:t>
                      </a:r>
                    </a:p>
                  </a:txBody>
                  <a:tcPr marL="45720" marR="45720" marT="18288" marB="18288" anchor="t"/>
                </a:tc>
              </a:tr>
            </a:tbl>
          </a:graphicData>
        </a:graphic>
      </p:graphicFrame>
      <p:sp>
        <p:nvSpPr>
          <p:cNvPr id="6" name="TextBox 5"/>
          <p:cNvSpPr txBox="1"/>
          <p:nvPr/>
        </p:nvSpPr>
        <p:spPr>
          <a:xfrm>
            <a:off x="411480" y="3996054"/>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Semantic Scholar venue search, citations and FWCI from OpenAlex; title-level relevance filter; the 12 most-cited of the 616 works indexed there, newest year first.</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43 / 83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SPR: radiology AI works, 2023–2026</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475614"/>
          </a:xfrm>
          <a:prstGeom prst="rect">
            <a:avLst/>
          </a:prstGeom>
          <a:noFill/>
        </p:spPr>
        <p:txBody>
          <a:bodyPr wrap="square" lIns="45720" rIns="45720" tIns="27432" bIns="27432" anchor="t">
            <a:spAutoFit/>
          </a:bodyPr>
          <a:lstStyle/>
          <a:p>
            <a:pPr algn="l">
              <a:spcAft>
                <a:spcPts val="384"/>
              </a:spcAft>
            </a:pPr>
            <a:r>
              <a:rPr sz="1100" b="1" i="0">
                <a:solidFill>
                  <a:srgbClr val="1A1A1A"/>
                </a:solidFill>
                <a:latin typeface="Helvetica Neue"/>
              </a:rPr>
              <a:t>Society for Pediatric Radiology: Pediatric Radiology (journal)</a:t>
            </a:r>
            <a:r>
              <a:rPr sz="1100" b="0" i="0">
                <a:solidFill>
                  <a:srgbClr val="1A1A1A"/>
                </a:solidFill>
                <a:latin typeface="Helvetica Neue"/>
              </a:rPr>
              <a:t>. Radiology-AI works found, 2023–2026: 120 (2023: 27, 2024: 17, 2025: 37, 2026: 39); 70 pediatric (marked ★). SPR meeting abstracts are not indexed; the society's journal stands in.</a:t>
            </a:r>
          </a:p>
        </p:txBody>
      </p:sp>
      <p:graphicFrame>
        <p:nvGraphicFramePr>
          <p:cNvPr id="5" name="Table 4"/>
          <p:cNvGraphicFramePr>
            <a:graphicFrameLocks noGrp="1"/>
          </p:cNvGraphicFramePr>
          <p:nvPr/>
        </p:nvGraphicFramePr>
        <p:xfrm>
          <a:off x="411480" y="1426590"/>
          <a:ext cx="11368734" cy="2770632"/>
        </p:xfrm>
        <a:graphic>
          <a:graphicData uri="http://schemas.openxmlformats.org/drawingml/2006/table">
            <a:tbl>
              <a:tblPr firstRow="1" bandRow="1">
                <a:tableStyleId>{5C22544A-7EE6-4342-B048-85BDC9FD1C3A}</a:tableStyleId>
              </a:tblPr>
              <a:tblGrid>
                <a:gridCol w="409651"/>
                <a:gridCol w="480060"/>
                <a:gridCol w="409651"/>
                <a:gridCol w="10069372"/>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Cites</a:t>
                      </a:r>
                    </a:p>
                  </a:txBody>
                  <a:tcPr marL="45720" marR="45720" marT="18288" marB="18288" anchor="t"/>
                </a:tc>
                <a:tc>
                  <a:txBody>
                    <a:bodyPr wrap="square"/>
                    <a:lstStyle/>
                    <a:p>
                      <a:pPr algn="r"/>
                      <a:r>
                        <a:rPr sz="900" b="1" i="0">
                          <a:solidFill>
                            <a:srgbClr val="FFFFFF"/>
                          </a:solidFill>
                          <a:latin typeface="Helvetica Neue"/>
                        </a:rPr>
                        <a:t>FWCI</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18</a:t>
                      </a:r>
                    </a:p>
                  </a:txBody>
                  <a:tcPr marL="45720" marR="45720" marT="18288" marB="18288" anchor="t"/>
                </a:tc>
                <a:tc>
                  <a:txBody>
                    <a:bodyPr wrap="square"/>
                    <a:lstStyle/>
                    <a:p>
                      <a:pPr algn="r"/>
                      <a:r>
                        <a:rPr sz="900" b="0" i="0">
                          <a:solidFill>
                            <a:srgbClr val="1A1A1A"/>
                          </a:solidFill>
                          <a:latin typeface="Helvetica Neue"/>
                        </a:rPr>
                        <a:t>4.6</a:t>
                      </a:r>
                    </a:p>
                  </a:txBody>
                  <a:tcPr marL="45720" marR="45720" marT="18288" marB="18288" anchor="t"/>
                </a:tc>
                <a:tc>
                  <a:txBody>
                    <a:bodyPr wrap="square"/>
                    <a:lstStyle/>
                    <a:p>
                      <a:r>
                        <a:rPr sz="900" b="0" i="0">
                          <a:solidFill>
                            <a:srgbClr val="1A1A1A"/>
                          </a:solidFill>
                          <a:latin typeface="Helvetica Neue"/>
                        </a:rPr>
                        <a:t>AI implementation in pediatric radiology for patient safety: a multi-society statement from the ACR, ESPR, SPR, SLARP, AOSPR, SPIN ★</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17</a:t>
                      </a:r>
                    </a:p>
                  </a:txBody>
                  <a:tcPr marL="45720" marR="45720" marT="18288" marB="18288" anchor="t"/>
                </a:tc>
                <a:tc>
                  <a:txBody>
                    <a:bodyPr wrap="square"/>
                    <a:lstStyle/>
                    <a:p>
                      <a:pPr algn="r"/>
                      <a:r>
                        <a:rPr sz="900" b="0" i="0">
                          <a:solidFill>
                            <a:srgbClr val="1A1A1A"/>
                          </a:solidFill>
                          <a:latin typeface="Helvetica Neue"/>
                        </a:rPr>
                        <a:t>27.9</a:t>
                      </a:r>
                    </a:p>
                  </a:txBody>
                  <a:tcPr marL="45720" marR="45720" marT="18288" marB="18288" anchor="t"/>
                </a:tc>
                <a:tc>
                  <a:txBody>
                    <a:bodyPr wrap="square"/>
                    <a:lstStyle/>
                    <a:p>
                      <a:r>
                        <a:rPr sz="900" b="0" i="0">
                          <a:solidFill>
                            <a:srgbClr val="1A1A1A"/>
                          </a:solidFill>
                          <a:latin typeface="Helvetica Neue"/>
                        </a:rPr>
                        <a:t>Scanner-based real-time three-dimensional brain + body slice-to-volume reconstruction for T2-weighted 0.55-T low-field fetal magnetic resonance imaging ★</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24</a:t>
                      </a:r>
                    </a:p>
                  </a:txBody>
                  <a:tcPr marL="45720" marR="45720" marT="18288" marB="18288" anchor="t"/>
                </a:tc>
                <a:tc>
                  <a:txBody>
                    <a:bodyPr wrap="square"/>
                    <a:lstStyle/>
                    <a:p>
                      <a:pPr algn="r"/>
                      <a:r>
                        <a:rPr sz="900" b="0" i="0">
                          <a:solidFill>
                            <a:srgbClr val="1A1A1A"/>
                          </a:solidFill>
                          <a:latin typeface="Helvetica Neue"/>
                        </a:rPr>
                        <a:t>2.0</a:t>
                      </a:r>
                    </a:p>
                  </a:txBody>
                  <a:tcPr marL="45720" marR="45720" marT="18288" marB="18288" anchor="t"/>
                </a:tc>
                <a:tc>
                  <a:txBody>
                    <a:bodyPr wrap="square"/>
                    <a:lstStyle/>
                    <a:p>
                      <a:r>
                        <a:rPr sz="900" b="0" i="0">
                          <a:solidFill>
                            <a:srgbClr val="1A1A1A"/>
                          </a:solidFill>
                          <a:latin typeface="Helvetica Neue"/>
                        </a:rPr>
                        <a:t>Capability of multimodal large language models to interpret pediatric radiological images ★</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15</a:t>
                      </a:r>
                    </a:p>
                  </a:txBody>
                  <a:tcPr marL="45720" marR="45720" marT="18288" marB="18288" anchor="t"/>
                </a:tc>
                <a:tc>
                  <a:txBody>
                    <a:bodyPr wrap="square"/>
                    <a:lstStyle/>
                    <a:p>
                      <a:pPr algn="r"/>
                      <a:r>
                        <a:rPr sz="900" b="0" i="0">
                          <a:solidFill>
                            <a:srgbClr val="1A1A1A"/>
                          </a:solidFill>
                          <a:latin typeface="Helvetica Neue"/>
                        </a:rPr>
                        <a:t>–</a:t>
                      </a:r>
                    </a:p>
                  </a:txBody>
                  <a:tcPr marL="45720" marR="45720" marT="18288" marB="18288" anchor="t"/>
                </a:tc>
                <a:tc>
                  <a:txBody>
                    <a:bodyPr wrap="square"/>
                    <a:lstStyle/>
                    <a:p>
                      <a:r>
                        <a:rPr sz="900" b="0" i="0">
                          <a:solidFill>
                            <a:srgbClr val="1A1A1A"/>
                          </a:solidFill>
                          <a:latin typeface="Helvetica Neue"/>
                        </a:rPr>
                        <a:t>Artificial Intelligence vs. Doctors: Diagnosing Necrotizing Enterocolitis on Abdominal Radiographs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49</a:t>
                      </a:r>
                    </a:p>
                  </a:txBody>
                  <a:tcPr marL="45720" marR="45720" marT="18288" marB="18288" anchor="t"/>
                </a:tc>
                <a:tc>
                  <a:txBody>
                    <a:bodyPr wrap="square"/>
                    <a:lstStyle/>
                    <a:p>
                      <a:pPr algn="r"/>
                      <a:r>
                        <a:rPr sz="900" b="0" i="0">
                          <a:solidFill>
                            <a:srgbClr val="1A1A1A"/>
                          </a:solidFill>
                          <a:latin typeface="Helvetica Neue"/>
                        </a:rPr>
                        <a:t>1.6</a:t>
                      </a:r>
                    </a:p>
                  </a:txBody>
                  <a:tcPr marL="45720" marR="45720" marT="18288" marB="18288" anchor="t"/>
                </a:tc>
                <a:tc>
                  <a:txBody>
                    <a:bodyPr wrap="square"/>
                    <a:lstStyle/>
                    <a:p>
                      <a:r>
                        <a:rPr sz="900" b="0" i="0">
                          <a:solidFill>
                            <a:srgbClr val="1A1A1A"/>
                          </a:solidFill>
                          <a:latin typeface="Helvetica Neue"/>
                        </a:rPr>
                        <a:t>Detecting pediatric wrist fractures using deep-learning-based object detection ★</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44</a:t>
                      </a:r>
                    </a:p>
                  </a:txBody>
                  <a:tcPr marL="45720" marR="45720" marT="18288" marB="18288" anchor="t"/>
                </a:tc>
                <a:tc>
                  <a:txBody>
                    <a:bodyPr wrap="square"/>
                    <a:lstStyle/>
                    <a:p>
                      <a:pPr algn="r"/>
                      <a:r>
                        <a:rPr sz="900" b="0" i="0">
                          <a:solidFill>
                            <a:srgbClr val="1A1A1A"/>
                          </a:solidFill>
                          <a:latin typeface="Helvetica Neue"/>
                        </a:rPr>
                        <a:t>1.2</a:t>
                      </a:r>
                    </a:p>
                  </a:txBody>
                  <a:tcPr marL="45720" marR="45720" marT="18288" marB="18288" anchor="t"/>
                </a:tc>
                <a:tc>
                  <a:txBody>
                    <a:bodyPr wrap="square"/>
                    <a:lstStyle/>
                    <a:p>
                      <a:r>
                        <a:rPr sz="900" b="0" i="0">
                          <a:solidFill>
                            <a:srgbClr val="1A1A1A"/>
                          </a:solidFill>
                          <a:latin typeface="Helvetica Neue"/>
                        </a:rPr>
                        <a:t>Artificial intelligence to identify fractures on pediatric and young adult upper extremity radiographs ★</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43</a:t>
                      </a:r>
                    </a:p>
                  </a:txBody>
                  <a:tcPr marL="45720" marR="45720" marT="18288" marB="18288" anchor="t"/>
                </a:tc>
                <a:tc>
                  <a:txBody>
                    <a:bodyPr wrap="square"/>
                    <a:lstStyle/>
                    <a:p>
                      <a:pPr algn="r"/>
                      <a:r>
                        <a:rPr sz="900" b="0" i="0">
                          <a:solidFill>
                            <a:srgbClr val="1A1A1A"/>
                          </a:solidFill>
                          <a:latin typeface="Helvetica Neue"/>
                        </a:rPr>
                        <a:t>9.7</a:t>
                      </a:r>
                    </a:p>
                  </a:txBody>
                  <a:tcPr marL="45720" marR="45720" marT="18288" marB="18288" anchor="t"/>
                </a:tc>
                <a:tc>
                  <a:txBody>
                    <a:bodyPr wrap="square"/>
                    <a:lstStyle/>
                    <a:p>
                      <a:r>
                        <a:rPr sz="900" b="0" i="0">
                          <a:solidFill>
                            <a:srgbClr val="1A1A1A"/>
                          </a:solidFill>
                          <a:latin typeface="Helvetica Neue"/>
                        </a:rPr>
                        <a:t>Deeplasia: deep learning for bone age assessment validated on skeletal dysplasias ★</a:t>
                      </a:r>
                    </a:p>
                  </a:txBody>
                  <a:tcPr marL="45720" marR="45720" marT="18288" marB="18288" anchor="t"/>
                </a:tc>
              </a:tr>
              <a:tr h="32918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42</a:t>
                      </a:r>
                    </a:p>
                  </a:txBody>
                  <a:tcPr marL="45720" marR="45720" marT="18288" marB="18288" anchor="t"/>
                </a:tc>
                <a:tc>
                  <a:txBody>
                    <a:bodyPr wrap="square"/>
                    <a:lstStyle/>
                    <a:p>
                      <a:pPr algn="r"/>
                      <a:r>
                        <a:rPr sz="900" b="0" i="0">
                          <a:solidFill>
                            <a:srgbClr val="1A1A1A"/>
                          </a:solidFill>
                          <a:latin typeface="Helvetica Neue"/>
                        </a:rPr>
                        <a:t>1.2</a:t>
                      </a:r>
                    </a:p>
                  </a:txBody>
                  <a:tcPr marL="45720" marR="45720" marT="18288" marB="18288" anchor="t"/>
                </a:tc>
                <a:tc>
                  <a:txBody>
                    <a:bodyPr wrap="square"/>
                    <a:lstStyle/>
                    <a:p>
                      <a:r>
                        <a:rPr sz="900" b="0" i="0">
                          <a:solidFill>
                            <a:srgbClr val="1A1A1A"/>
                          </a:solidFill>
                          <a:latin typeface="Helvetica Neue"/>
                        </a:rPr>
                        <a:t>Comparison of diagnostic performance of a deep learning algorithm, emergency physicians, junior radiologists and senior radiologists in the detection of appendicular fractures in children</a:t>
                      </a:r>
                    </a:p>
                  </a:txBody>
                  <a:tcPr marL="45720" marR="45720" marT="18288" marB="18288" anchor="t"/>
                </a:tc>
              </a:tr>
              <a:tr h="32918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35</a:t>
                      </a:r>
                    </a:p>
                  </a:txBody>
                  <a:tcPr marL="45720" marR="45720" marT="18288" marB="18288" anchor="t"/>
                </a:tc>
                <a:tc>
                  <a:txBody>
                    <a:bodyPr wrap="square"/>
                    <a:lstStyle/>
                    <a:p>
                      <a:pPr algn="r"/>
                      <a:r>
                        <a:rPr sz="900" b="0" i="0">
                          <a:solidFill>
                            <a:srgbClr val="1A1A1A"/>
                          </a:solidFill>
                          <a:latin typeface="Helvetica Neue"/>
                        </a:rPr>
                        <a:t>1.0</a:t>
                      </a:r>
                    </a:p>
                  </a:txBody>
                  <a:tcPr marL="45720" marR="45720" marT="18288" marB="18288" anchor="t"/>
                </a:tc>
                <a:tc>
                  <a:txBody>
                    <a:bodyPr wrap="square"/>
                    <a:lstStyle/>
                    <a:p>
                      <a:r>
                        <a:rPr sz="900" b="0" i="0">
                          <a:solidFill>
                            <a:srgbClr val="1A1A1A"/>
                          </a:solidFill>
                          <a:latin typeface="Helvetica Neue"/>
                        </a:rPr>
                        <a:t>Artificial intelligence-based detection of paediatric appendicular skeletal fractures: performance and limitations for common fracture types and locations ★</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31</a:t>
                      </a:r>
                    </a:p>
                  </a:txBody>
                  <a:tcPr marL="45720" marR="45720" marT="18288" marB="18288" anchor="t"/>
                </a:tc>
                <a:tc>
                  <a:txBody>
                    <a:bodyPr wrap="square"/>
                    <a:lstStyle/>
                    <a:p>
                      <a:pPr algn="r"/>
                      <a:r>
                        <a:rPr sz="900" b="0" i="0">
                          <a:solidFill>
                            <a:srgbClr val="1A1A1A"/>
                          </a:solidFill>
                          <a:latin typeface="Helvetica Neue"/>
                        </a:rPr>
                        <a:t>1.0</a:t>
                      </a:r>
                    </a:p>
                  </a:txBody>
                  <a:tcPr marL="45720" marR="45720" marT="18288" marB="18288" anchor="t"/>
                </a:tc>
                <a:tc>
                  <a:txBody>
                    <a:bodyPr wrap="square"/>
                    <a:lstStyle/>
                    <a:p>
                      <a:r>
                        <a:rPr sz="900" b="0" i="0">
                          <a:solidFill>
                            <a:srgbClr val="1A1A1A"/>
                          </a:solidFill>
                          <a:latin typeface="Helvetica Neue"/>
                        </a:rPr>
                        <a:t>The unintended consequences of artificial intelligence in paediatric radiology ★</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23</a:t>
                      </a:r>
                    </a:p>
                  </a:txBody>
                  <a:tcPr marL="45720" marR="45720" marT="18288" marB="18288" anchor="t"/>
                </a:tc>
                <a:tc>
                  <a:txBody>
                    <a:bodyPr wrap="square"/>
                    <a:lstStyle/>
                    <a:p>
                      <a:pPr algn="r"/>
                      <a:r>
                        <a:rPr sz="900" b="0" i="0">
                          <a:solidFill>
                            <a:srgbClr val="1A1A1A"/>
                          </a:solidFill>
                          <a:latin typeface="Helvetica Neue"/>
                        </a:rPr>
                        <a:t>4.0</a:t>
                      </a:r>
                    </a:p>
                  </a:txBody>
                  <a:tcPr marL="45720" marR="45720" marT="18288" marB="18288" anchor="t"/>
                </a:tc>
                <a:tc>
                  <a:txBody>
                    <a:bodyPr wrap="square"/>
                    <a:lstStyle/>
                    <a:p>
                      <a:r>
                        <a:rPr sz="900" b="0" i="0">
                          <a:solidFill>
                            <a:srgbClr val="1A1A1A"/>
                          </a:solidFill>
                          <a:latin typeface="Helvetica Neue"/>
                        </a:rPr>
                        <a:t>Artificial Intelligence in Paediatric Tuberculosis ★</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20</a:t>
                      </a:r>
                    </a:p>
                  </a:txBody>
                  <a:tcPr marL="45720" marR="45720" marT="18288" marB="18288" anchor="t"/>
                </a:tc>
                <a:tc>
                  <a:txBody>
                    <a:bodyPr wrap="square"/>
                    <a:lstStyle/>
                    <a:p>
                      <a:pPr algn="r"/>
                      <a:r>
                        <a:rPr sz="900" b="0" i="0">
                          <a:solidFill>
                            <a:srgbClr val="1A1A1A"/>
                          </a:solidFill>
                          <a:latin typeface="Helvetica Neue"/>
                        </a:rPr>
                        <a:t>4.2</a:t>
                      </a:r>
                    </a:p>
                  </a:txBody>
                  <a:tcPr marL="45720" marR="45720" marT="18288" marB="18288" anchor="t"/>
                </a:tc>
                <a:tc>
                  <a:txBody>
                    <a:bodyPr wrap="square"/>
                    <a:lstStyle/>
                    <a:p>
                      <a:r>
                        <a:rPr sz="900" b="0" i="0">
                          <a:solidFill>
                            <a:srgbClr val="1A1A1A"/>
                          </a:solidFill>
                          <a:latin typeface="Helvetica Neue"/>
                        </a:rPr>
                        <a:t>Innovative advances in pediatric radiology: computed tomography reconstruction techniques, photon-counting detector computed tomography, and beyond ★</a:t>
                      </a:r>
                    </a:p>
                  </a:txBody>
                  <a:tcPr marL="45720" marR="45720" marT="18288" marB="18288" anchor="t"/>
                </a:tc>
              </a:tr>
            </a:tbl>
          </a:graphicData>
        </a:graphic>
      </p:graphicFrame>
      <p:sp>
        <p:nvSpPr>
          <p:cNvPr id="6" name="TextBox 5"/>
          <p:cNvSpPr txBox="1"/>
          <p:nvPr/>
        </p:nvSpPr>
        <p:spPr>
          <a:xfrm>
            <a:off x="411480" y="4270375"/>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Semantic Scholar venue search, citations and FWCI from OpenAlex; title-level relevance filter; the 12 most-cited of the 120 works indexed there, newest year first.</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44 / 83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MICCAI: pediatric radiology AI works (1/2)</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26 pediatric radiology-AI papers accepted 2023–2026 (21 fetal, 4 infant / neonatal, 1 pediatric). Meetings with a published paper list: 2023, 2024, 2025.</a:t>
            </a:r>
          </a:p>
        </p:txBody>
      </p:sp>
      <p:graphicFrame>
        <p:nvGraphicFramePr>
          <p:cNvPr id="5" name="Table 4"/>
          <p:cNvGraphicFramePr>
            <a:graphicFrameLocks noGrp="1"/>
          </p:cNvGraphicFramePr>
          <p:nvPr/>
        </p:nvGraphicFramePr>
        <p:xfrm>
          <a:off x="411480" y="1258951"/>
          <a:ext cx="11368735" cy="3017520"/>
        </p:xfrm>
        <a:graphic>
          <a:graphicData uri="http://schemas.openxmlformats.org/drawingml/2006/table">
            <a:tbl>
              <a:tblPr firstRow="1" bandRow="1">
                <a:tableStyleId>{5C22544A-7EE6-4342-B048-85BDC9FD1C3A}</a:tableStyleId>
              </a:tblPr>
              <a:tblGrid>
                <a:gridCol w="409651"/>
                <a:gridCol w="1216152"/>
                <a:gridCol w="9742932"/>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Population</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Accurate and Efficient Fetal Birth Weight Estimation from 3D Ultrasound</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Adaptive Frame Selection for Gestational Age Estimation from Blind Sweep Fetal Ultrasound Videos</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Infant / neonatal</a:t>
                      </a:r>
                    </a:p>
                  </a:txBody>
                  <a:tcPr marL="45720" marR="45720" marT="18288" marB="18288" anchor="t"/>
                </a:tc>
                <a:tc>
                  <a:txBody>
                    <a:bodyPr wrap="square"/>
                    <a:lstStyle/>
                    <a:p>
                      <a:r>
                        <a:rPr sz="900" b="0" i="0">
                          <a:solidFill>
                            <a:srgbClr val="1A1A1A"/>
                          </a:solidFill>
                          <a:latin typeface="Helvetica Neue"/>
                        </a:rPr>
                        <a:t>Flexibly Distilled 3D Rectified Flow with Anatomical Constraints for Developmental Infant Brain MRI Prediction</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Fusing Radiomic Features with Deep Representations for Gestational Age Estimation in Fetal Ultrasound Images</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General Methods Make Great Domain-specific Foundation Models: A Case-study on Fetal Ultrasound</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Influence of Classification Task and Distribution Shift Type on OOD Detection in Fetal Ultrasound</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Latent Motion Profiling for Annotation-free Cardiac Phase Detection in Adult and Fetal Echocardiography Videos</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Robust Fetal Pose Estimation across Gestational Ages via Cross-Population Augmentation</a:t>
                      </a:r>
                    </a:p>
                  </a:txBody>
                  <a:tcPr marL="45720" marR="45720" marT="18288" marB="18288" anchor="t"/>
                </a:tc>
              </a:tr>
              <a:tr h="32918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Self-supervised Normality Learning and Divergence Vector-guided Model Merging for Zero-shot Congenital Heart Disease Detection in Fetal Ultrasound Videos</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You Can Detect It: Fetal Biometric Estimation Using Ellipse Detection</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Cycle-consistent Learning for Fetal Cortical Surface Reconstruction</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Pediatric</a:t>
                      </a:r>
                    </a:p>
                  </a:txBody>
                  <a:tcPr marL="45720" marR="45720" marT="18288" marB="18288" anchor="t"/>
                </a:tc>
                <a:tc>
                  <a:txBody>
                    <a:bodyPr wrap="square"/>
                    <a:lstStyle/>
                    <a:p>
                      <a:r>
                        <a:rPr sz="900" b="0" i="0">
                          <a:solidFill>
                            <a:srgbClr val="1A1A1A"/>
                          </a:solidFill>
                          <a:latin typeface="Helvetica Neue"/>
                        </a:rPr>
                        <a:t>Efficient and Gender-adaptive Graph Vision Mamba for Pediatric Bone Age Assessment</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Fetal MRI Reconstruction by Global Diffusion and Consistent Implicit Representation</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Geometric Transformation Uncertainty for Improving 3D Fetal Brain Pose Prediction from Freehand 2D Ultrasound Videos</a:t>
                      </a:r>
                    </a:p>
                  </a:txBody>
                  <a:tcPr marL="45720" marR="45720" marT="18288" marB="18288" anchor="t"/>
                </a:tc>
              </a:tr>
            </a:tbl>
          </a:graphicData>
        </a:graphic>
      </p:graphicFrame>
      <p:sp>
        <p:nvSpPr>
          <p:cNvPr id="6" name="TextBox 5"/>
          <p:cNvSpPr txBox="1"/>
          <p:nvPr/>
        </p:nvSpPr>
        <p:spPr>
          <a:xfrm>
            <a:off x="411480" y="4349623"/>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the meeting's accepted-paper list; a title counts when it names an imaging modality, an AI method and a pediatric term (fetal included). Titles only, so pediatric work that does not say so in its title is missed.</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45 / 83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MICCAI: pediatric radiology AI works (2/2)</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26 pediatric radiology-AI papers accepted 2023–2026 (21 fetal, 4 infant / neonatal, 1 pediatric). Meetings with a published paper list: 2023, 2024, 2025.</a:t>
            </a:r>
          </a:p>
        </p:txBody>
      </p:sp>
      <p:graphicFrame>
        <p:nvGraphicFramePr>
          <p:cNvPr id="5" name="Table 4"/>
          <p:cNvGraphicFramePr>
            <a:graphicFrameLocks noGrp="1"/>
          </p:cNvGraphicFramePr>
          <p:nvPr/>
        </p:nvGraphicFramePr>
        <p:xfrm>
          <a:off x="411480" y="1258951"/>
          <a:ext cx="11368735" cy="2496312"/>
        </p:xfrm>
        <a:graphic>
          <a:graphicData uri="http://schemas.openxmlformats.org/drawingml/2006/table">
            <a:tbl>
              <a:tblPr firstRow="1" bandRow="1">
                <a:tableStyleId>{5C22544A-7EE6-4342-B048-85BDC9FD1C3A}</a:tableStyleId>
              </a:tblPr>
              <a:tblGrid>
                <a:gridCol w="409651"/>
                <a:gridCol w="1216152"/>
                <a:gridCol w="9742932"/>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Population</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Improving cross-domain brain tissue segmentation in fetal MRI with synthetic data</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Intrapartum Ultrasound Image Segmentation of Pubic Symphysis and Fetal Head Using Dual Student-Teacher Framework with CNN-ViT Collaborative Learning</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Pose-GuideNet: Automatic Scanning Guidance for Fetal Head Ultrasound from Pose Estimation</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Infant / neonatal</a:t>
                      </a:r>
                    </a:p>
                  </a:txBody>
                  <a:tcPr marL="45720" marR="45720" marT="18288" marB="18288" anchor="t"/>
                </a:tc>
                <a:tc>
                  <a:txBody>
                    <a:bodyPr wrap="square"/>
                    <a:lstStyle/>
                    <a:p>
                      <a:r>
                        <a:rPr sz="900" b="0" i="0">
                          <a:solidFill>
                            <a:srgbClr val="1A1A1A"/>
                          </a:solidFill>
                          <a:latin typeface="Helvetica Neue"/>
                        </a:rPr>
                        <a:t>Super-Field MRI Synthesis for Infant Brains Enhanced by Dual Channel Latent Diffusion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An automated pipeline for quantitative T2* fetal body MRI and segmentation at low field</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ASC: Appearance and Structure Consistency for Unsupervised Domain Adaptation in Fetal Brain MRI Segmentation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Dual Conditioned Diffusion Models for Out-Of-Distribution Detection: Application to Fetal Ultrasound Videos</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Improving Automatic Fetal Biometry Measurement with Swoosh Activation Function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Infant / neonatal</a:t>
                      </a:r>
                    </a:p>
                  </a:txBody>
                  <a:tcPr marL="45720" marR="45720" marT="18288" marB="18288" anchor="t"/>
                </a:tc>
                <a:tc>
                  <a:txBody>
                    <a:bodyPr wrap="square"/>
                    <a:lstStyle/>
                    <a:p>
                      <a:r>
                        <a:rPr sz="900" b="0" i="0">
                          <a:solidFill>
                            <a:srgbClr val="1A1A1A"/>
                          </a:solidFill>
                          <a:latin typeface="Helvetica Neue"/>
                        </a:rPr>
                        <a:t>Punctate White Matter Lesion Segmentation in Preterm Infants Powered by Counterfactually Generative Learning</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Simulation-based parameter optimization for fetal brain MRI super-resolution reconstruction</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Infant / neonatal</a:t>
                      </a:r>
                    </a:p>
                  </a:txBody>
                  <a:tcPr marL="45720" marR="45720" marT="18288" marB="18288" anchor="t"/>
                </a:tc>
                <a:tc>
                  <a:txBody>
                    <a:bodyPr wrap="square"/>
                    <a:lstStyle/>
                    <a:p>
                      <a:r>
                        <a:rPr sz="900" b="0" i="0">
                          <a:solidFill>
                            <a:srgbClr val="1A1A1A"/>
                          </a:solidFill>
                          <a:latin typeface="Helvetica Neue"/>
                        </a:rPr>
                        <a:t>SurfFlow: A Flow-Based Approach for Rapid and Accurate Cortical Surface Reconstruction from Infant Brain MRI</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UM-CAM: Uncertainty-weighted Multi-resolution Class Activation Maps for Weakly-supervised Fetal Brain Segmentation</a:t>
                      </a:r>
                    </a:p>
                  </a:txBody>
                  <a:tcPr marL="45720" marR="45720" marT="18288" marB="18288" anchor="t"/>
                </a:tc>
              </a:tr>
            </a:tbl>
          </a:graphicData>
        </a:graphic>
      </p:graphicFrame>
      <p:sp>
        <p:nvSpPr>
          <p:cNvPr id="6" name="TextBox 5"/>
          <p:cNvSpPr txBox="1"/>
          <p:nvPr/>
        </p:nvSpPr>
        <p:spPr>
          <a:xfrm>
            <a:off x="411480" y="3828415"/>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the meeting's accepted-paper list; a title counts when it names an imaging modality, an AI method and a pediatric term (fetal included). Titles only, so pediatric work that does not say so in its title is missed.</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46 / 83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MIDL: pediatric radiology AI works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CONFERENCES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9 pediatric radiology-AI papers accepted 2023–2026 (7 fetal, 2 pediatric). Meetings with a published paper list: 2023, 2024, 2025, 2026.</a:t>
            </a:r>
          </a:p>
        </p:txBody>
      </p:sp>
      <p:graphicFrame>
        <p:nvGraphicFramePr>
          <p:cNvPr id="5" name="Table 4"/>
          <p:cNvGraphicFramePr>
            <a:graphicFrameLocks noGrp="1"/>
          </p:cNvGraphicFramePr>
          <p:nvPr/>
        </p:nvGraphicFramePr>
        <p:xfrm>
          <a:off x="411480" y="1258951"/>
          <a:ext cx="11368735" cy="1920240"/>
        </p:xfrm>
        <a:graphic>
          <a:graphicData uri="http://schemas.openxmlformats.org/drawingml/2006/table">
            <a:tbl>
              <a:tblPr firstRow="1" bandRow="1">
                <a:tableStyleId>{5C22544A-7EE6-4342-B048-85BDC9FD1C3A}</a:tableStyleId>
              </a:tblPr>
              <a:tblGrid>
                <a:gridCol w="409651"/>
                <a:gridCol w="832104"/>
                <a:gridCol w="10126980"/>
              </a:tblGrid>
              <a:tr h="192024">
                <a:tc>
                  <a:txBody>
                    <a:bodyPr wrap="square"/>
                    <a:lstStyle/>
                    <a:p>
                      <a:pPr algn="r"/>
                      <a:r>
                        <a:rPr sz="900" b="1" i="0">
                          <a:solidFill>
                            <a:srgbClr val="FFFFFF"/>
                          </a:solidFill>
                          <a:latin typeface="Helvetica Neue"/>
                        </a:rPr>
                        <a:t>Year</a:t>
                      </a:r>
                    </a:p>
                  </a:txBody>
                  <a:tcPr marL="45720" marR="45720" marT="18288" marB="18288" anchor="t"/>
                </a:tc>
                <a:tc>
                  <a:txBody>
                    <a:bodyPr wrap="square"/>
                    <a:lstStyle/>
                    <a:p>
                      <a:pPr algn="r"/>
                      <a:r>
                        <a:rPr sz="900" b="1" i="0">
                          <a:solidFill>
                            <a:srgbClr val="FFFFFF"/>
                          </a:solidFill>
                          <a:latin typeface="Helvetica Neue"/>
                        </a:rPr>
                        <a:t>Population</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Calibration-Aware Semi-Supervised Fetal Head Segmentation with Boundary-Positive Contrast</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Orientation-Aware Diffusion Super-Resolution for 3T-Like Fetal MRI from Routine 1.5T Scans</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SuD-CoTAN: Sulcal Depth-guided Anatomically Consistent Fetal Cortical Surface Reconstruction</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Ultra-ECP: Ellipse-Constrained and Point-Robust Foundation Model Adaptation for Fetal Cardiac Ultrasound Segmentation</a:t>
                      </a:r>
                    </a:p>
                  </a:txBody>
                  <a:tcPr marL="45720" marR="45720" marT="18288" marB="18288" anchor="t"/>
                </a:tc>
              </a:tr>
              <a:tr h="192024">
                <a:tc>
                  <a:txBody>
                    <a:bodyPr wrap="square"/>
                    <a:lstStyle/>
                    <a:p>
                      <a:pPr algn="r"/>
                      <a:r>
                        <a:rPr sz="900" b="0" i="0">
                          <a:solidFill>
                            <a:srgbClr val="1A1A1A"/>
                          </a:solidFill>
                          <a:latin typeface="Helvetica Neue"/>
                        </a:rPr>
                        <a:t>2026</a:t>
                      </a:r>
                    </a:p>
                  </a:txBody>
                  <a:tcPr marL="45720" marR="45720" marT="18288" marB="18288" anchor="t"/>
                </a:tc>
                <a:tc>
                  <a:txBody>
                    <a:bodyPr wrap="square"/>
                    <a:lstStyle/>
                    <a:p>
                      <a:pPr algn="r"/>
                      <a:r>
                        <a:rPr sz="900" b="0" i="0">
                          <a:solidFill>
                            <a:srgbClr val="1A1A1A"/>
                          </a:solidFill>
                          <a:latin typeface="Helvetica Neue"/>
                        </a:rPr>
                        <a:t>Pediatric</a:t>
                      </a:r>
                    </a:p>
                  </a:txBody>
                  <a:tcPr marL="45720" marR="45720" marT="18288" marB="18288" anchor="t"/>
                </a:tc>
                <a:tc>
                  <a:txBody>
                    <a:bodyPr wrap="square"/>
                    <a:lstStyle/>
                    <a:p>
                      <a:r>
                        <a:rPr sz="900" b="0" i="0">
                          <a:solidFill>
                            <a:srgbClr val="1A1A1A"/>
                          </a:solidFill>
                          <a:latin typeface="Helvetica Neue"/>
                        </a:rPr>
                        <a:t>WristMIR: Coarse-to-Fine Region-Aware Retrieval of Pediatric Wrist Radiographs with Radiology Report-Driven Learning</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FERN: A Fetal Echocardiography Registration Network for 2D-to-3D Alignment</a:t>
                      </a:r>
                    </a:p>
                  </a:txBody>
                  <a:tcPr marL="45720" marR="45720" marT="18288" marB="18288" anchor="t"/>
                </a:tc>
              </a:tr>
              <a:tr h="192024">
                <a:tc>
                  <a:txBody>
                    <a:bodyPr wrap="square"/>
                    <a:lstStyle/>
                    <a:p>
                      <a:pPr algn="r"/>
                      <a:r>
                        <a:rPr sz="900" b="0" i="0">
                          <a:solidFill>
                            <a:srgbClr val="1A1A1A"/>
                          </a:solidFill>
                          <a:latin typeface="Helvetica Neue"/>
                        </a:rPr>
                        <a:t>2025</a:t>
                      </a:r>
                    </a:p>
                  </a:txBody>
                  <a:tcPr marL="45720" marR="45720" marT="18288" marB="18288" anchor="t"/>
                </a:tc>
                <a:tc>
                  <a:txBody>
                    <a:bodyPr wrap="square"/>
                    <a:lstStyle/>
                    <a:p>
                      <a:pPr algn="r"/>
                      <a:r>
                        <a:rPr sz="900" b="0" i="0">
                          <a:solidFill>
                            <a:srgbClr val="1A1A1A"/>
                          </a:solidFill>
                          <a:latin typeface="Helvetica Neue"/>
                        </a:rPr>
                        <a:t>Pediatric</a:t>
                      </a:r>
                    </a:p>
                  </a:txBody>
                  <a:tcPr marL="45720" marR="45720" marT="18288" marB="18288" anchor="t"/>
                </a:tc>
                <a:tc>
                  <a:txBody>
                    <a:bodyPr wrap="square"/>
                    <a:lstStyle/>
                    <a:p>
                      <a:r>
                        <a:rPr sz="900" b="0" i="0">
                          <a:solidFill>
                            <a:srgbClr val="1A1A1A"/>
                          </a:solidFill>
                          <a:latin typeface="Helvetica Neue"/>
                        </a:rPr>
                        <a:t>GAMBAS: Generalised-Hilbert Mamba for Super-resolution of Paediatric Ultra-Low-Field MRI</a:t>
                      </a:r>
                    </a:p>
                  </a:txBody>
                  <a:tcPr marL="45720" marR="45720" marT="18288" marB="18288" anchor="t"/>
                </a:tc>
              </a:tr>
              <a:tr h="192024">
                <a:tc>
                  <a:txBody>
                    <a:bodyPr wrap="square"/>
                    <a:lstStyle/>
                    <a:p>
                      <a:pPr algn="r"/>
                      <a:r>
                        <a:rPr sz="900" b="0" i="0">
                          <a:solidFill>
                            <a:srgbClr val="1A1A1A"/>
                          </a:solidFill>
                          <a:latin typeface="Helvetica Neue"/>
                        </a:rPr>
                        <a:t>2024</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Joint Motion Estimation with Geometric Deformation Correction for Fetal Echo Planar Images Via Deep Learning</a:t>
                      </a:r>
                    </a:p>
                  </a:txBody>
                  <a:tcPr marL="45720" marR="45720" marT="18288" marB="18288" anchor="t"/>
                </a:tc>
              </a:tr>
              <a:tr h="192024">
                <a:tc>
                  <a:txBody>
                    <a:bodyPr wrap="square"/>
                    <a:lstStyle/>
                    <a:p>
                      <a:pPr algn="r"/>
                      <a:r>
                        <a:rPr sz="900" b="0" i="0">
                          <a:solidFill>
                            <a:srgbClr val="1A1A1A"/>
                          </a:solidFill>
                          <a:latin typeface="Helvetica Neue"/>
                        </a:rPr>
                        <a:t>2023</a:t>
                      </a:r>
                    </a:p>
                  </a:txBody>
                  <a:tcPr marL="45720" marR="45720" marT="18288" marB="18288" anchor="t"/>
                </a:tc>
                <a:tc>
                  <a:txBody>
                    <a:bodyPr wrap="square"/>
                    <a:lstStyle/>
                    <a:p>
                      <a:pPr algn="r"/>
                      <a:r>
                        <a:rPr sz="900" b="0" i="0">
                          <a:solidFill>
                            <a:srgbClr val="1A1A1A"/>
                          </a:solidFill>
                          <a:latin typeface="Helvetica Neue"/>
                        </a:rPr>
                        <a:t>Fetal</a:t>
                      </a:r>
                    </a:p>
                  </a:txBody>
                  <a:tcPr marL="45720" marR="45720" marT="18288" marB="18288" anchor="t"/>
                </a:tc>
                <a:tc>
                  <a:txBody>
                    <a:bodyPr wrap="square"/>
                    <a:lstStyle/>
                    <a:p>
                      <a:r>
                        <a:rPr sz="900" b="0" i="0">
                          <a:solidFill>
                            <a:srgbClr val="1A1A1A"/>
                          </a:solidFill>
                          <a:latin typeface="Helvetica Neue"/>
                        </a:rPr>
                        <a:t>FUSQA: Fetal Ultrasound Segmentation Quality Assessment</a:t>
                      </a:r>
                    </a:p>
                  </a:txBody>
                  <a:tcPr marL="45720" marR="45720" marT="18288" marB="18288" anchor="t"/>
                </a:tc>
              </a:tr>
            </a:tbl>
          </a:graphicData>
        </a:graphic>
      </p:graphicFrame>
      <p:sp>
        <p:nvSpPr>
          <p:cNvPr id="6" name="TextBox 5"/>
          <p:cNvSpPr txBox="1"/>
          <p:nvPr/>
        </p:nvSpPr>
        <p:spPr>
          <a:xfrm>
            <a:off x="411480" y="3252343"/>
            <a:ext cx="11368735" cy="405765"/>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the meeting's accepted-paper list; a title counts when it names an imaging modality, an AI method and a pediatric term (fetal included). Titles only, so pediatric work that does not say so in its title is missed.</a:t>
            </a:r>
          </a:p>
        </p:txBody>
      </p:sp>
      <p:sp>
        <p:nvSpPr>
          <p:cNvPr id="7"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47 / 83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Which medical problems pediatric radiology AI addresses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pic>
        <p:nvPicPr>
          <p:cNvPr id="4" name="ped_problems" descr="ped_problems.png"/>
          <p:cNvPicPr>
            <a:picLocks noChangeAspect="1"/>
          </p:cNvPicPr>
          <p:nvPr/>
        </p:nvPicPr>
        <p:blipFill>
          <a:blip r:embed="rId2"/>
          <a:stretch>
            <a:fillRect/>
          </a:stretch>
        </p:blipFill>
        <p:spPr>
          <a:xfrm>
            <a:off x="2499112" y="877824"/>
            <a:ext cx="7193470" cy="4603821"/>
          </a:xfrm>
          <a:prstGeom prst="rect">
            <a:avLst/>
          </a:prstGeom>
        </p:spPr>
      </p:pic>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48 / 83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AI fracture detection in a real pediatric emergency department</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Ziegner et al., European Radiology 2025 (second most-cited pediatric paper of 2025)</a:t>
            </a:r>
          </a:p>
        </p:txBody>
      </p:sp>
      <p:pic>
        <p:nvPicPr>
          <p:cNvPr id="5" name="spot_fracture_ed" descr="spot_fracture_ed.jpg"/>
          <p:cNvPicPr>
            <a:picLocks noChangeAspect="1"/>
          </p:cNvPicPr>
          <p:nvPr/>
        </p:nvPicPr>
        <p:blipFill>
          <a:blip r:embed="rId2"/>
          <a:stretch>
            <a:fillRect/>
          </a:stretch>
        </p:blipFill>
        <p:spPr>
          <a:xfrm>
            <a:off x="411480" y="1258951"/>
            <a:ext cx="4698057" cy="1797790"/>
          </a:xfrm>
          <a:prstGeom prst="rect">
            <a:avLst/>
          </a:prstGeom>
        </p:spPr>
      </p:pic>
      <p:sp>
        <p:nvSpPr>
          <p:cNvPr id="6" name="TextBox 5"/>
          <p:cNvSpPr txBox="1"/>
          <p:nvPr/>
        </p:nvSpPr>
        <p:spPr>
          <a:xfrm>
            <a:off x="411480" y="3129893"/>
            <a:ext cx="4698059" cy="405765"/>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Ziegner et al., Eur Radiol 2025, figure 4: pediatric fractures the software found, with its per-region sensitivity and specificity</a:t>
            </a:r>
          </a:p>
        </p:txBody>
      </p:sp>
      <p:sp>
        <p:nvSpPr>
          <p:cNvPr id="7" name="TextBox 6"/>
          <p:cNvSpPr txBox="1"/>
          <p:nvPr/>
        </p:nvSpPr>
        <p:spPr>
          <a:xfrm>
            <a:off x="411480" y="3608810"/>
            <a:ext cx="4698059" cy="268604"/>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source: cdn.ncbi.nlm.nih.gov</a:t>
            </a:r>
          </a:p>
        </p:txBody>
      </p:sp>
      <p:sp>
        <p:nvSpPr>
          <p:cNvPr id="8" name="TextBox 7"/>
          <p:cNvSpPr txBox="1"/>
          <p:nvPr/>
        </p:nvSpPr>
        <p:spPr>
          <a:xfrm>
            <a:off x="5292419" y="1258951"/>
            <a:ext cx="6264078" cy="2347595"/>
          </a:xfrm>
          <a:prstGeom prst="rect">
            <a:avLst/>
          </a:prstGeom>
          <a:noFill/>
        </p:spPr>
        <p:txBody>
          <a:bodyPr wrap="square" lIns="45720" rIns="45720" tIns="27432" bIns="27432" anchor="t">
            <a:spAutoFit/>
          </a:bodyPr>
          <a:lstStyle/>
          <a:p>
            <a:pPr algn="l" marL="256032" indent="-256032">
              <a:spcAft>
                <a:spcPts val="384"/>
              </a:spcAft>
              <a:buChar char="•"/>
            </a:pPr>
            <a:r>
              <a:rPr sz="1100" b="1" i="0">
                <a:solidFill>
                  <a:srgbClr val="1A1A1A"/>
                </a:solidFill>
                <a:latin typeface="Helvetica Neue"/>
              </a:rPr>
              <a:t>Problem</a:t>
            </a:r>
            <a:r>
              <a:rPr sz="1100" b="0" i="0">
                <a:solidFill>
                  <a:srgbClr val="1A1A1A"/>
                </a:solidFill>
                <a:latin typeface="Helvetica Neue"/>
              </a:rPr>
              <a:t>: fractures in children are missed most often by the least experienced readers, at night, in the emergency department.</a:t>
            </a:r>
          </a:p>
          <a:p>
            <a:pPr algn="l" marL="256032" indent="-256032">
              <a:spcAft>
                <a:spcPts val="384"/>
              </a:spcAft>
              <a:buChar char="•"/>
            </a:pPr>
            <a:r>
              <a:rPr sz="1100" b="1" i="0">
                <a:solidFill>
                  <a:srgbClr val="1A1A1A"/>
                </a:solidFill>
                <a:latin typeface="Helvetica Neue"/>
              </a:rPr>
              <a:t>Data</a:t>
            </a:r>
            <a:r>
              <a:rPr sz="1100" b="0" i="0">
                <a:solidFill>
                  <a:srgbClr val="1A1A1A"/>
                </a:solidFill>
                <a:latin typeface="Helvetica Neue"/>
              </a:rPr>
              <a:t>: 1,672 consecutive radiographs of children under 18 from one tertiary pediatric emergency department, plus a selected medicolegal set (proximal tibia, radial condyle); three pediatric residents read each before and after seeing the AI.</a:t>
            </a:r>
          </a:p>
          <a:p>
            <a:pPr algn="l" marL="256032" indent="-256032">
              <a:spcAft>
                <a:spcPts val="384"/>
              </a:spcAft>
              <a:buChar char="•"/>
            </a:pPr>
            <a:r>
              <a:rPr sz="1100" b="1" i="0">
                <a:solidFill>
                  <a:srgbClr val="1A1A1A"/>
                </a:solidFill>
                <a:latin typeface="Helvetica Neue"/>
              </a:rPr>
              <a:t>Method</a:t>
            </a:r>
            <a:r>
              <a:rPr sz="1100" b="0" i="0">
                <a:solidFill>
                  <a:srgbClr val="1A1A1A"/>
                </a:solidFill>
                <a:latin typeface="Helvetica Neue"/>
              </a:rPr>
              <a:t>: a commercially available, CE-marked deep-learning fracture detector (adult-derived, pediatric extension) run stand-alone and as a second reader.</a:t>
            </a:r>
          </a:p>
          <a:p>
            <a:pPr algn="l" marL="256032" indent="-256032">
              <a:spcAft>
                <a:spcPts val="384"/>
              </a:spcAft>
              <a:buChar char="•"/>
            </a:pPr>
            <a:r>
              <a:rPr sz="1100" b="1" i="0">
                <a:solidFill>
                  <a:srgbClr val="1A1A1A"/>
                </a:solidFill>
                <a:latin typeface="Helvetica Neue"/>
              </a:rPr>
              <a:t>Result</a:t>
            </a:r>
            <a:r>
              <a:rPr sz="1100" b="0" i="0">
                <a:solidFill>
                  <a:srgbClr val="1A1A1A"/>
                </a:solidFill>
                <a:latin typeface="Helvetica Neue"/>
              </a:rPr>
              <a:t>: stand-alone sensitivity 92%, specificity 83%; 100% for proximal tibia but 68% for radial condyle fractures; residents' accuracy rose from 88% to 90%, and in 2% of cases they dropped a correct diagnosis after seeing the AI.</a:t>
            </a:r>
          </a:p>
          <a:p>
            <a:pPr algn="l" marL="256032" indent="-256032">
              <a:spcAft>
                <a:spcPts val="384"/>
              </a:spcAft>
              <a:buChar char="•"/>
            </a:pPr>
            <a:r>
              <a:rPr sz="1100" b="1" i="0">
                <a:solidFill>
                  <a:srgbClr val="1A1A1A"/>
                </a:solidFill>
                <a:latin typeface="Helvetica Neue"/>
              </a:rPr>
              <a:t>Why it matters</a:t>
            </a:r>
            <a:r>
              <a:rPr sz="1100" b="0" i="0">
                <a:solidFill>
                  <a:srgbClr val="1A1A1A"/>
                </a:solidFill>
                <a:latin typeface="Helvetica Neue"/>
              </a:rPr>
              <a:t>: the first real-life pediatric ED evaluation: the gain from a cleared adult tool is real but modest, and the elbow remains the weak spot.</a:t>
            </a:r>
          </a:p>
        </p:txBody>
      </p:sp>
      <p:sp>
        <p:nvSpPr>
          <p:cNvPr id="9"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49 / 83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pTBLightNet: pediatric tuberculosis on frontal and lateral chest radiographs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Capellán-Martín et al., Nature Communications 2025 (open access)</a:t>
            </a:r>
          </a:p>
        </p:txBody>
      </p:sp>
      <p:pic>
        <p:nvPicPr>
          <p:cNvPr id="5" name="spot_ped_tb" descr="spot_ped_tb.jpg"/>
          <p:cNvPicPr>
            <a:picLocks noChangeAspect="1"/>
          </p:cNvPicPr>
          <p:nvPr/>
        </p:nvPicPr>
        <p:blipFill>
          <a:blip r:embed="rId2"/>
          <a:stretch>
            <a:fillRect/>
          </a:stretch>
        </p:blipFill>
        <p:spPr>
          <a:xfrm>
            <a:off x="1572160" y="1258951"/>
            <a:ext cx="2376698" cy="2807208"/>
          </a:xfrm>
          <a:prstGeom prst="rect">
            <a:avLst/>
          </a:prstGeom>
        </p:spPr>
      </p:pic>
      <p:sp>
        <p:nvSpPr>
          <p:cNvPr id="6" name="TextBox 5"/>
          <p:cNvSpPr txBox="1"/>
          <p:nvPr/>
        </p:nvSpPr>
        <p:spPr>
          <a:xfrm>
            <a:off x="411480" y="4139311"/>
            <a:ext cx="4698059" cy="405765"/>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Capellan-Martin et al., Nat Commun 2025, figure 1: the multi-view pTBLightNet pipeline</a:t>
            </a:r>
          </a:p>
        </p:txBody>
      </p:sp>
      <p:sp>
        <p:nvSpPr>
          <p:cNvPr id="7" name="TextBox 6"/>
          <p:cNvSpPr txBox="1"/>
          <p:nvPr/>
        </p:nvSpPr>
        <p:spPr>
          <a:xfrm>
            <a:off x="411480" y="4618228"/>
            <a:ext cx="4698059" cy="268604"/>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source: cdn.ncbi.nlm.nih.gov</a:t>
            </a:r>
          </a:p>
        </p:txBody>
      </p:sp>
      <p:sp>
        <p:nvSpPr>
          <p:cNvPr id="8" name="TextBox 7"/>
          <p:cNvSpPr txBox="1"/>
          <p:nvPr/>
        </p:nvSpPr>
        <p:spPr>
          <a:xfrm>
            <a:off x="5292419" y="1258951"/>
            <a:ext cx="6264078" cy="2347595"/>
          </a:xfrm>
          <a:prstGeom prst="rect">
            <a:avLst/>
          </a:prstGeom>
          <a:noFill/>
        </p:spPr>
        <p:txBody>
          <a:bodyPr wrap="square" lIns="45720" rIns="45720" tIns="27432" bIns="27432" anchor="t">
            <a:spAutoFit/>
          </a:bodyPr>
          <a:lstStyle/>
          <a:p>
            <a:pPr algn="l" marL="256032" indent="-256032">
              <a:spcAft>
                <a:spcPts val="384"/>
              </a:spcAft>
              <a:buChar char="•"/>
            </a:pPr>
            <a:r>
              <a:rPr sz="1100" b="1" i="0">
                <a:solidFill>
                  <a:srgbClr val="1A1A1A"/>
                </a:solidFill>
                <a:latin typeface="Helvetica Neue"/>
              </a:rPr>
              <a:t>Problem</a:t>
            </a:r>
            <a:r>
              <a:rPr sz="1100" b="0" i="0">
                <a:solidFill>
                  <a:srgbClr val="1A1A1A"/>
                </a:solidFill>
                <a:latin typeface="Helvetica Neue"/>
              </a:rPr>
              <a:t>: pediatric pulmonary TB has vaguer symptoms and subtler radiographs than adult TB; most affected children in high-burden settings are never diagnosed.</a:t>
            </a:r>
          </a:p>
          <a:p>
            <a:pPr algn="l" marL="256032" indent="-256032">
              <a:spcAft>
                <a:spcPts val="384"/>
              </a:spcAft>
              <a:buChar char="•"/>
            </a:pPr>
            <a:r>
              <a:rPr sz="1100" b="1" i="0">
                <a:solidFill>
                  <a:srgbClr val="1A1A1A"/>
                </a:solidFill>
                <a:latin typeface="Helvetica Neue"/>
              </a:rPr>
              <a:t>Data</a:t>
            </a:r>
            <a:r>
              <a:rPr sz="1100" b="0" i="0">
                <a:solidFill>
                  <a:srgbClr val="1A1A1A"/>
                </a:solidFill>
                <a:latin typeface="Helvetica Neue"/>
              </a:rPr>
              <a:t>: pre-trained on 114,173 adult chest radiographs, then fine-tuned and tested on 918 radiographs from three pediatric TB cohorts, with lateral views.</a:t>
            </a:r>
          </a:p>
          <a:p>
            <a:pPr algn="l" marL="256032" indent="-256032">
              <a:spcAft>
                <a:spcPts val="384"/>
              </a:spcAft>
              <a:buChar char="•"/>
            </a:pPr>
            <a:r>
              <a:rPr sz="1100" b="1" i="0">
                <a:solidFill>
                  <a:srgbClr val="1A1A1A"/>
                </a:solidFill>
                <a:latin typeface="Helvetica Neue"/>
              </a:rPr>
              <a:t>Method</a:t>
            </a:r>
            <a:r>
              <a:rPr sz="1100" b="0" i="0">
                <a:solidFill>
                  <a:srgbClr val="1A1A1A"/>
                </a:solidFill>
                <a:latin typeface="Helvetica Neue"/>
              </a:rPr>
              <a:t>: a multi-view network that scores frontal and lateral films for TB-compatible findings; separate models for under-5 and 5-18 years.</a:t>
            </a:r>
          </a:p>
          <a:p>
            <a:pPr algn="l" marL="256032" indent="-256032">
              <a:spcAft>
                <a:spcPts val="384"/>
              </a:spcAft>
              <a:buChar char="•"/>
            </a:pPr>
            <a:r>
              <a:rPr sz="1100" b="1" i="0">
                <a:solidFill>
                  <a:srgbClr val="1A1A1A"/>
                </a:solidFill>
                <a:latin typeface="Helvetica Neue"/>
              </a:rPr>
              <a:t>Result</a:t>
            </a:r>
            <a:r>
              <a:rPr sz="1100" b="0" i="0">
                <a:solidFill>
                  <a:srgbClr val="1A1A1A"/>
                </a:solidFill>
                <a:latin typeface="Helvetica Neue"/>
              </a:rPr>
              <a:t>: AUC 0.90 on internal and 0.68 on external testing; lateral views helped most in the youngest children; age-specific models matched larger undifferentiated ones.</a:t>
            </a:r>
          </a:p>
          <a:p>
            <a:pPr algn="l" marL="256032" indent="-256032">
              <a:spcAft>
                <a:spcPts val="384"/>
              </a:spcAft>
              <a:buChar char="•"/>
            </a:pPr>
            <a:r>
              <a:rPr sz="1100" b="1" i="0">
                <a:solidFill>
                  <a:srgbClr val="1A1A1A"/>
                </a:solidFill>
                <a:latin typeface="Helvetica Neue"/>
              </a:rPr>
              <a:t>Why it matters</a:t>
            </a:r>
            <a:r>
              <a:rPr sz="1100" b="0" i="0">
                <a:solidFill>
                  <a:srgbClr val="1A1A1A"/>
                </a:solidFill>
                <a:latin typeface="Helvetica Neue"/>
              </a:rPr>
              <a:t>: shows both the value of adult pre-training for a rare pediatric target and the internal-to-external drop that every pediatric deployment should expect.</a:t>
            </a:r>
          </a:p>
        </p:txBody>
      </p:sp>
      <p:sp>
        <p:nvSpPr>
          <p:cNvPr id="9"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50 / 83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Deep-learning reconstruction shortens pediatric brain MRI</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Yoo et al., Korean Journal of Radiology 2025 (open access)</a:t>
            </a:r>
          </a:p>
        </p:txBody>
      </p:sp>
      <p:pic>
        <p:nvPicPr>
          <p:cNvPr id="5" name="spot_dl_recon_mri" descr="spot_dl_recon_mri.jpg"/>
          <p:cNvPicPr>
            <a:picLocks noChangeAspect="1"/>
          </p:cNvPicPr>
          <p:nvPr/>
        </p:nvPicPr>
        <p:blipFill>
          <a:blip r:embed="rId2"/>
          <a:stretch>
            <a:fillRect/>
          </a:stretch>
        </p:blipFill>
        <p:spPr>
          <a:xfrm>
            <a:off x="804870" y="1258951"/>
            <a:ext cx="3911277" cy="2807208"/>
          </a:xfrm>
          <a:prstGeom prst="rect">
            <a:avLst/>
          </a:prstGeom>
        </p:spPr>
      </p:pic>
      <p:sp>
        <p:nvSpPr>
          <p:cNvPr id="6" name="TextBox 5"/>
          <p:cNvSpPr txBox="1"/>
          <p:nvPr/>
        </p:nvSpPr>
        <p:spPr>
          <a:xfrm>
            <a:off x="411480" y="4139311"/>
            <a:ext cx="4698059" cy="542925"/>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Yoo et al., Korean J Radiol 2025, figure 2: conventional (A, D) vs accelerated 3D T1 pediatric brain MRI without (B, E) and with (C, F) deep-learning reconstruction</a:t>
            </a:r>
          </a:p>
        </p:txBody>
      </p:sp>
      <p:sp>
        <p:nvSpPr>
          <p:cNvPr id="7" name="TextBox 6"/>
          <p:cNvSpPr txBox="1"/>
          <p:nvPr/>
        </p:nvSpPr>
        <p:spPr>
          <a:xfrm>
            <a:off x="411480" y="4755388"/>
            <a:ext cx="4698059" cy="268604"/>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source: cdn.ncbi.nlm.nih.gov</a:t>
            </a:r>
          </a:p>
        </p:txBody>
      </p:sp>
      <p:sp>
        <p:nvSpPr>
          <p:cNvPr id="8" name="TextBox 7"/>
          <p:cNvSpPr txBox="1"/>
          <p:nvPr/>
        </p:nvSpPr>
        <p:spPr>
          <a:xfrm>
            <a:off x="5292419" y="1258951"/>
            <a:ext cx="6264078" cy="2347595"/>
          </a:xfrm>
          <a:prstGeom prst="rect">
            <a:avLst/>
          </a:prstGeom>
          <a:noFill/>
        </p:spPr>
        <p:txBody>
          <a:bodyPr wrap="square" lIns="45720" rIns="45720" tIns="27432" bIns="27432" anchor="t">
            <a:spAutoFit/>
          </a:bodyPr>
          <a:lstStyle/>
          <a:p>
            <a:pPr algn="l" marL="256032" indent="-256032">
              <a:spcAft>
                <a:spcPts val="384"/>
              </a:spcAft>
              <a:buChar char="•"/>
            </a:pPr>
            <a:r>
              <a:rPr sz="1100" b="1" i="0">
                <a:solidFill>
                  <a:srgbClr val="1A1A1A"/>
                </a:solidFill>
                <a:latin typeface="Helvetica Neue"/>
              </a:rPr>
              <a:t>Problem</a:t>
            </a:r>
            <a:r>
              <a:rPr sz="1100" b="0" i="0">
                <a:solidFill>
                  <a:srgbClr val="1A1A1A"/>
                </a:solidFill>
                <a:latin typeface="Helvetica Neue"/>
              </a:rPr>
              <a:t>: long 3D T1 sequences are where children move, sedation is prescribed, and scanner time is lost.</a:t>
            </a:r>
          </a:p>
          <a:p>
            <a:pPr algn="l" marL="256032" indent="-256032">
              <a:spcAft>
                <a:spcPts val="384"/>
              </a:spcAft>
              <a:buChar char="•"/>
            </a:pPr>
            <a:r>
              <a:rPr sz="1100" b="1" i="0">
                <a:solidFill>
                  <a:srgbClr val="1A1A1A"/>
                </a:solidFill>
                <a:latin typeface="Helvetica Neue"/>
              </a:rPr>
              <a:t>Data</a:t>
            </a:r>
            <a:r>
              <a:rPr sz="1100" b="0" i="0">
                <a:solidFill>
                  <a:srgbClr val="1A1A1A"/>
                </a:solidFill>
                <a:latin typeface="Helvetica Neue"/>
              </a:rPr>
              <a:t>: 46 children scanned with both the conventional and an accelerated 3D T1 protocol (pre- and post-contrast) on one 3T scanner.</a:t>
            </a:r>
          </a:p>
          <a:p>
            <a:pPr algn="l" marL="256032" indent="-256032">
              <a:spcAft>
                <a:spcPts val="384"/>
              </a:spcAft>
              <a:buChar char="•"/>
            </a:pPr>
            <a:r>
              <a:rPr sz="1100" b="1" i="0">
                <a:solidFill>
                  <a:srgbClr val="1A1A1A"/>
                </a:solidFill>
                <a:latin typeface="Helvetica Neue"/>
              </a:rPr>
              <a:t>Method</a:t>
            </a:r>
            <a:r>
              <a:rPr sz="1100" b="0" i="0">
                <a:solidFill>
                  <a:srgbClr val="1A1A1A"/>
                </a:solidFill>
                <a:latin typeface="Helvetica Neue"/>
              </a:rPr>
              <a:t>: vendor deep-learning reconstruction applied to the accelerated acquisition; noise, contrast, signal-to-noise and radiologist ratings compared with the conventional scan.</a:t>
            </a:r>
          </a:p>
          <a:p>
            <a:pPr algn="l" marL="256032" indent="-256032">
              <a:spcAft>
                <a:spcPts val="384"/>
              </a:spcAft>
              <a:buChar char="•"/>
            </a:pPr>
            <a:r>
              <a:rPr sz="1100" b="1" i="0">
                <a:solidFill>
                  <a:srgbClr val="1A1A1A"/>
                </a:solidFill>
                <a:latin typeface="Helvetica Neue"/>
              </a:rPr>
              <a:t>Result</a:t>
            </a:r>
            <a:r>
              <a:rPr sz="1100" b="0" i="0">
                <a:solidFill>
                  <a:srgbClr val="1A1A1A"/>
                </a:solidFill>
                <a:latin typeface="Helvetica Neue"/>
              </a:rPr>
              <a:t>: acquisition time cut by 29% (pre-contrast) and 41% (post-contrast); the deep-learning images had lower noise, higher SNR and CNR, better overall quality and fewer artifacts than the conventional scan.</a:t>
            </a:r>
          </a:p>
          <a:p>
            <a:pPr algn="l" marL="256032" indent="-256032">
              <a:spcAft>
                <a:spcPts val="384"/>
              </a:spcAft>
              <a:buChar char="•"/>
            </a:pPr>
            <a:r>
              <a:rPr sz="1100" b="1" i="0">
                <a:solidFill>
                  <a:srgbClr val="1A1A1A"/>
                </a:solidFill>
                <a:latin typeface="Helvetica Neue"/>
              </a:rPr>
              <a:t>Why it matters</a:t>
            </a:r>
            <a:r>
              <a:rPr sz="1100" b="0" i="0">
                <a:solidFill>
                  <a:srgbClr val="1A1A1A"/>
                </a:solidFill>
                <a:latin typeface="Helvetica Neue"/>
              </a:rPr>
              <a:t>: reconstruction AI is on the scanner today and gives children a shorter, better exam without any diagnostic model in the loop.</a:t>
            </a:r>
          </a:p>
        </p:txBody>
      </p:sp>
      <p:sp>
        <p:nvSpPr>
          <p:cNvPr id="9"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51 / 83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Deeplasia bone age in rare growth disorders, against multiple experts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Skaf et al., Frontiers in Endocrinology 2026 (open access); external validation of Rassmann et al., Pediatr Radiol 2023</a:t>
            </a:r>
          </a:p>
        </p:txBody>
      </p:sp>
      <p:pic>
        <p:nvPicPr>
          <p:cNvPr id="5" name="spot_deeplasia_rare" descr="spot_deeplasia_rare.jpg"/>
          <p:cNvPicPr>
            <a:picLocks noChangeAspect="1"/>
          </p:cNvPicPr>
          <p:nvPr/>
        </p:nvPicPr>
        <p:blipFill>
          <a:blip r:embed="rId2"/>
          <a:stretch>
            <a:fillRect/>
          </a:stretch>
        </p:blipFill>
        <p:spPr>
          <a:xfrm>
            <a:off x="1315795" y="1258951"/>
            <a:ext cx="2889426" cy="2807208"/>
          </a:xfrm>
          <a:prstGeom prst="rect">
            <a:avLst/>
          </a:prstGeom>
        </p:spPr>
      </p:pic>
      <p:sp>
        <p:nvSpPr>
          <p:cNvPr id="6" name="TextBox 5"/>
          <p:cNvSpPr txBox="1"/>
          <p:nvPr/>
        </p:nvSpPr>
        <p:spPr>
          <a:xfrm>
            <a:off x="411480" y="4139311"/>
            <a:ext cx="4698059" cy="405765"/>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Skaf et al., Front Endocrinol 2026, figure 1: Deeplasia bone age vs the expert mean in the endocrine cohort (scatter and Bland-Altman)</a:t>
            </a:r>
          </a:p>
        </p:txBody>
      </p:sp>
      <p:sp>
        <p:nvSpPr>
          <p:cNvPr id="7" name="TextBox 6"/>
          <p:cNvSpPr txBox="1"/>
          <p:nvPr/>
        </p:nvSpPr>
        <p:spPr>
          <a:xfrm>
            <a:off x="411480" y="4618228"/>
            <a:ext cx="4698059" cy="268604"/>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source: cdn.ncbi.nlm.nih.gov</a:t>
            </a:r>
          </a:p>
        </p:txBody>
      </p:sp>
      <p:sp>
        <p:nvSpPr>
          <p:cNvPr id="8" name="TextBox 7"/>
          <p:cNvSpPr txBox="1"/>
          <p:nvPr/>
        </p:nvSpPr>
        <p:spPr>
          <a:xfrm>
            <a:off x="5292419" y="1258951"/>
            <a:ext cx="6264078" cy="2515235"/>
          </a:xfrm>
          <a:prstGeom prst="rect">
            <a:avLst/>
          </a:prstGeom>
          <a:noFill/>
        </p:spPr>
        <p:txBody>
          <a:bodyPr wrap="square" lIns="45720" rIns="45720" tIns="27432" bIns="27432" anchor="t">
            <a:spAutoFit/>
          </a:bodyPr>
          <a:lstStyle/>
          <a:p>
            <a:pPr algn="l" marL="256032" indent="-256032">
              <a:spcAft>
                <a:spcPts val="384"/>
              </a:spcAft>
              <a:buChar char="•"/>
            </a:pPr>
            <a:r>
              <a:rPr sz="1100" b="1" i="0">
                <a:solidFill>
                  <a:srgbClr val="1A1A1A"/>
                </a:solidFill>
                <a:latin typeface="Helvetica Neue"/>
              </a:rPr>
              <a:t>Problem</a:t>
            </a:r>
            <a:r>
              <a:rPr sz="1100" b="0" i="0">
                <a:solidFill>
                  <a:srgbClr val="1A1A1A"/>
                </a:solidFill>
                <a:latin typeface="Helvetica Neue"/>
              </a:rPr>
              <a:t>: bone-age models are trained on ordinary hands; the children who need bone age most have syndromes, endocrine disease or lysosomal storage disorders that distort the skeleton.</a:t>
            </a:r>
          </a:p>
          <a:p>
            <a:pPr algn="l" marL="256032" indent="-256032">
              <a:spcAft>
                <a:spcPts val="384"/>
              </a:spcAft>
              <a:buChar char="•"/>
            </a:pPr>
            <a:r>
              <a:rPr sz="1100" b="1" i="0">
                <a:solidFill>
                  <a:srgbClr val="1A1A1A"/>
                </a:solidFill>
                <a:latin typeface="Helvetica Neue"/>
              </a:rPr>
              <a:t>Data</a:t>
            </a:r>
            <a:r>
              <a:rPr sz="1100" b="0" i="0">
                <a:solidFill>
                  <a:srgbClr val="1A1A1A"/>
                </a:solidFill>
                <a:latin typeface="Helvetica Neue"/>
              </a:rPr>
              <a:t>: 1,138 hand radiographs from several centers: SHOX deficiency, Noonan, Silver-Russell, Turner, CAH, precocious puberty (cohort 1) and mucopolysaccharidoses and other storage disorders (cohort 2); two to five expert Greulich-Pyle readings each.</a:t>
            </a:r>
          </a:p>
          <a:p>
            <a:pPr algn="l" marL="256032" indent="-256032">
              <a:spcAft>
                <a:spcPts val="384"/>
              </a:spcAft>
              <a:buChar char="•"/>
            </a:pPr>
            <a:r>
              <a:rPr sz="1100" b="1" i="0">
                <a:solidFill>
                  <a:srgbClr val="1A1A1A"/>
                </a:solidFill>
                <a:latin typeface="Helvetica Neue"/>
              </a:rPr>
              <a:t>Method</a:t>
            </a:r>
            <a:r>
              <a:rPr sz="1100" b="0" i="0">
                <a:solidFill>
                  <a:srgbClr val="1A1A1A"/>
                </a:solidFill>
                <a:latin typeface="Helvetica Neue"/>
              </a:rPr>
              <a:t>: the open-source Deeplasia system run unchanged; each human rater and the model scored against the remaining experts.</a:t>
            </a:r>
          </a:p>
          <a:p>
            <a:pPr algn="l" marL="256032" indent="-256032">
              <a:spcAft>
                <a:spcPts val="384"/>
              </a:spcAft>
              <a:buChar char="•"/>
            </a:pPr>
            <a:r>
              <a:rPr sz="1100" b="1" i="0">
                <a:solidFill>
                  <a:srgbClr val="1A1A1A"/>
                </a:solidFill>
                <a:latin typeface="Helvetica Neue"/>
              </a:rPr>
              <a:t>Result</a:t>
            </a:r>
            <a:r>
              <a:rPr sz="1100" b="0" i="0">
                <a:solidFill>
                  <a:srgbClr val="1A1A1A"/>
                </a:solidFill>
                <a:latin typeface="Helvetica Neue"/>
              </a:rPr>
              <a:t>: mean absolute error 6.0 months (cohort 1) and 7.1 months (storage disorders), 1-year accuracy 90% and 81%; the model beat every individual human rater.</a:t>
            </a:r>
          </a:p>
          <a:p>
            <a:pPr algn="l" marL="256032" indent="-256032">
              <a:spcAft>
                <a:spcPts val="384"/>
              </a:spcAft>
              <a:buChar char="•"/>
            </a:pPr>
            <a:r>
              <a:rPr sz="1100" b="1" i="0">
                <a:solidFill>
                  <a:srgbClr val="1A1A1A"/>
                </a:solidFill>
                <a:latin typeface="Helvetica Neue"/>
              </a:rPr>
              <a:t>Why it matters</a:t>
            </a:r>
            <a:r>
              <a:rPr sz="1100" b="0" i="0">
                <a:solidFill>
                  <a:srgbClr val="1A1A1A"/>
                </a:solidFill>
                <a:latin typeface="Helvetica Neue"/>
              </a:rPr>
              <a:t>: an open pediatric model validated on the hardest cases, by an outside group, on external data: the template for how a children's hospital should test any tool.</a:t>
            </a:r>
          </a:p>
        </p:txBody>
      </p:sp>
      <p:sp>
        <p:nvSpPr>
          <p:cNvPr id="9"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52 / 83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Pediatric PET at one fifth of the counts with patch-based deep learning</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Han et al., EJNMMI Physics 2026 (open access; Cincinnati Children's)</a:t>
            </a:r>
          </a:p>
        </p:txBody>
      </p:sp>
      <p:pic>
        <p:nvPicPr>
          <p:cNvPr id="5" name="spot_pet_dose" descr="spot_pet_dose.jpg"/>
          <p:cNvPicPr>
            <a:picLocks noChangeAspect="1"/>
          </p:cNvPicPr>
          <p:nvPr/>
        </p:nvPicPr>
        <p:blipFill>
          <a:blip r:embed="rId2"/>
          <a:stretch>
            <a:fillRect/>
          </a:stretch>
        </p:blipFill>
        <p:spPr>
          <a:xfrm>
            <a:off x="1544167" y="1258951"/>
            <a:ext cx="2432685" cy="2807208"/>
          </a:xfrm>
          <a:prstGeom prst="rect">
            <a:avLst/>
          </a:prstGeom>
        </p:spPr>
      </p:pic>
      <p:sp>
        <p:nvSpPr>
          <p:cNvPr id="6" name="TextBox 5"/>
          <p:cNvSpPr txBox="1"/>
          <p:nvPr/>
        </p:nvSpPr>
        <p:spPr>
          <a:xfrm>
            <a:off x="411480" y="4139311"/>
            <a:ext cx="4698059" cy="405765"/>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Han et al., EJNMMI Phys 2026, figure 5: pediatric whole-body FDG PET, standard 90 s vs 20 s per bed, with and without patch-based deep-learning denoising</a:t>
            </a:r>
          </a:p>
        </p:txBody>
      </p:sp>
      <p:sp>
        <p:nvSpPr>
          <p:cNvPr id="7" name="TextBox 6"/>
          <p:cNvSpPr txBox="1"/>
          <p:nvPr/>
        </p:nvSpPr>
        <p:spPr>
          <a:xfrm>
            <a:off x="411480" y="4618228"/>
            <a:ext cx="4698059" cy="268604"/>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source: cdn.ncbi.nlm.nih.gov</a:t>
            </a:r>
          </a:p>
        </p:txBody>
      </p:sp>
      <p:sp>
        <p:nvSpPr>
          <p:cNvPr id="8" name="TextBox 7"/>
          <p:cNvSpPr txBox="1"/>
          <p:nvPr/>
        </p:nvSpPr>
        <p:spPr>
          <a:xfrm>
            <a:off x="5292419" y="1258951"/>
            <a:ext cx="6264078" cy="2179955"/>
          </a:xfrm>
          <a:prstGeom prst="rect">
            <a:avLst/>
          </a:prstGeom>
          <a:noFill/>
        </p:spPr>
        <p:txBody>
          <a:bodyPr wrap="square" lIns="45720" rIns="45720" tIns="27432" bIns="27432" anchor="t">
            <a:spAutoFit/>
          </a:bodyPr>
          <a:lstStyle/>
          <a:p>
            <a:pPr algn="l" marL="256032" indent="-256032">
              <a:spcAft>
                <a:spcPts val="384"/>
              </a:spcAft>
              <a:buChar char="•"/>
            </a:pPr>
            <a:r>
              <a:rPr sz="1100" b="1" i="0">
                <a:solidFill>
                  <a:srgbClr val="1A1A1A"/>
                </a:solidFill>
                <a:latin typeface="Helvetica Neue"/>
              </a:rPr>
              <a:t>Problem</a:t>
            </a:r>
            <a:r>
              <a:rPr sz="1100" b="0" i="0">
                <a:solidFill>
                  <a:srgbClr val="1A1A1A"/>
                </a:solidFill>
                <a:latin typeface="Helvetica Neue"/>
              </a:rPr>
              <a:t>: PET dose and scan time in children are set by noise; conventional denoising networks need large training sets that pediatric PET does not have.</a:t>
            </a:r>
          </a:p>
          <a:p>
            <a:pPr algn="l" marL="256032" indent="-256032">
              <a:spcAft>
                <a:spcPts val="384"/>
              </a:spcAft>
              <a:buChar char="•"/>
            </a:pPr>
            <a:r>
              <a:rPr sz="1100" b="1" i="0">
                <a:solidFill>
                  <a:srgbClr val="1A1A1A"/>
                </a:solidFill>
                <a:latin typeface="Helvetica Neue"/>
              </a:rPr>
              <a:t>Data</a:t>
            </a:r>
            <a:r>
              <a:rPr sz="1100" b="0" i="0">
                <a:solidFill>
                  <a:srgbClr val="1A1A1A"/>
                </a:solidFill>
                <a:latin typeface="Helvetica Neue"/>
              </a:rPr>
              <a:t>: one high-quality pediatric exam for training; a NEMA phantom and 88 clinical whole-body FDG exams (under 12 years) with list-mode data truncated from 90 s to 20 s per bed.</a:t>
            </a:r>
          </a:p>
          <a:p>
            <a:pPr algn="l" marL="256032" indent="-256032">
              <a:spcAft>
                <a:spcPts val="384"/>
              </a:spcAft>
              <a:buChar char="•"/>
            </a:pPr>
            <a:r>
              <a:rPr sz="1100" b="1" i="0">
                <a:solidFill>
                  <a:srgbClr val="1A1A1A"/>
                </a:solidFill>
                <a:latin typeface="Helvetica Neue"/>
              </a:rPr>
              <a:t>Method</a:t>
            </a:r>
            <a:r>
              <a:rPr sz="1100" b="0" i="0">
                <a:solidFill>
                  <a:srgbClr val="1A1A1A"/>
                </a:solidFill>
                <a:latin typeface="Helvetica Neue"/>
              </a:rPr>
              <a:t>: a patch-based network that learns local structure from a single exam and denoises the reduced-count images; blinded observer study and SUV analysis.</a:t>
            </a:r>
          </a:p>
          <a:p>
            <a:pPr algn="l" marL="256032" indent="-256032">
              <a:spcAft>
                <a:spcPts val="384"/>
              </a:spcAft>
              <a:buChar char="•"/>
            </a:pPr>
            <a:r>
              <a:rPr sz="1100" b="1" i="0">
                <a:solidFill>
                  <a:srgbClr val="1A1A1A"/>
                </a:solidFill>
                <a:latin typeface="Helvetica Neue"/>
              </a:rPr>
              <a:t>Result</a:t>
            </a:r>
            <a:r>
              <a:rPr sz="1100" b="0" i="0">
                <a:solidFill>
                  <a:srgbClr val="1A1A1A"/>
                </a:solidFill>
                <a:latin typeface="Helvetica Neue"/>
              </a:rPr>
              <a:t>: 20-second images rated equal or better than the standard 90-second images in more than 85% of cases, with resolution, contrast and SUV preserved.</a:t>
            </a:r>
          </a:p>
          <a:p>
            <a:pPr algn="l" marL="256032" indent="-256032">
              <a:spcAft>
                <a:spcPts val="384"/>
              </a:spcAft>
              <a:buChar char="•"/>
            </a:pPr>
            <a:r>
              <a:rPr sz="1100" b="1" i="0">
                <a:solidFill>
                  <a:srgbClr val="1A1A1A"/>
                </a:solidFill>
                <a:latin typeface="Helvetica Neue"/>
              </a:rPr>
              <a:t>Why it matters</a:t>
            </a:r>
            <a:r>
              <a:rPr sz="1100" b="0" i="0">
                <a:solidFill>
                  <a:srgbClr val="1A1A1A"/>
                </a:solidFill>
                <a:latin typeface="Helvetica Neue"/>
              </a:rPr>
              <a:t>: either a 4.5x shorter scan or about 22% of today's injected activity, from a method trainable on a single local exam.</a:t>
            </a:r>
          </a:p>
        </p:txBody>
      </p:sp>
      <p:sp>
        <p:nvSpPr>
          <p:cNvPr id="9"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53 / 83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Children are not small adults: an adult CT segmentation model in children</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JOURNALS/PREPRINTS</a:t>
            </a:r>
          </a:p>
        </p:txBody>
      </p:sp>
      <p:sp>
        <p:nvSpPr>
          <p:cNvPr id="4" name="TextBox 3"/>
          <p:cNvSpPr txBox="1"/>
          <p:nvPr/>
        </p:nvSpPr>
        <p:spPr>
          <a:xfrm>
            <a:off x="411480" y="877824"/>
            <a:ext cx="11368735" cy="30797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Chatterjee et al., Journal of Imaging Informatics in Medicine 2025</a:t>
            </a:r>
          </a:p>
        </p:txBody>
      </p:sp>
      <p:pic>
        <p:nvPicPr>
          <p:cNvPr id="5" name="spot_not_small_adults" descr="spot_not_small_adults.jpg"/>
          <p:cNvPicPr>
            <a:picLocks noChangeAspect="1"/>
          </p:cNvPicPr>
          <p:nvPr/>
        </p:nvPicPr>
        <p:blipFill>
          <a:blip r:embed="rId2"/>
          <a:stretch>
            <a:fillRect/>
          </a:stretch>
        </p:blipFill>
        <p:spPr>
          <a:xfrm>
            <a:off x="1160448" y="1258951"/>
            <a:ext cx="3200122" cy="2807208"/>
          </a:xfrm>
          <a:prstGeom prst="rect">
            <a:avLst/>
          </a:prstGeom>
        </p:spPr>
      </p:pic>
      <p:sp>
        <p:nvSpPr>
          <p:cNvPr id="6" name="TextBox 5"/>
          <p:cNvSpPr txBox="1"/>
          <p:nvPr/>
        </p:nvSpPr>
        <p:spPr>
          <a:xfrm>
            <a:off x="411480" y="4139311"/>
            <a:ext cx="4698059" cy="405765"/>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Chatterjee et al., J Imaging Inform Med 2025, figure 7: pediatric CT organ labels, ground truth vs adult-trained TotalSegmentator vs pediatric-trained models</a:t>
            </a:r>
          </a:p>
        </p:txBody>
      </p:sp>
      <p:sp>
        <p:nvSpPr>
          <p:cNvPr id="7" name="TextBox 6"/>
          <p:cNvSpPr txBox="1"/>
          <p:nvPr/>
        </p:nvSpPr>
        <p:spPr>
          <a:xfrm>
            <a:off x="411480" y="4618228"/>
            <a:ext cx="4698059" cy="268604"/>
          </a:xfrm>
          <a:prstGeom prst="rect">
            <a:avLst/>
          </a:prstGeom>
          <a:noFill/>
        </p:spPr>
        <p:txBody>
          <a:bodyPr wrap="square" lIns="45720" rIns="45720" tIns="27432" bIns="27432" anchor="t">
            <a:spAutoFit/>
          </a:bodyPr>
          <a:lstStyle/>
          <a:p>
            <a:pPr algn="ctr">
              <a:spcAft>
                <a:spcPts val="315"/>
              </a:spcAft>
            </a:pPr>
            <a:r>
              <a:rPr sz="900" b="0" i="0">
                <a:solidFill>
                  <a:srgbClr val="1A1A1A"/>
                </a:solidFill>
                <a:latin typeface="Helvetica Neue"/>
              </a:rPr>
              <a:t>source: cdn.ncbi.nlm.nih.gov</a:t>
            </a:r>
          </a:p>
        </p:txBody>
      </p:sp>
      <p:sp>
        <p:nvSpPr>
          <p:cNvPr id="8" name="TextBox 7"/>
          <p:cNvSpPr txBox="1"/>
          <p:nvPr/>
        </p:nvSpPr>
        <p:spPr>
          <a:xfrm>
            <a:off x="5292419" y="1258951"/>
            <a:ext cx="6264078" cy="2179955"/>
          </a:xfrm>
          <a:prstGeom prst="rect">
            <a:avLst/>
          </a:prstGeom>
          <a:noFill/>
        </p:spPr>
        <p:txBody>
          <a:bodyPr wrap="square" lIns="45720" rIns="45720" tIns="27432" bIns="27432" anchor="t">
            <a:spAutoFit/>
          </a:bodyPr>
          <a:lstStyle/>
          <a:p>
            <a:pPr algn="l" marL="256032" indent="-256032">
              <a:spcAft>
                <a:spcPts val="384"/>
              </a:spcAft>
              <a:buChar char="•"/>
            </a:pPr>
            <a:r>
              <a:rPr sz="1100" b="1" i="0">
                <a:solidFill>
                  <a:srgbClr val="1A1A1A"/>
                </a:solidFill>
                <a:latin typeface="Helvetica Neue"/>
              </a:rPr>
              <a:t>Problem</a:t>
            </a:r>
            <a:r>
              <a:rPr sz="1100" b="0" i="0">
                <a:solidFill>
                  <a:srgbClr val="1A1A1A"/>
                </a:solidFill>
                <a:latin typeface="Helvetica Neue"/>
              </a:rPr>
              <a:t>: the most-used open CT organ segmentation model (TotalSegmentator) was trained on adults; nobody had measured how it behaves in children.</a:t>
            </a:r>
          </a:p>
          <a:p>
            <a:pPr algn="l" marL="256032" indent="-256032">
              <a:spcAft>
                <a:spcPts val="384"/>
              </a:spcAft>
              <a:buChar char="•"/>
            </a:pPr>
            <a:r>
              <a:rPr sz="1100" b="1" i="0">
                <a:solidFill>
                  <a:srgbClr val="1A1A1A"/>
                </a:solidFill>
                <a:latin typeface="Helvetica Neue"/>
              </a:rPr>
              <a:t>Data</a:t>
            </a:r>
            <a:r>
              <a:rPr sz="1100" b="0" i="0">
                <a:solidFill>
                  <a:srgbClr val="1A1A1A"/>
                </a:solidFill>
                <a:latin typeface="Helvetica Neue"/>
              </a:rPr>
              <a:t>: external adult (n = 300) and pediatric (n = 359) abdominal CT sets with expert organ labels.</a:t>
            </a:r>
          </a:p>
          <a:p>
            <a:pPr algn="l" marL="256032" indent="-256032">
              <a:spcAft>
                <a:spcPts val="384"/>
              </a:spcAft>
              <a:buChar char="•"/>
            </a:pPr>
            <a:r>
              <a:rPr sz="1100" b="1" i="0">
                <a:solidFill>
                  <a:srgbClr val="1A1A1A"/>
                </a:solidFill>
                <a:latin typeface="Helvetica Neue"/>
              </a:rPr>
              <a:t>Method</a:t>
            </a:r>
            <a:r>
              <a:rPr sz="1100" b="0" i="0">
                <a:solidFill>
                  <a:srgbClr val="1A1A1A"/>
                </a:solidFill>
                <a:latin typeface="Helvetica Neue"/>
              </a:rPr>
              <a:t>: TotalSegmentator scored on both sets; then a pediatric-only nnU-Net and an adult model fine-tuned on pediatric cases.</a:t>
            </a:r>
          </a:p>
          <a:p>
            <a:pPr algn="l" marL="256032" indent="-256032">
              <a:spcAft>
                <a:spcPts val="384"/>
              </a:spcAft>
              <a:buChar char="•"/>
            </a:pPr>
            <a:r>
              <a:rPr sz="1100" b="1" i="0">
                <a:solidFill>
                  <a:srgbClr val="1A1A1A"/>
                </a:solidFill>
                <a:latin typeface="Helvetica Neue"/>
              </a:rPr>
              <a:t>Result</a:t>
            </a:r>
            <a:r>
              <a:rPr sz="1100" b="0" i="0">
                <a:solidFill>
                  <a:srgbClr val="1A1A1A"/>
                </a:solidFill>
                <a:latin typeface="Helvetica Neue"/>
              </a:rPr>
              <a:t>: mean Dice fell from 0.81 in adults to 0.73 in children, worst for the adrenals (0.69 to 0.41 and 0.35), duodenum and pancreas; pediatric training or fine-tuning recovered the loss.</a:t>
            </a:r>
          </a:p>
          <a:p>
            <a:pPr algn="l" marL="256032" indent="-256032">
              <a:spcAft>
                <a:spcPts val="384"/>
              </a:spcAft>
              <a:buChar char="•"/>
            </a:pPr>
            <a:r>
              <a:rPr sz="1100" b="1" i="0">
                <a:solidFill>
                  <a:srgbClr val="1A1A1A"/>
                </a:solidFill>
                <a:latin typeface="Helvetica Neue"/>
              </a:rPr>
              <a:t>Why it matters</a:t>
            </a:r>
            <a:r>
              <a:rPr sz="1100" b="0" i="0">
                <a:solidFill>
                  <a:srgbClr val="1A1A1A"/>
                </a:solidFill>
                <a:latin typeface="Helvetica Neue"/>
              </a:rPr>
              <a:t>: the clearest quantitative case for local pediatric validation and fine-tuning of adult-derived tools before clinical use.</a:t>
            </a:r>
          </a:p>
        </p:txBody>
      </p:sp>
      <p:sp>
        <p:nvSpPr>
          <p:cNvPr id="9"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54 / 83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Newsletters — radiology AI stories per year, by source</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NEWSLETTERS</a:t>
            </a:r>
          </a:p>
        </p:txBody>
      </p:sp>
      <p:pic>
        <p:nvPicPr>
          <p:cNvPr id="4" name="newsletter_by_source" descr="newsletter_by_source.png"/>
          <p:cNvPicPr>
            <a:picLocks noChangeAspect="1"/>
          </p:cNvPicPr>
          <p:nvPr/>
        </p:nvPicPr>
        <p:blipFill>
          <a:blip r:embed="rId2"/>
          <a:stretch>
            <a:fillRect/>
          </a:stretch>
        </p:blipFill>
        <p:spPr>
          <a:xfrm>
            <a:off x="1492026" y="877824"/>
            <a:ext cx="9207642" cy="4603821"/>
          </a:xfrm>
          <a:prstGeom prst="rect">
            <a:avLst/>
          </a:prstGeom>
        </p:spPr>
      </p:pic>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55 / 83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Pediatric radiology AI in the trade press, 2023 (23 stories)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NEWSLETTERS</a:t>
            </a:r>
          </a:p>
        </p:txBody>
      </p:sp>
      <p:graphicFrame>
        <p:nvGraphicFramePr>
          <p:cNvPr id="4" name="Table 3"/>
          <p:cNvGraphicFramePr>
            <a:graphicFrameLocks noGrp="1"/>
          </p:cNvGraphicFramePr>
          <p:nvPr/>
        </p:nvGraphicFramePr>
        <p:xfrm>
          <a:off x="411480" y="877824"/>
          <a:ext cx="11368734" cy="5020056"/>
        </p:xfrm>
        <a:graphic>
          <a:graphicData uri="http://schemas.openxmlformats.org/drawingml/2006/table">
            <a:tbl>
              <a:tblPr firstRow="1" bandRow="1">
                <a:tableStyleId>{5C22544A-7EE6-4342-B048-85BDC9FD1C3A}</a:tableStyleId>
              </a:tblPr>
              <a:tblGrid>
                <a:gridCol w="768096"/>
                <a:gridCol w="1152144"/>
                <a:gridCol w="6450735"/>
                <a:gridCol w="2997759"/>
              </a:tblGrid>
              <a:tr h="192024">
                <a:tc>
                  <a:txBody>
                    <a:bodyPr wrap="square"/>
                    <a:lstStyle/>
                    <a:p>
                      <a:pPr algn="r"/>
                      <a:r>
                        <a:rPr sz="900" b="1" i="0">
                          <a:solidFill>
                            <a:srgbClr val="FFFFFF"/>
                          </a:solidFill>
                          <a:latin typeface="Helvetica Neue"/>
                        </a:rPr>
                        <a:t>Date</a:t>
                      </a:r>
                    </a:p>
                  </a:txBody>
                  <a:tcPr marL="45720" marR="45720" marT="18288" marB="18288" anchor="t"/>
                </a:tc>
                <a:tc>
                  <a:txBody>
                    <a:bodyPr wrap="square"/>
                    <a:lstStyle/>
                    <a:p>
                      <a:pPr algn="r"/>
                      <a:r>
                        <a:rPr sz="900" b="1" i="0">
                          <a:solidFill>
                            <a:srgbClr val="FFFFFF"/>
                          </a:solidFill>
                          <a:latin typeface="Helvetica Neue"/>
                        </a:rPr>
                        <a:t>Newsletter</a:t>
                      </a:r>
                    </a:p>
                  </a:txBody>
                  <a:tcPr marL="45720" marR="45720" marT="18288" marB="18288" anchor="t"/>
                </a:tc>
                <a:tc>
                  <a:txBody>
                    <a:bodyPr wrap="square"/>
                    <a:lstStyle/>
                    <a:p>
                      <a:r>
                        <a:rPr sz="900" b="1" i="0">
                          <a:solidFill>
                            <a:srgbClr val="FFFFFF"/>
                          </a:solidFill>
                          <a:latin typeface="Helvetica Neue"/>
                        </a:rPr>
                        <a:t>Story</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2023-01-08</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Gestational Age AI</a:t>
                      </a:r>
                    </a:p>
                  </a:txBody>
                  <a:tcPr marL="45720" marR="45720" marT="18288" marB="18288" anchor="t"/>
                </a:tc>
                <a:tc>
                  <a:txBody>
                    <a:bodyPr wrap="square"/>
                    <a:lstStyle/>
                    <a:p/>
                  </a:txBody>
                  <a:tcPr marL="45720" marR="45720" marT="18288" marB="18288" anchor="t"/>
                </a:tc>
              </a:tr>
              <a:tr h="329184">
                <a:tc>
                  <a:txBody>
                    <a:bodyPr wrap="square"/>
                    <a:lstStyle/>
                    <a:p>
                      <a:pPr algn="r"/>
                      <a:r>
                        <a:rPr sz="900" b="0" i="0">
                          <a:solidFill>
                            <a:srgbClr val="1A1A1A"/>
                          </a:solidFill>
                          <a:latin typeface="Helvetica Neue"/>
                        </a:rPr>
                        <a:t>2023-03-01</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Fetal Ultrasound AI Generalizability</a:t>
                      </a:r>
                    </a:p>
                  </a:txBody>
                  <a:tcPr marL="45720" marR="45720" marT="18288" marB="18288" anchor="t"/>
                </a:tc>
                <a:tc>
                  <a:txBody>
                    <a:bodyPr wrap="square"/>
                    <a:lstStyle/>
                    <a:p>
                      <a:r>
                        <a:rPr sz="900" b="0" i="0">
                          <a:solidFill>
                            <a:srgbClr val="1A1A1A"/>
                          </a:solidFill>
                          <a:latin typeface="Helvetica Neue"/>
                        </a:rPr>
                        <a:t>Sendra-Balcells et al., 2023 (Scientific Reports)</a:t>
                      </a:r>
                    </a:p>
                  </a:txBody>
                  <a:tcPr marL="45720" marR="45720" marT="18288" marB="18288" anchor="t"/>
                </a:tc>
              </a:tr>
              <a:tr h="192024">
                <a:tc>
                  <a:txBody>
                    <a:bodyPr wrap="square"/>
                    <a:lstStyle/>
                    <a:p>
                      <a:pPr algn="r"/>
                      <a:r>
                        <a:rPr sz="900" b="0" i="0">
                          <a:solidFill>
                            <a:srgbClr val="1A1A1A"/>
                          </a:solidFill>
                          <a:latin typeface="Helvetica Neue"/>
                        </a:rPr>
                        <a:t>2023-03-08</a:t>
                      </a:r>
                    </a:p>
                  </a:txBody>
                  <a:tcPr marL="45720" marR="45720" marT="18288" marB="18288" anchor="t"/>
                </a:tc>
                <a:tc>
                  <a:txBody>
                    <a:bodyPr wrap="square"/>
                    <a:lstStyle/>
                    <a:p>
                      <a:pPr algn="r"/>
                      <a:r>
                        <a:rPr sz="900" b="0" i="0">
                          <a:solidFill>
                            <a:srgbClr val="1A1A1A"/>
                          </a:solidFill>
                          <a:latin typeface="Helvetica Neue"/>
                        </a:rPr>
                        <a:t>ESR / ECR</a:t>
                      </a:r>
                    </a:p>
                  </a:txBody>
                  <a:tcPr marL="45720" marR="45720" marT="18288" marB="18288" anchor="t"/>
                </a:tc>
                <a:tc>
                  <a:txBody>
                    <a:bodyPr wrap="square"/>
                    <a:lstStyle/>
                    <a:p>
                      <a:r>
                        <a:rPr sz="900" b="0" i="0">
                          <a:solidFill>
                            <a:srgbClr val="1A1A1A"/>
                          </a:solidFill>
                          <a:latin typeface="Helvetica Neue"/>
                        </a:rPr>
                        <a:t>ECR 2023 – A true celebration of the cycle of life.</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2023-03-17</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When Sao Paolo's Diagnosticos da America (DASA, the world's fourth largest diagn</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2023-04-07</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Ultrasound Spots Breech Pregnancies</a:t>
                      </a:r>
                    </a:p>
                  </a:txBody>
                  <a:tcPr marL="45720" marR="45720" marT="18288" marB="18288" anchor="t"/>
                </a:tc>
                <a:tc>
                  <a:txBody>
                    <a:bodyPr wrap="square"/>
                    <a:lstStyle/>
                    <a:p>
                      <a:r>
                        <a:rPr sz="900" b="0" i="0">
                          <a:solidFill>
                            <a:srgbClr val="1A1A1A"/>
                          </a:solidFill>
                          <a:latin typeface="Helvetica Neue"/>
                        </a:rPr>
                        <a:t>Knights et al., 2023 (PLOS Medicine)</a:t>
                      </a:r>
                    </a:p>
                  </a:txBody>
                  <a:tcPr marL="45720" marR="45720" marT="18288" marB="18288" anchor="t"/>
                </a:tc>
              </a:tr>
              <a:tr h="192024">
                <a:tc>
                  <a:txBody>
                    <a:bodyPr wrap="square"/>
                    <a:lstStyle/>
                    <a:p>
                      <a:pPr algn="r"/>
                      <a:r>
                        <a:rPr sz="900" b="0" i="0">
                          <a:solidFill>
                            <a:srgbClr val="1A1A1A"/>
                          </a:solidFill>
                          <a:latin typeface="Helvetica Neue"/>
                        </a:rPr>
                        <a:t>2023-04-07</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When Sao Paolo's Diagnosticos da America SA (DASA, the world's fourth largest di</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2023-04-12</a:t>
                      </a:r>
                    </a:p>
                  </a:txBody>
                  <a:tcPr marL="45720" marR="45720" marT="18288" marB="18288" anchor="t"/>
                </a:tc>
                <a:tc>
                  <a:txBody>
                    <a:bodyPr wrap="square"/>
                    <a:lstStyle/>
                    <a:p>
                      <a:pPr algn="r"/>
                      <a:r>
                        <a:rPr sz="900" b="0" i="0">
                          <a:solidFill>
                            <a:srgbClr val="1A1A1A"/>
                          </a:solidFill>
                          <a:latin typeface="Helvetica Neue"/>
                        </a:rPr>
                        <a:t>Signify Research</a:t>
                      </a:r>
                    </a:p>
                  </a:txBody>
                  <a:tcPr marL="45720" marR="45720" marT="18288" marB="18288" anchor="t"/>
                </a:tc>
                <a:tc>
                  <a:txBody>
                    <a:bodyPr wrap="square"/>
                    <a:lstStyle/>
                    <a:p>
                      <a:r>
                        <a:rPr sz="900" b="0" i="0">
                          <a:solidFill>
                            <a:srgbClr val="1A1A1A"/>
                          </a:solidFill>
                          <a:latin typeface="Helvetica Neue"/>
                        </a:rPr>
                        <a:t>Where do opportunities exist?</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2023-04-12</a:t>
                      </a:r>
                    </a:p>
                  </a:txBody>
                  <a:tcPr marL="45720" marR="45720" marT="18288" marB="18288" anchor="t"/>
                </a:tc>
                <a:tc>
                  <a:txBody>
                    <a:bodyPr wrap="square"/>
                    <a:lstStyle/>
                    <a:p>
                      <a:pPr algn="r"/>
                      <a:r>
                        <a:rPr sz="900" b="0" i="0">
                          <a:solidFill>
                            <a:srgbClr val="1A1A1A"/>
                          </a:solidFill>
                          <a:latin typeface="Helvetica Neue"/>
                        </a:rPr>
                        <a:t>RSNA News</a:t>
                      </a:r>
                    </a:p>
                  </a:txBody>
                  <a:tcPr marL="45720" marR="45720" marT="18288" marB="18288" anchor="t"/>
                </a:tc>
                <a:tc>
                  <a:txBody>
                    <a:bodyPr wrap="square"/>
                    <a:lstStyle/>
                    <a:p>
                      <a:r>
                        <a:rPr sz="900" b="0" i="0">
                          <a:solidFill>
                            <a:srgbClr val="1A1A1A"/>
                          </a:solidFill>
                          <a:latin typeface="Helvetica Neue"/>
                        </a:rPr>
                        <a:t>RSNA Webinar to Examine Impact of Large Language Models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2023-05-07</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New C-Arm Launched</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2023-06-07</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BrightHeart's Fetal Heart AI</a:t>
                      </a:r>
                    </a:p>
                  </a:txBody>
                  <a:tcPr marL="45720" marR="45720" marT="18288" marB="18288" anchor="t"/>
                </a:tc>
                <a:tc>
                  <a:txBody>
                    <a:bodyPr wrap="square"/>
                    <a:lstStyle/>
                    <a:p/>
                  </a:txBody>
                  <a:tcPr marL="45720" marR="45720" marT="18288" marB="18288" anchor="t"/>
                </a:tc>
              </a:tr>
              <a:tr h="329184">
                <a:tc>
                  <a:txBody>
                    <a:bodyPr wrap="square"/>
                    <a:lstStyle/>
                    <a:p>
                      <a:pPr algn="r"/>
                      <a:r>
                        <a:rPr sz="900" b="0" i="0">
                          <a:solidFill>
                            <a:srgbClr val="1A1A1A"/>
                          </a:solidFill>
                          <a:latin typeface="Helvetica Neue"/>
                        </a:rPr>
                        <a:t>2023-06-12</a:t>
                      </a:r>
                    </a:p>
                  </a:txBody>
                  <a:tcPr marL="45720" marR="45720" marT="18288" marB="18288" anchor="t"/>
                </a:tc>
                <a:tc>
                  <a:txBody>
                    <a:bodyPr wrap="square"/>
                    <a:lstStyle/>
                    <a:p>
                      <a:pPr algn="r"/>
                      <a:r>
                        <a:rPr sz="900" b="0" i="0">
                          <a:solidFill>
                            <a:srgbClr val="1A1A1A"/>
                          </a:solidFill>
                          <a:latin typeface="Helvetica Neue"/>
                        </a:rPr>
                        <a:t>RSNA News</a:t>
                      </a:r>
                    </a:p>
                  </a:txBody>
                  <a:tcPr marL="45720" marR="45720" marT="18288" marB="18288" anchor="t"/>
                </a:tc>
                <a:tc>
                  <a:txBody>
                    <a:bodyPr wrap="square"/>
                    <a:lstStyle/>
                    <a:p>
                      <a:r>
                        <a:rPr sz="900" b="0" i="0">
                          <a:solidFill>
                            <a:srgbClr val="1A1A1A"/>
                          </a:solidFill>
                          <a:latin typeface="Helvetica Neue"/>
                        </a:rPr>
                        <a:t>Understanding the Imaging Spectrum of non-Hodgkin Lymphoma in Children, Adolescents and Young Adults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2023-06-19</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Better Together at SIIM</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2023-06-25</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AI Detects Child Abuse on CT</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2023-07-07</a:t>
                      </a:r>
                    </a:p>
                  </a:txBody>
                  <a:tcPr marL="45720" marR="45720" marT="18288" marB="18288" anchor="t"/>
                </a:tc>
                <a:tc>
                  <a:txBody>
                    <a:bodyPr wrap="square"/>
                    <a:lstStyle/>
                    <a:p>
                      <a:pPr algn="r"/>
                      <a:r>
                        <a:rPr sz="900" b="0" i="0">
                          <a:solidFill>
                            <a:srgbClr val="1A1A1A"/>
                          </a:solidFill>
                          <a:latin typeface="Helvetica Neue"/>
                        </a:rPr>
                        <a:t>RSNA News</a:t>
                      </a:r>
                    </a:p>
                  </a:txBody>
                  <a:tcPr marL="45720" marR="45720" marT="18288" marB="18288" anchor="t"/>
                </a:tc>
                <a:tc>
                  <a:txBody>
                    <a:bodyPr wrap="square"/>
                    <a:lstStyle/>
                    <a:p>
                      <a:r>
                        <a:rPr sz="900" b="0" i="0">
                          <a:solidFill>
                            <a:srgbClr val="1A1A1A"/>
                          </a:solidFill>
                          <a:latin typeface="Helvetica Neue"/>
                        </a:rPr>
                        <a:t>Survivors of Childhood Cancer: Risk of Future Disease, Screening Needs and the Role of Radiology</a:t>
                      </a:r>
                    </a:p>
                  </a:txBody>
                  <a:tcPr marL="45720" marR="45720" marT="18288" marB="18288" anchor="t"/>
                </a:tc>
                <a:tc>
                  <a:txBody>
                    <a:bodyPr wrap="square"/>
                    <a:lstStyle/>
                    <a:p/>
                  </a:txBody>
                  <a:tcPr marL="45720" marR="45720" marT="18288" marB="18288" anchor="t"/>
                </a:tc>
              </a:tr>
              <a:tr h="329184">
                <a:tc>
                  <a:txBody>
                    <a:bodyPr wrap="square"/>
                    <a:lstStyle/>
                    <a:p>
                      <a:pPr algn="r"/>
                      <a:r>
                        <a:rPr sz="900" b="0" i="0">
                          <a:solidFill>
                            <a:srgbClr val="1A1A1A"/>
                          </a:solidFill>
                          <a:latin typeface="Helvetica Neue"/>
                        </a:rPr>
                        <a:t>2023-08-02</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MRI Radiomics Hones in on Crohn's</a:t>
                      </a:r>
                    </a:p>
                  </a:txBody>
                  <a:tcPr marL="45720" marR="45720" marT="18288" marB="18288" anchor="t"/>
                </a:tc>
                <a:tc>
                  <a:txBody>
                    <a:bodyPr wrap="square"/>
                    <a:lstStyle/>
                    <a:p>
                      <a:r>
                        <a:rPr sz="900" b="0" i="0">
                          <a:solidFill>
                            <a:srgbClr val="1A1A1A"/>
                          </a:solidFill>
                          <a:latin typeface="Helvetica Neue"/>
                        </a:rPr>
                        <a:t>Liu et al., 2024 (American Journal of Roentgenology)</a:t>
                      </a:r>
                    </a:p>
                  </a:txBody>
                  <a:tcPr marL="45720" marR="45720" marT="18288" marB="18288" anchor="t"/>
                </a:tc>
              </a:tr>
              <a:tr h="192024">
                <a:tc>
                  <a:txBody>
                    <a:bodyPr wrap="square"/>
                    <a:lstStyle/>
                    <a:p>
                      <a:pPr algn="r"/>
                      <a:r>
                        <a:rPr sz="900" b="0" i="0">
                          <a:solidFill>
                            <a:srgbClr val="1A1A1A"/>
                          </a:solidFill>
                          <a:latin typeface="Helvetica Neue"/>
                        </a:rPr>
                        <a:t>2023-08-02</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Sonio Gets FDA Nod for Fetal AI</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2023-09-20</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GE Lands $44M AI Ultrasound Grant</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2023-10-08</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ChatGPT Reports for Patients</a:t>
                      </a:r>
                    </a:p>
                  </a:txBody>
                  <a:tcPr marL="45720" marR="45720" marT="18288" marB="18288" anchor="t"/>
                </a:tc>
                <a:tc>
                  <a:txBody>
                    <a:bodyPr wrap="square"/>
                    <a:lstStyle/>
                    <a:p>
                      <a:r>
                        <a:rPr sz="900" b="0" i="0">
                          <a:solidFill>
                            <a:srgbClr val="1A1A1A"/>
                          </a:solidFill>
                          <a:latin typeface="Helvetica Neue"/>
                        </a:rPr>
                        <a:t>Jeblick et al., 2023 (European Radiology)</a:t>
                      </a:r>
                    </a:p>
                  </a:txBody>
                  <a:tcPr marL="45720" marR="45720" marT="18288" marB="18288" anchor="t"/>
                </a:tc>
              </a:tr>
              <a:tr h="192024">
                <a:tc>
                  <a:txBody>
                    <a:bodyPr wrap="square"/>
                    <a:lstStyle/>
                    <a:p>
                      <a:pPr algn="r"/>
                      <a:r>
                        <a:rPr sz="900" b="0" i="0">
                          <a:solidFill>
                            <a:srgbClr val="1A1A1A"/>
                          </a:solidFill>
                          <a:latin typeface="Helvetica Neue"/>
                        </a:rPr>
                        <a:t>2023-11-08</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Philips to Expand AI-Powered POCUS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2023-11-08</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Stories of Success in Cloud and AI</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2023-11-12</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Uneven Success Against Breast Cancer | Pediatric Radiation</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2023-11-26</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AI of MRI Diagnoses Autism</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2023-12-11</a:t>
                      </a:r>
                    </a:p>
                  </a:txBody>
                  <a:tcPr marL="45720" marR="45720" marT="18288" marB="18288" anchor="t"/>
                </a:tc>
                <a:tc>
                  <a:txBody>
                    <a:bodyPr wrap="square"/>
                    <a:lstStyle/>
                    <a:p>
                      <a:pPr algn="r"/>
                      <a:r>
                        <a:rPr sz="900" b="0" i="0">
                          <a:solidFill>
                            <a:srgbClr val="1A1A1A"/>
                          </a:solidFill>
                          <a:latin typeface="Helvetica Neue"/>
                        </a:rPr>
                        <a:t>ESR / ECR</a:t>
                      </a:r>
                    </a:p>
                  </a:txBody>
                  <a:tcPr marL="45720" marR="45720" marT="18288" marB="18288" anchor="t"/>
                </a:tc>
                <a:tc>
                  <a:txBody>
                    <a:bodyPr wrap="square"/>
                    <a:lstStyle/>
                    <a:p>
                      <a:r>
                        <a:rPr sz="900" b="0" i="0">
                          <a:solidFill>
                            <a:srgbClr val="1A1A1A"/>
                          </a:solidFill>
                          <a:latin typeface="Helvetica Neue"/>
                        </a:rPr>
                        <a:t>Revolutionising paediatric radiology: the future impact of AI</a:t>
                      </a:r>
                    </a:p>
                  </a:txBody>
                  <a:tcPr marL="45720" marR="45720" marT="18288" marB="18288" anchor="t"/>
                </a:tc>
                <a:tc>
                  <a:txBody>
                    <a:bodyPr wrap="square"/>
                    <a:lstStyle/>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56 / 83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Pediatric radiology AI in the trade press, 2024 (25 stories)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NEWSLETTERS</a:t>
            </a:r>
          </a:p>
        </p:txBody>
      </p:sp>
      <p:graphicFrame>
        <p:nvGraphicFramePr>
          <p:cNvPr id="4" name="Table 3"/>
          <p:cNvGraphicFramePr>
            <a:graphicFrameLocks noGrp="1"/>
          </p:cNvGraphicFramePr>
          <p:nvPr/>
        </p:nvGraphicFramePr>
        <p:xfrm>
          <a:off x="411480" y="877824"/>
          <a:ext cx="11368734" cy="5266944"/>
        </p:xfrm>
        <a:graphic>
          <a:graphicData uri="http://schemas.openxmlformats.org/drawingml/2006/table">
            <a:tbl>
              <a:tblPr firstRow="1" bandRow="1">
                <a:tableStyleId>{5C22544A-7EE6-4342-B048-85BDC9FD1C3A}</a:tableStyleId>
              </a:tblPr>
              <a:tblGrid>
                <a:gridCol w="768096"/>
                <a:gridCol w="1152144"/>
                <a:gridCol w="6448972"/>
                <a:gridCol w="2999522"/>
              </a:tblGrid>
              <a:tr h="192024">
                <a:tc>
                  <a:txBody>
                    <a:bodyPr wrap="square"/>
                    <a:lstStyle/>
                    <a:p>
                      <a:pPr algn="r"/>
                      <a:r>
                        <a:rPr sz="900" b="1" i="0">
                          <a:solidFill>
                            <a:srgbClr val="FFFFFF"/>
                          </a:solidFill>
                          <a:latin typeface="Helvetica Neue"/>
                        </a:rPr>
                        <a:t>Date</a:t>
                      </a:r>
                    </a:p>
                  </a:txBody>
                  <a:tcPr marL="45720" marR="45720" marT="18288" marB="18288" anchor="t"/>
                </a:tc>
                <a:tc>
                  <a:txBody>
                    <a:bodyPr wrap="square"/>
                    <a:lstStyle/>
                    <a:p>
                      <a:pPr algn="r"/>
                      <a:r>
                        <a:rPr sz="900" b="1" i="0">
                          <a:solidFill>
                            <a:srgbClr val="FFFFFF"/>
                          </a:solidFill>
                          <a:latin typeface="Helvetica Neue"/>
                        </a:rPr>
                        <a:t>Newsletter</a:t>
                      </a:r>
                    </a:p>
                  </a:txBody>
                  <a:tcPr marL="45720" marR="45720" marT="18288" marB="18288" anchor="t"/>
                </a:tc>
                <a:tc>
                  <a:txBody>
                    <a:bodyPr wrap="square"/>
                    <a:lstStyle/>
                    <a:p>
                      <a:r>
                        <a:rPr sz="900" b="1" i="0">
                          <a:solidFill>
                            <a:srgbClr val="FFFFFF"/>
                          </a:solidFill>
                          <a:latin typeface="Helvetica Neue"/>
                        </a:rPr>
                        <a:t>Story</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2024-01-10</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AI Models Go Head-to-Head in Project AIR Study</a:t>
                      </a:r>
                    </a:p>
                  </a:txBody>
                  <a:tcPr marL="45720" marR="45720" marT="18288" marB="18288" anchor="t"/>
                </a:tc>
                <a:tc>
                  <a:txBody>
                    <a:bodyPr wrap="square"/>
                    <a:lstStyle/>
                    <a:p>
                      <a:r>
                        <a:rPr sz="900" b="0" i="0">
                          <a:solidFill>
                            <a:srgbClr val="1A1A1A"/>
                          </a:solidFill>
                          <a:latin typeface="Helvetica Neue"/>
                        </a:rPr>
                        <a:t>van Leeuwen et al., 2024 (Radiology)</a:t>
                      </a:r>
                    </a:p>
                  </a:txBody>
                  <a:tcPr marL="45720" marR="45720" marT="18288" marB="18288" anchor="t"/>
                </a:tc>
              </a:tr>
              <a:tr h="192024">
                <a:tc>
                  <a:txBody>
                    <a:bodyPr wrap="square"/>
                    <a:lstStyle/>
                    <a:p>
                      <a:pPr algn="r"/>
                      <a:r>
                        <a:rPr sz="900" b="0" i="0">
                          <a:solidFill>
                            <a:srgbClr val="1A1A1A"/>
                          </a:solidFill>
                          <a:latin typeface="Helvetica Neue"/>
                        </a:rPr>
                        <a:t>2024-01-15</a:t>
                      </a:r>
                    </a:p>
                  </a:txBody>
                  <a:tcPr marL="45720" marR="45720" marT="18288" marB="18288" anchor="t"/>
                </a:tc>
                <a:tc>
                  <a:txBody>
                    <a:bodyPr wrap="square"/>
                    <a:lstStyle/>
                    <a:p>
                      <a:pPr algn="r"/>
                      <a:r>
                        <a:rPr sz="900" b="0" i="0">
                          <a:solidFill>
                            <a:srgbClr val="1A1A1A"/>
                          </a:solidFill>
                          <a:latin typeface="Helvetica Neue"/>
                        </a:rPr>
                        <a:t>ESR / ECR</a:t>
                      </a:r>
                    </a:p>
                  </a:txBody>
                  <a:tcPr marL="45720" marR="45720" marT="18288" marB="18288" anchor="t"/>
                </a:tc>
                <a:tc>
                  <a:txBody>
                    <a:bodyPr wrap="square"/>
                    <a:lstStyle/>
                    <a:p>
                      <a:r>
                        <a:rPr sz="900" b="0" i="0">
                          <a:solidFill>
                            <a:srgbClr val="1A1A1A"/>
                          </a:solidFill>
                          <a:latin typeface="Helvetica Neue"/>
                        </a:rPr>
                        <a:t>Hidden health risks of endocrine disruptors?</a:t>
                      </a:r>
                    </a:p>
                  </a:txBody>
                  <a:tcPr marL="45720" marR="45720" marT="18288" marB="18288" anchor="t"/>
                </a:tc>
                <a:tc>
                  <a:txBody>
                    <a:bodyPr wrap="square"/>
                    <a:lstStyle/>
                    <a:p/>
                  </a:txBody>
                  <a:tcPr marL="45720" marR="45720" marT="18288" marB="18288" anchor="t"/>
                </a:tc>
              </a:tr>
              <a:tr h="329184">
                <a:tc>
                  <a:txBody>
                    <a:bodyPr wrap="square"/>
                    <a:lstStyle/>
                    <a:p>
                      <a:pPr algn="r"/>
                      <a:r>
                        <a:rPr sz="900" b="0" i="0">
                          <a:solidFill>
                            <a:srgbClr val="1A1A1A"/>
                          </a:solidFill>
                          <a:latin typeface="Helvetica Neue"/>
                        </a:rPr>
                        <a:t>2024-01-17</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Echo AI's RHD Impact</a:t>
                      </a:r>
                    </a:p>
                  </a:txBody>
                  <a:tcPr marL="45720" marR="45720" marT="18288" marB="18288" anchor="t"/>
                </a:tc>
                <a:tc>
                  <a:txBody>
                    <a:bodyPr wrap="square"/>
                    <a:lstStyle/>
                    <a:p>
                      <a:r>
                        <a:rPr sz="900" b="0" i="0">
                          <a:solidFill>
                            <a:srgbClr val="1A1A1A"/>
                          </a:solidFill>
                          <a:latin typeface="Helvetica Neue"/>
                        </a:rPr>
                        <a:t>Brown et al., 2024 (Journal of the American Heart Association)</a:t>
                      </a:r>
                    </a:p>
                  </a:txBody>
                  <a:tcPr marL="45720" marR="45720" marT="18288" marB="18288" anchor="t"/>
                </a:tc>
              </a:tr>
              <a:tr h="192024">
                <a:tc>
                  <a:txBody>
                    <a:bodyPr wrap="square"/>
                    <a:lstStyle/>
                    <a:p>
                      <a:pPr algn="r"/>
                      <a:r>
                        <a:rPr sz="900" b="0" i="0">
                          <a:solidFill>
                            <a:srgbClr val="1A1A1A"/>
                          </a:solidFill>
                          <a:latin typeface="Helvetica Neue"/>
                        </a:rPr>
                        <a:t>2024-01-20</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Us2.ai</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2024-02-07</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Meet Gleamer at ECR 2024</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2024-03-20</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AI Helps Residents Detect Fractures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2024-04-22</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GE Launches US Scanners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2024-05-19</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Early Preeclampsia Risk Screening</a:t>
                      </a:r>
                    </a:p>
                  </a:txBody>
                  <a:tcPr marL="45720" marR="45720" marT="18288" marB="18288" anchor="t"/>
                </a:tc>
                <a:tc>
                  <a:txBody>
                    <a:bodyPr wrap="square"/>
                    <a:lstStyle/>
                    <a:p>
                      <a:r>
                        <a:rPr sz="900" b="0" i="0">
                          <a:solidFill>
                            <a:srgbClr val="1A1A1A"/>
                          </a:solidFill>
                          <a:latin typeface="Helvetica Neue"/>
                        </a:rPr>
                        <a:t>Guerby et al., 2024 (Hypertension)</a:t>
                      </a:r>
                    </a:p>
                  </a:txBody>
                  <a:tcPr marL="45720" marR="45720" marT="18288" marB="18288" anchor="t"/>
                </a:tc>
              </a:tr>
              <a:tr h="192024">
                <a:tc>
                  <a:txBody>
                    <a:bodyPr wrap="square"/>
                    <a:lstStyle/>
                    <a:p>
                      <a:pPr algn="r"/>
                      <a:r>
                        <a:rPr sz="900" b="0" i="0">
                          <a:solidFill>
                            <a:srgbClr val="1A1A1A"/>
                          </a:solidFill>
                          <a:latin typeface="Helvetica Neue"/>
                        </a:rPr>
                        <a:t>2024-06-29</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FDA Clears New Clarius Prenatal App</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2024-07-01</a:t>
                      </a:r>
                    </a:p>
                  </a:txBody>
                  <a:tcPr marL="45720" marR="45720" marT="18288" marB="18288" anchor="t"/>
                </a:tc>
                <a:tc>
                  <a:txBody>
                    <a:bodyPr wrap="square"/>
                    <a:lstStyle/>
                    <a:p>
                      <a:pPr algn="r"/>
                      <a:r>
                        <a:rPr sz="900" b="0" i="0">
                          <a:solidFill>
                            <a:srgbClr val="1A1A1A"/>
                          </a:solidFill>
                          <a:latin typeface="Helvetica Neue"/>
                        </a:rPr>
                        <a:t>ESR / ECR</a:t>
                      </a:r>
                    </a:p>
                  </a:txBody>
                  <a:tcPr marL="45720" marR="45720" marT="18288" marB="18288" anchor="t"/>
                </a:tc>
                <a:tc>
                  <a:txBody>
                    <a:bodyPr wrap="square"/>
                    <a:lstStyle/>
                    <a:p>
                      <a:r>
                        <a:rPr sz="900" b="0" i="0">
                          <a:solidFill>
                            <a:srgbClr val="1A1A1A"/>
                          </a:solidFill>
                          <a:latin typeface="Helvetica Neue"/>
                        </a:rPr>
                        <a:t>AI applications in musculoskeletal imaging</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2024-07-10</a:t>
                      </a:r>
                    </a:p>
                  </a:txBody>
                  <a:tcPr marL="45720" marR="45720" marT="18288" marB="18288" anchor="t"/>
                </a:tc>
                <a:tc>
                  <a:txBody>
                    <a:bodyPr wrap="square"/>
                    <a:lstStyle/>
                    <a:p>
                      <a:pPr algn="r"/>
                      <a:r>
                        <a:rPr sz="900" b="0" i="0">
                          <a:solidFill>
                            <a:srgbClr val="1A1A1A"/>
                          </a:solidFill>
                          <a:latin typeface="Helvetica Neue"/>
                        </a:rPr>
                        <a:t>RSNA News</a:t>
                      </a:r>
                    </a:p>
                  </a:txBody>
                  <a:tcPr marL="45720" marR="45720" marT="18288" marB="18288" anchor="t"/>
                </a:tc>
                <a:tc>
                  <a:txBody>
                    <a:bodyPr wrap="square"/>
                    <a:lstStyle/>
                    <a:p>
                      <a:r>
                        <a:rPr sz="900" b="0" i="0">
                          <a:solidFill>
                            <a:srgbClr val="1A1A1A"/>
                          </a:solidFill>
                          <a:latin typeface="Helvetica Neue"/>
                        </a:rPr>
                        <a:t>Experts Outline Considerations to Deploy AI in Radiology</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2024-08-14</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Cardiac Ultrasound Scanner Cleared</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2024-08-25</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When Follow-Up Falls Short | Pediatric CT Use</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2024-08-25</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MAUI Emerges from Stealth</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2024-09-04</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Samsung Finalizes Sonio Acquisition</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2024-09-08</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AZmed AI Extended to Kids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2024-10-03</a:t>
                      </a:r>
                    </a:p>
                  </a:txBody>
                  <a:tcPr marL="45720" marR="45720" marT="18288" marB="18288" anchor="t"/>
                </a:tc>
                <a:tc>
                  <a:txBody>
                    <a:bodyPr wrap="square"/>
                    <a:lstStyle/>
                    <a:p>
                      <a:pPr algn="r"/>
                      <a:r>
                        <a:rPr sz="900" b="0" i="0">
                          <a:solidFill>
                            <a:srgbClr val="1A1A1A"/>
                          </a:solidFill>
                          <a:latin typeface="Helvetica Neue"/>
                        </a:rPr>
                        <a:t>ESR / ECR</a:t>
                      </a:r>
                    </a:p>
                  </a:txBody>
                  <a:tcPr marL="45720" marR="45720" marT="18288" marB="18288" anchor="t"/>
                </a:tc>
                <a:tc>
                  <a:txBody>
                    <a:bodyPr wrap="square"/>
                    <a:lstStyle/>
                    <a:p>
                      <a:r>
                        <a:rPr sz="900" b="0" i="0">
                          <a:solidFill>
                            <a:srgbClr val="1A1A1A"/>
                          </a:solidFill>
                          <a:latin typeface="Helvetica Neue"/>
                        </a:rPr>
                        <a:t>On Artificial Intelligence: An interview with Susan Shelmerdine</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2024-10-06</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Fracture AI Improves Over Time</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2024-10-10</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Low-Dose CT in Kids | Hinton Nabs Nobel, Cancels MRI</a:t>
                      </a:r>
                    </a:p>
                  </a:txBody>
                  <a:tcPr marL="45720" marR="45720" marT="18288" marB="18288" anchor="t"/>
                </a:tc>
                <a:tc>
                  <a:txBody>
                    <a:bodyPr wrap="square"/>
                    <a:lstStyle/>
                    <a:p/>
                  </a:txBody>
                  <a:tcPr marL="45720" marR="45720" marT="18288" marB="18288" anchor="t"/>
                </a:tc>
              </a:tr>
              <a:tr h="329184">
                <a:tc>
                  <a:txBody>
                    <a:bodyPr wrap="square"/>
                    <a:lstStyle/>
                    <a:p>
                      <a:pPr algn="r"/>
                      <a:r>
                        <a:rPr sz="900" b="0" i="0">
                          <a:solidFill>
                            <a:srgbClr val="1A1A1A"/>
                          </a:solidFill>
                          <a:latin typeface="Helvetica Neue"/>
                        </a:rPr>
                        <a:t>2024-10-10</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Low-Dose CT Confounds CAD in Kids</a:t>
                      </a:r>
                    </a:p>
                  </a:txBody>
                  <a:tcPr marL="45720" marR="45720" marT="18288" marB="18288" anchor="t"/>
                </a:tc>
                <a:tc>
                  <a:txBody>
                    <a:bodyPr wrap="square"/>
                    <a:lstStyle/>
                    <a:p>
                      <a:r>
                        <a:rPr sz="900" b="0" i="0">
                          <a:solidFill>
                            <a:srgbClr val="1A1A1A"/>
                          </a:solidFill>
                          <a:latin typeface="Helvetica Neue"/>
                        </a:rPr>
                        <a:t>Hardie et al., 2025 (American Journal of Roentgenology)</a:t>
                      </a:r>
                    </a:p>
                  </a:txBody>
                  <a:tcPr marL="45720" marR="45720" marT="18288" marB="18288" anchor="t"/>
                </a:tc>
              </a:tr>
              <a:tr h="192024">
                <a:tc>
                  <a:txBody>
                    <a:bodyPr wrap="square"/>
                    <a:lstStyle/>
                    <a:p>
                      <a:pPr algn="r"/>
                      <a:r>
                        <a:rPr sz="900" b="0" i="0">
                          <a:solidFill>
                            <a:srgbClr val="1A1A1A"/>
                          </a:solidFill>
                          <a:latin typeface="Helvetica Neue"/>
                        </a:rPr>
                        <a:t>2024-10-17</a:t>
                      </a:r>
                    </a:p>
                  </a:txBody>
                  <a:tcPr marL="45720" marR="45720" marT="18288" marB="18288" anchor="t"/>
                </a:tc>
                <a:tc>
                  <a:txBody>
                    <a:bodyPr wrap="square"/>
                    <a:lstStyle/>
                    <a:p>
                      <a:pPr algn="r"/>
                      <a:r>
                        <a:rPr sz="900" b="0" i="0">
                          <a:solidFill>
                            <a:srgbClr val="1A1A1A"/>
                          </a:solidFill>
                          <a:latin typeface="Helvetica Neue"/>
                        </a:rPr>
                        <a:t>ESR / ECR</a:t>
                      </a:r>
                    </a:p>
                  </a:txBody>
                  <a:tcPr marL="45720" marR="45720" marT="18288" marB="18288" anchor="t"/>
                </a:tc>
                <a:tc>
                  <a:txBody>
                    <a:bodyPr wrap="square"/>
                    <a:lstStyle/>
                    <a:p>
                      <a:r>
                        <a:rPr sz="900" b="0" i="0">
                          <a:solidFill>
                            <a:srgbClr val="1A1A1A"/>
                          </a:solidFill>
                          <a:latin typeface="Helvetica Neue"/>
                        </a:rPr>
                        <a:t>On Artificial Intelligence: An interview with Brendan Kelly</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2024-11-19</a:t>
                      </a:r>
                    </a:p>
                  </a:txBody>
                  <a:tcPr marL="45720" marR="45720" marT="18288" marB="18288" anchor="t"/>
                </a:tc>
                <a:tc>
                  <a:txBody>
                    <a:bodyPr wrap="square"/>
                    <a:lstStyle/>
                    <a:p>
                      <a:pPr algn="r"/>
                      <a:r>
                        <a:rPr sz="900" b="0" i="0">
                          <a:solidFill>
                            <a:srgbClr val="1A1A1A"/>
                          </a:solidFill>
                          <a:latin typeface="Helvetica Neue"/>
                        </a:rPr>
                        <a:t>RSNA News</a:t>
                      </a:r>
                    </a:p>
                  </a:txBody>
                  <a:tcPr marL="45720" marR="45720" marT="18288" marB="18288" anchor="t"/>
                </a:tc>
                <a:tc>
                  <a:txBody>
                    <a:bodyPr wrap="square"/>
                    <a:lstStyle/>
                    <a:p>
                      <a:r>
                        <a:rPr sz="900" b="0" i="0">
                          <a:solidFill>
                            <a:srgbClr val="1A1A1A"/>
                          </a:solidFill>
                          <a:latin typeface="Helvetica Neue"/>
                        </a:rPr>
                        <a:t>Incorrect AI Advice Influences Diagnostic Decisions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2024-11-25</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Fetal Ultrasound AI Cleared</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2024-12-02</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Milvue Joins deepc AI Platform</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2024-12-15</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Researchers Study AI for Pediatric Fractures</a:t>
                      </a:r>
                    </a:p>
                  </a:txBody>
                  <a:tcPr marL="45720" marR="45720" marT="18288" marB="18288" anchor="t"/>
                </a:tc>
                <a:tc>
                  <a:txBody>
                    <a:bodyPr wrap="square"/>
                    <a:lstStyle/>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57 / 83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Pediatric radiology AI in the trade press, 2025 (22 stories)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NEWSLETTERS</a:t>
            </a:r>
          </a:p>
        </p:txBody>
      </p:sp>
      <p:graphicFrame>
        <p:nvGraphicFramePr>
          <p:cNvPr id="4" name="Table 3"/>
          <p:cNvGraphicFramePr>
            <a:graphicFrameLocks noGrp="1"/>
          </p:cNvGraphicFramePr>
          <p:nvPr/>
        </p:nvGraphicFramePr>
        <p:xfrm>
          <a:off x="411480" y="877824"/>
          <a:ext cx="11368734" cy="4553712"/>
        </p:xfrm>
        <a:graphic>
          <a:graphicData uri="http://schemas.openxmlformats.org/drawingml/2006/table">
            <a:tbl>
              <a:tblPr firstRow="1" bandRow="1">
                <a:tableStyleId>{5C22544A-7EE6-4342-B048-85BDC9FD1C3A}</a:tableStyleId>
              </a:tblPr>
              <a:tblGrid>
                <a:gridCol w="768096"/>
                <a:gridCol w="1152144"/>
                <a:gridCol w="6450735"/>
                <a:gridCol w="2997759"/>
              </a:tblGrid>
              <a:tr h="192024">
                <a:tc>
                  <a:txBody>
                    <a:bodyPr wrap="square"/>
                    <a:lstStyle/>
                    <a:p>
                      <a:pPr algn="r"/>
                      <a:r>
                        <a:rPr sz="900" b="1" i="0">
                          <a:solidFill>
                            <a:srgbClr val="FFFFFF"/>
                          </a:solidFill>
                          <a:latin typeface="Helvetica Neue"/>
                        </a:rPr>
                        <a:t>Date</a:t>
                      </a:r>
                    </a:p>
                  </a:txBody>
                  <a:tcPr marL="45720" marR="45720" marT="18288" marB="18288" anchor="t"/>
                </a:tc>
                <a:tc>
                  <a:txBody>
                    <a:bodyPr wrap="square"/>
                    <a:lstStyle/>
                    <a:p>
                      <a:pPr algn="r"/>
                      <a:r>
                        <a:rPr sz="900" b="1" i="0">
                          <a:solidFill>
                            <a:srgbClr val="FFFFFF"/>
                          </a:solidFill>
                          <a:latin typeface="Helvetica Neue"/>
                        </a:rPr>
                        <a:t>Newsletter</a:t>
                      </a:r>
                    </a:p>
                  </a:txBody>
                  <a:tcPr marL="45720" marR="45720" marT="18288" marB="18288" anchor="t"/>
                </a:tc>
                <a:tc>
                  <a:txBody>
                    <a:bodyPr wrap="square"/>
                    <a:lstStyle/>
                    <a:p>
                      <a:r>
                        <a:rPr sz="900" b="1" i="0">
                          <a:solidFill>
                            <a:srgbClr val="FFFFFF"/>
                          </a:solidFill>
                          <a:latin typeface="Helvetica Neue"/>
                        </a:rPr>
                        <a:t>Story</a:t>
                      </a:r>
                    </a:p>
                  </a:txBody>
                  <a:tcPr marL="45720" marR="45720" marT="18288" marB="18288" anchor="t"/>
                </a:tc>
                <a:tc>
                  <a:txBody>
                    <a:bodyPr wrap="square"/>
                    <a:lstStyle/>
                    <a:p>
                      <a:r>
                        <a:rPr sz="900" b="1" i="0">
                          <a:solidFill>
                            <a:srgbClr val="FFFFFF"/>
                          </a:solidFill>
                          <a:latin typeface="Helvetica Neue"/>
                        </a:rPr>
                        <a:t>Paper</a:t>
                      </a:r>
                    </a:p>
                  </a:txBody>
                  <a:tcPr marL="45720" marR="45720" marT="18288" marB="18288" anchor="t"/>
                </a:tc>
              </a:tr>
              <a:tr h="192024">
                <a:tc>
                  <a:txBody>
                    <a:bodyPr wrap="square"/>
                    <a:lstStyle/>
                    <a:p>
                      <a:pPr algn="r"/>
                      <a:r>
                        <a:rPr sz="900" b="0" i="0">
                          <a:solidFill>
                            <a:srgbClr val="1A1A1A"/>
                          </a:solidFill>
                          <a:latin typeface="Helvetica Neue"/>
                        </a:rPr>
                        <a:t>2025-01-08</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AI for Pediatric Fracture Detection</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2025-01-08</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Children's National taps Microsoft to prototype AI tools .</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2025-01-29</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Samsung Launches OB/GYN Ultrasound</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2025-02-02</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Ultrasound AI Detects Fetal Defects</a:t>
                      </a:r>
                    </a:p>
                  </a:txBody>
                  <a:tcPr marL="45720" marR="45720" marT="18288" marB="18288" anchor="t"/>
                </a:tc>
                <a:tc>
                  <a:txBody>
                    <a:bodyPr wrap="square"/>
                    <a:lstStyle/>
                    <a:p/>
                  </a:txBody>
                  <a:tcPr marL="45720" marR="45720" marT="18288" marB="18288" anchor="t"/>
                </a:tc>
              </a:tr>
              <a:tr h="329184">
                <a:tc>
                  <a:txBody>
                    <a:bodyPr wrap="square"/>
                    <a:lstStyle/>
                    <a:p>
                      <a:pPr algn="r"/>
                      <a:r>
                        <a:rPr sz="900" b="0" i="0">
                          <a:solidFill>
                            <a:srgbClr val="1A1A1A"/>
                          </a:solidFill>
                          <a:latin typeface="Helvetica Neue"/>
                        </a:rPr>
                        <a:t>2025-02-06</a:t>
                      </a:r>
                    </a:p>
                  </a:txBody>
                  <a:tcPr marL="45720" marR="45720" marT="18288" marB="18288" anchor="t"/>
                </a:tc>
                <a:tc>
                  <a:txBody>
                    <a:bodyPr wrap="square"/>
                    <a:lstStyle/>
                    <a:p>
                      <a:pPr algn="r"/>
                      <a:r>
                        <a:rPr sz="900" b="0" i="0">
                          <a:solidFill>
                            <a:srgbClr val="1A1A1A"/>
                          </a:solidFill>
                          <a:latin typeface="Helvetica Neue"/>
                        </a:rPr>
                        <a:t>ESR / ECR</a:t>
                      </a:r>
                    </a:p>
                  </a:txBody>
                  <a:tcPr marL="45720" marR="45720" marT="18288" marB="18288" anchor="t"/>
                </a:tc>
                <a:tc>
                  <a:txBody>
                    <a:bodyPr wrap="square"/>
                    <a:lstStyle/>
                    <a:p>
                      <a:r>
                        <a:rPr sz="900" b="0" i="0">
                          <a:solidFill>
                            <a:srgbClr val="1A1A1A"/>
                          </a:solidFill>
                          <a:latin typeface="Helvetica Neue"/>
                        </a:rPr>
                        <a:t>Philips at #ECR2025: New AI-enabled systems, intelligent software, and imaging cloud services streamline radiology workflows, advance clinical insights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2025-02-14</a:t>
                      </a:r>
                    </a:p>
                  </a:txBody>
                  <a:tcPr marL="45720" marR="45720" marT="18288" marB="18288" anchor="t"/>
                </a:tc>
                <a:tc>
                  <a:txBody>
                    <a:bodyPr wrap="square"/>
                    <a:lstStyle/>
                    <a:p>
                      <a:pPr algn="r"/>
                      <a:r>
                        <a:rPr sz="900" b="0" i="0">
                          <a:solidFill>
                            <a:srgbClr val="1A1A1A"/>
                          </a:solidFill>
                          <a:latin typeface="Helvetica Neue"/>
                        </a:rPr>
                        <a:t>ESR / ECR</a:t>
                      </a:r>
                    </a:p>
                  </a:txBody>
                  <a:tcPr marL="45720" marR="45720" marT="18288" marB="18288" anchor="t"/>
                </a:tc>
                <a:tc>
                  <a:txBody>
                    <a:bodyPr wrap="square"/>
                    <a:lstStyle/>
                    <a:p>
                      <a:r>
                        <a:rPr sz="900" b="0" i="0">
                          <a:solidFill>
                            <a:srgbClr val="1A1A1A"/>
                          </a:solidFill>
                          <a:latin typeface="Helvetica Neue"/>
                        </a:rPr>
                        <a:t>Learn more about FUJIFILM's latest innovations at ECR!</a:t>
                      </a:r>
                    </a:p>
                  </a:txBody>
                  <a:tcPr marL="45720" marR="45720" marT="18288" marB="18288" anchor="t"/>
                </a:tc>
                <a:tc>
                  <a:txBody>
                    <a:bodyPr wrap="square"/>
                    <a:lstStyle/>
                    <a:p>
                      <a:r>
                        <a:rPr sz="900" b="0" i="0">
                          <a:solidFill>
                            <a:srgbClr val="1A1A1A"/>
                          </a:solidFill>
                          <a:latin typeface="Helvetica Neue"/>
                        </a:rPr>
                        <a:t>Iwan et al., 2020 (European Radiology)</a:t>
                      </a:r>
                    </a:p>
                  </a:txBody>
                  <a:tcPr marL="45720" marR="45720" marT="18288" marB="18288" anchor="t"/>
                </a:tc>
              </a:tr>
              <a:tr h="192024">
                <a:tc>
                  <a:txBody>
                    <a:bodyPr wrap="square"/>
                    <a:lstStyle/>
                    <a:p>
                      <a:pPr algn="r"/>
                      <a:r>
                        <a:rPr sz="900" b="0" i="0">
                          <a:solidFill>
                            <a:srgbClr val="1A1A1A"/>
                          </a:solidFill>
                          <a:latin typeface="Helvetica Neue"/>
                        </a:rPr>
                        <a:t>2025-02-27</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AI Detects Pediatric Epilepsy</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2025-03-04</a:t>
                      </a:r>
                    </a:p>
                  </a:txBody>
                  <a:tcPr marL="45720" marR="45720" marT="18288" marB="18288" anchor="t"/>
                </a:tc>
                <a:tc>
                  <a:txBody>
                    <a:bodyPr wrap="square"/>
                    <a:lstStyle/>
                    <a:p>
                      <a:pPr algn="r"/>
                      <a:r>
                        <a:rPr sz="900" b="0" i="0">
                          <a:solidFill>
                            <a:srgbClr val="1A1A1A"/>
                          </a:solidFill>
                          <a:latin typeface="Helvetica Neue"/>
                        </a:rPr>
                        <a:t>TLDR AI</a:t>
                      </a:r>
                    </a:p>
                  </a:txBody>
                  <a:tcPr marL="45720" marR="45720" marT="18288" marB="18288" anchor="t"/>
                </a:tc>
                <a:tc>
                  <a:txBody>
                    <a:bodyPr wrap="square"/>
                    <a:lstStyle/>
                    <a:p>
                      <a:r>
                        <a:rPr sz="900" b="0" i="0">
                          <a:solidFill>
                            <a:srgbClr val="1A1A1A"/>
                          </a:solidFill>
                          <a:latin typeface="Helvetica Neue"/>
                        </a:rPr>
                        <a:t>AI to diagnose invisible brain abnormalities in children with epilepsy (4 minute read)</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2025-04-02</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AZmed Gets New Chest AI Clearances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2025-04-13</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GE's Cincinnati Pediatric Partnership</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2025-05-14</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Philips Partners with NVIDIA on AI for MRI</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2025-05-18</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New GE Clearances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2025-05-20</a:t>
                      </a:r>
                    </a:p>
                  </a:txBody>
                  <a:tcPr marL="45720" marR="45720" marT="18288" marB="18288" anchor="t"/>
                </a:tc>
                <a:tc>
                  <a:txBody>
                    <a:bodyPr wrap="square"/>
                    <a:lstStyle/>
                    <a:p>
                      <a:pPr algn="r"/>
                      <a:r>
                        <a:rPr sz="900" b="0" i="0">
                          <a:solidFill>
                            <a:srgbClr val="1A1A1A"/>
                          </a:solidFill>
                          <a:latin typeface="Helvetica Neue"/>
                        </a:rPr>
                        <a:t>RSNA News</a:t>
                      </a:r>
                    </a:p>
                  </a:txBody>
                  <a:tcPr marL="45720" marR="45720" marT="18288" marB="18288" anchor="t"/>
                </a:tc>
                <a:tc>
                  <a:txBody>
                    <a:bodyPr wrap="square"/>
                    <a:lstStyle/>
                    <a:p>
                      <a:r>
                        <a:rPr sz="900" b="0" i="0">
                          <a:solidFill>
                            <a:srgbClr val="1A1A1A"/>
                          </a:solidFill>
                          <a:latin typeface="Helvetica Neue"/>
                        </a:rPr>
                        <a:t>Radiologists Share Tips to Prevent AI Bias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2025-06-01</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BrightHeart's 3rd FDA Clearance</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2025-07-03</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DeepEcho Gets FDA Nod for Fetal AI</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2025-07-10</a:t>
                      </a:r>
                    </a:p>
                  </a:txBody>
                  <a:tcPr marL="45720" marR="45720" marT="18288" marB="18288" anchor="t"/>
                </a:tc>
                <a:tc>
                  <a:txBody>
                    <a:bodyPr wrap="square"/>
                    <a:lstStyle/>
                    <a:p>
                      <a:pPr algn="r"/>
                      <a:r>
                        <a:rPr sz="900" b="0" i="0">
                          <a:solidFill>
                            <a:srgbClr val="1A1A1A"/>
                          </a:solidFill>
                          <a:latin typeface="Helvetica Neue"/>
                        </a:rPr>
                        <a:t>RSNA News</a:t>
                      </a:r>
                    </a:p>
                  </a:txBody>
                  <a:tcPr marL="45720" marR="45720" marT="18288" marB="18288" anchor="t"/>
                </a:tc>
                <a:tc>
                  <a:txBody>
                    <a:bodyPr wrap="square"/>
                    <a:lstStyle/>
                    <a:p>
                      <a:r>
                        <a:rPr sz="900" b="0" i="0">
                          <a:solidFill>
                            <a:srgbClr val="1A1A1A"/>
                          </a:solidFill>
                          <a:latin typeface="Helvetica Neue"/>
                        </a:rPr>
                        <a:t>How Is AI Being Used in Daily Neuroradiology Practice?</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2025-08-03</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Radiologist Pay Jumps Nearly 8% in New Survey</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2025-08-13</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AI-Assisted Fracture Detection</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2025-08-27</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Sonio Launches New Maternal-Fetal AI Options</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2025-10-01</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Carebot Expands AI Portfolio</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2025-10-08</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Reducing CT Radiation Dose System-Wide</a:t>
                      </a:r>
                    </a:p>
                  </a:txBody>
                  <a:tcPr marL="45720" marR="45720" marT="18288" marB="18288" anchor="t"/>
                </a:tc>
                <a:tc>
                  <a:txBody>
                    <a:bodyPr wrap="square"/>
                    <a:lstStyle/>
                    <a:p/>
                  </a:txBody>
                  <a:tcPr marL="45720" marR="45720" marT="18288" marB="18288" anchor="t"/>
                </a:tc>
              </a:tr>
              <a:tr h="192024">
                <a:tc>
                  <a:txBody>
                    <a:bodyPr wrap="square"/>
                    <a:lstStyle/>
                    <a:p>
                      <a:pPr algn="r"/>
                      <a:r>
                        <a:rPr sz="900" b="0" i="0">
                          <a:solidFill>
                            <a:srgbClr val="1A1A1A"/>
                          </a:solidFill>
                          <a:latin typeface="Helvetica Neue"/>
                        </a:rPr>
                        <a:t>2025-11-09</a:t>
                      </a:r>
                    </a:p>
                  </a:txBody>
                  <a:tcPr marL="45720" marR="45720" marT="18288" marB="18288" anchor="t"/>
                </a:tc>
                <a:tc>
                  <a:txBody>
                    <a:bodyPr wrap="square"/>
                    <a:lstStyle/>
                    <a:p>
                      <a:pPr algn="r"/>
                      <a:r>
                        <a:rPr sz="900" b="0" i="0">
                          <a:solidFill>
                            <a:srgbClr val="1A1A1A"/>
                          </a:solidFill>
                          <a:latin typeface="Helvetica Neue"/>
                        </a:rPr>
                        <a:t>The Imaging Wire</a:t>
                      </a:r>
                    </a:p>
                  </a:txBody>
                  <a:tcPr marL="45720" marR="45720" marT="18288" marB="18288" anchor="t"/>
                </a:tc>
                <a:tc>
                  <a:txBody>
                    <a:bodyPr wrap="square"/>
                    <a:lstStyle/>
                    <a:p>
                      <a:r>
                        <a:rPr sz="900" b="0" i="0">
                          <a:solidFill>
                            <a:srgbClr val="1A1A1A"/>
                          </a:solidFill>
                          <a:latin typeface="Helvetica Neue"/>
                        </a:rPr>
                        <a:t>AI Detects Pediatric Elbow Fractures</a:t>
                      </a:r>
                    </a:p>
                  </a:txBody>
                  <a:tcPr marL="45720" marR="45720" marT="18288" marB="18288" anchor="t"/>
                </a:tc>
                <a:tc>
                  <a:txBody>
                    <a:bodyPr wrap="square"/>
                    <a:lstStyle/>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58 / 83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Pediatric radiology AI in the trade press, 2026 (year to date) (13 stories)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NEWSLETTERS</a:t>
            </a:r>
          </a:p>
        </p:txBody>
      </p:sp>
      <p:graphicFrame>
        <p:nvGraphicFramePr>
          <p:cNvPr id="4" name="Table 3"/>
          <p:cNvGraphicFramePr>
            <a:graphicFrameLocks noGrp="1"/>
          </p:cNvGraphicFramePr>
          <p:nvPr/>
        </p:nvGraphicFramePr>
        <p:xfrm>
          <a:off x="411480" y="877824"/>
          <a:ext cx="11368734" cy="3617976"/>
        </p:xfrm>
        <a:graphic>
          <a:graphicData uri="http://schemas.openxmlformats.org/drawingml/2006/table">
            <a:tbl>
              <a:tblPr firstRow="1" bandRow="1">
                <a:tableStyleId>{5C22544A-7EE6-4342-B048-85BDC9FD1C3A}</a:tableStyleId>
              </a:tblPr>
              <a:tblGrid>
                <a:gridCol w="910336"/>
                <a:gridCol w="1379728"/>
                <a:gridCol w="6196553"/>
                <a:gridCol w="2882117"/>
              </a:tblGrid>
              <a:tr h="222504">
                <a:tc>
                  <a:txBody>
                    <a:bodyPr wrap="square"/>
                    <a:lstStyle/>
                    <a:p>
                      <a:pPr algn="r"/>
                      <a:r>
                        <a:rPr sz="1100" b="1" i="0">
                          <a:solidFill>
                            <a:srgbClr val="FFFFFF"/>
                          </a:solidFill>
                          <a:latin typeface="Helvetica Neue"/>
                        </a:rPr>
                        <a:t>Date</a:t>
                      </a:r>
                    </a:p>
                  </a:txBody>
                  <a:tcPr marL="45720" marR="45720" marT="18288" marB="18288" anchor="t"/>
                </a:tc>
                <a:tc>
                  <a:txBody>
                    <a:bodyPr wrap="square"/>
                    <a:lstStyle/>
                    <a:p>
                      <a:pPr algn="r"/>
                      <a:r>
                        <a:rPr sz="1100" b="1" i="0">
                          <a:solidFill>
                            <a:srgbClr val="FFFFFF"/>
                          </a:solidFill>
                          <a:latin typeface="Helvetica Neue"/>
                        </a:rPr>
                        <a:t>Newsletter</a:t>
                      </a:r>
                    </a:p>
                  </a:txBody>
                  <a:tcPr marL="45720" marR="45720" marT="18288" marB="18288" anchor="t"/>
                </a:tc>
                <a:tc>
                  <a:txBody>
                    <a:bodyPr wrap="square"/>
                    <a:lstStyle/>
                    <a:p>
                      <a:r>
                        <a:rPr sz="1100" b="1" i="0">
                          <a:solidFill>
                            <a:srgbClr val="FFFFFF"/>
                          </a:solidFill>
                          <a:latin typeface="Helvetica Neue"/>
                        </a:rPr>
                        <a:t>Story</a:t>
                      </a:r>
                    </a:p>
                  </a:txBody>
                  <a:tcPr marL="45720" marR="45720" marT="18288" marB="18288" anchor="t"/>
                </a:tc>
                <a:tc>
                  <a:txBody>
                    <a:bodyPr wrap="square"/>
                    <a:lstStyle/>
                    <a:p>
                      <a:r>
                        <a:rPr sz="1100" b="1" i="0">
                          <a:solidFill>
                            <a:srgbClr val="FFFFFF"/>
                          </a:solidFill>
                          <a:latin typeface="Helvetica Neue"/>
                        </a:rPr>
                        <a:t>Paper</a:t>
                      </a:r>
                    </a:p>
                  </a:txBody>
                  <a:tcPr marL="45720" marR="45720" marT="18288" marB="18288" anchor="t"/>
                </a:tc>
              </a:tr>
              <a:tr h="222504">
                <a:tc>
                  <a:txBody>
                    <a:bodyPr wrap="square"/>
                    <a:lstStyle/>
                    <a:p>
                      <a:pPr algn="r"/>
                      <a:r>
                        <a:rPr sz="1100" b="0" i="0">
                          <a:solidFill>
                            <a:srgbClr val="1A1A1A"/>
                          </a:solidFill>
                          <a:latin typeface="Helvetica Neue"/>
                        </a:rPr>
                        <a:t>2026-01-07</a:t>
                      </a:r>
                    </a:p>
                  </a:txBody>
                  <a:tcPr marL="45720" marR="45720" marT="18288" marB="18288" anchor="t"/>
                </a:tc>
                <a:tc>
                  <a:txBody>
                    <a:bodyPr wrap="square"/>
                    <a:lstStyle/>
                    <a:p>
                      <a:pPr algn="r"/>
                      <a:r>
                        <a:rPr sz="1100" b="0" i="0">
                          <a:solidFill>
                            <a:srgbClr val="1A1A1A"/>
                          </a:solidFill>
                          <a:latin typeface="Helvetica Neue"/>
                        </a:rPr>
                        <a:t>The Imaging Wire</a:t>
                      </a:r>
                    </a:p>
                  </a:txBody>
                  <a:tcPr marL="45720" marR="45720" marT="18288" marB="18288" anchor="t"/>
                </a:tc>
                <a:tc>
                  <a:txBody>
                    <a:bodyPr wrap="square"/>
                    <a:lstStyle/>
                    <a:p>
                      <a:r>
                        <a:rPr sz="1100" b="0" i="0">
                          <a:solidFill>
                            <a:srgbClr val="1A1A1A"/>
                          </a:solidFill>
                          <a:latin typeface="Helvetica Neue"/>
                        </a:rPr>
                        <a:t>BrightHeart Raises EUR 11M</a:t>
                      </a:r>
                    </a:p>
                  </a:txBody>
                  <a:tcPr marL="45720" marR="45720" marT="18288" marB="18288" anchor="t"/>
                </a:tc>
                <a:tc>
                  <a:txBody>
                    <a:bodyPr wrap="square"/>
                    <a:lstStyle/>
                    <a:p/>
                  </a:txBody>
                  <a:tcPr marL="45720" marR="45720" marT="18288" marB="18288" anchor="t"/>
                </a:tc>
              </a:tr>
              <a:tr h="222504">
                <a:tc>
                  <a:txBody>
                    <a:bodyPr wrap="square"/>
                    <a:lstStyle/>
                    <a:p>
                      <a:pPr algn="r"/>
                      <a:r>
                        <a:rPr sz="1100" b="0" i="0">
                          <a:solidFill>
                            <a:srgbClr val="1A1A1A"/>
                          </a:solidFill>
                          <a:latin typeface="Helvetica Neue"/>
                        </a:rPr>
                        <a:t>2026-01-28</a:t>
                      </a:r>
                    </a:p>
                  </a:txBody>
                  <a:tcPr marL="45720" marR="45720" marT="18288" marB="18288" anchor="t"/>
                </a:tc>
                <a:tc>
                  <a:txBody>
                    <a:bodyPr wrap="square"/>
                    <a:lstStyle/>
                    <a:p>
                      <a:pPr algn="r"/>
                      <a:r>
                        <a:rPr sz="1100" b="0" i="0">
                          <a:solidFill>
                            <a:srgbClr val="1A1A1A"/>
                          </a:solidFill>
                          <a:latin typeface="Helvetica Neue"/>
                        </a:rPr>
                        <a:t>The Imaging Wire</a:t>
                      </a:r>
                    </a:p>
                  </a:txBody>
                  <a:tcPr marL="45720" marR="45720" marT="18288" marB="18288" anchor="t"/>
                </a:tc>
                <a:tc>
                  <a:txBody>
                    <a:bodyPr wrap="square"/>
                    <a:lstStyle/>
                    <a:p>
                      <a:r>
                        <a:rPr sz="1100" b="0" i="0">
                          <a:solidFill>
                            <a:srgbClr val="1A1A1A"/>
                          </a:solidFill>
                          <a:latin typeface="Helvetica Neue"/>
                        </a:rPr>
                        <a:t>AHA Publishes New Stroke Guidelines</a:t>
                      </a:r>
                    </a:p>
                  </a:txBody>
                  <a:tcPr marL="45720" marR="45720" marT="18288" marB="18288" anchor="t"/>
                </a:tc>
                <a:tc>
                  <a:txBody>
                    <a:bodyPr wrap="square"/>
                    <a:lstStyle/>
                    <a:p>
                      <a:r>
                        <a:rPr sz="1100" b="0" i="0">
                          <a:solidFill>
                            <a:srgbClr val="1A1A1A"/>
                          </a:solidFill>
                          <a:latin typeface="Helvetica Neue"/>
                        </a:rPr>
                        <a:t>Prabhakaran et al., 2026 (Stroke)</a:t>
                      </a:r>
                    </a:p>
                  </a:txBody>
                  <a:tcPr marL="45720" marR="45720" marT="18288" marB="18288" anchor="t"/>
                </a:tc>
              </a:tr>
              <a:tr h="222504">
                <a:tc>
                  <a:txBody>
                    <a:bodyPr wrap="square"/>
                    <a:lstStyle/>
                    <a:p>
                      <a:pPr algn="r"/>
                      <a:r>
                        <a:rPr sz="1100" b="0" i="0">
                          <a:solidFill>
                            <a:srgbClr val="1A1A1A"/>
                          </a:solidFill>
                          <a:latin typeface="Helvetica Neue"/>
                        </a:rPr>
                        <a:t>2026-01-28</a:t>
                      </a:r>
                    </a:p>
                  </a:txBody>
                  <a:tcPr marL="45720" marR="45720" marT="18288" marB="18288" anchor="t"/>
                </a:tc>
                <a:tc>
                  <a:txBody>
                    <a:bodyPr wrap="square"/>
                    <a:lstStyle/>
                    <a:p>
                      <a:pPr algn="r"/>
                      <a:r>
                        <a:rPr sz="1100" b="0" i="0">
                          <a:solidFill>
                            <a:srgbClr val="1A1A1A"/>
                          </a:solidFill>
                          <a:latin typeface="Helvetica Neue"/>
                        </a:rPr>
                        <a:t>ESR / ECR</a:t>
                      </a:r>
                    </a:p>
                  </a:txBody>
                  <a:tcPr marL="45720" marR="45720" marT="18288" marB="18288" anchor="t"/>
                </a:tc>
                <a:tc>
                  <a:txBody>
                    <a:bodyPr wrap="square"/>
                    <a:lstStyle/>
                    <a:p>
                      <a:r>
                        <a:rPr sz="1100" b="0" i="0">
                          <a:solidFill>
                            <a:srgbClr val="1A1A1A"/>
                          </a:solidFill>
                          <a:latin typeface="Helvetica Neue"/>
                        </a:rPr>
                        <a:t>Guerbet: Innovation and French Cooperation in the Spotlight at ECR 2026</a:t>
                      </a:r>
                    </a:p>
                  </a:txBody>
                  <a:tcPr marL="45720" marR="45720" marT="18288" marB="18288" anchor="t"/>
                </a:tc>
                <a:tc>
                  <a:txBody>
                    <a:bodyPr wrap="square"/>
                    <a:lstStyle/>
                    <a:p/>
                  </a:txBody>
                  <a:tcPr marL="45720" marR="45720" marT="18288" marB="18288" anchor="t"/>
                </a:tc>
              </a:tr>
              <a:tr h="222504">
                <a:tc>
                  <a:txBody>
                    <a:bodyPr wrap="square"/>
                    <a:lstStyle/>
                    <a:p>
                      <a:pPr algn="r"/>
                      <a:r>
                        <a:rPr sz="1100" b="0" i="0">
                          <a:solidFill>
                            <a:srgbClr val="1A1A1A"/>
                          </a:solidFill>
                          <a:latin typeface="Helvetica Neue"/>
                        </a:rPr>
                        <a:t>2026-02-01</a:t>
                      </a:r>
                    </a:p>
                  </a:txBody>
                  <a:tcPr marL="45720" marR="45720" marT="18288" marB="18288" anchor="t"/>
                </a:tc>
                <a:tc>
                  <a:txBody>
                    <a:bodyPr wrap="square"/>
                    <a:lstStyle/>
                    <a:p>
                      <a:pPr algn="r"/>
                      <a:r>
                        <a:rPr sz="1100" b="0" i="0">
                          <a:solidFill>
                            <a:srgbClr val="1A1A1A"/>
                          </a:solidFill>
                          <a:latin typeface="Helvetica Neue"/>
                        </a:rPr>
                        <a:t>The Imaging Wire</a:t>
                      </a:r>
                    </a:p>
                  </a:txBody>
                  <a:tcPr marL="45720" marR="45720" marT="18288" marB="18288" anchor="t"/>
                </a:tc>
                <a:tc>
                  <a:txBody>
                    <a:bodyPr wrap="square"/>
                    <a:lstStyle/>
                    <a:p>
                      <a:r>
                        <a:rPr sz="1100" b="0" i="0">
                          <a:solidFill>
                            <a:srgbClr val="1A1A1A"/>
                          </a:solidFill>
                          <a:latin typeface="Helvetica Neue"/>
                        </a:rPr>
                        <a:t>DL-Based CT Reduces Radiation Dose</a:t>
                      </a:r>
                    </a:p>
                  </a:txBody>
                  <a:tcPr marL="45720" marR="45720" marT="18288" marB="18288" anchor="t"/>
                </a:tc>
                <a:tc>
                  <a:txBody>
                    <a:bodyPr wrap="square"/>
                    <a:lstStyle/>
                    <a:p/>
                  </a:txBody>
                  <a:tcPr marL="45720" marR="45720" marT="18288" marB="18288" anchor="t"/>
                </a:tc>
              </a:tr>
              <a:tr h="222504">
                <a:tc>
                  <a:txBody>
                    <a:bodyPr wrap="square"/>
                    <a:lstStyle/>
                    <a:p>
                      <a:pPr algn="r"/>
                      <a:r>
                        <a:rPr sz="1100" b="0" i="0">
                          <a:solidFill>
                            <a:srgbClr val="1A1A1A"/>
                          </a:solidFill>
                          <a:latin typeface="Helvetica Neue"/>
                        </a:rPr>
                        <a:t>2026-02-08</a:t>
                      </a:r>
                    </a:p>
                  </a:txBody>
                  <a:tcPr marL="45720" marR="45720" marT="18288" marB="18288" anchor="t"/>
                </a:tc>
                <a:tc>
                  <a:txBody>
                    <a:bodyPr wrap="square"/>
                    <a:lstStyle/>
                    <a:p>
                      <a:pPr algn="r"/>
                      <a:r>
                        <a:rPr sz="1100" b="0" i="0">
                          <a:solidFill>
                            <a:srgbClr val="1A1A1A"/>
                          </a:solidFill>
                          <a:latin typeface="Helvetica Neue"/>
                        </a:rPr>
                        <a:t>The Imaging Wire</a:t>
                      </a:r>
                    </a:p>
                  </a:txBody>
                  <a:tcPr marL="45720" marR="45720" marT="18288" marB="18288" anchor="t"/>
                </a:tc>
                <a:tc>
                  <a:txBody>
                    <a:bodyPr wrap="square"/>
                    <a:lstStyle/>
                    <a:p>
                      <a:r>
                        <a:rPr sz="1100" b="0" i="0">
                          <a:solidFill>
                            <a:srgbClr val="1A1A1A"/>
                          </a:solidFill>
                          <a:latin typeface="Helvetica Neue"/>
                        </a:rPr>
                        <a:t>GE Bolsters Ultrasound with Fetal AI</a:t>
                      </a:r>
                    </a:p>
                  </a:txBody>
                  <a:tcPr marL="45720" marR="45720" marT="18288" marB="18288" anchor="t"/>
                </a:tc>
                <a:tc>
                  <a:txBody>
                    <a:bodyPr wrap="square"/>
                    <a:lstStyle/>
                    <a:p/>
                  </a:txBody>
                  <a:tcPr marL="45720" marR="45720" marT="18288" marB="18288" anchor="t"/>
                </a:tc>
              </a:tr>
              <a:tr h="222504">
                <a:tc>
                  <a:txBody>
                    <a:bodyPr wrap="square"/>
                    <a:lstStyle/>
                    <a:p>
                      <a:pPr algn="r"/>
                      <a:r>
                        <a:rPr sz="1100" b="0" i="0">
                          <a:solidFill>
                            <a:srgbClr val="1A1A1A"/>
                          </a:solidFill>
                          <a:latin typeface="Helvetica Neue"/>
                        </a:rPr>
                        <a:t>2026-02-26</a:t>
                      </a:r>
                    </a:p>
                  </a:txBody>
                  <a:tcPr marL="45720" marR="45720" marT="18288" marB="18288" anchor="t"/>
                </a:tc>
                <a:tc>
                  <a:txBody>
                    <a:bodyPr wrap="square"/>
                    <a:lstStyle/>
                    <a:p>
                      <a:pPr algn="r"/>
                      <a:r>
                        <a:rPr sz="1100" b="0" i="0">
                          <a:solidFill>
                            <a:srgbClr val="1A1A1A"/>
                          </a:solidFill>
                          <a:latin typeface="Helvetica Neue"/>
                        </a:rPr>
                        <a:t>ESR / ECR</a:t>
                      </a:r>
                    </a:p>
                  </a:txBody>
                  <a:tcPr marL="45720" marR="45720" marT="18288" marB="18288" anchor="t"/>
                </a:tc>
                <a:tc>
                  <a:txBody>
                    <a:bodyPr wrap="square"/>
                    <a:lstStyle/>
                    <a:p>
                      <a:r>
                        <a:rPr sz="1100" b="0" i="0">
                          <a:solidFill>
                            <a:srgbClr val="1A1A1A"/>
                          </a:solidFill>
                          <a:latin typeface="Helvetica Neue"/>
                        </a:rPr>
                        <a:t>MRI Unveiling at the</a:t>
                      </a:r>
                    </a:p>
                  </a:txBody>
                  <a:tcPr marL="45720" marR="45720" marT="18288" marB="18288" anchor="t"/>
                </a:tc>
                <a:tc>
                  <a:txBody>
                    <a:bodyPr wrap="square"/>
                    <a:lstStyle/>
                    <a:p/>
                  </a:txBody>
                  <a:tcPr marL="45720" marR="45720" marT="18288" marB="18288" anchor="t"/>
                </a:tc>
              </a:tr>
              <a:tr h="222504">
                <a:tc>
                  <a:txBody>
                    <a:bodyPr wrap="square"/>
                    <a:lstStyle/>
                    <a:p>
                      <a:pPr algn="r"/>
                      <a:r>
                        <a:rPr sz="1100" b="0" i="0">
                          <a:solidFill>
                            <a:srgbClr val="1A1A1A"/>
                          </a:solidFill>
                          <a:latin typeface="Helvetica Neue"/>
                        </a:rPr>
                        <a:t>2026-03-29</a:t>
                      </a:r>
                    </a:p>
                  </a:txBody>
                  <a:tcPr marL="45720" marR="45720" marT="18288" marB="18288" anchor="t"/>
                </a:tc>
                <a:tc>
                  <a:txBody>
                    <a:bodyPr wrap="square"/>
                    <a:lstStyle/>
                    <a:p>
                      <a:pPr algn="r"/>
                      <a:r>
                        <a:rPr sz="1100" b="0" i="0">
                          <a:solidFill>
                            <a:srgbClr val="1A1A1A"/>
                          </a:solidFill>
                          <a:latin typeface="Helvetica Neue"/>
                        </a:rPr>
                        <a:t>The Imaging Wire</a:t>
                      </a:r>
                    </a:p>
                  </a:txBody>
                  <a:tcPr marL="45720" marR="45720" marT="18288" marB="18288" anchor="t"/>
                </a:tc>
                <a:tc>
                  <a:txBody>
                    <a:bodyPr wrap="square"/>
                    <a:lstStyle/>
                    <a:p>
                      <a:r>
                        <a:rPr sz="1100" b="0" i="0">
                          <a:solidFill>
                            <a:srgbClr val="1A1A1A"/>
                          </a:solidFill>
                          <a:latin typeface="Helvetica Neue"/>
                        </a:rPr>
                        <a:t>Ultrasound AI Gets Breakthrough Nod</a:t>
                      </a:r>
                    </a:p>
                  </a:txBody>
                  <a:tcPr marL="45720" marR="45720" marT="18288" marB="18288" anchor="t"/>
                </a:tc>
                <a:tc>
                  <a:txBody>
                    <a:bodyPr wrap="square"/>
                    <a:lstStyle/>
                    <a:p/>
                  </a:txBody>
                  <a:tcPr marL="45720" marR="45720" marT="18288" marB="18288" anchor="t"/>
                </a:tc>
              </a:tr>
              <a:tr h="222504">
                <a:tc>
                  <a:txBody>
                    <a:bodyPr wrap="square"/>
                    <a:lstStyle/>
                    <a:p>
                      <a:pPr algn="r"/>
                      <a:r>
                        <a:rPr sz="1100" b="0" i="0">
                          <a:solidFill>
                            <a:srgbClr val="1A1A1A"/>
                          </a:solidFill>
                          <a:latin typeface="Helvetica Neue"/>
                        </a:rPr>
                        <a:t>2026-05-10</a:t>
                      </a:r>
                    </a:p>
                  </a:txBody>
                  <a:tcPr marL="45720" marR="45720" marT="18288" marB="18288" anchor="t"/>
                </a:tc>
                <a:tc>
                  <a:txBody>
                    <a:bodyPr wrap="square"/>
                    <a:lstStyle/>
                    <a:p>
                      <a:pPr algn="r"/>
                      <a:r>
                        <a:rPr sz="1100" b="0" i="0">
                          <a:solidFill>
                            <a:srgbClr val="1A1A1A"/>
                          </a:solidFill>
                          <a:latin typeface="Helvetica Neue"/>
                        </a:rPr>
                        <a:t>The Imaging Wire</a:t>
                      </a:r>
                    </a:p>
                  </a:txBody>
                  <a:tcPr marL="45720" marR="45720" marT="18288" marB="18288" anchor="t"/>
                </a:tc>
                <a:tc>
                  <a:txBody>
                    <a:bodyPr wrap="square"/>
                    <a:lstStyle/>
                    <a:p>
                      <a:r>
                        <a:rPr sz="1100" b="0" i="0">
                          <a:solidFill>
                            <a:srgbClr val="1A1A1A"/>
                          </a:solidFill>
                          <a:latin typeface="Helvetica Neue"/>
                        </a:rPr>
                        <a:t>Pediatric MRI Safety, RTs and Remote Radiology, and PSMA-PET</a:t>
                      </a:r>
                    </a:p>
                  </a:txBody>
                  <a:tcPr marL="45720" marR="45720" marT="18288" marB="18288" anchor="t"/>
                </a:tc>
                <a:tc>
                  <a:txBody>
                    <a:bodyPr wrap="square"/>
                    <a:lstStyle/>
                    <a:p/>
                  </a:txBody>
                  <a:tcPr marL="45720" marR="45720" marT="18288" marB="18288" anchor="t"/>
                </a:tc>
              </a:tr>
              <a:tr h="390144">
                <a:tc>
                  <a:txBody>
                    <a:bodyPr wrap="square"/>
                    <a:lstStyle/>
                    <a:p>
                      <a:pPr algn="r"/>
                      <a:r>
                        <a:rPr sz="1100" b="0" i="0">
                          <a:solidFill>
                            <a:srgbClr val="1A1A1A"/>
                          </a:solidFill>
                          <a:latin typeface="Helvetica Neue"/>
                        </a:rPr>
                        <a:t>2026-06-22</a:t>
                      </a:r>
                    </a:p>
                  </a:txBody>
                  <a:tcPr marL="45720" marR="45720" marT="18288" marB="18288" anchor="t"/>
                </a:tc>
                <a:tc>
                  <a:txBody>
                    <a:bodyPr wrap="square"/>
                    <a:lstStyle/>
                    <a:p>
                      <a:pPr algn="r"/>
                      <a:r>
                        <a:rPr sz="1100" b="0" i="0">
                          <a:solidFill>
                            <a:srgbClr val="1A1A1A"/>
                          </a:solidFill>
                          <a:latin typeface="Helvetica Neue"/>
                        </a:rPr>
                        <a:t>RSNA News</a:t>
                      </a:r>
                    </a:p>
                  </a:txBody>
                  <a:tcPr marL="45720" marR="45720" marT="18288" marB="18288" anchor="t"/>
                </a:tc>
                <a:tc>
                  <a:txBody>
                    <a:bodyPr wrap="square"/>
                    <a:lstStyle/>
                    <a:p>
                      <a:r>
                        <a:rPr sz="1100" b="0" i="0">
                          <a:solidFill>
                            <a:srgbClr val="1A1A1A"/>
                          </a:solidFill>
                          <a:latin typeface="Helvetica Neue"/>
                        </a:rPr>
                        <a:t>Researchers Use AI to Establish Body Charts for CT Imaging Across the Adult Lifespan</a:t>
                      </a:r>
                    </a:p>
                  </a:txBody>
                  <a:tcPr marL="45720" marR="45720" marT="18288" marB="18288" anchor="t"/>
                </a:tc>
                <a:tc>
                  <a:txBody>
                    <a:bodyPr wrap="square"/>
                    <a:lstStyle/>
                    <a:p/>
                  </a:txBody>
                  <a:tcPr marL="45720" marR="45720" marT="18288" marB="18288" anchor="t"/>
                </a:tc>
              </a:tr>
              <a:tr h="390144">
                <a:tc>
                  <a:txBody>
                    <a:bodyPr wrap="square"/>
                    <a:lstStyle/>
                    <a:p>
                      <a:pPr algn="r"/>
                      <a:r>
                        <a:rPr sz="1100" b="0" i="0">
                          <a:solidFill>
                            <a:srgbClr val="1A1A1A"/>
                          </a:solidFill>
                          <a:latin typeface="Helvetica Neue"/>
                        </a:rPr>
                        <a:t>2026-06-28</a:t>
                      </a:r>
                    </a:p>
                  </a:txBody>
                  <a:tcPr marL="45720" marR="45720" marT="18288" marB="18288" anchor="t"/>
                </a:tc>
                <a:tc>
                  <a:txBody>
                    <a:bodyPr wrap="square"/>
                    <a:lstStyle/>
                    <a:p>
                      <a:pPr algn="r"/>
                      <a:r>
                        <a:rPr sz="1100" b="0" i="0">
                          <a:solidFill>
                            <a:srgbClr val="1A1A1A"/>
                          </a:solidFill>
                          <a:latin typeface="Helvetica Neue"/>
                        </a:rPr>
                        <a:t>The Imaging Wire</a:t>
                      </a:r>
                    </a:p>
                  </a:txBody>
                  <a:tcPr marL="45720" marR="45720" marT="18288" marB="18288" anchor="t"/>
                </a:tc>
                <a:tc>
                  <a:txBody>
                    <a:bodyPr wrap="square"/>
                    <a:lstStyle/>
                    <a:p>
                      <a:r>
                        <a:rPr sz="1100" b="0" i="0">
                          <a:solidFill>
                            <a:srgbClr val="1A1A1A"/>
                          </a:solidFill>
                          <a:latin typeface="Helvetica Neue"/>
                        </a:rPr>
                        <a:t>BrightHeart's Bright Future</a:t>
                      </a:r>
                    </a:p>
                  </a:txBody>
                  <a:tcPr marL="45720" marR="45720" marT="18288" marB="18288" anchor="t"/>
                </a:tc>
                <a:tc>
                  <a:txBody>
                    <a:bodyPr wrap="square"/>
                    <a:lstStyle/>
                    <a:p>
                      <a:r>
                        <a:rPr sz="1100" b="0" i="0">
                          <a:solidFill>
                            <a:srgbClr val="1A1A1A"/>
                          </a:solidFill>
                          <a:latin typeface="Helvetica Neue"/>
                        </a:rPr>
                        <a:t>Zelop et al., 2025 (Obstetrics &amp; Gynecology)</a:t>
                      </a:r>
                    </a:p>
                  </a:txBody>
                  <a:tcPr marL="45720" marR="45720" marT="18288" marB="18288" anchor="t"/>
                </a:tc>
              </a:tr>
              <a:tr h="390144">
                <a:tc>
                  <a:txBody>
                    <a:bodyPr wrap="square"/>
                    <a:lstStyle/>
                    <a:p>
                      <a:pPr algn="r"/>
                      <a:r>
                        <a:rPr sz="1100" b="0" i="0">
                          <a:solidFill>
                            <a:srgbClr val="1A1A1A"/>
                          </a:solidFill>
                          <a:latin typeface="Helvetica Neue"/>
                        </a:rPr>
                        <a:t>2026-07-12</a:t>
                      </a:r>
                    </a:p>
                  </a:txBody>
                  <a:tcPr marL="45720" marR="45720" marT="18288" marB="18288" anchor="t"/>
                </a:tc>
                <a:tc>
                  <a:txBody>
                    <a:bodyPr wrap="square"/>
                    <a:lstStyle/>
                    <a:p>
                      <a:pPr algn="r"/>
                      <a:r>
                        <a:rPr sz="1100" b="0" i="0">
                          <a:solidFill>
                            <a:srgbClr val="1A1A1A"/>
                          </a:solidFill>
                          <a:latin typeface="Helvetica Neue"/>
                        </a:rPr>
                        <a:t>The Imaging Wire</a:t>
                      </a:r>
                    </a:p>
                  </a:txBody>
                  <a:tcPr marL="45720" marR="45720" marT="18288" marB="18288" anchor="t"/>
                </a:tc>
                <a:tc>
                  <a:txBody>
                    <a:bodyPr wrap="square"/>
                    <a:lstStyle/>
                    <a:p>
                      <a:r>
                        <a:rPr sz="1100" b="0" i="0">
                          <a:solidFill>
                            <a:srgbClr val="1A1A1A"/>
                          </a:solidFill>
                          <a:latin typeface="Helvetica Neue"/>
                        </a:rPr>
                        <a:t>AI's Rise in Pediatric Imaging</a:t>
                      </a:r>
                    </a:p>
                  </a:txBody>
                  <a:tcPr marL="45720" marR="45720" marT="18288" marB="18288" anchor="t"/>
                </a:tc>
                <a:tc>
                  <a:txBody>
                    <a:bodyPr wrap="square"/>
                    <a:lstStyle/>
                    <a:p>
                      <a:r>
                        <a:rPr sz="1100" b="0" i="0">
                          <a:solidFill>
                            <a:srgbClr val="1A1A1A"/>
                          </a:solidFill>
                          <a:latin typeface="Helvetica Neue"/>
                        </a:rPr>
                        <a:t>Shah et al., 2026 (European Radiology)</a:t>
                      </a:r>
                    </a:p>
                  </a:txBody>
                  <a:tcPr marL="45720" marR="45720" marT="18288" marB="18288" anchor="t"/>
                </a:tc>
              </a:tr>
              <a:tr h="222504">
                <a:tc>
                  <a:txBody>
                    <a:bodyPr wrap="square"/>
                    <a:lstStyle/>
                    <a:p>
                      <a:pPr algn="r"/>
                      <a:r>
                        <a:rPr sz="1100" b="0" i="0">
                          <a:solidFill>
                            <a:srgbClr val="1A1A1A"/>
                          </a:solidFill>
                          <a:latin typeface="Helvetica Neue"/>
                        </a:rPr>
                        <a:t>2026-08-16</a:t>
                      </a:r>
                    </a:p>
                  </a:txBody>
                  <a:tcPr marL="45720" marR="45720" marT="18288" marB="18288" anchor="t"/>
                </a:tc>
                <a:tc>
                  <a:txBody>
                    <a:bodyPr wrap="square"/>
                    <a:lstStyle/>
                    <a:p>
                      <a:pPr algn="r"/>
                      <a:r>
                        <a:rPr sz="1100" b="0" i="0">
                          <a:solidFill>
                            <a:srgbClr val="1A1A1A"/>
                          </a:solidFill>
                          <a:latin typeface="Helvetica Neue"/>
                        </a:rPr>
                        <a:t>The Imaging Wire</a:t>
                      </a:r>
                    </a:p>
                  </a:txBody>
                  <a:tcPr marL="45720" marR="45720" marT="18288" marB="18288" anchor="t"/>
                </a:tc>
                <a:tc>
                  <a:txBody>
                    <a:bodyPr wrap="square"/>
                    <a:lstStyle/>
                    <a:p>
                      <a:r>
                        <a:rPr sz="1100" b="0" i="0">
                          <a:solidFill>
                            <a:srgbClr val="1A1A1A"/>
                          </a:solidFill>
                          <a:latin typeface="Helvetica Neue"/>
                        </a:rPr>
                        <a:t>CT vs. MRI for Pediatric TBI, Helium Vulnerability, and Ditching the Disk</a:t>
                      </a:r>
                    </a:p>
                  </a:txBody>
                  <a:tcPr marL="45720" marR="45720" marT="18288" marB="18288" anchor="t"/>
                </a:tc>
                <a:tc>
                  <a:txBody>
                    <a:bodyPr wrap="square"/>
                    <a:lstStyle/>
                    <a:p/>
                  </a:txBody>
                  <a:tcPr marL="45720" marR="45720" marT="18288" marB="18288" anchor="t"/>
                </a:tc>
              </a:tr>
              <a:tr h="222504">
                <a:tc>
                  <a:txBody>
                    <a:bodyPr wrap="square"/>
                    <a:lstStyle/>
                    <a:p>
                      <a:pPr algn="r"/>
                      <a:r>
                        <a:rPr sz="1100" b="0" i="0">
                          <a:solidFill>
                            <a:srgbClr val="1A1A1A"/>
                          </a:solidFill>
                          <a:latin typeface="Helvetica Neue"/>
                        </a:rPr>
                        <a:t>2026-08-25</a:t>
                      </a:r>
                    </a:p>
                  </a:txBody>
                  <a:tcPr marL="45720" marR="45720" marT="18288" marB="18288" anchor="t"/>
                </a:tc>
                <a:tc>
                  <a:txBody>
                    <a:bodyPr wrap="square"/>
                    <a:lstStyle/>
                    <a:p>
                      <a:pPr algn="r"/>
                      <a:r>
                        <a:rPr sz="1100" b="0" i="0">
                          <a:solidFill>
                            <a:srgbClr val="1A1A1A"/>
                          </a:solidFill>
                          <a:latin typeface="Helvetica Neue"/>
                        </a:rPr>
                        <a:t>RSNA News</a:t>
                      </a:r>
                    </a:p>
                  </a:txBody>
                  <a:tcPr marL="45720" marR="45720" marT="18288" marB="18288" anchor="t"/>
                </a:tc>
                <a:tc>
                  <a:txBody>
                    <a:bodyPr wrap="square"/>
                    <a:lstStyle/>
                    <a:p>
                      <a:r>
                        <a:rPr sz="1100" b="0" i="0">
                          <a:solidFill>
                            <a:srgbClr val="1A1A1A"/>
                          </a:solidFill>
                          <a:latin typeface="Helvetica Neue"/>
                        </a:rPr>
                        <a:t>AI Challenges Fuel Innovation Beyond the Leaderboard</a:t>
                      </a:r>
                    </a:p>
                  </a:txBody>
                  <a:tcPr marL="45720" marR="45720" marT="18288" marB="18288" anchor="t"/>
                </a:tc>
                <a:tc>
                  <a:txBody>
                    <a:bodyPr wrap="square"/>
                    <a:lstStyle/>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59 / 83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Who is building commercial radiology AI</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COMMERCIAL SOFTWARE</a:t>
            </a:r>
          </a:p>
        </p:txBody>
      </p:sp>
      <p:pic>
        <p:nvPicPr>
          <p:cNvPr id="4" name="commercial_companies_by_year" descr="commercial_companies_by_year.png"/>
          <p:cNvPicPr>
            <a:picLocks noChangeAspect="1"/>
          </p:cNvPicPr>
          <p:nvPr/>
        </p:nvPicPr>
        <p:blipFill>
          <a:blip r:embed="rId2"/>
          <a:stretch>
            <a:fillRect/>
          </a:stretch>
        </p:blipFill>
        <p:spPr>
          <a:xfrm>
            <a:off x="2839486" y="877824"/>
            <a:ext cx="6512722" cy="3256361"/>
          </a:xfrm>
          <a:prstGeom prst="rect">
            <a:avLst/>
          </a:prstGeom>
        </p:spPr>
      </p:pic>
      <p:sp>
        <p:nvSpPr>
          <p:cNvPr id="5" name="TextBox 4"/>
          <p:cNvSpPr txBox="1"/>
          <p:nvPr/>
        </p:nvSpPr>
        <p:spPr>
          <a:xfrm>
            <a:off x="411480" y="4207337"/>
            <a:ext cx="11368735" cy="64325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Running total of each company's Radiology-panel entries in the FDA AI-enabled device list; an entry is a submission, so versions count separately. Dashed = standalone software whose decision summary states a pediatric or fetal population: 110 such entries panel-wide, against 230 including scanner platforms, out of 1,230. The biggest portfolios hold almost no pediatric software; Aidoc is the exception, and its pediatric statements rest on adult evidence.</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60 / 83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Which clinical problems the cleared products address</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COMMERCIAL SOFTWARE</a:t>
            </a:r>
          </a:p>
        </p:txBody>
      </p:sp>
      <p:pic>
        <p:nvPicPr>
          <p:cNvPr id="4" name="commercial_problems" descr="commercial_problems.png"/>
          <p:cNvPicPr>
            <a:picLocks noChangeAspect="1"/>
          </p:cNvPicPr>
          <p:nvPr/>
        </p:nvPicPr>
        <p:blipFill>
          <a:blip r:embed="rId2"/>
          <a:stretch>
            <a:fillRect/>
          </a:stretch>
        </p:blipFill>
        <p:spPr>
          <a:xfrm>
            <a:off x="2700031" y="877824"/>
            <a:ext cx="6791631" cy="3368649"/>
          </a:xfrm>
          <a:prstGeom prst="rect">
            <a:avLst/>
          </a:prstGeom>
        </p:spPr>
      </p:pic>
      <p:sp>
        <p:nvSpPr>
          <p:cNvPr id="5" name="TextBox 4"/>
          <p:cNvSpPr txBox="1"/>
          <p:nvPr/>
        </p:nvSpPr>
        <p:spPr>
          <a:xfrm>
            <a:off x="411480" y="4319625"/>
            <a:ext cx="11368735" cy="643255"/>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The list names no clinical problem, so one is read off the device name first and the product code second: 542 of 1,230 devices name one, and the rest – scanner platforms and general image-processing software – are not plotted. By volume the cleared market is radiation therapy planning and workflow rather than diagnosis, and 1 entry in the whole panel names bone age.</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61 / 83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Commercial software with a pediatric angle</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COMMERCIAL SOFTWARE</a:t>
            </a:r>
          </a:p>
        </p:txBody>
      </p:sp>
      <p:graphicFrame>
        <p:nvGraphicFramePr>
          <p:cNvPr id="4" name="Table 3"/>
          <p:cNvGraphicFramePr>
            <a:graphicFrameLocks noGrp="1"/>
          </p:cNvGraphicFramePr>
          <p:nvPr/>
        </p:nvGraphicFramePr>
        <p:xfrm>
          <a:off x="411480" y="877824"/>
          <a:ext cx="11368733" cy="4784133"/>
        </p:xfrm>
        <a:graphic>
          <a:graphicData uri="http://schemas.openxmlformats.org/drawingml/2006/table">
            <a:tbl>
              <a:tblPr firstRow="1" bandRow="1">
                <a:tableStyleId>{5C22544A-7EE6-4342-B048-85BDC9FD1C3A}</a:tableStyleId>
              </a:tblPr>
              <a:tblGrid>
                <a:gridCol w="1717253"/>
                <a:gridCol w="1452564"/>
                <a:gridCol w="2911584"/>
                <a:gridCol w="2776011"/>
                <a:gridCol w="1187874"/>
                <a:gridCol w="1323447"/>
              </a:tblGrid>
              <a:tr h="351129">
                <a:tc>
                  <a:txBody>
                    <a:bodyPr wrap="square"/>
                    <a:lstStyle/>
                    <a:p>
                      <a:r>
                        <a:rPr sz="648" b="1" i="0">
                          <a:solidFill>
                            <a:srgbClr val="FFFFFF"/>
                          </a:solidFill>
                          <a:latin typeface="Helvetica Neue"/>
                        </a:rPr>
                        <a:t>Vendor</a:t>
                      </a:r>
                    </a:p>
                  </a:txBody>
                  <a:tcPr marL="45720" marR="45720" marT="18288" marB="18288" anchor="t"/>
                </a:tc>
                <a:tc>
                  <a:txBody>
                    <a:bodyPr wrap="square"/>
                    <a:lstStyle/>
                    <a:p>
                      <a:r>
                        <a:rPr sz="648" b="1" i="0">
                          <a:solidFill>
                            <a:srgbClr val="FFFFFF"/>
                          </a:solidFill>
                          <a:latin typeface="Helvetica Neue"/>
                        </a:rPr>
                        <a:t>Selected products</a:t>
                      </a:r>
                    </a:p>
                  </a:txBody>
                  <a:tcPr marL="45720" marR="45720" marT="18288" marB="18288" anchor="t"/>
                </a:tc>
                <a:tc>
                  <a:txBody>
                    <a:bodyPr wrap="square"/>
                    <a:lstStyle/>
                    <a:p>
                      <a:r>
                        <a:rPr sz="648" b="1" i="0">
                          <a:solidFill>
                            <a:srgbClr val="FFFFFF"/>
                          </a:solidFill>
                          <a:latin typeface="Helvetica Neue"/>
                        </a:rPr>
                        <a:t>Functions</a:t>
                      </a:r>
                    </a:p>
                  </a:txBody>
                  <a:tcPr marL="45720" marR="45720" marT="18288" marB="18288" anchor="t"/>
                </a:tc>
                <a:tc>
                  <a:txBody>
                    <a:bodyPr wrap="square"/>
                    <a:lstStyle/>
                    <a:p>
                      <a:r>
                        <a:rPr sz="648" b="1" i="0">
                          <a:solidFill>
                            <a:srgbClr val="FFFFFF"/>
                          </a:solidFill>
                          <a:latin typeface="Helvetica Neue"/>
                        </a:rPr>
                        <a:t>Pediatric / regulatory scope</a:t>
                      </a:r>
                    </a:p>
                  </a:txBody>
                  <a:tcPr marL="45720" marR="45720" marT="18288" marB="18288" anchor="t"/>
                </a:tc>
                <a:tc>
                  <a:txBody>
                    <a:bodyPr wrap="square"/>
                    <a:lstStyle/>
                    <a:p>
                      <a:r>
                        <a:rPr sz="648" b="1" i="0">
                          <a:solidFill>
                            <a:srgbClr val="FFFFFF"/>
                          </a:solidFill>
                          <a:latin typeface="Helvetica Neue"/>
                        </a:rPr>
                        <a:t>FDA radiology AI entries (n; years)</a:t>
                      </a:r>
                    </a:p>
                  </a:txBody>
                  <a:tcPr marL="45720" marR="45720" marT="18288" marB="18288" anchor="t"/>
                </a:tc>
                <a:tc>
                  <a:txBody>
                    <a:bodyPr wrap="square"/>
                    <a:lstStyle/>
                    <a:p>
                      <a:r>
                        <a:rPr sz="648" b="1" i="0">
                          <a:solidFill>
                            <a:srgbClr val="FFFFFF"/>
                          </a:solidFill>
                          <a:latin typeface="Helvetica Neue"/>
                        </a:rPr>
                        <a:t>Of those, pediatric population stated (software)</a:t>
                      </a:r>
                    </a:p>
                  </a:txBody>
                  <a:tcPr marL="45720" marR="45720" marT="18288" marB="18288" anchor="t"/>
                </a:tc>
              </a:tr>
              <a:tr h="252374">
                <a:tc>
                  <a:txBody>
                    <a:bodyPr wrap="square"/>
                    <a:lstStyle/>
                    <a:p>
                      <a:r>
                        <a:rPr sz="648" b="0" i="0">
                          <a:solidFill>
                            <a:srgbClr val="1A1A1A"/>
                          </a:solidFill>
                          <a:latin typeface="Helvetica Neue"/>
                        </a:rPr>
                        <a:t>GE HealthCare / Canon / Siemens / Philips</a:t>
                      </a:r>
                    </a:p>
                  </a:txBody>
                  <a:tcPr marL="45720" marR="45720" marT="18288" marB="18288" anchor="t"/>
                </a:tc>
                <a:tc>
                  <a:txBody>
                    <a:bodyPr wrap="square"/>
                    <a:lstStyle/>
                    <a:p>
                      <a:r>
                        <a:rPr sz="648" b="0" i="0">
                          <a:solidFill>
                            <a:srgbClr val="1A1A1A"/>
                          </a:solidFill>
                          <a:latin typeface="Helvetica Neue"/>
                        </a:rPr>
                        <a:t>TrueFidelity, AiCE, Deep Resolve, Precise Image</a:t>
                      </a:r>
                    </a:p>
                  </a:txBody>
                  <a:tcPr marL="45720" marR="45720" marT="18288" marB="18288" anchor="t"/>
                </a:tc>
                <a:tc>
                  <a:txBody>
                    <a:bodyPr wrap="square"/>
                    <a:lstStyle/>
                    <a:p>
                      <a:r>
                        <a:rPr sz="648" b="0" i="0">
                          <a:solidFill>
                            <a:srgbClr val="1A1A1A"/>
                          </a:solidFill>
                          <a:latin typeface="Helvetica Neue"/>
                        </a:rPr>
                        <a:t>CT: TrueFidelity / AiCE / Precise Image (noise, dose); MRI: AiCE / Deep Resolve (noise, resolution, scan time)</a:t>
                      </a:r>
                    </a:p>
                  </a:txBody>
                  <a:tcPr marL="45720" marR="45720" marT="18288" marB="18288" anchor="t"/>
                </a:tc>
                <a:tc>
                  <a:txBody>
                    <a:bodyPr wrap="square"/>
                    <a:lstStyle/>
                    <a:p>
                      <a:r>
                        <a:rPr sz="648" b="0" i="0">
                          <a:solidFill>
                            <a:srgbClr val="1A1A1A"/>
                          </a:solidFill>
                          <a:latin typeface="Helvetica Neue"/>
                        </a:rPr>
                        <a:t>Pediatric applications documented; age / anatomy / protocol depend on scanner and software version</a:t>
                      </a:r>
                    </a:p>
                  </a:txBody>
                  <a:tcPr marL="45720" marR="45720" marT="18288" marB="18288" anchor="t"/>
                </a:tc>
                <a:tc>
                  <a:txBody>
                    <a:bodyPr wrap="square"/>
                    <a:lstStyle/>
                    <a:p>
                      <a:r>
                        <a:rPr sz="648" b="0" i="0">
                          <a:solidFill>
                            <a:srgbClr val="1A1A1A"/>
                          </a:solidFill>
                          <a:latin typeface="Helvetica Neue"/>
                        </a:rPr>
                        <a:t>299 (2014–2026)</a:t>
                      </a:r>
                    </a:p>
                  </a:txBody>
                  <a:tcPr marL="45720" marR="45720" marT="18288" marB="18288" anchor="t"/>
                </a:tc>
                <a:tc>
                  <a:txBody>
                    <a:bodyPr wrap="square"/>
                    <a:lstStyle/>
                    <a:p>
                      <a:r>
                        <a:rPr sz="648" b="0" i="0">
                          <a:solidFill>
                            <a:srgbClr val="1A1A1A"/>
                          </a:solidFill>
                          <a:latin typeface="Helvetica Neue"/>
                        </a:rPr>
                        <a:t>60 (6)</a:t>
                      </a:r>
                    </a:p>
                  </a:txBody>
                  <a:tcPr marL="45720" marR="45720" marT="18288" marB="18288" anchor="t"/>
                </a:tc>
              </a:tr>
              <a:tr h="351129">
                <a:tc>
                  <a:txBody>
                    <a:bodyPr wrap="square"/>
                    <a:lstStyle/>
                    <a:p>
                      <a:r>
                        <a:rPr sz="648" b="0" i="0">
                          <a:solidFill>
                            <a:srgbClr val="1A1A1A"/>
                          </a:solidFill>
                          <a:latin typeface="Helvetica Neue"/>
                        </a:rPr>
                        <a:t>Aidoc / Viz.ai</a:t>
                      </a:r>
                    </a:p>
                  </a:txBody>
                  <a:tcPr marL="45720" marR="45720" marT="18288" marB="18288" anchor="t"/>
                </a:tc>
                <a:tc>
                  <a:txBody>
                    <a:bodyPr wrap="square"/>
                    <a:lstStyle/>
                    <a:p>
                      <a:r>
                        <a:rPr sz="648" b="0" i="0">
                          <a:solidFill>
                            <a:srgbClr val="1A1A1A"/>
                          </a:solidFill>
                          <a:latin typeface="Helvetica Neue"/>
                        </a:rPr>
                        <a:t>BriefCase, Viz LVO / ICH</a:t>
                      </a:r>
                    </a:p>
                  </a:txBody>
                  <a:tcPr marL="45720" marR="45720" marT="18288" marB="18288" anchor="t"/>
                </a:tc>
                <a:tc>
                  <a:txBody>
                    <a:bodyPr wrap="square"/>
                    <a:lstStyle/>
                    <a:p>
                      <a:r>
                        <a:rPr sz="648" b="0" i="0">
                          <a:solidFill>
                            <a:srgbClr val="1A1A1A"/>
                          </a:solidFill>
                          <a:latin typeface="Helvetica Neue"/>
                        </a:rPr>
                        <a:t>Aidoc: CT / CTA triage (e.g., ICH, LVO, PE, pneumothorax, fractures, free gas); Viz: LVO / ICH alerts, care coordination</a:t>
                      </a:r>
                    </a:p>
                  </a:txBody>
                  <a:tcPr marL="45720" marR="45720" marT="18288" marB="18288" anchor="t"/>
                </a:tc>
                <a:tc>
                  <a:txBody>
                    <a:bodyPr wrap="square"/>
                    <a:lstStyle/>
                    <a:p>
                      <a:r>
                        <a:rPr sz="648" b="0" i="0">
                          <a:solidFill>
                            <a:srgbClr val="1A1A1A"/>
                          </a:solidFill>
                          <a:latin typeface="Helvetica Neue"/>
                        </a:rPr>
                        <a:t>Age / anatomy eligibility is module-specific; company totals do not establish pediatric indications</a:t>
                      </a:r>
                    </a:p>
                  </a:txBody>
                  <a:tcPr marL="45720" marR="45720" marT="18288" marB="18288" anchor="t"/>
                </a:tc>
                <a:tc>
                  <a:txBody>
                    <a:bodyPr wrap="square"/>
                    <a:lstStyle/>
                    <a:p>
                      <a:r>
                        <a:rPr sz="648" b="0" i="0">
                          <a:solidFill>
                            <a:srgbClr val="1A1A1A"/>
                          </a:solidFill>
                          <a:latin typeface="Helvetica Neue"/>
                        </a:rPr>
                        <a:t>44 (2018–2026)</a:t>
                      </a:r>
                    </a:p>
                  </a:txBody>
                  <a:tcPr marL="45720" marR="45720" marT="18288" marB="18288" anchor="t"/>
                </a:tc>
                <a:tc>
                  <a:txBody>
                    <a:bodyPr wrap="square"/>
                    <a:lstStyle/>
                    <a:p>
                      <a:r>
                        <a:rPr sz="648" b="0" i="0">
                          <a:solidFill>
                            <a:srgbClr val="1A1A1A"/>
                          </a:solidFill>
                          <a:latin typeface="Helvetica Neue"/>
                        </a:rPr>
                        <a:t>23 (23)</a:t>
                      </a:r>
                    </a:p>
                  </a:txBody>
                  <a:tcPr marL="45720" marR="45720" marT="18288" marB="18288" anchor="t"/>
                </a:tc>
              </a:tr>
              <a:tr h="252374">
                <a:tc>
                  <a:txBody>
                    <a:bodyPr wrap="square"/>
                    <a:lstStyle/>
                    <a:p>
                      <a:r>
                        <a:rPr sz="648" b="0" i="0">
                          <a:solidFill>
                            <a:srgbClr val="1A1A1A"/>
                          </a:solidFill>
                          <a:latin typeface="Helvetica Neue"/>
                        </a:rPr>
                        <a:t>Butterfly Network / Clarius</a:t>
                      </a:r>
                    </a:p>
                  </a:txBody>
                  <a:tcPr marL="45720" marR="45720" marT="18288" marB="18288" anchor="t"/>
                </a:tc>
                <a:tc>
                  <a:txBody>
                    <a:bodyPr wrap="square"/>
                    <a:lstStyle/>
                    <a:p>
                      <a:r>
                        <a:rPr sz="648" b="0" i="0">
                          <a:solidFill>
                            <a:srgbClr val="1A1A1A"/>
                          </a:solidFill>
                          <a:latin typeface="Helvetica Neue"/>
                        </a:rPr>
                        <a:t>Butterfly iQ+ tools; Clarius AI tools</a:t>
                      </a:r>
                    </a:p>
                  </a:txBody>
                  <a:tcPr marL="45720" marR="45720" marT="18288" marB="18288" anchor="t"/>
                </a:tc>
                <a:tc>
                  <a:txBody>
                    <a:bodyPr wrap="square"/>
                    <a:lstStyle/>
                    <a:p>
                      <a:r>
                        <a:rPr sz="648" b="0" i="0">
                          <a:solidFill>
                            <a:srgbClr val="1A1A1A"/>
                          </a:solidFill>
                          <a:latin typeface="Helvetica Neue"/>
                        </a:rPr>
                        <a:t>Handheld ultrasound with on-device AI: bladder volume, gestational age, ejection fraction, nerve and lung tools</a:t>
                      </a:r>
                    </a:p>
                  </a:txBody>
                  <a:tcPr marL="45720" marR="45720" marT="18288" marB="18288" anchor="t"/>
                </a:tc>
                <a:tc>
                  <a:txBody>
                    <a:bodyPr wrap="square"/>
                    <a:lstStyle/>
                    <a:p>
                      <a:r>
                        <a:rPr sz="648" b="0" i="0">
                          <a:solidFill>
                            <a:srgbClr val="1A1A1A"/>
                          </a:solidFill>
                          <a:latin typeface="Helvetica Neue"/>
                        </a:rPr>
                        <a:t>Scanner labeling covers pediatric imaging; each AI tool's age scope is separate and mostly adult</a:t>
                      </a:r>
                    </a:p>
                  </a:txBody>
                  <a:tcPr marL="45720" marR="45720" marT="18288" marB="18288" anchor="t"/>
                </a:tc>
                <a:tc>
                  <a:txBody>
                    <a:bodyPr wrap="square"/>
                    <a:lstStyle/>
                    <a:p>
                      <a:r>
                        <a:rPr sz="648" b="0" i="0">
                          <a:solidFill>
                            <a:srgbClr val="1A1A1A"/>
                          </a:solidFill>
                          <a:latin typeface="Helvetica Neue"/>
                        </a:rPr>
                        <a:t>16 (2016–2026)</a:t>
                      </a:r>
                    </a:p>
                  </a:txBody>
                  <a:tcPr marL="45720" marR="45720" marT="18288" marB="18288" anchor="t"/>
                </a:tc>
                <a:tc>
                  <a:txBody>
                    <a:bodyPr wrap="square"/>
                    <a:lstStyle/>
                    <a:p>
                      <a:r>
                        <a:rPr sz="648" b="0" i="0">
                          <a:solidFill>
                            <a:srgbClr val="1A1A1A"/>
                          </a:solidFill>
                          <a:latin typeface="Helvetica Neue"/>
                        </a:rPr>
                        <a:t>12 (2)</a:t>
                      </a:r>
                    </a:p>
                  </a:txBody>
                  <a:tcPr marL="45720" marR="45720" marT="18288" marB="18288" anchor="t"/>
                </a:tc>
              </a:tr>
              <a:tr h="351129">
                <a:tc>
                  <a:txBody>
                    <a:bodyPr wrap="square"/>
                    <a:lstStyle/>
                    <a:p>
                      <a:r>
                        <a:rPr sz="648" b="0" i="0">
                          <a:solidFill>
                            <a:srgbClr val="1A1A1A"/>
                          </a:solidFill>
                          <a:latin typeface="Helvetica Neue"/>
                        </a:rPr>
                        <a:t>Hyperfine</a:t>
                      </a:r>
                    </a:p>
                  </a:txBody>
                  <a:tcPr marL="45720" marR="45720" marT="18288" marB="18288" anchor="t"/>
                </a:tc>
                <a:tc>
                  <a:txBody>
                    <a:bodyPr wrap="square"/>
                    <a:lstStyle/>
                    <a:p>
                      <a:r>
                        <a:rPr sz="648" b="0" i="0">
                          <a:solidFill>
                            <a:srgbClr val="1A1A1A"/>
                          </a:solidFill>
                          <a:latin typeface="Helvetica Neue"/>
                        </a:rPr>
                        <a:t>Swoop Portable MR; BrainInsight</a:t>
                      </a:r>
                    </a:p>
                  </a:txBody>
                  <a:tcPr marL="45720" marR="45720" marT="18288" marB="18288" anchor="t"/>
                </a:tc>
                <a:tc>
                  <a:txBody>
                    <a:bodyPr wrap="square"/>
                    <a:lstStyle/>
                    <a:p>
                      <a:r>
                        <a:rPr sz="648" b="0" i="0">
                          <a:solidFill>
                            <a:srgbClr val="1A1A1A"/>
                          </a:solidFill>
                          <a:latin typeface="Helvetica Neue"/>
                        </a:rPr>
                        <a:t>Point-of-care low-field brain MRI whose image quality depends on deep-learning reconstruction; BrainInsight adds automated volumes and midline measurements</a:t>
                      </a:r>
                    </a:p>
                  </a:txBody>
                  <a:tcPr marL="45720" marR="45720" marT="18288" marB="18288" anchor="t"/>
                </a:tc>
                <a:tc>
                  <a:txBody>
                    <a:bodyPr wrap="square"/>
                    <a:lstStyle/>
                    <a:p>
                      <a:r>
                        <a:rPr sz="648" b="0" i="0">
                          <a:solidFill>
                            <a:srgbClr val="1A1A1A"/>
                          </a:solidFill>
                          <a:latin typeface="Helvetica Neue"/>
                        </a:rPr>
                        <a:t>Bedside neuro-imaging in children, including the NICU; the Swoop decision summaries state a pediatric population</a:t>
                      </a:r>
                    </a:p>
                  </a:txBody>
                  <a:tcPr marL="45720" marR="45720" marT="18288" marB="18288" anchor="t"/>
                </a:tc>
                <a:tc>
                  <a:txBody>
                    <a:bodyPr wrap="square"/>
                    <a:lstStyle/>
                    <a:p>
                      <a:r>
                        <a:rPr sz="648" b="0" i="0">
                          <a:solidFill>
                            <a:srgbClr val="1A1A1A"/>
                          </a:solidFill>
                          <a:latin typeface="Helvetica Neue"/>
                        </a:rPr>
                        <a:t>13 (2021–2025)</a:t>
                      </a:r>
                    </a:p>
                  </a:txBody>
                  <a:tcPr marL="45720" marR="45720" marT="18288" marB="18288" anchor="t"/>
                </a:tc>
                <a:tc>
                  <a:txBody>
                    <a:bodyPr wrap="square"/>
                    <a:lstStyle/>
                    <a:p>
                      <a:r>
                        <a:rPr sz="648" b="0" i="0">
                          <a:solidFill>
                            <a:srgbClr val="1A1A1A"/>
                          </a:solidFill>
                          <a:latin typeface="Helvetica Neue"/>
                        </a:rPr>
                        <a:t>9 (1)</a:t>
                      </a:r>
                    </a:p>
                  </a:txBody>
                  <a:tcPr marL="45720" marR="45720" marT="18288" marB="18288" anchor="t"/>
                </a:tc>
              </a:tr>
              <a:tr h="252374">
                <a:tc>
                  <a:txBody>
                    <a:bodyPr wrap="square"/>
                    <a:lstStyle/>
                    <a:p>
                      <a:r>
                        <a:rPr sz="648" b="0" i="0">
                          <a:solidFill>
                            <a:srgbClr val="1A1A1A"/>
                          </a:solidFill>
                          <a:latin typeface="Helvetica Neue"/>
                        </a:rPr>
                        <a:t>BrightHeart</a:t>
                      </a:r>
                    </a:p>
                  </a:txBody>
                  <a:tcPr marL="45720" marR="45720" marT="18288" marB="18288" anchor="t"/>
                </a:tc>
                <a:tc>
                  <a:txBody>
                    <a:bodyPr wrap="square"/>
                    <a:lstStyle/>
                    <a:p>
                      <a:r>
                        <a:rPr sz="648" b="0" i="0">
                          <a:solidFill>
                            <a:srgbClr val="1A1A1A"/>
                          </a:solidFill>
                          <a:latin typeface="Helvetica Neue"/>
                        </a:rPr>
                        <a:t>Fetal EchoScan; View Classifier</a:t>
                      </a:r>
                    </a:p>
                  </a:txBody>
                  <a:tcPr marL="45720" marR="45720" marT="18288" marB="18288" anchor="t"/>
                </a:tc>
                <a:tc>
                  <a:txBody>
                    <a:bodyPr wrap="square"/>
                    <a:lstStyle/>
                    <a:p>
                      <a:r>
                        <a:rPr sz="648" b="0" i="0">
                          <a:solidFill>
                            <a:srgbClr val="1A1A1A"/>
                          </a:solidFill>
                          <a:latin typeface="Helvetica Neue"/>
                        </a:rPr>
                        <a:t>EchoScan: flags 8 findings suspicious for fetal CHD; View Classifier: standard views / exam completeness</a:t>
                      </a:r>
                    </a:p>
                  </a:txBody>
                  <a:tcPr marL="45720" marR="45720" marT="18288" marB="18288" anchor="t"/>
                </a:tc>
                <a:tc>
                  <a:txBody>
                    <a:bodyPr wrap="square"/>
                    <a:lstStyle/>
                    <a:p>
                      <a:r>
                        <a:rPr sz="648" b="0" i="0">
                          <a:solidFill>
                            <a:srgbClr val="1A1A1A"/>
                          </a:solidFill>
                          <a:latin typeface="Helvetica Neue"/>
                        </a:rPr>
                        <a:t>Prenatal: EchoScan, 2nd trimester; View Classifier, 2nd / 3rd; maternal age 18+</a:t>
                      </a:r>
                    </a:p>
                  </a:txBody>
                  <a:tcPr marL="45720" marR="45720" marT="18288" marB="18288" anchor="t"/>
                </a:tc>
                <a:tc>
                  <a:txBody>
                    <a:bodyPr wrap="square"/>
                    <a:lstStyle/>
                    <a:p>
                      <a:r>
                        <a:rPr sz="648" b="0" i="0">
                          <a:solidFill>
                            <a:srgbClr val="1A1A1A"/>
                          </a:solidFill>
                          <a:latin typeface="Helvetica Neue"/>
                        </a:rPr>
                        <a:t>5 (2024–2025)</a:t>
                      </a:r>
                    </a:p>
                  </a:txBody>
                  <a:tcPr marL="45720" marR="45720" marT="18288" marB="18288" anchor="t"/>
                </a:tc>
                <a:tc>
                  <a:txBody>
                    <a:bodyPr wrap="square"/>
                    <a:lstStyle/>
                    <a:p>
                      <a:r>
                        <a:rPr sz="648" b="0" i="0">
                          <a:solidFill>
                            <a:srgbClr val="1A1A1A"/>
                          </a:solidFill>
                          <a:latin typeface="Helvetica Neue"/>
                        </a:rPr>
                        <a:t>5 (5)</a:t>
                      </a:r>
                    </a:p>
                  </a:txBody>
                  <a:tcPr marL="45720" marR="45720" marT="18288" marB="18288" anchor="t"/>
                </a:tc>
              </a:tr>
              <a:tr h="351129">
                <a:tc>
                  <a:txBody>
                    <a:bodyPr wrap="square"/>
                    <a:lstStyle/>
                    <a:p>
                      <a:r>
                        <a:rPr sz="648" b="0" i="0">
                          <a:solidFill>
                            <a:srgbClr val="1A1A1A"/>
                          </a:solidFill>
                          <a:latin typeface="Helvetica Neue"/>
                        </a:rPr>
                        <a:t>Sonio</a:t>
                      </a:r>
                    </a:p>
                  </a:txBody>
                  <a:tcPr marL="45720" marR="45720" marT="18288" marB="18288" anchor="t"/>
                </a:tc>
                <a:tc>
                  <a:txBody>
                    <a:bodyPr wrap="square"/>
                    <a:lstStyle/>
                    <a:p>
                      <a:r>
                        <a:rPr sz="648" b="0" i="0">
                          <a:solidFill>
                            <a:srgbClr val="1A1A1A"/>
                          </a:solidFill>
                          <a:latin typeface="Helvetica Neue"/>
                        </a:rPr>
                        <a:t>Sonio Detect; Sonio Suspect</a:t>
                      </a:r>
                    </a:p>
                  </a:txBody>
                  <a:tcPr marL="45720" marR="45720" marT="18288" marB="18288" anchor="t"/>
                </a:tc>
                <a:tc>
                  <a:txBody>
                    <a:bodyPr wrap="square"/>
                    <a:lstStyle/>
                    <a:p>
                      <a:r>
                        <a:rPr sz="648" b="0" i="0">
                          <a:solidFill>
                            <a:srgbClr val="1A1A1A"/>
                          </a:solidFill>
                          <a:latin typeface="Helvetica Neue"/>
                        </a:rPr>
                        <a:t>Fetal ultrasound: standard-plane recognition and exam-completeness checking (Detect); flagging of images suspicious for anomalies (Suspect)</a:t>
                      </a:r>
                    </a:p>
                  </a:txBody>
                  <a:tcPr marL="45720" marR="45720" marT="18288" marB="18288" anchor="t"/>
                </a:tc>
                <a:tc>
                  <a:txBody>
                    <a:bodyPr wrap="square"/>
                    <a:lstStyle/>
                    <a:p>
                      <a:r>
                        <a:rPr sz="648" b="0" i="0">
                          <a:solidFill>
                            <a:srgbClr val="1A1A1A"/>
                          </a:solidFill>
                          <a:latin typeface="Helvetica Neue"/>
                        </a:rPr>
                        <a:t>Entirely prenatal: every FDA entry states a fetal / maternal population</a:t>
                      </a:r>
                    </a:p>
                  </a:txBody>
                  <a:tcPr marL="45720" marR="45720" marT="18288" marB="18288" anchor="t"/>
                </a:tc>
                <a:tc>
                  <a:txBody>
                    <a:bodyPr wrap="square"/>
                    <a:lstStyle/>
                    <a:p>
                      <a:r>
                        <a:rPr sz="648" b="0" i="0">
                          <a:solidFill>
                            <a:srgbClr val="1A1A1A"/>
                          </a:solidFill>
                          <a:latin typeface="Helvetica Neue"/>
                        </a:rPr>
                        <a:t>5 (2023–2026)</a:t>
                      </a:r>
                    </a:p>
                  </a:txBody>
                  <a:tcPr marL="45720" marR="45720" marT="18288" marB="18288" anchor="t"/>
                </a:tc>
                <a:tc>
                  <a:txBody>
                    <a:bodyPr wrap="square"/>
                    <a:lstStyle/>
                    <a:p>
                      <a:r>
                        <a:rPr sz="648" b="0" i="0">
                          <a:solidFill>
                            <a:srgbClr val="1A1A1A"/>
                          </a:solidFill>
                          <a:latin typeface="Helvetica Neue"/>
                        </a:rPr>
                        <a:t>5 (2)</a:t>
                      </a:r>
                    </a:p>
                  </a:txBody>
                  <a:tcPr marL="45720" marR="45720" marT="18288" marB="18288" anchor="t"/>
                </a:tc>
              </a:tr>
              <a:tr h="351129">
                <a:tc>
                  <a:txBody>
                    <a:bodyPr wrap="square"/>
                    <a:lstStyle/>
                    <a:p>
                      <a:r>
                        <a:rPr sz="648" b="0" i="0">
                          <a:solidFill>
                            <a:srgbClr val="1A1A1A"/>
                          </a:solidFill>
                          <a:latin typeface="Helvetica Neue"/>
                        </a:rPr>
                        <a:t>EOS imaging (Alphatec)</a:t>
                      </a:r>
                    </a:p>
                  </a:txBody>
                  <a:tcPr marL="45720" marR="45720" marT="18288" marB="18288" anchor="t"/>
                </a:tc>
                <a:tc>
                  <a:txBody>
                    <a:bodyPr wrap="square"/>
                    <a:lstStyle/>
                    <a:p>
                      <a:r>
                        <a:rPr sz="648" b="0" i="0">
                          <a:solidFill>
                            <a:srgbClr val="1A1A1A"/>
                          </a:solidFill>
                          <a:latin typeface="Helvetica Neue"/>
                        </a:rPr>
                        <a:t>spineEOS, VEA Align, AutoDensity</a:t>
                      </a:r>
                    </a:p>
                  </a:txBody>
                  <a:tcPr marL="45720" marR="45720" marT="18288" marB="18288" anchor="t"/>
                </a:tc>
                <a:tc>
                  <a:txBody>
                    <a:bodyPr wrap="square"/>
                    <a:lstStyle/>
                    <a:p>
                      <a:r>
                        <a:rPr sz="648" b="0" i="0">
                          <a:solidFill>
                            <a:srgbClr val="1A1A1A"/>
                          </a:solidFill>
                          <a:latin typeface="Helvetica Neue"/>
                        </a:rPr>
                        <a:t>Biplanar low-dose full-body radiography with automated 3D spine and lower-limb modeling; AutoDensity reports vertebral bone density</a:t>
                      </a:r>
                    </a:p>
                  </a:txBody>
                  <a:tcPr marL="45720" marR="45720" marT="18288" marB="18288" anchor="t"/>
                </a:tc>
                <a:tc>
                  <a:txBody>
                    <a:bodyPr wrap="square"/>
                    <a:lstStyle/>
                    <a:p>
                      <a:r>
                        <a:rPr sz="648" b="0" i="0">
                          <a:solidFill>
                            <a:srgbClr val="1A1A1A"/>
                          </a:solidFill>
                          <a:latin typeface="Helvetica Neue"/>
                        </a:rPr>
                        <a:t>Routine in pediatric scoliosis and limb-alignment follow-up, where cumulative dose matters; entries state a pediatric population</a:t>
                      </a:r>
                    </a:p>
                  </a:txBody>
                  <a:tcPr marL="45720" marR="45720" marT="18288" marB="18288" anchor="t"/>
                </a:tc>
                <a:tc>
                  <a:txBody>
                    <a:bodyPr wrap="square"/>
                    <a:lstStyle/>
                    <a:p>
                      <a:r>
                        <a:rPr sz="648" b="0" i="0">
                          <a:solidFill>
                            <a:srgbClr val="1A1A1A"/>
                          </a:solidFill>
                          <a:latin typeface="Helvetica Neue"/>
                        </a:rPr>
                        <a:t>4 (2024–2025)</a:t>
                      </a:r>
                    </a:p>
                  </a:txBody>
                  <a:tcPr marL="45720" marR="45720" marT="18288" marB="18288" anchor="t"/>
                </a:tc>
                <a:tc>
                  <a:txBody>
                    <a:bodyPr wrap="square"/>
                    <a:lstStyle/>
                    <a:p>
                      <a:r>
                        <a:rPr sz="648" b="0" i="0">
                          <a:solidFill>
                            <a:srgbClr val="1A1A1A"/>
                          </a:solidFill>
                          <a:latin typeface="Helvetica Neue"/>
                        </a:rPr>
                        <a:t>4 (4)</a:t>
                      </a:r>
                    </a:p>
                  </a:txBody>
                  <a:tcPr marL="45720" marR="45720" marT="18288" marB="18288" anchor="t"/>
                </a:tc>
              </a:tr>
              <a:tr h="252374">
                <a:tc>
                  <a:txBody>
                    <a:bodyPr wrap="square"/>
                    <a:lstStyle/>
                    <a:p>
                      <a:r>
                        <a:rPr sz="648" b="0" i="0">
                          <a:solidFill>
                            <a:srgbClr val="1A1A1A"/>
                          </a:solidFill>
                          <a:latin typeface="Helvetica Neue"/>
                        </a:rPr>
                        <a:t>Smart Soft Healthcare</a:t>
                      </a:r>
                    </a:p>
                  </a:txBody>
                  <a:tcPr marL="45720" marR="45720" marT="18288" marB="18288" anchor="t"/>
                </a:tc>
                <a:tc>
                  <a:txBody>
                    <a:bodyPr wrap="square"/>
                    <a:lstStyle/>
                    <a:p>
                      <a:r>
                        <a:rPr sz="648" b="0" i="0">
                          <a:solidFill>
                            <a:srgbClr val="1A1A1A"/>
                          </a:solidFill>
                          <a:latin typeface="Helvetica Neue"/>
                        </a:rPr>
                        <a:t>CoLumbo, CoLumbo C-Spine, CoLumboX</a:t>
                      </a:r>
                    </a:p>
                  </a:txBody>
                  <a:tcPr marL="45720" marR="45720" marT="18288" marB="18288" anchor="t"/>
                </a:tc>
                <a:tc>
                  <a:txBody>
                    <a:bodyPr wrap="square"/>
                    <a:lstStyle/>
                    <a:p>
                      <a:r>
                        <a:rPr sz="648" b="0" i="0">
                          <a:solidFill>
                            <a:srgbClr val="1A1A1A"/>
                          </a:solidFill>
                          <a:latin typeface="Helvetica Neue"/>
                        </a:rPr>
                        <a:t>Spine MRI and radiograph segmentation, measurement and structured reporting (lumbar, then cervical)</a:t>
                      </a:r>
                    </a:p>
                  </a:txBody>
                  <a:tcPr marL="45720" marR="45720" marT="18288" marB="18288" anchor="t"/>
                </a:tc>
                <a:tc>
                  <a:txBody>
                    <a:bodyPr wrap="square"/>
                    <a:lstStyle/>
                    <a:p>
                      <a:r>
                        <a:rPr sz="648" b="0" i="0">
                          <a:solidFill>
                            <a:srgbClr val="1A1A1A"/>
                          </a:solidFill>
                          <a:latin typeface="Helvetica Neue"/>
                        </a:rPr>
                        <a:t>Decision summaries state a pediatric population; pediatric-specific performance is not reported separately</a:t>
                      </a:r>
                    </a:p>
                  </a:txBody>
                  <a:tcPr marL="45720" marR="45720" marT="18288" marB="18288" anchor="t"/>
                </a:tc>
                <a:tc>
                  <a:txBody>
                    <a:bodyPr wrap="square"/>
                    <a:lstStyle/>
                    <a:p>
                      <a:r>
                        <a:rPr sz="648" b="0" i="0">
                          <a:solidFill>
                            <a:srgbClr val="1A1A1A"/>
                          </a:solidFill>
                          <a:latin typeface="Helvetica Neue"/>
                        </a:rPr>
                        <a:t>4 (2022–2026)</a:t>
                      </a:r>
                    </a:p>
                  </a:txBody>
                  <a:tcPr marL="45720" marR="45720" marT="18288" marB="18288" anchor="t"/>
                </a:tc>
                <a:tc>
                  <a:txBody>
                    <a:bodyPr wrap="square"/>
                    <a:lstStyle/>
                    <a:p>
                      <a:r>
                        <a:rPr sz="648" b="0" i="0">
                          <a:solidFill>
                            <a:srgbClr val="1A1A1A"/>
                          </a:solidFill>
                          <a:latin typeface="Helvetica Neue"/>
                        </a:rPr>
                        <a:t>4 (4)</a:t>
                      </a:r>
                    </a:p>
                  </a:txBody>
                  <a:tcPr marL="45720" marR="45720" marT="18288" marB="18288" anchor="t"/>
                </a:tc>
              </a:tr>
              <a:tr h="252374">
                <a:tc>
                  <a:txBody>
                    <a:bodyPr wrap="square"/>
                    <a:lstStyle/>
                    <a:p>
                      <a:r>
                        <a:rPr sz="648" b="0" i="0">
                          <a:solidFill>
                            <a:srgbClr val="1A1A1A"/>
                          </a:solidFill>
                          <a:latin typeface="Helvetica Neue"/>
                        </a:rPr>
                        <a:t>Ever Fortune.AI</a:t>
                      </a:r>
                    </a:p>
                  </a:txBody>
                  <a:tcPr marL="45720" marR="45720" marT="18288" marB="18288" anchor="t"/>
                </a:tc>
                <a:tc>
                  <a:txBody>
                    <a:bodyPr wrap="square"/>
                    <a:lstStyle/>
                    <a:p>
                      <a:r>
                        <a:rPr sz="648" b="0" i="0">
                          <a:solidFill>
                            <a:srgbClr val="1A1A1A"/>
                          </a:solidFill>
                          <a:latin typeface="Helvetica Neue"/>
                        </a:rPr>
                        <a:t>EFAI Bonesuite XR Bone Age Pro</a:t>
                      </a:r>
                    </a:p>
                  </a:txBody>
                  <a:tcPr marL="45720" marR="45720" marT="18288" marB="18288" anchor="t"/>
                </a:tc>
                <a:tc>
                  <a:txBody>
                    <a:bodyPr wrap="square"/>
                    <a:lstStyle/>
                    <a:p>
                      <a:r>
                        <a:rPr sz="648" b="0" i="0">
                          <a:solidFill>
                            <a:srgbClr val="1A1A1A"/>
                          </a:solidFill>
                          <a:latin typeface="Helvetica Neue"/>
                        </a:rPr>
                        <a:t>GP bone-age quantification from PA left-hand / wrist radiographs</a:t>
                      </a:r>
                    </a:p>
                  </a:txBody>
                  <a:tcPr marL="45720" marR="45720" marT="18288" marB="18288" anchor="t"/>
                </a:tc>
                <a:tc>
                  <a:txBody>
                    <a:bodyPr wrap="square"/>
                    <a:lstStyle/>
                    <a:p>
                      <a:r>
                        <a:rPr sz="648" b="0" i="0">
                          <a:solidFill>
                            <a:srgbClr val="1A1A1A"/>
                          </a:solidFill>
                          <a:latin typeface="Helvetica Neue"/>
                        </a:rPr>
                        <a:t>FDA-cleared 2024 for ages 2–16 (K234042)</a:t>
                      </a:r>
                    </a:p>
                  </a:txBody>
                  <a:tcPr marL="45720" marR="45720" marT="18288" marB="18288" anchor="t"/>
                </a:tc>
                <a:tc>
                  <a:txBody>
                    <a:bodyPr wrap="square"/>
                    <a:lstStyle/>
                    <a:p>
                      <a:r>
                        <a:rPr sz="648" b="0" i="0">
                          <a:solidFill>
                            <a:srgbClr val="1A1A1A"/>
                          </a:solidFill>
                          <a:latin typeface="Helvetica Neue"/>
                        </a:rPr>
                        <a:t>12 (2022–2026)</a:t>
                      </a:r>
                    </a:p>
                  </a:txBody>
                  <a:tcPr marL="45720" marR="45720" marT="18288" marB="18288" anchor="t"/>
                </a:tc>
                <a:tc>
                  <a:txBody>
                    <a:bodyPr wrap="square"/>
                    <a:lstStyle/>
                    <a:p>
                      <a:r>
                        <a:rPr sz="648" b="0" i="0">
                          <a:solidFill>
                            <a:srgbClr val="1A1A1A"/>
                          </a:solidFill>
                          <a:latin typeface="Helvetica Neue"/>
                        </a:rPr>
                        <a:t>3 (3)</a:t>
                      </a:r>
                    </a:p>
                  </a:txBody>
                  <a:tcPr marL="45720" marR="45720" marT="18288" marB="18288" anchor="t"/>
                </a:tc>
              </a:tr>
              <a:tr h="252374">
                <a:tc>
                  <a:txBody>
                    <a:bodyPr wrap="square"/>
                    <a:lstStyle/>
                    <a:p>
                      <a:r>
                        <a:rPr sz="648" b="0" i="0">
                          <a:solidFill>
                            <a:srgbClr val="1A1A1A"/>
                          </a:solidFill>
                          <a:latin typeface="Helvetica Neue"/>
                        </a:rPr>
                        <a:t>AZmed</a:t>
                      </a:r>
                    </a:p>
                  </a:txBody>
                  <a:tcPr marL="45720" marR="45720" marT="18288" marB="18288" anchor="t"/>
                </a:tc>
                <a:tc>
                  <a:txBody>
                    <a:bodyPr wrap="square"/>
                    <a:lstStyle/>
                    <a:p>
                      <a:r>
                        <a:rPr sz="648" b="0" i="0">
                          <a:solidFill>
                            <a:srgbClr val="1A1A1A"/>
                          </a:solidFill>
                          <a:latin typeface="Helvetica Neue"/>
                        </a:rPr>
                        <a:t>Rayvolve suite</a:t>
                      </a:r>
                    </a:p>
                  </a:txBody>
                  <a:tcPr marL="45720" marR="45720" marT="18288" marB="18288" anchor="t"/>
                </a:tc>
                <a:tc>
                  <a:txBody>
                    <a:bodyPr wrap="square"/>
                    <a:lstStyle/>
                    <a:p>
                      <a:r>
                        <a:rPr sz="648" b="0" i="0">
                          <a:solidFill>
                            <a:srgbClr val="1A1A1A"/>
                          </a:solidFill>
                          <a:latin typeface="Helvetica Neue"/>
                        </a:rPr>
                        <a:t>MSK / chest finding detection; orthopedic measurements; GP bone age (separate modules)</a:t>
                      </a:r>
                    </a:p>
                  </a:txBody>
                  <a:tcPr marL="45720" marR="45720" marT="18288" marB="18288" anchor="t"/>
                </a:tc>
                <a:tc>
                  <a:txBody>
                    <a:bodyPr wrap="square"/>
                    <a:lstStyle/>
                    <a:p>
                      <a:r>
                        <a:rPr sz="648" b="0" i="0">
                          <a:solidFill>
                            <a:srgbClr val="1A1A1A"/>
                          </a:solidFill>
                          <a:latin typeface="Helvetica Neue"/>
                        </a:rPr>
                        <a:t>US fracture indication age 2+ (2024); AZboneage is CE-marked; other eligibility varies by module</a:t>
                      </a:r>
                    </a:p>
                  </a:txBody>
                  <a:tcPr marL="45720" marR="45720" marT="18288" marB="18288" anchor="t"/>
                </a:tc>
                <a:tc>
                  <a:txBody>
                    <a:bodyPr wrap="square"/>
                    <a:lstStyle/>
                    <a:p>
                      <a:r>
                        <a:rPr sz="648" b="0" i="0">
                          <a:solidFill>
                            <a:srgbClr val="1A1A1A"/>
                          </a:solidFill>
                          <a:latin typeface="Helvetica Neue"/>
                        </a:rPr>
                        <a:t>5 (2022–2026)</a:t>
                      </a:r>
                    </a:p>
                  </a:txBody>
                  <a:tcPr marL="45720" marR="45720" marT="18288" marB="18288" anchor="t"/>
                </a:tc>
                <a:tc>
                  <a:txBody>
                    <a:bodyPr wrap="square"/>
                    <a:lstStyle/>
                    <a:p>
                      <a:r>
                        <a:rPr sz="648" b="0" i="0">
                          <a:solidFill>
                            <a:srgbClr val="1A1A1A"/>
                          </a:solidFill>
                          <a:latin typeface="Helvetica Neue"/>
                        </a:rPr>
                        <a:t>2 (2)</a:t>
                      </a:r>
                    </a:p>
                  </a:txBody>
                  <a:tcPr marL="45720" marR="45720" marT="18288" marB="18288" anchor="t"/>
                </a:tc>
              </a:tr>
              <a:tr h="252374">
                <a:tc>
                  <a:txBody>
                    <a:bodyPr wrap="square"/>
                    <a:lstStyle/>
                    <a:p>
                      <a:r>
                        <a:rPr sz="648" b="0" i="0">
                          <a:solidFill>
                            <a:srgbClr val="1A1A1A"/>
                          </a:solidFill>
                          <a:latin typeface="Helvetica Neue"/>
                        </a:rPr>
                        <a:t>Milvue</a:t>
                      </a:r>
                    </a:p>
                  </a:txBody>
                  <a:tcPr marL="45720" marR="45720" marT="18288" marB="18288" anchor="t"/>
                </a:tc>
                <a:tc>
                  <a:txBody>
                    <a:bodyPr wrap="square"/>
                    <a:lstStyle/>
                    <a:p>
                      <a:r>
                        <a:rPr sz="648" b="0" i="0">
                          <a:solidFill>
                            <a:srgbClr val="1A1A1A"/>
                          </a:solidFill>
                          <a:latin typeface="Helvetica Neue"/>
                        </a:rPr>
                        <a:t>SmartChest; TechCare Trauma</a:t>
                      </a:r>
                    </a:p>
                  </a:txBody>
                  <a:tcPr marL="45720" marR="45720" marT="18288" marB="18288" anchor="t"/>
                </a:tc>
                <a:tc>
                  <a:txBody>
                    <a:bodyPr wrap="square"/>
                    <a:lstStyle/>
                    <a:p>
                      <a:r>
                        <a:rPr sz="648" b="0" i="0">
                          <a:solidFill>
                            <a:srgbClr val="1A1A1A"/>
                          </a:solidFill>
                          <a:latin typeface="Helvetica Neue"/>
                        </a:rPr>
                        <a:t>Radiograph triage and finding detection: chest findings (SmartChest), fractures and trauma findings (TechCare Trauma)</a:t>
                      </a:r>
                    </a:p>
                  </a:txBody>
                  <a:tcPr marL="45720" marR="45720" marT="18288" marB="18288" anchor="t"/>
                </a:tc>
                <a:tc>
                  <a:txBody>
                    <a:bodyPr wrap="square"/>
                    <a:lstStyle/>
                    <a:p>
                      <a:r>
                        <a:rPr sz="648" b="0" i="0">
                          <a:solidFill>
                            <a:srgbClr val="1A1A1A"/>
                          </a:solidFill>
                          <a:latin typeface="Helvetica Neue"/>
                        </a:rPr>
                        <a:t>The TechCare Trauma summary (K242171) states a pediatric population</a:t>
                      </a:r>
                    </a:p>
                  </a:txBody>
                  <a:tcPr marL="45720" marR="45720" marT="18288" marB="18288" anchor="t"/>
                </a:tc>
                <a:tc>
                  <a:txBody>
                    <a:bodyPr wrap="square"/>
                    <a:lstStyle/>
                    <a:p>
                      <a:r>
                        <a:rPr sz="648" b="0" i="0">
                          <a:solidFill>
                            <a:srgbClr val="1A1A1A"/>
                          </a:solidFill>
                          <a:latin typeface="Helvetica Neue"/>
                        </a:rPr>
                        <a:t>2 (2024–2025)</a:t>
                      </a:r>
                    </a:p>
                  </a:txBody>
                  <a:tcPr marL="45720" marR="45720" marT="18288" marB="18288" anchor="t"/>
                </a:tc>
                <a:tc>
                  <a:txBody>
                    <a:bodyPr wrap="square"/>
                    <a:lstStyle/>
                    <a:p>
                      <a:r>
                        <a:rPr sz="648" b="0" i="0">
                          <a:solidFill>
                            <a:srgbClr val="1A1A1A"/>
                          </a:solidFill>
                          <a:latin typeface="Helvetica Neue"/>
                        </a:rPr>
                        <a:t>2 (2)</a:t>
                      </a:r>
                    </a:p>
                  </a:txBody>
                  <a:tcPr marL="45720" marR="45720" marT="18288" marB="18288" anchor="t"/>
                </a:tc>
              </a:tr>
              <a:tr h="252374">
                <a:tc>
                  <a:txBody>
                    <a:bodyPr wrap="square"/>
                    <a:lstStyle/>
                    <a:p>
                      <a:r>
                        <a:rPr sz="648" b="0" i="0">
                          <a:solidFill>
                            <a:srgbClr val="1A1A1A"/>
                          </a:solidFill>
                          <a:latin typeface="Helvetica Neue"/>
                        </a:rPr>
                        <a:t>Gleamer</a:t>
                      </a:r>
                    </a:p>
                  </a:txBody>
                  <a:tcPr marL="45720" marR="45720" marT="18288" marB="18288" anchor="t"/>
                </a:tc>
                <a:tc>
                  <a:txBody>
                    <a:bodyPr wrap="square"/>
                    <a:lstStyle/>
                    <a:p>
                      <a:r>
                        <a:rPr sz="648" b="0" i="0">
                          <a:solidFill>
                            <a:srgbClr val="1A1A1A"/>
                          </a:solidFill>
                          <a:latin typeface="Helvetica Neue"/>
                        </a:rPr>
                        <a:t>BoneView</a:t>
                      </a:r>
                    </a:p>
                  </a:txBody>
                  <a:tcPr marL="45720" marR="45720" marT="18288" marB="18288" anchor="t"/>
                </a:tc>
                <a:tc>
                  <a:txBody>
                    <a:bodyPr wrap="square"/>
                    <a:lstStyle/>
                    <a:p>
                      <a:r>
                        <a:rPr sz="648" b="0" i="0">
                          <a:solidFill>
                            <a:srgbClr val="1A1A1A"/>
                          </a:solidFill>
                          <a:latin typeface="Helvetica Neue"/>
                        </a:rPr>
                        <a:t>X-ray fracture detection; international versions also flag dislocations, effusions and focal bone lesions</a:t>
                      </a:r>
                    </a:p>
                  </a:txBody>
                  <a:tcPr marL="45720" marR="45720" marT="18288" marB="18288" anchor="t"/>
                </a:tc>
                <a:tc>
                  <a:txBody>
                    <a:bodyPr wrap="square"/>
                    <a:lstStyle/>
                    <a:p>
                      <a:r>
                        <a:rPr sz="648" b="0" i="0">
                          <a:solidFill>
                            <a:srgbClr val="1A1A1A"/>
                          </a:solidFill>
                          <a:latin typeface="Helvetica Neue"/>
                        </a:rPr>
                        <a:t>US fracture aid: ages 2–21 for specified extremity views; other anatomy adult-only (2023)</a:t>
                      </a:r>
                    </a:p>
                  </a:txBody>
                  <a:tcPr marL="45720" marR="45720" marT="18288" marB="18288" anchor="t"/>
                </a:tc>
                <a:tc>
                  <a:txBody>
                    <a:bodyPr wrap="square"/>
                    <a:lstStyle/>
                    <a:p>
                      <a:r>
                        <a:rPr sz="648" b="0" i="0">
                          <a:solidFill>
                            <a:srgbClr val="1A1A1A"/>
                          </a:solidFill>
                          <a:latin typeface="Helvetica Neue"/>
                        </a:rPr>
                        <a:t>4 (2022–2025)</a:t>
                      </a:r>
                    </a:p>
                  </a:txBody>
                  <a:tcPr marL="45720" marR="45720" marT="18288" marB="18288" anchor="t"/>
                </a:tc>
                <a:tc>
                  <a:txBody>
                    <a:bodyPr wrap="square"/>
                    <a:lstStyle/>
                    <a:p>
                      <a:r>
                        <a:rPr sz="648" b="0" i="0">
                          <a:solidFill>
                            <a:srgbClr val="1A1A1A"/>
                          </a:solidFill>
                          <a:latin typeface="Helvetica Neue"/>
                        </a:rPr>
                        <a:t>1 (1)</a:t>
                      </a:r>
                    </a:p>
                  </a:txBody>
                  <a:tcPr marL="45720" marR="45720" marT="18288" marB="18288" anchor="t"/>
                </a:tc>
              </a:tr>
              <a:tr h="252374">
                <a:tc>
                  <a:txBody>
                    <a:bodyPr wrap="square"/>
                    <a:lstStyle/>
                    <a:p>
                      <a:r>
                        <a:rPr sz="648" b="0" i="0">
                          <a:solidFill>
                            <a:srgbClr val="1A1A1A"/>
                          </a:solidFill>
                          <a:latin typeface="Helvetica Neue"/>
                        </a:rPr>
                        <a:t>Subtle Medical / AIRS Medical</a:t>
                      </a:r>
                    </a:p>
                  </a:txBody>
                  <a:tcPr marL="45720" marR="45720" marT="18288" marB="18288" anchor="t"/>
                </a:tc>
                <a:tc>
                  <a:txBody>
                    <a:bodyPr wrap="square"/>
                    <a:lstStyle/>
                    <a:p>
                      <a:r>
                        <a:rPr sz="648" b="0" i="0">
                          <a:solidFill>
                            <a:srgbClr val="1A1A1A"/>
                          </a:solidFill>
                          <a:latin typeface="Helvetica Neue"/>
                        </a:rPr>
                        <a:t>SubtleMR, SwiftMR</a:t>
                      </a:r>
                    </a:p>
                  </a:txBody>
                  <a:tcPr marL="45720" marR="45720" marT="18288" marB="18288" anchor="t"/>
                </a:tc>
                <a:tc>
                  <a:txBody>
                    <a:bodyPr wrap="square"/>
                    <a:lstStyle/>
                    <a:p>
                      <a:r>
                        <a:rPr sz="648" b="0" i="0">
                          <a:solidFill>
                            <a:srgbClr val="1A1A1A"/>
                          </a:solidFill>
                          <a:latin typeface="Helvetica Neue"/>
                        </a:rPr>
                        <a:t>MRI image post-processing: denoising / sharpening to support shorter acquisitions or better image quality</a:t>
                      </a:r>
                    </a:p>
                  </a:txBody>
                  <a:tcPr marL="45720" marR="45720" marT="18288" marB="18288" anchor="t"/>
                </a:tc>
                <a:tc>
                  <a:txBody>
                    <a:bodyPr wrap="square"/>
                    <a:lstStyle/>
                    <a:p>
                      <a:r>
                        <a:rPr sz="648" b="0" i="0">
                          <a:solidFill>
                            <a:srgbClr val="1A1A1A"/>
                          </a:solidFill>
                          <a:latin typeface="Helvetica Neue"/>
                        </a:rPr>
                        <a:t>No adult-only restriction in reviewed US indications; SwiftMR 2026 validation includes ages 0–21</a:t>
                      </a:r>
                    </a:p>
                  </a:txBody>
                  <a:tcPr marL="45720" marR="45720" marT="18288" marB="18288" anchor="t"/>
                </a:tc>
                <a:tc>
                  <a:txBody>
                    <a:bodyPr wrap="square"/>
                    <a:lstStyle/>
                    <a:p>
                      <a:r>
                        <a:rPr sz="648" b="0" i="0">
                          <a:solidFill>
                            <a:srgbClr val="1A1A1A"/>
                          </a:solidFill>
                          <a:latin typeface="Helvetica Neue"/>
                        </a:rPr>
                        <a:t>15 (2018–2026)</a:t>
                      </a:r>
                    </a:p>
                  </a:txBody>
                  <a:tcPr marL="45720" marR="45720" marT="18288" marB="18288" anchor="t"/>
                </a:tc>
                <a:tc>
                  <a:txBody>
                    <a:bodyPr wrap="square"/>
                    <a:lstStyle/>
                    <a:p>
                      <a:r>
                        <a:rPr sz="648" b="0" i="0">
                          <a:solidFill>
                            <a:srgbClr val="1A1A1A"/>
                          </a:solidFill>
                          <a:latin typeface="Helvetica Neue"/>
                        </a:rPr>
                        <a:t>0 (0)</a:t>
                      </a:r>
                    </a:p>
                  </a:txBody>
                  <a:tcPr marL="45720" marR="45720" marT="18288" marB="18288" anchor="t"/>
                </a:tc>
              </a:tr>
              <a:tr h="252374">
                <a:tc>
                  <a:txBody>
                    <a:bodyPr wrap="square"/>
                    <a:lstStyle/>
                    <a:p>
                      <a:r>
                        <a:rPr sz="648" b="0" i="0">
                          <a:solidFill>
                            <a:srgbClr val="1A1A1A"/>
                          </a:solidFill>
                          <a:latin typeface="Helvetica Neue"/>
                        </a:rPr>
                        <a:t>Qure.ai</a:t>
                      </a:r>
                    </a:p>
                  </a:txBody>
                  <a:tcPr marL="45720" marR="45720" marT="18288" marB="18288" anchor="t"/>
                </a:tc>
                <a:tc>
                  <a:txBody>
                    <a:bodyPr wrap="square"/>
                    <a:lstStyle/>
                    <a:p>
                      <a:r>
                        <a:rPr sz="648" b="0" i="0">
                          <a:solidFill>
                            <a:srgbClr val="1A1A1A"/>
                          </a:solidFill>
                          <a:latin typeface="Helvetica Neue"/>
                        </a:rPr>
                        <a:t>qXR / qER families</a:t>
                      </a:r>
                    </a:p>
                  </a:txBody>
                  <a:tcPr marL="45720" marR="45720" marT="18288" marB="18288" anchor="t"/>
                </a:tc>
                <a:tc>
                  <a:txBody>
                    <a:bodyPr wrap="square"/>
                    <a:lstStyle/>
                    <a:p>
                      <a:r>
                        <a:rPr sz="648" b="0" i="0">
                          <a:solidFill>
                            <a:srgbClr val="1A1A1A"/>
                          </a:solidFill>
                          <a:latin typeface="Helvetica Neue"/>
                        </a:rPr>
                        <a:t>Chest X-ray detection / triage, TB screening, tube / heart measurements; head CT triage / quantification and CTA LVO</a:t>
                      </a:r>
                    </a:p>
                  </a:txBody>
                  <a:tcPr marL="45720" marR="45720" marT="18288" marB="18288" anchor="t"/>
                </a:tc>
                <a:tc>
                  <a:txBody>
                    <a:bodyPr wrap="square"/>
                    <a:lstStyle/>
                    <a:p>
                      <a:r>
                        <a:rPr sz="648" b="0" i="0">
                          <a:solidFill>
                            <a:srgbClr val="1A1A1A"/>
                          </a:solidFill>
                          <a:latin typeface="Helvetica Neue"/>
                        </a:rPr>
                        <a:t>US eligibility varies by module; vendor reports CE-marked qXR TB use across ages 0–15</a:t>
                      </a:r>
                    </a:p>
                  </a:txBody>
                  <a:tcPr marL="45720" marR="45720" marT="18288" marB="18288" anchor="t"/>
                </a:tc>
                <a:tc>
                  <a:txBody>
                    <a:bodyPr wrap="square"/>
                    <a:lstStyle/>
                    <a:p>
                      <a:r>
                        <a:rPr sz="648" b="0" i="0">
                          <a:solidFill>
                            <a:srgbClr val="1A1A1A"/>
                          </a:solidFill>
                          <a:latin typeface="Helvetica Neue"/>
                        </a:rPr>
                        <a:t>9 (2020–2026)</a:t>
                      </a:r>
                    </a:p>
                  </a:txBody>
                  <a:tcPr marL="45720" marR="45720" marT="18288" marB="18288" anchor="t"/>
                </a:tc>
                <a:tc>
                  <a:txBody>
                    <a:bodyPr wrap="square"/>
                    <a:lstStyle/>
                    <a:p>
                      <a:r>
                        <a:rPr sz="648" b="0" i="0">
                          <a:solidFill>
                            <a:srgbClr val="1A1A1A"/>
                          </a:solidFill>
                          <a:latin typeface="Helvetica Neue"/>
                        </a:rPr>
                        <a:t>0 (0)</a:t>
                      </a:r>
                    </a:p>
                  </a:txBody>
                  <a:tcPr marL="45720" marR="45720" marT="18288" marB="18288" anchor="t"/>
                </a:tc>
              </a:tr>
              <a:tr h="252374">
                <a:tc>
                  <a:txBody>
                    <a:bodyPr wrap="square"/>
                    <a:lstStyle/>
                    <a:p>
                      <a:r>
                        <a:rPr sz="648" b="0" i="0">
                          <a:solidFill>
                            <a:srgbClr val="1A1A1A"/>
                          </a:solidFill>
                          <a:latin typeface="Helvetica Neue"/>
                        </a:rPr>
                        <a:t>16 Bit</a:t>
                      </a:r>
                    </a:p>
                  </a:txBody>
                  <a:tcPr marL="45720" marR="45720" marT="18288" marB="18288" anchor="t"/>
                </a:tc>
                <a:tc>
                  <a:txBody>
                    <a:bodyPr wrap="square"/>
                    <a:lstStyle/>
                    <a:p>
                      <a:r>
                        <a:rPr sz="648" b="0" i="0">
                          <a:solidFill>
                            <a:srgbClr val="1A1A1A"/>
                          </a:solidFill>
                          <a:latin typeface="Helvetica Neue"/>
                        </a:rPr>
                        <a:t>Physis</a:t>
                      </a:r>
                    </a:p>
                  </a:txBody>
                  <a:tcPr marL="45720" marR="45720" marT="18288" marB="18288" anchor="t"/>
                </a:tc>
                <a:tc>
                  <a:txBody>
                    <a:bodyPr wrap="square"/>
                    <a:lstStyle/>
                    <a:p>
                      <a:r>
                        <a:rPr sz="648" b="0" i="0">
                          <a:solidFill>
                            <a:srgbClr val="1A1A1A"/>
                          </a:solidFill>
                          <a:latin typeface="Helvetica Neue"/>
                        </a:rPr>
                        <a:t>Hand X-ray bone-age estimation, GP atlas matching and report assistance</a:t>
                      </a:r>
                    </a:p>
                  </a:txBody>
                  <a:tcPr marL="45720" marR="45720" marT="18288" marB="18288" anchor="t"/>
                </a:tc>
                <a:tc>
                  <a:txBody>
                    <a:bodyPr wrap="square"/>
                    <a:lstStyle/>
                    <a:p>
                      <a:r>
                        <a:rPr sz="648" b="0" i="0">
                          <a:solidFill>
                            <a:srgbClr val="1A1A1A"/>
                          </a:solidFill>
                          <a:latin typeface="Helvetica Neue"/>
                        </a:rPr>
                        <a:t>Pediatric tool; no FDA authorization identified. Company's FDA entry is Rho (low bone density, age 50+)</a:t>
                      </a:r>
                    </a:p>
                  </a:txBody>
                  <a:tcPr marL="45720" marR="45720" marT="18288" marB="18288" anchor="t"/>
                </a:tc>
                <a:tc>
                  <a:txBody>
                    <a:bodyPr wrap="square"/>
                    <a:lstStyle/>
                    <a:p>
                      <a:r>
                        <a:rPr sz="648" b="0" i="0">
                          <a:solidFill>
                            <a:srgbClr val="1A1A1A"/>
                          </a:solidFill>
                          <a:latin typeface="Helvetica Neue"/>
                        </a:rPr>
                        <a:t>1 (2024)</a:t>
                      </a:r>
                    </a:p>
                  </a:txBody>
                  <a:tcPr marL="45720" marR="45720" marT="18288" marB="18288" anchor="t"/>
                </a:tc>
                <a:tc>
                  <a:txBody>
                    <a:bodyPr wrap="square"/>
                    <a:lstStyle/>
                    <a:p>
                      <a:r>
                        <a:rPr sz="648" b="0" i="0">
                          <a:solidFill>
                            <a:srgbClr val="1A1A1A"/>
                          </a:solidFill>
                          <a:latin typeface="Helvetica Neue"/>
                        </a:rPr>
                        <a:t>0 (0)</a:t>
                      </a:r>
                    </a:p>
                  </a:txBody>
                  <a:tcPr marL="45720" marR="45720" marT="18288" marB="18288" anchor="t"/>
                </a:tc>
              </a:tr>
              <a:tr h="252374">
                <a:tc>
                  <a:txBody>
                    <a:bodyPr wrap="square"/>
                    <a:lstStyle/>
                    <a:p>
                      <a:r>
                        <a:rPr sz="648" b="0" i="0">
                          <a:solidFill>
                            <a:srgbClr val="1A1A1A"/>
                          </a:solidFill>
                          <a:latin typeface="Helvetica Neue"/>
                        </a:rPr>
                        <a:t>Visiana</a:t>
                      </a:r>
                    </a:p>
                  </a:txBody>
                  <a:tcPr marL="45720" marR="45720" marT="18288" marB="18288" anchor="t"/>
                </a:tc>
                <a:tc>
                  <a:txBody>
                    <a:bodyPr wrap="square"/>
                    <a:lstStyle/>
                    <a:p>
                      <a:r>
                        <a:rPr sz="648" b="0" i="0">
                          <a:solidFill>
                            <a:srgbClr val="1A1A1A"/>
                          </a:solidFill>
                          <a:latin typeface="Helvetica Neue"/>
                        </a:rPr>
                        <a:t>BoneXpert</a:t>
                      </a:r>
                    </a:p>
                  </a:txBody>
                  <a:tcPr marL="45720" marR="45720" marT="18288" marB="18288" anchor="t"/>
                </a:tc>
                <a:tc>
                  <a:txBody>
                    <a:bodyPr wrap="square"/>
                    <a:lstStyle/>
                    <a:p>
                      <a:r>
                        <a:rPr sz="648" b="0" i="0">
                          <a:solidFill>
                            <a:srgbClr val="1A1A1A"/>
                          </a:solidFill>
                          <a:latin typeface="Helvetica Neue"/>
                        </a:rPr>
                        <a:t>Hand X-ray bone age (GP / TW3), Bone Health Index; associated adult-height prediction tool</a:t>
                      </a:r>
                    </a:p>
                  </a:txBody>
                  <a:tcPr marL="45720" marR="45720" marT="18288" marB="18288" anchor="t"/>
                </a:tc>
                <a:tc>
                  <a:txBody>
                    <a:bodyPr wrap="square"/>
                    <a:lstStyle/>
                    <a:p>
                      <a:r>
                        <a:rPr sz="648" b="0" i="0">
                          <a:solidFill>
                            <a:srgbClr val="1A1A1A"/>
                          </a:solidFill>
                          <a:latin typeface="Helvetica Neue"/>
                        </a:rPr>
                        <a:t>Designed for children; CE-marked; US research use only</a:t>
                      </a:r>
                    </a:p>
                  </a:txBody>
                  <a:tcPr marL="45720" marR="45720" marT="18288" marB="18288" anchor="t"/>
                </a:tc>
                <a:tc>
                  <a:txBody>
                    <a:bodyPr wrap="square"/>
                    <a:lstStyle/>
                    <a:p>
                      <a:r>
                        <a:rPr sz="648" b="0" i="0">
                          <a:solidFill>
                            <a:srgbClr val="1A1A1A"/>
                          </a:solidFill>
                          <a:latin typeface="Helvetica Neue"/>
                        </a:rPr>
                        <a:t>not listed</a:t>
                      </a:r>
                    </a:p>
                  </a:txBody>
                  <a:tcPr marL="45720" marR="45720" marT="18288" marB="18288" anchor="t"/>
                </a:tc>
                <a:tc>
                  <a:txBody>
                    <a:bodyPr wrap="square"/>
                    <a:lstStyle/>
                    <a:p>
                      <a:r>
                        <a:rPr sz="648" b="0" i="0">
                          <a:solidFill>
                            <a:srgbClr val="1A1A1A"/>
                          </a:solidFill>
                          <a:latin typeface="Helvetica Neue"/>
                        </a:rPr>
                        <a:t>–</a:t>
                      </a:r>
                    </a:p>
                  </a:txBody>
                  <a:tcPr marL="45720" marR="45720" marT="18288" marB="18288" anchor="t"/>
                </a:tc>
              </a:tr>
            </a:tbl>
          </a:graphicData>
        </a:graphic>
      </p:graphicFrame>
      <p:sp>
        <p:nvSpPr>
          <p:cNvPr id="5" name="TextBox 4"/>
          <p:cNvSpPr txBox="1"/>
          <p:nvPr/>
        </p:nvSpPr>
        <p:spPr>
          <a:xfrm>
            <a:off x="411480" y="5735116"/>
            <a:ext cx="11368735" cy="488746"/>
          </a:xfrm>
          <a:prstGeom prst="rect">
            <a:avLst/>
          </a:prstGeom>
          <a:noFill/>
        </p:spPr>
        <p:txBody>
          <a:bodyPr wrap="square" lIns="45720" rIns="45720" tIns="27432" bIns="27432" anchor="t">
            <a:spAutoFit/>
          </a:bodyPr>
          <a:lstStyle/>
          <a:p>
            <a:pPr algn="l">
              <a:spcAft>
                <a:spcPts val="277"/>
              </a:spcAft>
            </a:pPr>
            <a:r>
              <a:rPr sz="792" b="0" i="0">
                <a:solidFill>
                  <a:srgbClr val="1A1A1A"/>
                </a:solidFill>
                <a:latin typeface="Helvetica Neue"/>
              </a:rPr>
              <a:t>Company-wide radiology entries in the FDA AI-enabled device list (saved 2026-09-17); grouped vendors summed; parentheses = decision-year range; entries include versions. Last column: entries stating a pediatric or fetal population in the decision summary (screened 2026-09-16), standalone software in parentheses — a scanner is labeled for pediatric imaging whatever its AI was built for, and a population statement is not an indication. Labeling checked 2026-09-16; GP = Greulich–Pyle; TW3 = Tanner–Whitehouse 3.</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62 / 83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Products a pediatric radiologist should know (1–12 of 23)</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COMMERCIAL SOFTWARE</a:t>
            </a:r>
          </a:p>
        </p:txBody>
      </p:sp>
      <p:graphicFrame>
        <p:nvGraphicFramePr>
          <p:cNvPr id="4" name="Table 3"/>
          <p:cNvGraphicFramePr>
            <a:graphicFrameLocks noGrp="1"/>
          </p:cNvGraphicFramePr>
          <p:nvPr/>
        </p:nvGraphicFramePr>
        <p:xfrm>
          <a:off x="411480" y="877824"/>
          <a:ext cx="11368733" cy="5058454"/>
        </p:xfrm>
        <a:graphic>
          <a:graphicData uri="http://schemas.openxmlformats.org/drawingml/2006/table">
            <a:tbl>
              <a:tblPr firstRow="1" bandRow="1">
                <a:tableStyleId>{5C22544A-7EE6-4342-B048-85BDC9FD1C3A}</a:tableStyleId>
              </a:tblPr>
              <a:tblGrid>
                <a:gridCol w="1933580"/>
                <a:gridCol w="1575509"/>
                <a:gridCol w="3383765"/>
                <a:gridCol w="2900370"/>
                <a:gridCol w="1575509"/>
              </a:tblGrid>
              <a:tr h="186537">
                <a:tc>
                  <a:txBody>
                    <a:bodyPr wrap="square"/>
                    <a:lstStyle/>
                    <a:p>
                      <a:r>
                        <a:rPr sz="864" b="1" i="0">
                          <a:solidFill>
                            <a:srgbClr val="FFFFFF"/>
                          </a:solidFill>
                          <a:latin typeface="Helvetica Neue"/>
                        </a:rPr>
                        <a:t>Product (vendor)</a:t>
                      </a:r>
                    </a:p>
                  </a:txBody>
                  <a:tcPr marL="45720" marR="45720" marT="18288" marB="18288" anchor="t"/>
                </a:tc>
                <a:tc>
                  <a:txBody>
                    <a:bodyPr wrap="square"/>
                    <a:lstStyle/>
                    <a:p>
                      <a:r>
                        <a:rPr sz="864" b="1" i="0">
                          <a:solidFill>
                            <a:srgbClr val="FFFFFF"/>
                          </a:solidFill>
                          <a:latin typeface="Helvetica Neue"/>
                        </a:rPr>
                        <a:t>Clinical problem</a:t>
                      </a:r>
                    </a:p>
                  </a:txBody>
                  <a:tcPr marL="45720" marR="45720" marT="18288" marB="18288" anchor="t"/>
                </a:tc>
                <a:tc>
                  <a:txBody>
                    <a:bodyPr wrap="square"/>
                    <a:lstStyle/>
                    <a:p>
                      <a:r>
                        <a:rPr sz="864" b="1" i="0">
                          <a:solidFill>
                            <a:srgbClr val="FFFFFF"/>
                          </a:solidFill>
                          <a:latin typeface="Helvetica Neue"/>
                        </a:rPr>
                        <a:t>What it does</a:t>
                      </a:r>
                    </a:p>
                  </a:txBody>
                  <a:tcPr marL="45720" marR="45720" marT="18288" marB="18288" anchor="t"/>
                </a:tc>
                <a:tc>
                  <a:txBody>
                    <a:bodyPr wrap="square"/>
                    <a:lstStyle/>
                    <a:p>
                      <a:r>
                        <a:rPr sz="864" b="1" i="0">
                          <a:solidFill>
                            <a:srgbClr val="FFFFFF"/>
                          </a:solidFill>
                          <a:latin typeface="Helvetica Neue"/>
                        </a:rPr>
                        <a:t>Pediatric scope</a:t>
                      </a:r>
                    </a:p>
                  </a:txBody>
                  <a:tcPr marL="45720" marR="45720" marT="18288" marB="18288" anchor="t"/>
                </a:tc>
                <a:tc>
                  <a:txBody>
                    <a:bodyPr wrap="square"/>
                    <a:lstStyle/>
                    <a:p>
                      <a:r>
                        <a:rPr sz="864" b="1" i="0">
                          <a:solidFill>
                            <a:srgbClr val="FFFFFF"/>
                          </a:solidFill>
                          <a:latin typeface="Helvetica Neue"/>
                        </a:rPr>
                        <a:t>Where it stands</a:t>
                      </a:r>
                    </a:p>
                  </a:txBody>
                  <a:tcPr marL="45720" marR="45720" marT="18288" marB="18288" anchor="t"/>
                </a:tc>
              </a:tr>
              <a:tr h="318211">
                <a:tc>
                  <a:txBody>
                    <a:bodyPr wrap="square"/>
                    <a:lstStyle/>
                    <a:p>
                      <a:r>
                        <a:rPr sz="864" b="0" i="0">
                          <a:solidFill>
                            <a:srgbClr val="1A1A1A"/>
                          </a:solidFill>
                          <a:latin typeface="Helvetica Neue"/>
                        </a:rPr>
                        <a:t>BoneXpert (Visiana)</a:t>
                      </a:r>
                    </a:p>
                  </a:txBody>
                  <a:tcPr marL="45720" marR="45720" marT="18288" marB="18288" anchor="t"/>
                </a:tc>
                <a:tc>
                  <a:txBody>
                    <a:bodyPr wrap="square"/>
                    <a:lstStyle/>
                    <a:p>
                      <a:r>
                        <a:rPr sz="864" b="0" i="0">
                          <a:solidFill>
                            <a:srgbClr val="1A1A1A"/>
                          </a:solidFill>
                          <a:latin typeface="Helvetica Neue"/>
                        </a:rPr>
                        <a:t>bone age / growth</a:t>
                      </a:r>
                    </a:p>
                  </a:txBody>
                  <a:tcPr marL="45720" marR="45720" marT="18288" marB="18288" anchor="t"/>
                </a:tc>
                <a:tc>
                  <a:txBody>
                    <a:bodyPr wrap="square"/>
                    <a:lstStyle/>
                    <a:p>
                      <a:r>
                        <a:rPr sz="864" b="0" i="0">
                          <a:solidFill>
                            <a:srgbClr val="1A1A1A"/>
                          </a:solidFill>
                          <a:latin typeface="Helvetica Neue"/>
                        </a:rPr>
                        <a:t>Automated Greulich–Pyle and Tanner–Whitehouse bone age plus a Bone Health Index, from a hand radiograph</a:t>
                      </a:r>
                    </a:p>
                  </a:txBody>
                  <a:tcPr marL="45720" marR="45720" marT="18288" marB="18288" anchor="t"/>
                </a:tc>
                <a:tc>
                  <a:txBody>
                    <a:bodyPr wrap="square"/>
                    <a:lstStyle/>
                    <a:p>
                      <a:r>
                        <a:rPr sz="864" b="0" i="0">
                          <a:solidFill>
                            <a:srgbClr val="1A1A1A"/>
                          </a:solidFill>
                          <a:latin typeface="Helvetica Neue"/>
                        </a:rPr>
                        <a:t>Built for children; CE-marked and in routine European use; US research use only</a:t>
                      </a:r>
                    </a:p>
                  </a:txBody>
                  <a:tcPr marL="45720" marR="45720" marT="18288" marB="18288" anchor="t"/>
                </a:tc>
                <a:tc>
                  <a:txBody>
                    <a:bodyPr wrap="square"/>
                    <a:lstStyle/>
                    <a:p>
                      <a:r>
                        <a:rPr sz="864" b="0" i="0">
                          <a:solidFill>
                            <a:srgbClr val="1A1A1A"/>
                          </a:solidFill>
                          <a:latin typeface="Helvetica Neue"/>
                        </a:rPr>
                        <a:t>Widely deployed (Europe)</a:t>
                      </a:r>
                    </a:p>
                  </a:txBody>
                  <a:tcPr marL="45720" marR="45720" marT="18288" marB="18288" anchor="t"/>
                </a:tc>
              </a:tr>
              <a:tr h="449884">
                <a:tc>
                  <a:txBody>
                    <a:bodyPr wrap="square"/>
                    <a:lstStyle/>
                    <a:p>
                      <a:r>
                        <a:rPr sz="864" b="0" i="0">
                          <a:solidFill>
                            <a:srgbClr val="1A1A1A"/>
                          </a:solidFill>
                          <a:latin typeface="Helvetica Neue"/>
                        </a:rPr>
                        <a:t>BoneView (Gleamer)</a:t>
                      </a:r>
                    </a:p>
                  </a:txBody>
                  <a:tcPr marL="45720" marR="45720" marT="18288" marB="18288" anchor="t"/>
                </a:tc>
                <a:tc>
                  <a:txBody>
                    <a:bodyPr wrap="square"/>
                    <a:lstStyle/>
                    <a:p>
                      <a:r>
                        <a:rPr sz="864" b="0" i="0">
                          <a:solidFill>
                            <a:srgbClr val="1A1A1A"/>
                          </a:solidFill>
                          <a:latin typeface="Helvetica Neue"/>
                        </a:rPr>
                        <a:t>fracture / trauma</a:t>
                      </a:r>
                    </a:p>
                  </a:txBody>
                  <a:tcPr marL="45720" marR="45720" marT="18288" marB="18288" anchor="t"/>
                </a:tc>
                <a:tc>
                  <a:txBody>
                    <a:bodyPr wrap="square"/>
                    <a:lstStyle/>
                    <a:p>
                      <a:r>
                        <a:rPr sz="864" b="0" i="0">
                          <a:solidFill>
                            <a:srgbClr val="1A1A1A"/>
                          </a:solidFill>
                          <a:latin typeface="Helvetica Neue"/>
                        </a:rPr>
                        <a:t>Fracture detection on trauma radiographs, presented as regions of interest alongside the image</a:t>
                      </a:r>
                    </a:p>
                  </a:txBody>
                  <a:tcPr marL="45720" marR="45720" marT="18288" marB="18288" anchor="t"/>
                </a:tc>
                <a:tc>
                  <a:txBody>
                    <a:bodyPr wrap="square"/>
                    <a:lstStyle/>
                    <a:p>
                      <a:r>
                        <a:rPr sz="864" b="0" i="0">
                          <a:solidFill>
                            <a:srgbClr val="1A1A1A"/>
                          </a:solidFill>
                          <a:latin typeface="Helvetica Neue"/>
                        </a:rPr>
                        <a:t>US indication covers ages 2–21 for specified extremity views; pelvis, hip, femur, ribs and spine are adult-only [K222176, 2023]</a:t>
                      </a:r>
                    </a:p>
                  </a:txBody>
                  <a:tcPr marL="45720" marR="45720" marT="18288" marB="18288" anchor="t"/>
                </a:tc>
                <a:tc>
                  <a:txBody>
                    <a:bodyPr wrap="square"/>
                    <a:lstStyle/>
                    <a:p>
                      <a:r>
                        <a:rPr sz="864" b="0" i="0">
                          <a:solidFill>
                            <a:srgbClr val="1A1A1A"/>
                          </a:solidFill>
                          <a:latin typeface="Helvetica Neue"/>
                        </a:rPr>
                        <a:t>Widely deployed</a:t>
                      </a:r>
                    </a:p>
                  </a:txBody>
                  <a:tcPr marL="45720" marR="45720" marT="18288" marB="18288" anchor="t"/>
                </a:tc>
              </a:tr>
              <a:tr h="449884">
                <a:tc>
                  <a:txBody>
                    <a:bodyPr wrap="square"/>
                    <a:lstStyle/>
                    <a:p>
                      <a:r>
                        <a:rPr sz="864" b="0" i="0">
                          <a:solidFill>
                            <a:srgbClr val="1A1A1A"/>
                          </a:solidFill>
                          <a:latin typeface="Helvetica Neue"/>
                        </a:rPr>
                        <a:t>Rayvolve (AZtrauma) (AZmed)</a:t>
                      </a:r>
                    </a:p>
                  </a:txBody>
                  <a:tcPr marL="45720" marR="45720" marT="18288" marB="18288" anchor="t"/>
                </a:tc>
                <a:tc>
                  <a:txBody>
                    <a:bodyPr wrap="square"/>
                    <a:lstStyle/>
                    <a:p>
                      <a:r>
                        <a:rPr sz="864" b="0" i="0">
                          <a:solidFill>
                            <a:srgbClr val="1A1A1A"/>
                          </a:solidFill>
                          <a:latin typeface="Helvetica Neue"/>
                        </a:rPr>
                        <a:t>fracture / trauma</a:t>
                      </a:r>
                    </a:p>
                  </a:txBody>
                  <a:tcPr marL="45720" marR="45720" marT="18288" marB="18288" anchor="t"/>
                </a:tc>
                <a:tc>
                  <a:txBody>
                    <a:bodyPr wrap="square"/>
                    <a:lstStyle/>
                    <a:p>
                      <a:r>
                        <a:rPr sz="864" b="0" i="0">
                          <a:solidFill>
                            <a:srgbClr val="1A1A1A"/>
                          </a:solidFill>
                          <a:latin typeface="Helvetica Neue"/>
                        </a:rPr>
                        <a:t>Fracture and MSK finding detection on radiographs; sibling modules cover chest findings, measurements and bone age</a:t>
                      </a:r>
                    </a:p>
                  </a:txBody>
                  <a:tcPr marL="45720" marR="45720" marT="18288" marB="18288" anchor="t"/>
                </a:tc>
                <a:tc>
                  <a:txBody>
                    <a:bodyPr wrap="square"/>
                    <a:lstStyle/>
                    <a:p>
                      <a:r>
                        <a:rPr sz="864" b="0" i="0">
                          <a:solidFill>
                            <a:srgbClr val="1A1A1A"/>
                          </a:solidFill>
                          <a:latin typeface="Helvetica Neue"/>
                        </a:rPr>
                        <a:t>US fracture indication from age 2; the bone-age module is CE-marked only [K240845, 2024]</a:t>
                      </a:r>
                    </a:p>
                  </a:txBody>
                  <a:tcPr marL="45720" marR="45720" marT="18288" marB="18288" anchor="t"/>
                </a:tc>
                <a:tc>
                  <a:txBody>
                    <a:bodyPr wrap="square"/>
                    <a:lstStyle/>
                    <a:p>
                      <a:r>
                        <a:rPr sz="864" b="0" i="0">
                          <a:solidFill>
                            <a:srgbClr val="1A1A1A"/>
                          </a:solidFill>
                          <a:latin typeface="Helvetica Neue"/>
                        </a:rPr>
                        <a:t>Widely deployed</a:t>
                      </a:r>
                    </a:p>
                  </a:txBody>
                  <a:tcPr marL="45720" marR="45720" marT="18288" marB="18288" anchor="t"/>
                </a:tc>
              </a:tr>
              <a:tr h="318211">
                <a:tc>
                  <a:txBody>
                    <a:bodyPr wrap="square"/>
                    <a:lstStyle/>
                    <a:p>
                      <a:r>
                        <a:rPr sz="864" b="0" i="0">
                          <a:solidFill>
                            <a:srgbClr val="1A1A1A"/>
                          </a:solidFill>
                          <a:latin typeface="Helvetica Neue"/>
                        </a:rPr>
                        <a:t>TechCare Trauma (Milvue)</a:t>
                      </a:r>
                    </a:p>
                  </a:txBody>
                  <a:tcPr marL="45720" marR="45720" marT="18288" marB="18288" anchor="t"/>
                </a:tc>
                <a:tc>
                  <a:txBody>
                    <a:bodyPr wrap="square"/>
                    <a:lstStyle/>
                    <a:p>
                      <a:r>
                        <a:rPr sz="864" b="0" i="0">
                          <a:solidFill>
                            <a:srgbClr val="1A1A1A"/>
                          </a:solidFill>
                          <a:latin typeface="Helvetica Neue"/>
                        </a:rPr>
                        <a:t>fracture / trauma</a:t>
                      </a:r>
                    </a:p>
                  </a:txBody>
                  <a:tcPr marL="45720" marR="45720" marT="18288" marB="18288" anchor="t"/>
                </a:tc>
                <a:tc>
                  <a:txBody>
                    <a:bodyPr wrap="square"/>
                    <a:lstStyle/>
                    <a:p>
                      <a:r>
                        <a:rPr sz="864" b="0" i="0">
                          <a:solidFill>
                            <a:srgbClr val="1A1A1A"/>
                          </a:solidFill>
                          <a:latin typeface="Helvetica Neue"/>
                        </a:rPr>
                        <a:t>Trauma radiograph triage: fractures, effusions and dislocations flagged for the reader</a:t>
                      </a:r>
                    </a:p>
                  </a:txBody>
                  <a:tcPr marL="45720" marR="45720" marT="18288" marB="18288" anchor="t"/>
                </a:tc>
                <a:tc>
                  <a:txBody>
                    <a:bodyPr wrap="square"/>
                    <a:lstStyle/>
                    <a:p>
                      <a:r>
                        <a:rPr sz="864" b="0" i="0">
                          <a:solidFill>
                            <a:srgbClr val="1A1A1A"/>
                          </a:solidFill>
                          <a:latin typeface="Helvetica Neue"/>
                        </a:rPr>
                        <a:t>The decision summary states a pediatric population [K242171, 2025]</a:t>
                      </a:r>
                    </a:p>
                  </a:txBody>
                  <a:tcPr marL="45720" marR="45720" marT="18288" marB="18288" anchor="t"/>
                </a:tc>
                <a:tc>
                  <a:txBody>
                    <a:bodyPr wrap="square"/>
                    <a:lstStyle/>
                    <a:p>
                      <a:r>
                        <a:rPr sz="864" b="0" i="0">
                          <a:solidFill>
                            <a:srgbClr val="1A1A1A"/>
                          </a:solidFill>
                          <a:latin typeface="Helvetica Neue"/>
                        </a:rPr>
                        <a:t>Early US deployments</a:t>
                      </a:r>
                    </a:p>
                  </a:txBody>
                  <a:tcPr marL="45720" marR="45720" marT="18288" marB="18288" anchor="t"/>
                </a:tc>
              </a:tr>
              <a:tr h="449884">
                <a:tc>
                  <a:txBody>
                    <a:bodyPr wrap="square"/>
                    <a:lstStyle/>
                    <a:p>
                      <a:r>
                        <a:rPr sz="864" b="0" i="0">
                          <a:solidFill>
                            <a:srgbClr val="1A1A1A"/>
                          </a:solidFill>
                          <a:latin typeface="Helvetica Neue"/>
                        </a:rPr>
                        <a:t>EFAI Bonesuite XR Bone Age Pro (Ever Fortune.AI)</a:t>
                      </a:r>
                    </a:p>
                  </a:txBody>
                  <a:tcPr marL="45720" marR="45720" marT="18288" marB="18288" anchor="t"/>
                </a:tc>
                <a:tc>
                  <a:txBody>
                    <a:bodyPr wrap="square"/>
                    <a:lstStyle/>
                    <a:p>
                      <a:r>
                        <a:rPr sz="864" b="0" i="0">
                          <a:solidFill>
                            <a:srgbClr val="1A1A1A"/>
                          </a:solidFill>
                          <a:latin typeface="Helvetica Neue"/>
                        </a:rPr>
                        <a:t>bone age / growth</a:t>
                      </a:r>
                    </a:p>
                  </a:txBody>
                  <a:tcPr marL="45720" marR="45720" marT="18288" marB="18288" anchor="t"/>
                </a:tc>
                <a:tc>
                  <a:txBody>
                    <a:bodyPr wrap="square"/>
                    <a:lstStyle/>
                    <a:p>
                      <a:r>
                        <a:rPr sz="864" b="0" i="0">
                          <a:solidFill>
                            <a:srgbClr val="1A1A1A"/>
                          </a:solidFill>
                          <a:latin typeface="Helvetica Neue"/>
                        </a:rPr>
                        <a:t>Greulich–Pyle bone age from a PA left hand and wrist radiograph, as an adjunct to the radiologist</a:t>
                      </a:r>
                    </a:p>
                  </a:txBody>
                  <a:tcPr marL="45720" marR="45720" marT="18288" marB="18288" anchor="t"/>
                </a:tc>
                <a:tc>
                  <a:txBody>
                    <a:bodyPr wrap="square"/>
                    <a:lstStyle/>
                    <a:p>
                      <a:r>
                        <a:rPr sz="864" b="0" i="0">
                          <a:solidFill>
                            <a:srgbClr val="1A1A1A"/>
                          </a:solidFill>
                          <a:latin typeface="Helvetica Neue"/>
                        </a:rPr>
                        <a:t>FDA-cleared for ages 2–16 — the pediatric-specific US bone-age clearance [K234042, 2024]</a:t>
                      </a:r>
                    </a:p>
                  </a:txBody>
                  <a:tcPr marL="45720" marR="45720" marT="18288" marB="18288" anchor="t"/>
                </a:tc>
                <a:tc>
                  <a:txBody>
                    <a:bodyPr wrap="square"/>
                    <a:lstStyle/>
                    <a:p>
                      <a:r>
                        <a:rPr sz="864" b="0" i="0">
                          <a:solidFill>
                            <a:srgbClr val="1A1A1A"/>
                          </a:solidFill>
                          <a:latin typeface="Helvetica Neue"/>
                        </a:rPr>
                        <a:t>FDA-cleared, early adoption</a:t>
                      </a:r>
                    </a:p>
                  </a:txBody>
                  <a:tcPr marL="45720" marR="45720" marT="18288" marB="18288" anchor="t"/>
                </a:tc>
              </a:tr>
              <a:tr h="318211">
                <a:tc>
                  <a:txBody>
                    <a:bodyPr wrap="square"/>
                    <a:lstStyle/>
                    <a:p>
                      <a:r>
                        <a:rPr sz="864" b="0" i="0">
                          <a:solidFill>
                            <a:srgbClr val="1A1A1A"/>
                          </a:solidFill>
                          <a:latin typeface="Helvetica Neue"/>
                        </a:rPr>
                        <a:t>Physis (16 Bit)</a:t>
                      </a:r>
                    </a:p>
                  </a:txBody>
                  <a:tcPr marL="45720" marR="45720" marT="18288" marB="18288" anchor="t"/>
                </a:tc>
                <a:tc>
                  <a:txBody>
                    <a:bodyPr wrap="square"/>
                    <a:lstStyle/>
                    <a:p>
                      <a:r>
                        <a:rPr sz="864" b="0" i="0">
                          <a:solidFill>
                            <a:srgbClr val="1A1A1A"/>
                          </a:solidFill>
                          <a:latin typeface="Helvetica Neue"/>
                        </a:rPr>
                        <a:t>bone age / growth</a:t>
                      </a:r>
                    </a:p>
                  </a:txBody>
                  <a:tcPr marL="45720" marR="45720" marT="18288" marB="18288" anchor="t"/>
                </a:tc>
                <a:tc>
                  <a:txBody>
                    <a:bodyPr wrap="square"/>
                    <a:lstStyle/>
                    <a:p>
                      <a:r>
                        <a:rPr sz="864" b="0" i="0">
                          <a:solidFill>
                            <a:srgbClr val="1A1A1A"/>
                          </a:solidFill>
                          <a:latin typeface="Helvetica Neue"/>
                        </a:rPr>
                        <a:t>Bone-age estimation with Greulich–Pyle atlas matching and draft report text</a:t>
                      </a:r>
                    </a:p>
                  </a:txBody>
                  <a:tcPr marL="45720" marR="45720" marT="18288" marB="18288" anchor="t"/>
                </a:tc>
                <a:tc>
                  <a:txBody>
                    <a:bodyPr wrap="square"/>
                    <a:lstStyle/>
                    <a:p>
                      <a:r>
                        <a:rPr sz="864" b="0" i="0">
                          <a:solidFill>
                            <a:srgbClr val="1A1A1A"/>
                          </a:solidFill>
                          <a:latin typeface="Helvetica Neue"/>
                        </a:rPr>
                        <a:t>Pediatric tool; Health Canada licensed, no FDA authorization identified</a:t>
                      </a:r>
                    </a:p>
                  </a:txBody>
                  <a:tcPr marL="45720" marR="45720" marT="18288" marB="18288" anchor="t"/>
                </a:tc>
                <a:tc>
                  <a:txBody>
                    <a:bodyPr wrap="square"/>
                    <a:lstStyle/>
                    <a:p>
                      <a:r>
                        <a:rPr sz="864" b="0" i="0">
                          <a:solidFill>
                            <a:srgbClr val="1A1A1A"/>
                          </a:solidFill>
                          <a:latin typeface="Helvetica Neue"/>
                        </a:rPr>
                        <a:t>Promising, limited US access</a:t>
                      </a:r>
                    </a:p>
                  </a:txBody>
                  <a:tcPr marL="45720" marR="45720" marT="18288" marB="18288" anchor="t"/>
                </a:tc>
              </a:tr>
              <a:tr h="318211">
                <a:tc>
                  <a:txBody>
                    <a:bodyPr wrap="square"/>
                    <a:lstStyle/>
                    <a:p>
                      <a:r>
                        <a:rPr sz="864" b="0" i="0">
                          <a:solidFill>
                            <a:srgbClr val="1A1A1A"/>
                          </a:solidFill>
                          <a:latin typeface="Helvetica Neue"/>
                        </a:rPr>
                        <a:t>Fetal EchoScan (BrightHeart)</a:t>
                      </a:r>
                    </a:p>
                  </a:txBody>
                  <a:tcPr marL="45720" marR="45720" marT="18288" marB="18288" anchor="t"/>
                </a:tc>
                <a:tc>
                  <a:txBody>
                    <a:bodyPr wrap="square"/>
                    <a:lstStyle/>
                    <a:p>
                      <a:r>
                        <a:rPr sz="864" b="0" i="0">
                          <a:solidFill>
                            <a:srgbClr val="1A1A1A"/>
                          </a:solidFill>
                          <a:latin typeface="Helvetica Neue"/>
                        </a:rPr>
                        <a:t>fetal / obstetric</a:t>
                      </a:r>
                    </a:p>
                  </a:txBody>
                  <a:tcPr marL="45720" marR="45720" marT="18288" marB="18288" anchor="t"/>
                </a:tc>
                <a:tc>
                  <a:txBody>
                    <a:bodyPr wrap="square"/>
                    <a:lstStyle/>
                    <a:p>
                      <a:r>
                        <a:rPr sz="864" b="0" i="0">
                          <a:solidFill>
                            <a:srgbClr val="1A1A1A"/>
                          </a:solidFill>
                          <a:latin typeface="Helvetica Neue"/>
                        </a:rPr>
                        <a:t>Flags eight morphological findings suspicious for congenital heart disease on second-trimester views</a:t>
                      </a:r>
                    </a:p>
                  </a:txBody>
                  <a:tcPr marL="45720" marR="45720" marT="18288" marB="18288" anchor="t"/>
                </a:tc>
                <a:tc>
                  <a:txBody>
                    <a:bodyPr wrap="square"/>
                    <a:lstStyle/>
                    <a:p>
                      <a:r>
                        <a:rPr sz="864" b="0" i="0">
                          <a:solidFill>
                            <a:srgbClr val="1A1A1A"/>
                          </a:solidFill>
                          <a:latin typeface="Helvetica Neue"/>
                        </a:rPr>
                        <a:t>Prenatal by definition: second-trimester exams, maternal age 18+ [K252294, 2025]</a:t>
                      </a:r>
                    </a:p>
                  </a:txBody>
                  <a:tcPr marL="45720" marR="45720" marT="18288" marB="18288" anchor="t"/>
                </a:tc>
                <a:tc>
                  <a:txBody>
                    <a:bodyPr wrap="square"/>
                    <a:lstStyle/>
                    <a:p>
                      <a:r>
                        <a:rPr sz="864" b="0" i="0">
                          <a:solidFill>
                            <a:srgbClr val="1A1A1A"/>
                          </a:solidFill>
                          <a:latin typeface="Helvetica Neue"/>
                        </a:rPr>
                        <a:t>Early deployments / pilots</a:t>
                      </a:r>
                    </a:p>
                  </a:txBody>
                  <a:tcPr marL="45720" marR="45720" marT="18288" marB="18288" anchor="t"/>
                </a:tc>
              </a:tr>
              <a:tr h="449884">
                <a:tc>
                  <a:txBody>
                    <a:bodyPr wrap="square"/>
                    <a:lstStyle/>
                    <a:p>
                      <a:r>
                        <a:rPr sz="864" b="0" i="0">
                          <a:solidFill>
                            <a:srgbClr val="1A1A1A"/>
                          </a:solidFill>
                          <a:latin typeface="Helvetica Neue"/>
                        </a:rPr>
                        <a:t>Sonio Detect / Sonio Suspect (Sonio)</a:t>
                      </a:r>
                    </a:p>
                  </a:txBody>
                  <a:tcPr marL="45720" marR="45720" marT="18288" marB="18288" anchor="t"/>
                </a:tc>
                <a:tc>
                  <a:txBody>
                    <a:bodyPr wrap="square"/>
                    <a:lstStyle/>
                    <a:p>
                      <a:r>
                        <a:rPr sz="864" b="0" i="0">
                          <a:solidFill>
                            <a:srgbClr val="1A1A1A"/>
                          </a:solidFill>
                          <a:latin typeface="Helvetica Neue"/>
                        </a:rPr>
                        <a:t>fetal / obstetric</a:t>
                      </a:r>
                    </a:p>
                  </a:txBody>
                  <a:tcPr marL="45720" marR="45720" marT="18288" marB="18288" anchor="t"/>
                </a:tc>
                <a:tc>
                  <a:txBody>
                    <a:bodyPr wrap="square"/>
                    <a:lstStyle/>
                    <a:p>
                      <a:r>
                        <a:rPr sz="864" b="0" i="0">
                          <a:solidFill>
                            <a:srgbClr val="1A1A1A"/>
                          </a:solidFill>
                          <a:latin typeface="Helvetica Neue"/>
                        </a:rPr>
                        <a:t>Checks that the required fetal views were obtained and are of usable quality (Detect); flags images suspicious for anomalies (Suspect)</a:t>
                      </a:r>
                    </a:p>
                  </a:txBody>
                  <a:tcPr marL="45720" marR="45720" marT="18288" marB="18288" anchor="t"/>
                </a:tc>
                <a:tc>
                  <a:txBody>
                    <a:bodyPr wrap="square"/>
                    <a:lstStyle/>
                    <a:p>
                      <a:r>
                        <a:rPr sz="864" b="0" i="0">
                          <a:solidFill>
                            <a:srgbClr val="1A1A1A"/>
                          </a:solidFill>
                          <a:latin typeface="Helvetica Neue"/>
                        </a:rPr>
                        <a:t>Prenatal by definition; every FDA entry states a fetal population [K252433, 2026]</a:t>
                      </a:r>
                    </a:p>
                  </a:txBody>
                  <a:tcPr marL="45720" marR="45720" marT="18288" marB="18288" anchor="t"/>
                </a:tc>
                <a:tc>
                  <a:txBody>
                    <a:bodyPr wrap="square"/>
                    <a:lstStyle/>
                    <a:p>
                      <a:r>
                        <a:rPr sz="864" b="0" i="0">
                          <a:solidFill>
                            <a:srgbClr val="1A1A1A"/>
                          </a:solidFill>
                          <a:latin typeface="Helvetica Neue"/>
                        </a:rPr>
                        <a:t>Early deployments / pilots</a:t>
                      </a:r>
                    </a:p>
                  </a:txBody>
                  <a:tcPr marL="45720" marR="45720" marT="18288" marB="18288" anchor="t"/>
                </a:tc>
              </a:tr>
              <a:tr h="318211">
                <a:tc>
                  <a:txBody>
                    <a:bodyPr wrap="square"/>
                    <a:lstStyle/>
                    <a:p>
                      <a:r>
                        <a:rPr sz="864" b="0" i="0">
                          <a:solidFill>
                            <a:srgbClr val="1A1A1A"/>
                          </a:solidFill>
                          <a:latin typeface="Helvetica Neue"/>
                        </a:rPr>
                        <a:t>Delivery Date AI (Ultrasound AI)</a:t>
                      </a:r>
                    </a:p>
                  </a:txBody>
                  <a:tcPr marL="45720" marR="45720" marT="18288" marB="18288" anchor="t"/>
                </a:tc>
                <a:tc>
                  <a:txBody>
                    <a:bodyPr wrap="square"/>
                    <a:lstStyle/>
                    <a:p>
                      <a:r>
                        <a:rPr sz="864" b="0" i="0">
                          <a:solidFill>
                            <a:srgbClr val="1A1A1A"/>
                          </a:solidFill>
                          <a:latin typeface="Helvetica Neue"/>
                        </a:rPr>
                        <a:t>fetal / obstetric</a:t>
                      </a:r>
                    </a:p>
                  </a:txBody>
                  <a:tcPr marL="45720" marR="45720" marT="18288" marB="18288" anchor="t"/>
                </a:tc>
                <a:tc>
                  <a:txBody>
                    <a:bodyPr wrap="square"/>
                    <a:lstStyle/>
                    <a:p>
                      <a:r>
                        <a:rPr sz="864" b="0" i="0">
                          <a:solidFill>
                            <a:srgbClr val="1A1A1A"/>
                          </a:solidFill>
                          <a:latin typeface="Helvetica Neue"/>
                        </a:rPr>
                        <a:t>Predicts the delivery date from a second- or third-trimester ultrasound when dating is unreliable</a:t>
                      </a:r>
                    </a:p>
                  </a:txBody>
                  <a:tcPr marL="45720" marR="45720" marT="18288" marB="18288" anchor="t"/>
                </a:tc>
                <a:tc>
                  <a:txBody>
                    <a:bodyPr wrap="square"/>
                    <a:lstStyle/>
                    <a:p>
                      <a:r>
                        <a:rPr sz="864" b="0" i="0">
                          <a:solidFill>
                            <a:srgbClr val="1A1A1A"/>
                          </a:solidFill>
                          <a:latin typeface="Helvetica Neue"/>
                        </a:rPr>
                        <a:t>Prenatal; the first De Novo of its kind (a new device class) [DEN250007, 2026]</a:t>
                      </a:r>
                    </a:p>
                  </a:txBody>
                  <a:tcPr marL="45720" marR="45720" marT="18288" marB="18288" anchor="t"/>
                </a:tc>
                <a:tc>
                  <a:txBody>
                    <a:bodyPr wrap="square"/>
                    <a:lstStyle/>
                    <a:p>
                      <a:r>
                        <a:rPr sz="864" b="0" i="0">
                          <a:solidFill>
                            <a:srgbClr val="1A1A1A"/>
                          </a:solidFill>
                          <a:latin typeface="Helvetica Neue"/>
                        </a:rPr>
                        <a:t>Newly authorized, unproven in practice</a:t>
                      </a:r>
                    </a:p>
                  </a:txBody>
                  <a:tcPr marL="45720" marR="45720" marT="18288" marB="18288" anchor="t"/>
                </a:tc>
              </a:tr>
              <a:tr h="581558">
                <a:tc>
                  <a:txBody>
                    <a:bodyPr wrap="square"/>
                    <a:lstStyle/>
                    <a:p>
                      <a:r>
                        <a:rPr sz="864" b="0" i="0">
                          <a:solidFill>
                            <a:srgbClr val="1A1A1A"/>
                          </a:solidFill>
                          <a:latin typeface="Helvetica Neue"/>
                        </a:rPr>
                        <a:t>Swoop Portable MR + BrainInsight (Hyperfine)</a:t>
                      </a:r>
                    </a:p>
                  </a:txBody>
                  <a:tcPr marL="45720" marR="45720" marT="18288" marB="18288" anchor="t"/>
                </a:tc>
                <a:tc>
                  <a:txBody>
                    <a:bodyPr wrap="square"/>
                    <a:lstStyle/>
                    <a:p>
                      <a:r>
                        <a:rPr sz="864" b="0" i="0">
                          <a:solidFill>
                            <a:srgbClr val="1A1A1A"/>
                          </a:solidFill>
                          <a:latin typeface="Helvetica Neue"/>
                        </a:rPr>
                        <a:t>brain / neurologic</a:t>
                      </a:r>
                    </a:p>
                  </a:txBody>
                  <a:tcPr marL="45720" marR="45720" marT="18288" marB="18288" anchor="t"/>
                </a:tc>
                <a:tc>
                  <a:txBody>
                    <a:bodyPr wrap="square"/>
                    <a:lstStyle/>
                    <a:p>
                      <a:r>
                        <a:rPr sz="864" b="0" i="0">
                          <a:solidFill>
                            <a:srgbClr val="1A1A1A"/>
                          </a:solidFill>
                          <a:latin typeface="Helvetica Neue"/>
                        </a:rPr>
                        <a:t>Bedside low-field brain MRI whose usable image quality comes from deep-learning reconstruction; BrainInsight adds automated volumes and midline shift</a:t>
                      </a:r>
                    </a:p>
                  </a:txBody>
                  <a:tcPr marL="45720" marR="45720" marT="18288" marB="18288" anchor="t"/>
                </a:tc>
                <a:tc>
                  <a:txBody>
                    <a:bodyPr wrap="square"/>
                    <a:lstStyle/>
                    <a:p>
                      <a:r>
                        <a:rPr sz="864" b="0" i="0">
                          <a:solidFill>
                            <a:srgbClr val="1A1A1A"/>
                          </a:solidFill>
                          <a:latin typeface="Helvetica Neue"/>
                        </a:rPr>
                        <a:t>Decision summaries state a pediatric population; the natural use is the NICU and PICU, where transport is the risk [K253489, 2025]</a:t>
                      </a:r>
                    </a:p>
                  </a:txBody>
                  <a:tcPr marL="45720" marR="45720" marT="18288" marB="18288" anchor="t"/>
                </a:tc>
                <a:tc>
                  <a:txBody>
                    <a:bodyPr wrap="square"/>
                    <a:lstStyle/>
                    <a:p>
                      <a:r>
                        <a:rPr sz="864" b="0" i="0">
                          <a:solidFill>
                            <a:srgbClr val="1A1A1A"/>
                          </a:solidFill>
                          <a:latin typeface="Helvetica Neue"/>
                        </a:rPr>
                        <a:t>In pediatric pilots</a:t>
                      </a:r>
                    </a:p>
                  </a:txBody>
                  <a:tcPr marL="45720" marR="45720" marT="18288" marB="18288" anchor="t"/>
                </a:tc>
              </a:tr>
              <a:tr h="449884">
                <a:tc>
                  <a:txBody>
                    <a:bodyPr wrap="square"/>
                    <a:lstStyle/>
                    <a:p>
                      <a:r>
                        <a:rPr sz="864" b="0" i="0">
                          <a:solidFill>
                            <a:srgbClr val="1A1A1A"/>
                          </a:solidFill>
                          <a:latin typeface="Helvetica Neue"/>
                        </a:rPr>
                        <a:t>spineEOS / VEA Align (EOS imaging (Alphatec))</a:t>
                      </a:r>
                    </a:p>
                  </a:txBody>
                  <a:tcPr marL="45720" marR="45720" marT="18288" marB="18288" anchor="t"/>
                </a:tc>
                <a:tc>
                  <a:txBody>
                    <a:bodyPr wrap="square"/>
                    <a:lstStyle/>
                    <a:p>
                      <a:r>
                        <a:rPr sz="864" b="0" i="0">
                          <a:solidFill>
                            <a:srgbClr val="1A1A1A"/>
                          </a:solidFill>
                          <a:latin typeface="Helvetica Neue"/>
                        </a:rPr>
                        <a:t>spine / scoliosis</a:t>
                      </a:r>
                    </a:p>
                  </a:txBody>
                  <a:tcPr marL="45720" marR="45720" marT="18288" marB="18288" anchor="t"/>
                </a:tc>
                <a:tc>
                  <a:txBody>
                    <a:bodyPr wrap="square"/>
                    <a:lstStyle/>
                    <a:p>
                      <a:r>
                        <a:rPr sz="864" b="0" i="0">
                          <a:solidFill>
                            <a:srgbClr val="1A1A1A"/>
                          </a:solidFill>
                          <a:latin typeface="Helvetica Neue"/>
                        </a:rPr>
                        <a:t>Automated 3D spine and lower-limb modeling from biplanar low-dose full-body radiographs</a:t>
                      </a:r>
                    </a:p>
                  </a:txBody>
                  <a:tcPr marL="45720" marR="45720" marT="18288" marB="18288" anchor="t"/>
                </a:tc>
                <a:tc>
                  <a:txBody>
                    <a:bodyPr wrap="square"/>
                    <a:lstStyle/>
                    <a:p>
                      <a:r>
                        <a:rPr sz="864" b="0" i="0">
                          <a:solidFill>
                            <a:srgbClr val="1A1A1A"/>
                          </a:solidFill>
                          <a:latin typeface="Helvetica Neue"/>
                        </a:rPr>
                        <a:t>Scoliosis follow-up is repeated imaging of a growing child, so the dose saving compounds [K251747, 2025]</a:t>
                      </a:r>
                    </a:p>
                  </a:txBody>
                  <a:tcPr marL="45720" marR="45720" marT="18288" marB="18288" anchor="t"/>
                </a:tc>
                <a:tc>
                  <a:txBody>
                    <a:bodyPr wrap="square"/>
                    <a:lstStyle/>
                    <a:p>
                      <a:r>
                        <a:rPr sz="864" b="0" i="0">
                          <a:solidFill>
                            <a:srgbClr val="1A1A1A"/>
                          </a:solidFill>
                          <a:latin typeface="Helvetica Neue"/>
                        </a:rPr>
                        <a:t>Widely deployed (pediatric orthopedics)</a:t>
                      </a:r>
                    </a:p>
                  </a:txBody>
                  <a:tcPr marL="45720" marR="45720" marT="18288" marB="18288" anchor="t"/>
                </a:tc>
              </a:tr>
              <a:tr h="449884">
                <a:tc>
                  <a:txBody>
                    <a:bodyPr wrap="square"/>
                    <a:lstStyle/>
                    <a:p>
                      <a:r>
                        <a:rPr sz="864" b="0" i="0">
                          <a:solidFill>
                            <a:srgbClr val="1A1A1A"/>
                          </a:solidFill>
                          <a:latin typeface="Helvetica Neue"/>
                        </a:rPr>
                        <a:t>CoLumbo (Smart Soft Healthcare)</a:t>
                      </a:r>
                    </a:p>
                  </a:txBody>
                  <a:tcPr marL="45720" marR="45720" marT="18288" marB="18288" anchor="t"/>
                </a:tc>
                <a:tc>
                  <a:txBody>
                    <a:bodyPr wrap="square"/>
                    <a:lstStyle/>
                    <a:p>
                      <a:r>
                        <a:rPr sz="864" b="0" i="0">
                          <a:solidFill>
                            <a:srgbClr val="1A1A1A"/>
                          </a:solidFill>
                          <a:latin typeface="Helvetica Neue"/>
                        </a:rPr>
                        <a:t>spine / scoliosis</a:t>
                      </a:r>
                    </a:p>
                  </a:txBody>
                  <a:tcPr marL="45720" marR="45720" marT="18288" marB="18288" anchor="t"/>
                </a:tc>
                <a:tc>
                  <a:txBody>
                    <a:bodyPr wrap="square"/>
                    <a:lstStyle/>
                    <a:p>
                      <a:r>
                        <a:rPr sz="864" b="0" i="0">
                          <a:solidFill>
                            <a:srgbClr val="1A1A1A"/>
                          </a:solidFill>
                          <a:latin typeface="Helvetica Neue"/>
                        </a:rPr>
                        <a:t>Spine MRI segmentation, measurement and structured reporting, lumbar and cervical</a:t>
                      </a:r>
                    </a:p>
                  </a:txBody>
                  <a:tcPr marL="45720" marR="45720" marT="18288" marB="18288" anchor="t"/>
                </a:tc>
                <a:tc>
                  <a:txBody>
                    <a:bodyPr wrap="square"/>
                    <a:lstStyle/>
                    <a:p>
                      <a:r>
                        <a:rPr sz="864" b="0" i="0">
                          <a:solidFill>
                            <a:srgbClr val="1A1A1A"/>
                          </a:solidFill>
                          <a:latin typeface="Helvetica Neue"/>
                        </a:rPr>
                        <a:t>Decision summaries state a pediatric population; no pediatric-specific performance reported [K254015, 2026]</a:t>
                      </a:r>
                    </a:p>
                  </a:txBody>
                  <a:tcPr marL="45720" marR="45720" marT="18288" marB="18288" anchor="t"/>
                </a:tc>
                <a:tc>
                  <a:txBody>
                    <a:bodyPr wrap="square"/>
                    <a:lstStyle/>
                    <a:p>
                      <a:r>
                        <a:rPr sz="864" b="0" i="0">
                          <a:solidFill>
                            <a:srgbClr val="1A1A1A"/>
                          </a:solidFill>
                          <a:latin typeface="Helvetica Neue"/>
                        </a:rPr>
                        <a:t>Early deployments</a:t>
                      </a:r>
                    </a:p>
                  </a:txBody>
                  <a:tcPr marL="45720" marR="45720" marT="18288" marB="18288" anchor="t"/>
                </a:tc>
              </a:tr>
            </a:tbl>
          </a:graphicData>
        </a:graphic>
      </p:graphicFrame>
      <p:sp>
        <p:nvSpPr>
          <p:cNvPr id="5" name="TextBox 4"/>
          <p:cNvSpPr txBox="1"/>
          <p:nvPr/>
        </p:nvSpPr>
        <p:spPr>
          <a:xfrm>
            <a:off x="411480" y="6009436"/>
            <a:ext cx="11368735" cy="460247"/>
          </a:xfrm>
          <a:prstGeom prst="rect">
            <a:avLst/>
          </a:prstGeom>
          <a:noFill/>
        </p:spPr>
        <p:txBody>
          <a:bodyPr wrap="square" lIns="45720" rIns="45720" tIns="27432" bIns="27432" anchor="t">
            <a:spAutoFit/>
          </a:bodyPr>
          <a:lstStyle/>
          <a:p>
            <a:pPr algn="l">
              <a:spcAft>
                <a:spcPts val="369"/>
              </a:spcAft>
            </a:pPr>
            <a:r>
              <a:rPr sz="1055" b="0" i="0">
                <a:solidFill>
                  <a:srgbClr val="1A1A1A"/>
                </a:solidFill>
                <a:latin typeface="Helvetica Neue"/>
              </a:rPr>
              <a:t>Square brackets give the FDA submission supporting the pediatric claim and its decision year; a blank means no US authorization was identified for that product. “Where it stands” is our reading of deployment, not a measured adoption rate.</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63 / 83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Products a pediatric radiologist should know (13–23 of 23)</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COMMERCIAL SOFTWARE</a:t>
            </a:r>
          </a:p>
        </p:txBody>
      </p:sp>
      <p:graphicFrame>
        <p:nvGraphicFramePr>
          <p:cNvPr id="4" name="Table 3"/>
          <p:cNvGraphicFramePr>
            <a:graphicFrameLocks noGrp="1"/>
          </p:cNvGraphicFramePr>
          <p:nvPr/>
        </p:nvGraphicFramePr>
        <p:xfrm>
          <a:off x="411480" y="877824"/>
          <a:ext cx="11368733" cy="4871916"/>
        </p:xfrm>
        <a:graphic>
          <a:graphicData uri="http://schemas.openxmlformats.org/drawingml/2006/table">
            <a:tbl>
              <a:tblPr firstRow="1" bandRow="1">
                <a:tableStyleId>{5C22544A-7EE6-4342-B048-85BDC9FD1C3A}</a:tableStyleId>
              </a:tblPr>
              <a:tblGrid>
                <a:gridCol w="1933580"/>
                <a:gridCol w="1575509"/>
                <a:gridCol w="3383765"/>
                <a:gridCol w="2900370"/>
                <a:gridCol w="1575509"/>
              </a:tblGrid>
              <a:tr h="186537">
                <a:tc>
                  <a:txBody>
                    <a:bodyPr wrap="square"/>
                    <a:lstStyle/>
                    <a:p>
                      <a:r>
                        <a:rPr sz="864" b="1" i="0">
                          <a:solidFill>
                            <a:srgbClr val="FFFFFF"/>
                          </a:solidFill>
                          <a:latin typeface="Helvetica Neue"/>
                        </a:rPr>
                        <a:t>Product (vendor)</a:t>
                      </a:r>
                    </a:p>
                  </a:txBody>
                  <a:tcPr marL="45720" marR="45720" marT="18288" marB="18288" anchor="t"/>
                </a:tc>
                <a:tc>
                  <a:txBody>
                    <a:bodyPr wrap="square"/>
                    <a:lstStyle/>
                    <a:p>
                      <a:r>
                        <a:rPr sz="864" b="1" i="0">
                          <a:solidFill>
                            <a:srgbClr val="FFFFFF"/>
                          </a:solidFill>
                          <a:latin typeface="Helvetica Neue"/>
                        </a:rPr>
                        <a:t>Clinical problem</a:t>
                      </a:r>
                    </a:p>
                  </a:txBody>
                  <a:tcPr marL="45720" marR="45720" marT="18288" marB="18288" anchor="t"/>
                </a:tc>
                <a:tc>
                  <a:txBody>
                    <a:bodyPr wrap="square"/>
                    <a:lstStyle/>
                    <a:p>
                      <a:r>
                        <a:rPr sz="864" b="1" i="0">
                          <a:solidFill>
                            <a:srgbClr val="FFFFFF"/>
                          </a:solidFill>
                          <a:latin typeface="Helvetica Neue"/>
                        </a:rPr>
                        <a:t>What it does</a:t>
                      </a:r>
                    </a:p>
                  </a:txBody>
                  <a:tcPr marL="45720" marR="45720" marT="18288" marB="18288" anchor="t"/>
                </a:tc>
                <a:tc>
                  <a:txBody>
                    <a:bodyPr wrap="square"/>
                    <a:lstStyle/>
                    <a:p>
                      <a:r>
                        <a:rPr sz="864" b="1" i="0">
                          <a:solidFill>
                            <a:srgbClr val="FFFFFF"/>
                          </a:solidFill>
                          <a:latin typeface="Helvetica Neue"/>
                        </a:rPr>
                        <a:t>Pediatric scope</a:t>
                      </a:r>
                    </a:p>
                  </a:txBody>
                  <a:tcPr marL="45720" marR="45720" marT="18288" marB="18288" anchor="t"/>
                </a:tc>
                <a:tc>
                  <a:txBody>
                    <a:bodyPr wrap="square"/>
                    <a:lstStyle/>
                    <a:p>
                      <a:r>
                        <a:rPr sz="864" b="1" i="0">
                          <a:solidFill>
                            <a:srgbClr val="FFFFFF"/>
                          </a:solidFill>
                          <a:latin typeface="Helvetica Neue"/>
                        </a:rPr>
                        <a:t>Where it stands</a:t>
                      </a:r>
                    </a:p>
                  </a:txBody>
                  <a:tcPr marL="45720" marR="45720" marT="18288" marB="18288" anchor="t"/>
                </a:tc>
              </a:tr>
              <a:tr h="581558">
                <a:tc>
                  <a:txBody>
                    <a:bodyPr wrap="square"/>
                    <a:lstStyle/>
                    <a:p>
                      <a:r>
                        <a:rPr sz="864" b="0" i="0">
                          <a:solidFill>
                            <a:srgbClr val="1A1A1A"/>
                          </a:solidFill>
                          <a:latin typeface="Helvetica Neue"/>
                        </a:rPr>
                        <a:t>BriefCase-Triage (CARE modules) (Aidoc)</a:t>
                      </a:r>
                    </a:p>
                  </a:txBody>
                  <a:tcPr marL="45720" marR="45720" marT="18288" marB="18288" anchor="t"/>
                </a:tc>
                <a:tc>
                  <a:txBody>
                    <a:bodyPr wrap="square"/>
                    <a:lstStyle/>
                    <a:p>
                      <a:r>
                        <a:rPr sz="864" b="0" i="0">
                          <a:solidFill>
                            <a:srgbClr val="1A1A1A"/>
                          </a:solidFill>
                          <a:latin typeface="Helvetica Neue"/>
                        </a:rPr>
                        <a:t>triage / worklist prioritization</a:t>
                      </a:r>
                    </a:p>
                  </a:txBody>
                  <a:tcPr marL="45720" marR="45720" marT="18288" marB="18288" anchor="t"/>
                </a:tc>
                <a:tc>
                  <a:txBody>
                    <a:bodyPr wrap="square"/>
                    <a:lstStyle/>
                    <a:p>
                      <a:r>
                        <a:rPr sz="864" b="0" i="0">
                          <a:solidFill>
                            <a:srgbClr val="1A1A1A"/>
                          </a:solidFill>
                          <a:latin typeface="Helvetica Neue"/>
                        </a:rPr>
                        <a:t>Worklist triage on CT and CTA: intracranial hemorrhage, pulmonary embolism, pneumothorax, cervical-spine and rib fractures, free gas and more</a:t>
                      </a:r>
                    </a:p>
                  </a:txBody>
                  <a:tcPr marL="45720" marR="45720" marT="18288" marB="18288" anchor="t"/>
                </a:tc>
                <a:tc>
                  <a:txBody>
                    <a:bodyPr wrap="square"/>
                    <a:lstStyle/>
                    <a:p>
                      <a:r>
                        <a:rPr sz="864" b="0" i="0">
                          <a:solidFill>
                            <a:srgbClr val="1A1A1A"/>
                          </a:solidFill>
                          <a:latin typeface="Helvetica Neue"/>
                        </a:rPr>
                        <a:t>Most entries state a pediatric population; the evidence behind them is adult, so treat pediatric use as local validation work [K253578, 2026]</a:t>
                      </a:r>
                    </a:p>
                  </a:txBody>
                  <a:tcPr marL="45720" marR="45720" marT="18288" marB="18288" anchor="t"/>
                </a:tc>
                <a:tc>
                  <a:txBody>
                    <a:bodyPr wrap="square"/>
                    <a:lstStyle/>
                    <a:p>
                      <a:r>
                        <a:rPr sz="864" b="0" i="0">
                          <a:solidFill>
                            <a:srgbClr val="1A1A1A"/>
                          </a:solidFill>
                          <a:latin typeface="Helvetica Neue"/>
                        </a:rPr>
                        <a:t>Widely deployed</a:t>
                      </a:r>
                    </a:p>
                  </a:txBody>
                  <a:tcPr marL="45720" marR="45720" marT="18288" marB="18288" anchor="t"/>
                </a:tc>
              </a:tr>
              <a:tr h="449884">
                <a:tc>
                  <a:txBody>
                    <a:bodyPr wrap="square"/>
                    <a:lstStyle/>
                    <a:p>
                      <a:r>
                        <a:rPr sz="864" b="0" i="0">
                          <a:solidFill>
                            <a:srgbClr val="1A1A1A"/>
                          </a:solidFill>
                          <a:latin typeface="Helvetica Neue"/>
                        </a:rPr>
                        <a:t>Viz LVO / Viz ICH (Viz.ai)</a:t>
                      </a:r>
                    </a:p>
                  </a:txBody>
                  <a:tcPr marL="45720" marR="45720" marT="18288" marB="18288" anchor="t"/>
                </a:tc>
                <a:tc>
                  <a:txBody>
                    <a:bodyPr wrap="square"/>
                    <a:lstStyle/>
                    <a:p>
                      <a:r>
                        <a:rPr sz="864" b="0" i="0">
                          <a:solidFill>
                            <a:srgbClr val="1A1A1A"/>
                          </a:solidFill>
                          <a:latin typeface="Helvetica Neue"/>
                        </a:rPr>
                        <a:t>stroke / intracranial bleed</a:t>
                      </a:r>
                    </a:p>
                  </a:txBody>
                  <a:tcPr marL="45720" marR="45720" marT="18288" marB="18288" anchor="t"/>
                </a:tc>
                <a:tc>
                  <a:txBody>
                    <a:bodyPr wrap="square"/>
                    <a:lstStyle/>
                    <a:p>
                      <a:r>
                        <a:rPr sz="864" b="0" i="0">
                          <a:solidFill>
                            <a:srgbClr val="1A1A1A"/>
                          </a:solidFill>
                          <a:latin typeface="Helvetica Neue"/>
                        </a:rPr>
                        <a:t>Detects large-vessel occlusion and intracranial hemorrhage and pushes the case to the stroke team's phones</a:t>
                      </a:r>
                    </a:p>
                  </a:txBody>
                  <a:tcPr marL="45720" marR="45720" marT="18288" marB="18288" anchor="t"/>
                </a:tc>
                <a:tc>
                  <a:txBody>
                    <a:bodyPr wrap="square"/>
                    <a:lstStyle/>
                    <a:p>
                      <a:r>
                        <a:rPr sz="864" b="0" i="0">
                          <a:solidFill>
                            <a:srgbClr val="1A1A1A"/>
                          </a:solidFill>
                          <a:latin typeface="Helvetica Neue"/>
                        </a:rPr>
                        <a:t>No pediatric population statement found in the screened summaries; pediatric stroke use would be off-label</a:t>
                      </a:r>
                    </a:p>
                  </a:txBody>
                  <a:tcPr marL="45720" marR="45720" marT="18288" marB="18288" anchor="t"/>
                </a:tc>
                <a:tc>
                  <a:txBody>
                    <a:bodyPr wrap="square"/>
                    <a:lstStyle/>
                    <a:p>
                      <a:r>
                        <a:rPr sz="864" b="0" i="0">
                          <a:solidFill>
                            <a:srgbClr val="1A1A1A"/>
                          </a:solidFill>
                          <a:latin typeface="Helvetica Neue"/>
                        </a:rPr>
                        <a:t>Widely deployed (adult)</a:t>
                      </a:r>
                    </a:p>
                  </a:txBody>
                  <a:tcPr marL="45720" marR="45720" marT="18288" marB="18288" anchor="t"/>
                </a:tc>
              </a:tr>
              <a:tr h="318211">
                <a:tc>
                  <a:txBody>
                    <a:bodyPr wrap="square"/>
                    <a:lstStyle/>
                    <a:p>
                      <a:r>
                        <a:rPr sz="864" b="0" i="0">
                          <a:solidFill>
                            <a:srgbClr val="1A1A1A"/>
                          </a:solidFill>
                          <a:latin typeface="Helvetica Neue"/>
                        </a:rPr>
                        <a:t>qXR-TB (Qure.ai)</a:t>
                      </a:r>
                    </a:p>
                  </a:txBody>
                  <a:tcPr marL="45720" marR="45720" marT="18288" marB="18288" anchor="t"/>
                </a:tc>
                <a:tc>
                  <a:txBody>
                    <a:bodyPr wrap="square"/>
                    <a:lstStyle/>
                    <a:p>
                      <a:r>
                        <a:rPr sz="864" b="0" i="0">
                          <a:solidFill>
                            <a:srgbClr val="1A1A1A"/>
                          </a:solidFill>
                          <a:latin typeface="Helvetica Neue"/>
                        </a:rPr>
                        <a:t>chest / lung</a:t>
                      </a:r>
                    </a:p>
                  </a:txBody>
                  <a:tcPr marL="45720" marR="45720" marT="18288" marB="18288" anchor="t"/>
                </a:tc>
                <a:tc>
                  <a:txBody>
                    <a:bodyPr wrap="square"/>
                    <a:lstStyle/>
                    <a:p>
                      <a:r>
                        <a:rPr sz="864" b="0" i="0">
                          <a:solidFill>
                            <a:srgbClr val="1A1A1A"/>
                          </a:solidFill>
                          <a:latin typeface="Helvetica Neue"/>
                        </a:rPr>
                        <a:t>Chest radiograph screening for tuberculosis, built for high-burden settings with few readers</a:t>
                      </a:r>
                    </a:p>
                  </a:txBody>
                  <a:tcPr marL="45720" marR="45720" marT="18288" marB="18288" anchor="t"/>
                </a:tc>
                <a:tc>
                  <a:txBody>
                    <a:bodyPr wrap="square"/>
                    <a:lstStyle/>
                    <a:p>
                      <a:r>
                        <a:rPr sz="864" b="0" i="0">
                          <a:solidFill>
                            <a:srgbClr val="1A1A1A"/>
                          </a:solidFill>
                          <a:latin typeface="Helvetica Neue"/>
                        </a:rPr>
                        <a:t>Vendor reports CE-marked use from age 0–15; US eligibility varies by module</a:t>
                      </a:r>
                    </a:p>
                  </a:txBody>
                  <a:tcPr marL="45720" marR="45720" marT="18288" marB="18288" anchor="t"/>
                </a:tc>
                <a:tc>
                  <a:txBody>
                    <a:bodyPr wrap="square"/>
                    <a:lstStyle/>
                    <a:p>
                      <a:r>
                        <a:rPr sz="864" b="0" i="0">
                          <a:solidFill>
                            <a:srgbClr val="1A1A1A"/>
                          </a:solidFill>
                          <a:latin typeface="Helvetica Neue"/>
                        </a:rPr>
                        <a:t>Deployed in global-health screening</a:t>
                      </a:r>
                    </a:p>
                  </a:txBody>
                  <a:tcPr marL="45720" marR="45720" marT="18288" marB="18288" anchor="t"/>
                </a:tc>
              </a:tr>
              <a:tr h="449884">
                <a:tc>
                  <a:txBody>
                    <a:bodyPr wrap="square"/>
                    <a:lstStyle/>
                    <a:p>
                      <a:r>
                        <a:rPr sz="864" b="0" i="0">
                          <a:solidFill>
                            <a:srgbClr val="1A1A1A"/>
                          </a:solidFill>
                          <a:latin typeface="Helvetica Neue"/>
                        </a:rPr>
                        <a:t>AIR Recon DL / TrueFidelity (GE HealthCare)</a:t>
                      </a:r>
                    </a:p>
                  </a:txBody>
                  <a:tcPr marL="45720" marR="45720" marT="18288" marB="18288" anchor="t"/>
                </a:tc>
                <a:tc>
                  <a:txBody>
                    <a:bodyPr wrap="square"/>
                    <a:lstStyle/>
                    <a:p>
                      <a:r>
                        <a:rPr sz="864" b="0" i="0">
                          <a:solidFill>
                            <a:srgbClr val="1A1A1A"/>
                          </a:solidFill>
                          <a:latin typeface="Helvetica Neue"/>
                        </a:rPr>
                        <a:t>image quality: dose, noise, speed</a:t>
                      </a:r>
                    </a:p>
                  </a:txBody>
                  <a:tcPr marL="45720" marR="45720" marT="18288" marB="18288" anchor="t"/>
                </a:tc>
                <a:tc>
                  <a:txBody>
                    <a:bodyPr wrap="square"/>
                    <a:lstStyle/>
                    <a:p>
                      <a:r>
                        <a:rPr sz="864" b="0" i="0">
                          <a:solidFill>
                            <a:srgbClr val="1A1A1A"/>
                          </a:solidFill>
                          <a:latin typeface="Helvetica Neue"/>
                        </a:rPr>
                        <a:t>Deep-learning reconstruction: shorter MRI acquisitions at the same quality, and CT images at lower dose</a:t>
                      </a:r>
                    </a:p>
                  </a:txBody>
                  <a:tcPr marL="45720" marR="45720" marT="18288" marB="18288" anchor="t"/>
                </a:tc>
                <a:tc>
                  <a:txBody>
                    <a:bodyPr wrap="square"/>
                    <a:lstStyle/>
                    <a:p>
                      <a:r>
                        <a:rPr sz="864" b="0" i="0">
                          <a:solidFill>
                            <a:srgbClr val="1A1A1A"/>
                          </a:solidFill>
                          <a:latin typeface="Helvetica Neue"/>
                        </a:rPr>
                        <a:t>Sold across ages; the pediatric benefit is fewer sedations and less dose, and it is the AI most children actually meet</a:t>
                      </a:r>
                    </a:p>
                  </a:txBody>
                  <a:tcPr marL="45720" marR="45720" marT="18288" marB="18288" anchor="t"/>
                </a:tc>
                <a:tc>
                  <a:txBody>
                    <a:bodyPr wrap="square"/>
                    <a:lstStyle/>
                    <a:p>
                      <a:r>
                        <a:rPr sz="864" b="0" i="0">
                          <a:solidFill>
                            <a:srgbClr val="1A1A1A"/>
                          </a:solidFill>
                          <a:latin typeface="Helvetica Neue"/>
                        </a:rPr>
                        <a:t>Widely deployed</a:t>
                      </a:r>
                    </a:p>
                  </a:txBody>
                  <a:tcPr marL="45720" marR="45720" marT="18288" marB="18288" anchor="t"/>
                </a:tc>
              </a:tr>
              <a:tr h="318211">
                <a:tc>
                  <a:txBody>
                    <a:bodyPr wrap="square"/>
                    <a:lstStyle/>
                    <a:p>
                      <a:r>
                        <a:rPr sz="864" b="0" i="0">
                          <a:solidFill>
                            <a:srgbClr val="1A1A1A"/>
                          </a:solidFill>
                          <a:latin typeface="Helvetica Neue"/>
                        </a:rPr>
                        <a:t>Deep Resolve (Siemens Healthineers)</a:t>
                      </a:r>
                    </a:p>
                  </a:txBody>
                  <a:tcPr marL="45720" marR="45720" marT="18288" marB="18288" anchor="t"/>
                </a:tc>
                <a:tc>
                  <a:txBody>
                    <a:bodyPr wrap="square"/>
                    <a:lstStyle/>
                    <a:p>
                      <a:r>
                        <a:rPr sz="864" b="0" i="0">
                          <a:solidFill>
                            <a:srgbClr val="1A1A1A"/>
                          </a:solidFill>
                          <a:latin typeface="Helvetica Neue"/>
                        </a:rPr>
                        <a:t>image quality: dose, noise, speed</a:t>
                      </a:r>
                    </a:p>
                  </a:txBody>
                  <a:tcPr marL="45720" marR="45720" marT="18288" marB="18288" anchor="t"/>
                </a:tc>
                <a:tc>
                  <a:txBody>
                    <a:bodyPr wrap="square"/>
                    <a:lstStyle/>
                    <a:p>
                      <a:r>
                        <a:rPr sz="864" b="0" i="0">
                          <a:solidFill>
                            <a:srgbClr val="1A1A1A"/>
                          </a:solidFill>
                          <a:latin typeface="Helvetica Neue"/>
                        </a:rPr>
                        <a:t>MRI deep-learning denoising and resolution enhancement that supports accelerated acquisition</a:t>
                      </a:r>
                    </a:p>
                  </a:txBody>
                  <a:tcPr marL="45720" marR="45720" marT="18288" marB="18288" anchor="t"/>
                </a:tc>
                <a:tc>
                  <a:txBody>
                    <a:bodyPr wrap="square"/>
                    <a:lstStyle/>
                    <a:p>
                      <a:r>
                        <a:rPr sz="864" b="0" i="0">
                          <a:solidFill>
                            <a:srgbClr val="1A1A1A"/>
                          </a:solidFill>
                          <a:latin typeface="Helvetica Neue"/>
                        </a:rPr>
                        <a:t>Vendor publishes pediatric protocols; scan-time reduction is the pediatric argument</a:t>
                      </a:r>
                    </a:p>
                  </a:txBody>
                  <a:tcPr marL="45720" marR="45720" marT="18288" marB="18288" anchor="t"/>
                </a:tc>
                <a:tc>
                  <a:txBody>
                    <a:bodyPr wrap="square"/>
                    <a:lstStyle/>
                    <a:p>
                      <a:r>
                        <a:rPr sz="864" b="0" i="0">
                          <a:solidFill>
                            <a:srgbClr val="1A1A1A"/>
                          </a:solidFill>
                          <a:latin typeface="Helvetica Neue"/>
                        </a:rPr>
                        <a:t>Widely deployed</a:t>
                      </a:r>
                    </a:p>
                  </a:txBody>
                  <a:tcPr marL="45720" marR="45720" marT="18288" marB="18288" anchor="t"/>
                </a:tc>
              </a:tr>
              <a:tr h="449884">
                <a:tc>
                  <a:txBody>
                    <a:bodyPr wrap="square"/>
                    <a:lstStyle/>
                    <a:p>
                      <a:r>
                        <a:rPr sz="864" b="0" i="0">
                          <a:solidFill>
                            <a:srgbClr val="1A1A1A"/>
                          </a:solidFill>
                          <a:latin typeface="Helvetica Neue"/>
                        </a:rPr>
                        <a:t>AiCE (Canon Medical)</a:t>
                      </a:r>
                    </a:p>
                  </a:txBody>
                  <a:tcPr marL="45720" marR="45720" marT="18288" marB="18288" anchor="t"/>
                </a:tc>
                <a:tc>
                  <a:txBody>
                    <a:bodyPr wrap="square"/>
                    <a:lstStyle/>
                    <a:p>
                      <a:r>
                        <a:rPr sz="864" b="0" i="0">
                          <a:solidFill>
                            <a:srgbClr val="1A1A1A"/>
                          </a:solidFill>
                          <a:latin typeface="Helvetica Neue"/>
                        </a:rPr>
                        <a:t>image quality: dose, noise, speed</a:t>
                      </a:r>
                    </a:p>
                  </a:txBody>
                  <a:tcPr marL="45720" marR="45720" marT="18288" marB="18288" anchor="t"/>
                </a:tc>
                <a:tc>
                  <a:txBody>
                    <a:bodyPr wrap="square"/>
                    <a:lstStyle/>
                    <a:p>
                      <a:r>
                        <a:rPr sz="864" b="0" i="0">
                          <a:solidFill>
                            <a:srgbClr val="1A1A1A"/>
                          </a:solidFill>
                          <a:latin typeface="Helvetica Neue"/>
                        </a:rPr>
                        <a:t>Deep-learning reconstruction for both CT (noise, dose) and MRI (noise, resolution, scan time)</a:t>
                      </a:r>
                    </a:p>
                  </a:txBody>
                  <a:tcPr marL="45720" marR="45720" marT="18288" marB="18288" anchor="t"/>
                </a:tc>
                <a:tc>
                  <a:txBody>
                    <a:bodyPr wrap="square"/>
                    <a:lstStyle/>
                    <a:p>
                      <a:r>
                        <a:rPr sz="864" b="0" i="0">
                          <a:solidFill>
                            <a:srgbClr val="1A1A1A"/>
                          </a:solidFill>
                          <a:latin typeface="Helvetica Neue"/>
                        </a:rPr>
                        <a:t>Vendor publishes pediatric CT galleries; protocol and version determine what is available</a:t>
                      </a:r>
                    </a:p>
                  </a:txBody>
                  <a:tcPr marL="45720" marR="45720" marT="18288" marB="18288" anchor="t"/>
                </a:tc>
                <a:tc>
                  <a:txBody>
                    <a:bodyPr wrap="square"/>
                    <a:lstStyle/>
                    <a:p>
                      <a:r>
                        <a:rPr sz="864" b="0" i="0">
                          <a:solidFill>
                            <a:srgbClr val="1A1A1A"/>
                          </a:solidFill>
                          <a:latin typeface="Helvetica Neue"/>
                        </a:rPr>
                        <a:t>Widely deployed</a:t>
                      </a:r>
                    </a:p>
                  </a:txBody>
                  <a:tcPr marL="45720" marR="45720" marT="18288" marB="18288" anchor="t"/>
                </a:tc>
              </a:tr>
              <a:tr h="449884">
                <a:tc>
                  <a:txBody>
                    <a:bodyPr wrap="square"/>
                    <a:lstStyle/>
                    <a:p>
                      <a:r>
                        <a:rPr sz="864" b="0" i="0">
                          <a:solidFill>
                            <a:srgbClr val="1A1A1A"/>
                          </a:solidFill>
                          <a:latin typeface="Helvetica Neue"/>
                        </a:rPr>
                        <a:t>SmartSpeed / Precise Image (Philips)</a:t>
                      </a:r>
                    </a:p>
                  </a:txBody>
                  <a:tcPr marL="45720" marR="45720" marT="18288" marB="18288" anchor="t"/>
                </a:tc>
                <a:tc>
                  <a:txBody>
                    <a:bodyPr wrap="square"/>
                    <a:lstStyle/>
                    <a:p>
                      <a:r>
                        <a:rPr sz="864" b="0" i="0">
                          <a:solidFill>
                            <a:srgbClr val="1A1A1A"/>
                          </a:solidFill>
                          <a:latin typeface="Helvetica Neue"/>
                        </a:rPr>
                        <a:t>image quality: dose, noise, speed</a:t>
                      </a:r>
                    </a:p>
                  </a:txBody>
                  <a:tcPr marL="45720" marR="45720" marT="18288" marB="18288" anchor="t"/>
                </a:tc>
                <a:tc>
                  <a:txBody>
                    <a:bodyPr wrap="square"/>
                    <a:lstStyle/>
                    <a:p>
                      <a:r>
                        <a:rPr sz="864" b="0" i="0">
                          <a:solidFill>
                            <a:srgbClr val="1A1A1A"/>
                          </a:solidFill>
                          <a:latin typeface="Helvetica Neue"/>
                        </a:rPr>
                        <a:t>MRI acceleration with deep-learning reconstruction (SmartSpeed); CT reconstruction at reduced dose (Precise Image)</a:t>
                      </a:r>
                    </a:p>
                  </a:txBody>
                  <a:tcPr marL="45720" marR="45720" marT="18288" marB="18288" anchor="t"/>
                </a:tc>
                <a:tc>
                  <a:txBody>
                    <a:bodyPr wrap="square"/>
                    <a:lstStyle/>
                    <a:p>
                      <a:r>
                        <a:rPr sz="864" b="0" i="0">
                          <a:solidFill>
                            <a:srgbClr val="1A1A1A"/>
                          </a:solidFill>
                          <a:latin typeface="Helvetica Neue"/>
                        </a:rPr>
                        <a:t>Sold across ages; pediatric protocols are the vendor's own, not a separate indication</a:t>
                      </a:r>
                    </a:p>
                  </a:txBody>
                  <a:tcPr marL="45720" marR="45720" marT="18288" marB="18288" anchor="t"/>
                </a:tc>
                <a:tc>
                  <a:txBody>
                    <a:bodyPr wrap="square"/>
                    <a:lstStyle/>
                    <a:p>
                      <a:r>
                        <a:rPr sz="864" b="0" i="0">
                          <a:solidFill>
                            <a:srgbClr val="1A1A1A"/>
                          </a:solidFill>
                          <a:latin typeface="Helvetica Neue"/>
                        </a:rPr>
                        <a:t>Widely deployed</a:t>
                      </a:r>
                    </a:p>
                  </a:txBody>
                  <a:tcPr marL="45720" marR="45720" marT="18288" marB="18288" anchor="t"/>
                </a:tc>
              </a:tr>
              <a:tr h="449884">
                <a:tc>
                  <a:txBody>
                    <a:bodyPr wrap="square"/>
                    <a:lstStyle/>
                    <a:p>
                      <a:r>
                        <a:rPr sz="864" b="0" i="0">
                          <a:solidFill>
                            <a:srgbClr val="1A1A1A"/>
                          </a:solidFill>
                          <a:latin typeface="Helvetica Neue"/>
                        </a:rPr>
                        <a:t>SubtleMR / SwiftMR (Subtle Medical / AIRS Medical)</a:t>
                      </a:r>
                    </a:p>
                  </a:txBody>
                  <a:tcPr marL="45720" marR="45720" marT="18288" marB="18288" anchor="t"/>
                </a:tc>
                <a:tc>
                  <a:txBody>
                    <a:bodyPr wrap="square"/>
                    <a:lstStyle/>
                    <a:p>
                      <a:r>
                        <a:rPr sz="864" b="0" i="0">
                          <a:solidFill>
                            <a:srgbClr val="1A1A1A"/>
                          </a:solidFill>
                          <a:latin typeface="Helvetica Neue"/>
                        </a:rPr>
                        <a:t>image quality: dose, noise, speed</a:t>
                      </a:r>
                    </a:p>
                  </a:txBody>
                  <a:tcPr marL="45720" marR="45720" marT="18288" marB="18288" anchor="t"/>
                </a:tc>
                <a:tc>
                  <a:txBody>
                    <a:bodyPr wrap="square"/>
                    <a:lstStyle/>
                    <a:p>
                      <a:r>
                        <a:rPr sz="864" b="0" i="0">
                          <a:solidFill>
                            <a:srgbClr val="1A1A1A"/>
                          </a:solidFill>
                          <a:latin typeface="Helvetica Neue"/>
                        </a:rPr>
                        <a:t>Vendor-neutral MRI post-processing: denoising and sharpening so a shorter acquisition still reads</a:t>
                      </a:r>
                    </a:p>
                  </a:txBody>
                  <a:tcPr marL="45720" marR="45720" marT="18288" marB="18288" anchor="t"/>
                </a:tc>
                <a:tc>
                  <a:txBody>
                    <a:bodyPr wrap="square"/>
                    <a:lstStyle/>
                    <a:p>
                      <a:r>
                        <a:rPr sz="864" b="0" i="0">
                          <a:solidFill>
                            <a:srgbClr val="1A1A1A"/>
                          </a:solidFill>
                          <a:latin typeface="Helvetica Neue"/>
                        </a:rPr>
                        <a:t>No adult-only restriction in the reviewed US indications; SwiftMR's 2026 validation includes ages 0–21</a:t>
                      </a:r>
                    </a:p>
                  </a:txBody>
                  <a:tcPr marL="45720" marR="45720" marT="18288" marB="18288" anchor="t"/>
                </a:tc>
                <a:tc>
                  <a:txBody>
                    <a:bodyPr wrap="square"/>
                    <a:lstStyle/>
                    <a:p>
                      <a:r>
                        <a:rPr sz="864" b="0" i="0">
                          <a:solidFill>
                            <a:srgbClr val="1A1A1A"/>
                          </a:solidFill>
                          <a:latin typeface="Helvetica Neue"/>
                        </a:rPr>
                        <a:t>Deployed, vendor-neutral retrofit</a:t>
                      </a:r>
                    </a:p>
                  </a:txBody>
                  <a:tcPr marL="45720" marR="45720" marT="18288" marB="18288" anchor="t"/>
                </a:tc>
              </a:tr>
              <a:tr h="449884">
                <a:tc>
                  <a:txBody>
                    <a:bodyPr wrap="square"/>
                    <a:lstStyle/>
                    <a:p>
                      <a:r>
                        <a:rPr sz="864" b="0" i="0">
                          <a:solidFill>
                            <a:srgbClr val="1A1A1A"/>
                          </a:solidFill>
                          <a:latin typeface="Helvetica Neue"/>
                        </a:rPr>
                        <a:t>Arterys Cardio DL (Arterys (Tempus))</a:t>
                      </a:r>
                    </a:p>
                  </a:txBody>
                  <a:tcPr marL="45720" marR="45720" marT="18288" marB="18288" anchor="t"/>
                </a:tc>
                <a:tc>
                  <a:txBody>
                    <a:bodyPr wrap="square"/>
                    <a:lstStyle/>
                    <a:p>
                      <a:r>
                        <a:rPr sz="864" b="0" i="0">
                          <a:solidFill>
                            <a:srgbClr val="1A1A1A"/>
                          </a:solidFill>
                          <a:latin typeface="Helvetica Neue"/>
                        </a:rPr>
                        <a:t>cardiac / echo</a:t>
                      </a:r>
                    </a:p>
                  </a:txBody>
                  <a:tcPr marL="45720" marR="45720" marT="18288" marB="18288" anchor="t"/>
                </a:tc>
                <a:tc>
                  <a:txBody>
                    <a:bodyPr wrap="square"/>
                    <a:lstStyle/>
                    <a:p>
                      <a:r>
                        <a:rPr sz="864" b="0" i="0">
                          <a:solidFill>
                            <a:srgbClr val="1A1A1A"/>
                          </a:solidFill>
                          <a:latin typeface="Helvetica Neue"/>
                        </a:rPr>
                        <a:t>Cardiac MRI segmentation, flow and volume quantification with a cloud workflow</a:t>
                      </a:r>
                    </a:p>
                  </a:txBody>
                  <a:tcPr marL="45720" marR="45720" marT="18288" marB="18288" anchor="t"/>
                </a:tc>
                <a:tc>
                  <a:txBody>
                    <a:bodyPr wrap="square"/>
                    <a:lstStyle/>
                    <a:p>
                      <a:r>
                        <a:rPr sz="864" b="0" i="0">
                          <a:solidFill>
                            <a:srgbClr val="1A1A1A"/>
                          </a:solidFill>
                          <a:latin typeface="Helvetica Neue"/>
                        </a:rPr>
                        <a:t>One of the earliest AI clearances to name neonates, infants, children and adolescents outright (2017) [K163253, 2017]</a:t>
                      </a:r>
                    </a:p>
                  </a:txBody>
                  <a:tcPr marL="45720" marR="45720" marT="18288" marB="18288" anchor="t"/>
                </a:tc>
                <a:tc>
                  <a:txBody>
                    <a:bodyPr wrap="square"/>
                    <a:lstStyle/>
                    <a:p>
                      <a:r>
                        <a:rPr sz="864" b="0" i="0">
                          <a:solidFill>
                            <a:srgbClr val="1A1A1A"/>
                          </a:solidFill>
                          <a:latin typeface="Helvetica Neue"/>
                        </a:rPr>
                        <a:t>Historically important; now a Tempus product</a:t>
                      </a:r>
                    </a:p>
                  </a:txBody>
                  <a:tcPr marL="45720" marR="45720" marT="18288" marB="18288" anchor="t"/>
                </a:tc>
              </a:tr>
              <a:tr h="449884">
                <a:tc>
                  <a:txBody>
                    <a:bodyPr wrap="square"/>
                    <a:lstStyle/>
                    <a:p>
                      <a:r>
                        <a:rPr sz="864" b="0" i="0">
                          <a:solidFill>
                            <a:srgbClr val="1A1A1A"/>
                          </a:solidFill>
                          <a:latin typeface="Helvetica Neue"/>
                        </a:rPr>
                        <a:t>Acorn 3D (Mighty Oak Medical)</a:t>
                      </a:r>
                    </a:p>
                  </a:txBody>
                  <a:tcPr marL="45720" marR="45720" marT="18288" marB="18288" anchor="t"/>
                </a:tc>
                <a:tc>
                  <a:txBody>
                    <a:bodyPr wrap="square"/>
                    <a:lstStyle/>
                    <a:p>
                      <a:r>
                        <a:rPr sz="864" b="0" i="0">
                          <a:solidFill>
                            <a:srgbClr val="1A1A1A"/>
                          </a:solidFill>
                          <a:latin typeface="Helvetica Neue"/>
                        </a:rPr>
                        <a:t>spine / scoliosis</a:t>
                      </a:r>
                    </a:p>
                  </a:txBody>
                  <a:tcPr marL="45720" marR="45720" marT="18288" marB="18288" anchor="t"/>
                </a:tc>
                <a:tc>
                  <a:txBody>
                    <a:bodyPr wrap="square"/>
                    <a:lstStyle/>
                    <a:p>
                      <a:r>
                        <a:rPr sz="864" b="0" i="0">
                          <a:solidFill>
                            <a:srgbClr val="1A1A1A"/>
                          </a:solidFill>
                          <a:latin typeface="Helvetica Neue"/>
                        </a:rPr>
                        <a:t>Automated vertebral segmentation from CT to build patient-specific 3D models and surgical guides</a:t>
                      </a:r>
                    </a:p>
                  </a:txBody>
                  <a:tcPr marL="45720" marR="45720" marT="18288" marB="18288" anchor="t"/>
                </a:tc>
                <a:tc>
                  <a:txBody>
                    <a:bodyPr wrap="square"/>
                    <a:lstStyle/>
                    <a:p>
                      <a:r>
                        <a:rPr sz="864" b="0" i="0">
                          <a:solidFill>
                            <a:srgbClr val="1A1A1A"/>
                          </a:solidFill>
                          <a:latin typeface="Helvetica Neue"/>
                        </a:rPr>
                        <a:t>Decision summaries state a pediatric population; the use case is pediatric deformity surgery [K260322, 2026]</a:t>
                      </a:r>
                    </a:p>
                  </a:txBody>
                  <a:tcPr marL="45720" marR="45720" marT="18288" marB="18288" anchor="t"/>
                </a:tc>
                <a:tc>
                  <a:txBody>
                    <a:bodyPr wrap="square"/>
                    <a:lstStyle/>
                    <a:p>
                      <a:r>
                        <a:rPr sz="864" b="0" i="0">
                          <a:solidFill>
                            <a:srgbClr val="1A1A1A"/>
                          </a:solidFill>
                          <a:latin typeface="Helvetica Neue"/>
                        </a:rPr>
                        <a:t>Niche, surgical</a:t>
                      </a:r>
                    </a:p>
                  </a:txBody>
                  <a:tcPr marL="45720" marR="45720" marT="18288" marB="18288" anchor="t"/>
                </a:tc>
              </a:tr>
              <a:tr h="318211">
                <a:tc>
                  <a:txBody>
                    <a:bodyPr wrap="square"/>
                    <a:lstStyle/>
                    <a:p>
                      <a:r>
                        <a:rPr sz="864" b="0" i="0">
                          <a:solidFill>
                            <a:srgbClr val="1A1A1A"/>
                          </a:solidFill>
                          <a:latin typeface="Helvetica Neue"/>
                        </a:rPr>
                        <a:t>Second Opinion Pediatric (Pearl)</a:t>
                      </a:r>
                    </a:p>
                  </a:txBody>
                  <a:tcPr marL="45720" marR="45720" marT="18288" marB="18288" anchor="t"/>
                </a:tc>
                <a:tc>
                  <a:txBody>
                    <a:bodyPr wrap="square"/>
                    <a:lstStyle/>
                    <a:p>
                      <a:r>
                        <a:rPr sz="864" b="0" i="0">
                          <a:solidFill>
                            <a:srgbClr val="1A1A1A"/>
                          </a:solidFill>
                          <a:latin typeface="Helvetica Neue"/>
                        </a:rPr>
                        <a:t>dental / craniofacial</a:t>
                      </a:r>
                    </a:p>
                  </a:txBody>
                  <a:tcPr marL="45720" marR="45720" marT="18288" marB="18288" anchor="t"/>
                </a:tc>
                <a:tc>
                  <a:txBody>
                    <a:bodyPr wrap="square"/>
                    <a:lstStyle/>
                    <a:p>
                      <a:r>
                        <a:rPr sz="864" b="0" i="0">
                          <a:solidFill>
                            <a:srgbClr val="1A1A1A"/>
                          </a:solidFill>
                          <a:latin typeface="Helvetica Neue"/>
                        </a:rPr>
                        <a:t>Detects caries and other findings on pediatric dental radiographs</a:t>
                      </a:r>
                    </a:p>
                  </a:txBody>
                  <a:tcPr marL="45720" marR="45720" marT="18288" marB="18288" anchor="t"/>
                </a:tc>
                <a:tc>
                  <a:txBody>
                    <a:bodyPr wrap="square"/>
                    <a:lstStyle/>
                    <a:p>
                      <a:r>
                        <a:rPr sz="864" b="0" i="0">
                          <a:solidFill>
                            <a:srgbClr val="1A1A1A"/>
                          </a:solidFill>
                          <a:latin typeface="Helvetica Neue"/>
                        </a:rPr>
                        <a:t>The rare device whose name and indication are pediatric from the start [K243893, 2025]</a:t>
                      </a:r>
                    </a:p>
                  </a:txBody>
                  <a:tcPr marL="45720" marR="45720" marT="18288" marB="18288" anchor="t"/>
                </a:tc>
                <a:tc>
                  <a:txBody>
                    <a:bodyPr wrap="square"/>
                    <a:lstStyle/>
                    <a:p>
                      <a:r>
                        <a:rPr sz="864" b="0" i="0">
                          <a:solidFill>
                            <a:srgbClr val="1A1A1A"/>
                          </a:solidFill>
                          <a:latin typeface="Helvetica Neue"/>
                        </a:rPr>
                        <a:t>Deployed in dentistry</a:t>
                      </a:r>
                    </a:p>
                  </a:txBody>
                  <a:tcPr marL="45720" marR="45720" marT="18288" marB="18288" anchor="t"/>
                </a:tc>
              </a:tr>
            </a:tbl>
          </a:graphicData>
        </a:graphic>
      </p:graphicFrame>
      <p:sp>
        <p:nvSpPr>
          <p:cNvPr id="5" name="TextBox 4"/>
          <p:cNvSpPr txBox="1"/>
          <p:nvPr/>
        </p:nvSpPr>
        <p:spPr>
          <a:xfrm>
            <a:off x="411480" y="5822899"/>
            <a:ext cx="11368735" cy="460247"/>
          </a:xfrm>
          <a:prstGeom prst="rect">
            <a:avLst/>
          </a:prstGeom>
          <a:noFill/>
        </p:spPr>
        <p:txBody>
          <a:bodyPr wrap="square" lIns="45720" rIns="45720" tIns="27432" bIns="27432" anchor="t">
            <a:spAutoFit/>
          </a:bodyPr>
          <a:lstStyle/>
          <a:p>
            <a:pPr algn="l">
              <a:spcAft>
                <a:spcPts val="369"/>
              </a:spcAft>
            </a:pPr>
            <a:r>
              <a:rPr sz="1055" b="0" i="0">
                <a:solidFill>
                  <a:srgbClr val="1A1A1A"/>
                </a:solidFill>
                <a:latin typeface="Helvetica Neue"/>
              </a:rPr>
              <a:t>Square brackets give the FDA submission supporting the pediatric claim and its decision year; a blank means no US authorization was identified for that product. “Where it stands” is our reading of deployment, not a measured adoption rate.</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64 / 83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How many cleared devices actually name children?</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COMMERCIAL SOFTWARE</a:t>
            </a:r>
          </a:p>
        </p:txBody>
      </p:sp>
      <p:pic>
        <p:nvPicPr>
          <p:cNvPr id="4" name="fda_pediatric_prisma" descr="fda_pediatric_prisma.png"/>
          <p:cNvPicPr>
            <a:picLocks noChangeAspect="1"/>
          </p:cNvPicPr>
          <p:nvPr/>
        </p:nvPicPr>
        <p:blipFill>
          <a:blip r:embed="rId2"/>
          <a:stretch>
            <a:fillRect/>
          </a:stretch>
        </p:blipFill>
        <p:spPr>
          <a:xfrm>
            <a:off x="3754225" y="877824"/>
            <a:ext cx="4683244" cy="4042379"/>
          </a:xfrm>
          <a:prstGeom prst="rect">
            <a:avLst/>
          </a:prstGeom>
        </p:spPr>
      </p:pic>
      <p:sp>
        <p:nvSpPr>
          <p:cNvPr id="5" name="TextBox 4"/>
          <p:cNvSpPr txBox="1"/>
          <p:nvPr/>
        </p:nvSpPr>
        <p:spPr>
          <a:xfrm>
            <a:off x="411480" y="4993355"/>
            <a:ext cx="11368735" cy="475614"/>
          </a:xfrm>
          <a:prstGeom prst="rect">
            <a:avLst/>
          </a:prstGeom>
          <a:noFill/>
        </p:spPr>
        <p:txBody>
          <a:bodyPr wrap="square" lIns="45720" rIns="45720" tIns="27432" bIns="27432" anchor="t">
            <a:spAutoFit/>
          </a:bodyPr>
          <a:lstStyle/>
          <a:p>
            <a:pPr algn="l">
              <a:spcAft>
                <a:spcPts val="384"/>
              </a:spcAft>
            </a:pPr>
            <a:r>
              <a:rPr sz="1100" b="0" i="0">
                <a:solidFill>
                  <a:srgbClr val="1A1A1A"/>
                </a:solidFill>
                <a:latin typeface="Helvetica Neue"/>
              </a:rPr>
              <a:t>230 of the 1,230 radiology-panel authorizations (19%) name a pediatric or fetal population in the labeling passage reviewed; 53 more name children only as a phantom, a validation set or an exclusion, and are kept for label review.</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65 / 83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scope</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sp>
        <p:nvSpPr>
          <p:cNvPr id="4" name="TextBox 3"/>
          <p:cNvSpPr txBox="1"/>
          <p:nvPr/>
        </p:nvSpPr>
        <p:spPr>
          <a:xfrm>
            <a:off x="411480" y="877824"/>
            <a:ext cx="11368735" cy="1125220"/>
          </a:xfrm>
          <a:prstGeom prst="rect">
            <a:avLst/>
          </a:prstGeom>
          <a:noFill/>
        </p:spPr>
        <p:txBody>
          <a:bodyPr wrap="square" lIns="45720" rIns="45720" tIns="27432" bIns="27432" anchor="t">
            <a:spAutoFit/>
          </a:bodyPr>
          <a:lstStyle/>
          <a:p>
            <a:pPr algn="l" marL="256032" indent="-256032">
              <a:spcAft>
                <a:spcPts val="384"/>
              </a:spcAft>
              <a:buChar char="•"/>
            </a:pPr>
            <a:r>
              <a:rPr sz="1100" b="0" i="0">
                <a:solidFill>
                  <a:srgbClr val="1A1A1A"/>
                </a:solidFill>
                <a:latin typeface="Helvetica Neue"/>
              </a:rPr>
              <a:t>Screened all 1,230 Radiology-panel records in the FDA AI-device CSV downloaded 2026-09-16.</a:t>
            </a:r>
          </a:p>
          <a:p>
            <a:pPr algn="l" marL="256032" indent="-256032">
              <a:spcAft>
                <a:spcPts val="384"/>
              </a:spcAft>
              <a:buChar char="•"/>
            </a:pPr>
            <a:r>
              <a:rPr sz="1100" b="0" i="0">
                <a:solidFill>
                  <a:srgbClr val="1A1A1A"/>
                </a:solidFill>
                <a:latin typeface="Helvetica Neue"/>
              </a:rPr>
              <a:t>283 records had pediatric/fetal keywords; 230 are label-positive candidates.</a:t>
            </a:r>
          </a:p>
          <a:p>
            <a:pPr algn="l" marL="256032" indent="-256032">
              <a:spcAft>
                <a:spcPts val="384"/>
              </a:spcAft>
              <a:buChar char="•"/>
            </a:pPr>
            <a:r>
              <a:rPr sz="1100" b="0" i="0">
                <a:solidFill>
                  <a:srgbClr val="1A1A1A"/>
                </a:solidFill>
                <a:latin typeface="Helvetica Neue"/>
              </a:rPr>
              <a:t>This is exhaustive for the dated FDA-list snapshot, not for the commercial market: FDA says its AI list is not comprehensive. Repeated submissions are retained so the result is auditable.</a:t>
            </a:r>
          </a:p>
          <a:p>
            <a:pPr algn="l" marL="256032" indent="-256032">
              <a:spcAft>
                <a:spcPts val="384"/>
              </a:spcAft>
              <a:buChar char="•"/>
            </a:pPr>
            <a:r>
              <a:rPr sz="1100" b="0" i="0">
                <a:solidFill>
                  <a:srgbClr val="1A1A1A"/>
                </a:solidFill>
                <a:latin typeface="Helvetica Neue"/>
              </a:rPr>
              <a:t>Candidate status is a keyword screen of linked decision-summary PDFs. Confirm the current authorization and full labeling before purchase.</a:t>
            </a:r>
          </a:p>
        </p:txBody>
      </p:sp>
      <p:sp>
        <p:nvSpPr>
          <p:cNvPr id="5" name="TextBox 4"/>
          <p:cNvSpPr txBox="1"/>
          <p:nvPr/>
        </p:nvSpPr>
        <p:spPr>
          <a:xfrm>
            <a:off x="411480" y="2076196"/>
            <a:ext cx="11368735" cy="268604"/>
          </a:xfrm>
          <a:prstGeom prst="rect">
            <a:avLst/>
          </a:prstGeom>
          <a:noFill/>
        </p:spPr>
        <p:txBody>
          <a:bodyPr wrap="square" lIns="45720" rIns="45720" tIns="27432" bIns="27432" anchor="t">
            <a:spAutoFit/>
          </a:bodyPr>
          <a:lstStyle/>
          <a:p>
            <a:pPr algn="l">
              <a:spcAft>
                <a:spcPts val="315"/>
              </a:spcAft>
            </a:pPr>
            <a:r>
              <a:rPr sz="900" b="0" i="0">
                <a:solidFill>
                  <a:srgbClr val="1A1A1A"/>
                </a:solidFill>
                <a:latin typeface="Helvetica Neue"/>
              </a:rPr>
              <a:t>Source: data/processed/fda_pediatric_inventory.json; evidence pages are retained per submission.</a:t>
            </a:r>
          </a:p>
        </p:txBody>
      </p:sp>
      <p:sp>
        <p:nvSpPr>
          <p:cNvPr id="6"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66 / 83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(1–20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365688"/>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10921">
                <a:tc>
                  <a:txBody>
                    <a:bodyPr wrap="square"/>
                    <a:lstStyle/>
                    <a:p>
                      <a:r>
                        <a:rPr sz="1024" b="1" i="0">
                          <a:solidFill>
                            <a:srgbClr val="FFFFFF"/>
                          </a:solidFill>
                          <a:latin typeface="Helvetica Neue"/>
                        </a:rPr>
                        <a:t>Submission</a:t>
                      </a:r>
                    </a:p>
                  </a:txBody>
                  <a:tcPr marL="45720" marR="45720" marT="18288" marB="18288" anchor="t"/>
                </a:tc>
                <a:tc>
                  <a:txBody>
                    <a:bodyPr wrap="square"/>
                    <a:lstStyle/>
                    <a:p>
                      <a:r>
                        <a:rPr sz="1024" b="1" i="0">
                          <a:solidFill>
                            <a:srgbClr val="FFFFFF"/>
                          </a:solidFill>
                          <a:latin typeface="Helvetica Neue"/>
                        </a:rPr>
                        <a:t>Date</a:t>
                      </a:r>
                    </a:p>
                  </a:txBody>
                  <a:tcPr marL="45720" marR="45720" marT="18288" marB="18288" anchor="t"/>
                </a:tc>
                <a:tc>
                  <a:txBody>
                    <a:bodyPr wrap="square"/>
                    <a:lstStyle/>
                    <a:p>
                      <a:r>
                        <a:rPr sz="1024" b="1" i="0">
                          <a:solidFill>
                            <a:srgbClr val="FFFFFF"/>
                          </a:solidFill>
                          <a:latin typeface="Helvetica Neue"/>
                        </a:rPr>
                        <a:t>Company</a:t>
                      </a:r>
                    </a:p>
                  </a:txBody>
                  <a:tcPr marL="45720" marR="45720" marT="18288" marB="18288" anchor="t"/>
                </a:tc>
                <a:tc>
                  <a:txBody>
                    <a:bodyPr wrap="square"/>
                    <a:lstStyle/>
                    <a:p>
                      <a:r>
                        <a:rPr sz="1024" b="1" i="0">
                          <a:solidFill>
                            <a:srgbClr val="FFFFFF"/>
                          </a:solidFill>
                          <a:latin typeface="Helvetica Neue"/>
                        </a:rPr>
                        <a:t>Device</a:t>
                      </a:r>
                    </a:p>
                  </a:txBody>
                  <a:tcPr marL="45720" marR="45720" marT="18288" marB="18288" anchor="t"/>
                </a:tc>
                <a:tc>
                  <a:txBody>
                    <a:bodyPr wrap="square"/>
                    <a:lstStyle/>
                    <a:p>
                      <a:r>
                        <a:rPr sz="1024" b="1" i="0">
                          <a:solidFill>
                            <a:srgbClr val="FFFFFF"/>
                          </a:solidFill>
                          <a:latin typeface="Helvetica Neue"/>
                        </a:rPr>
                        <a:t>Code</a:t>
                      </a:r>
                    </a:p>
                  </a:txBody>
                  <a:tcPr marL="45720" marR="45720" marT="18288" marB="18288" anchor="t"/>
                </a:tc>
              </a:tr>
              <a:tr h="210921">
                <a:tc>
                  <a:txBody>
                    <a:bodyPr wrap="square"/>
                    <a:lstStyle/>
                    <a:p>
                      <a:r>
                        <a:rPr sz="1024" b="0" i="0">
                          <a:solidFill>
                            <a:srgbClr val="1A1A1A"/>
                          </a:solidFill>
                          <a:latin typeface="Helvetica Neue"/>
                        </a:rPr>
                        <a:t>DEN250007</a:t>
                      </a:r>
                    </a:p>
                  </a:txBody>
                  <a:tcPr marL="45720" marR="45720" marT="18288" marB="18288" anchor="t"/>
                </a:tc>
                <a:tc>
                  <a:txBody>
                    <a:bodyPr wrap="square"/>
                    <a:lstStyle/>
                    <a:p>
                      <a:r>
                        <a:rPr sz="1024" b="0" i="0">
                          <a:solidFill>
                            <a:srgbClr val="1A1A1A"/>
                          </a:solidFill>
                          <a:latin typeface="Helvetica Neue"/>
                        </a:rPr>
                        <a:t>02/11/2026</a:t>
                      </a:r>
                    </a:p>
                  </a:txBody>
                  <a:tcPr marL="45720" marR="45720" marT="18288" marB="18288" anchor="t"/>
                </a:tc>
                <a:tc>
                  <a:txBody>
                    <a:bodyPr wrap="square"/>
                    <a:lstStyle/>
                    <a:p>
                      <a:r>
                        <a:rPr sz="1024" b="0" i="0">
                          <a:solidFill>
                            <a:srgbClr val="1A1A1A"/>
                          </a:solidFill>
                          <a:latin typeface="Helvetica Neue"/>
                        </a:rPr>
                        <a:t>Ultrasound AI</a:t>
                      </a:r>
                    </a:p>
                  </a:txBody>
                  <a:tcPr marL="45720" marR="45720" marT="18288" marB="18288" anchor="t"/>
                </a:tc>
                <a:tc>
                  <a:txBody>
                    <a:bodyPr wrap="square"/>
                    <a:lstStyle/>
                    <a:p>
                      <a:r>
                        <a:rPr sz="1024" b="0" i="0">
                          <a:solidFill>
                            <a:srgbClr val="1A1A1A"/>
                          </a:solidFill>
                          <a:latin typeface="Helvetica Neue"/>
                        </a:rPr>
                        <a:t>Delivery Date AI</a:t>
                      </a:r>
                    </a:p>
                  </a:txBody>
                  <a:tcPr marL="45720" marR="45720" marT="18288" marB="18288" anchor="t"/>
                </a:tc>
                <a:tc>
                  <a:txBody>
                    <a:bodyPr wrap="square"/>
                    <a:lstStyle/>
                    <a:p>
                      <a:r>
                        <a:rPr sz="1024" b="0" i="0">
                          <a:solidFill>
                            <a:srgbClr val="1A1A1A"/>
                          </a:solidFill>
                          <a:latin typeface="Helvetica Neue"/>
                        </a:rPr>
                        <a:t>SHE</a:t>
                      </a:r>
                    </a:p>
                  </a:txBody>
                  <a:tcPr marL="45720" marR="45720" marT="18288" marB="18288" anchor="t"/>
                </a:tc>
              </a:tr>
              <a:tr h="210921">
                <a:tc>
                  <a:txBody>
                    <a:bodyPr wrap="square"/>
                    <a:lstStyle/>
                    <a:p>
                      <a:r>
                        <a:rPr sz="1024" b="0" i="0">
                          <a:solidFill>
                            <a:srgbClr val="1A1A1A"/>
                          </a:solidFill>
                          <a:latin typeface="Helvetica Neue"/>
                        </a:rPr>
                        <a:t>K163253</a:t>
                      </a:r>
                    </a:p>
                  </a:txBody>
                  <a:tcPr marL="45720" marR="45720" marT="18288" marB="18288" anchor="t"/>
                </a:tc>
                <a:tc>
                  <a:txBody>
                    <a:bodyPr wrap="square"/>
                    <a:lstStyle/>
                    <a:p>
                      <a:r>
                        <a:rPr sz="1024" b="0" i="0">
                          <a:solidFill>
                            <a:srgbClr val="1A1A1A"/>
                          </a:solidFill>
                          <a:latin typeface="Helvetica Neue"/>
                        </a:rPr>
                        <a:t>01/05/2017</a:t>
                      </a:r>
                    </a:p>
                  </a:txBody>
                  <a:tcPr marL="45720" marR="45720" marT="18288" marB="18288" anchor="t"/>
                </a:tc>
                <a:tc>
                  <a:txBody>
                    <a:bodyPr wrap="square"/>
                    <a:lstStyle/>
                    <a:p>
                      <a:r>
                        <a:rPr sz="1024" b="0" i="0">
                          <a:solidFill>
                            <a:srgbClr val="1A1A1A"/>
                          </a:solidFill>
                          <a:latin typeface="Helvetica Neue"/>
                        </a:rPr>
                        <a:t>ARTERYS INC.</a:t>
                      </a:r>
                    </a:p>
                  </a:txBody>
                  <a:tcPr marL="45720" marR="45720" marT="18288" marB="18288" anchor="t"/>
                </a:tc>
                <a:tc>
                  <a:txBody>
                    <a:bodyPr wrap="square"/>
                    <a:lstStyle/>
                    <a:p>
                      <a:r>
                        <a:rPr sz="1024" b="0" i="0">
                          <a:solidFill>
                            <a:srgbClr val="1A1A1A"/>
                          </a:solidFill>
                          <a:latin typeface="Helvetica Neue"/>
                        </a:rPr>
                        <a:t>Arterys Cardio DL</a:t>
                      </a:r>
                    </a:p>
                  </a:txBody>
                  <a:tcPr marL="45720" marR="45720" marT="18288" marB="18288" anchor="t"/>
                </a:tc>
                <a:tc>
                  <a:txBody>
                    <a:bodyPr wrap="square"/>
                    <a:lstStyle/>
                    <a:p>
                      <a:r>
                        <a:rPr sz="1024" b="0" i="0">
                          <a:solidFill>
                            <a:srgbClr val="1A1A1A"/>
                          </a:solidFill>
                          <a:latin typeface="Helvetica Neue"/>
                        </a:rPr>
                        <a:t>LLZ</a:t>
                      </a:r>
                    </a:p>
                  </a:txBody>
                  <a:tcPr marL="45720" marR="45720" marT="18288" marB="18288" anchor="t"/>
                </a:tc>
              </a:tr>
              <a:tr h="210921">
                <a:tc>
                  <a:txBody>
                    <a:bodyPr wrap="square"/>
                    <a:lstStyle/>
                    <a:p>
                      <a:r>
                        <a:rPr sz="1024" b="0" i="0">
                          <a:solidFill>
                            <a:srgbClr val="1A1A1A"/>
                          </a:solidFill>
                          <a:latin typeface="Helvetica Neue"/>
                        </a:rPr>
                        <a:t>K172356</a:t>
                      </a:r>
                    </a:p>
                  </a:txBody>
                  <a:tcPr marL="45720" marR="45720" marT="18288" marB="18288" anchor="t"/>
                </a:tc>
                <a:tc>
                  <a:txBody>
                    <a:bodyPr wrap="square"/>
                    <a:lstStyle/>
                    <a:p>
                      <a:r>
                        <a:rPr sz="1024" b="0" i="0">
                          <a:solidFill>
                            <a:srgbClr val="1A1A1A"/>
                          </a:solidFill>
                          <a:latin typeface="Helvetica Neue"/>
                        </a:rPr>
                        <a:t>09/15/2017</a:t>
                      </a:r>
                    </a:p>
                  </a:txBody>
                  <a:tcPr marL="45720" marR="45720" marT="18288" marB="18288" anchor="t"/>
                </a:tc>
                <a:tc>
                  <a:txBody>
                    <a:bodyPr wrap="square"/>
                    <a:lstStyle/>
                    <a:p>
                      <a:r>
                        <a:rPr sz="1024" b="0" i="0">
                          <a:solidFill>
                            <a:srgbClr val="1A1A1A"/>
                          </a:solidFill>
                          <a:latin typeface="Helvetica Neue"/>
                        </a:rPr>
                        <a:t>Verathon Incorporated</a:t>
                      </a:r>
                    </a:p>
                  </a:txBody>
                  <a:tcPr marL="45720" marR="45720" marT="18288" marB="18288" anchor="t"/>
                </a:tc>
                <a:tc>
                  <a:txBody>
                    <a:bodyPr wrap="square"/>
                    <a:lstStyle/>
                    <a:p>
                      <a:r>
                        <a:rPr sz="1024" b="0" i="0">
                          <a:solidFill>
                            <a:srgbClr val="1A1A1A"/>
                          </a:solidFill>
                          <a:latin typeface="Helvetica Neue"/>
                        </a:rPr>
                        <a:t>BladderScan Prime PLUS System</a:t>
                      </a:r>
                    </a:p>
                  </a:txBody>
                  <a:tcPr marL="45720" marR="45720" marT="18288" marB="18288" anchor="t"/>
                </a:tc>
                <a:tc>
                  <a:txBody>
                    <a:bodyPr wrap="square"/>
                    <a:lstStyle/>
                    <a:p>
                      <a:r>
                        <a:rPr sz="1024" b="0" i="0">
                          <a:solidFill>
                            <a:srgbClr val="1A1A1A"/>
                          </a:solidFill>
                          <a:latin typeface="Helvetica Neue"/>
                        </a:rPr>
                        <a:t>IYO</a:t>
                      </a:r>
                    </a:p>
                  </a:txBody>
                  <a:tcPr marL="45720" marR="45720" marT="18288" marB="18288" anchor="t"/>
                </a:tc>
              </a:tr>
              <a:tr h="210921">
                <a:tc>
                  <a:txBody>
                    <a:bodyPr wrap="square"/>
                    <a:lstStyle/>
                    <a:p>
                      <a:r>
                        <a:rPr sz="1024" b="0" i="0">
                          <a:solidFill>
                            <a:srgbClr val="1A1A1A"/>
                          </a:solidFill>
                          <a:latin typeface="Helvetica Neue"/>
                        </a:rPr>
                        <a:t>K172385</a:t>
                      </a:r>
                    </a:p>
                  </a:txBody>
                  <a:tcPr marL="45720" marR="45720" marT="18288" marB="18288" anchor="t"/>
                </a:tc>
                <a:tc>
                  <a:txBody>
                    <a:bodyPr wrap="square"/>
                    <a:lstStyle/>
                    <a:p>
                      <a:r>
                        <a:rPr sz="1024" b="0" i="0">
                          <a:solidFill>
                            <a:srgbClr val="1A1A1A"/>
                          </a:solidFill>
                          <a:latin typeface="Helvetica Neue"/>
                        </a:rPr>
                        <a:t>09/14/2017</a:t>
                      </a:r>
                    </a:p>
                  </a:txBody>
                  <a:tcPr marL="45720" marR="45720" marT="18288" marB="18288" anchor="t"/>
                </a:tc>
                <a:tc>
                  <a:txBody>
                    <a:bodyPr wrap="square"/>
                    <a:lstStyle/>
                    <a:p>
                      <a:r>
                        <a:rPr sz="1024" b="0" i="0">
                          <a:solidFill>
                            <a:srgbClr val="1A1A1A"/>
                          </a:solidFill>
                          <a:latin typeface="Helvetica Neue"/>
                        </a:rPr>
                        <a:t>Clarius Mobile Health Corp.</a:t>
                      </a:r>
                    </a:p>
                  </a:txBody>
                  <a:tcPr marL="45720" marR="45720" marT="18288" marB="18288" anchor="t"/>
                </a:tc>
                <a:tc>
                  <a:txBody>
                    <a:bodyPr wrap="square"/>
                    <a:lstStyle/>
                    <a:p>
                      <a:r>
                        <a:rPr sz="1024" b="0" i="0">
                          <a:solidFill>
                            <a:srgbClr val="1A1A1A"/>
                          </a:solidFill>
                          <a:latin typeface="Helvetica Neue"/>
                        </a:rPr>
                        <a:t>Clarius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K180799</a:t>
                      </a:r>
                    </a:p>
                  </a:txBody>
                  <a:tcPr marL="45720" marR="45720" marT="18288" marB="18288" anchor="t"/>
                </a:tc>
                <a:tc>
                  <a:txBody>
                    <a:bodyPr wrap="square"/>
                    <a:lstStyle/>
                    <a:p>
                      <a:r>
                        <a:rPr sz="1024" b="0" i="0">
                          <a:solidFill>
                            <a:srgbClr val="1A1A1A"/>
                          </a:solidFill>
                          <a:latin typeface="Helvetica Neue"/>
                        </a:rPr>
                        <a:t>05/14/2018</a:t>
                      </a:r>
                    </a:p>
                  </a:txBody>
                  <a:tcPr marL="45720" marR="45720" marT="18288" marB="18288" anchor="t"/>
                </a:tc>
                <a:tc>
                  <a:txBody>
                    <a:bodyPr wrap="square"/>
                    <a:lstStyle/>
                    <a:p>
                      <a:r>
                        <a:rPr sz="1024" b="0" i="0">
                          <a:solidFill>
                            <a:srgbClr val="1A1A1A"/>
                          </a:solidFill>
                          <a:latin typeface="Helvetica Neue"/>
                        </a:rPr>
                        <a:t>Clarius Mobile Health Corp.</a:t>
                      </a:r>
                    </a:p>
                  </a:txBody>
                  <a:tcPr marL="45720" marR="45720" marT="18288" marB="18288" anchor="t"/>
                </a:tc>
                <a:tc>
                  <a:txBody>
                    <a:bodyPr wrap="square"/>
                    <a:lstStyle/>
                    <a:p>
                      <a:r>
                        <a:rPr sz="1024" b="0" i="0">
                          <a:solidFill>
                            <a:srgbClr val="1A1A1A"/>
                          </a:solidFill>
                          <a:latin typeface="Helvetica Neue"/>
                        </a:rPr>
                        <a:t>Clarius Ultrasound Scanner</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K181574</a:t>
                      </a:r>
                    </a:p>
                  </a:txBody>
                  <a:tcPr marL="45720" marR="45720" marT="18288" marB="18288" anchor="t"/>
                </a:tc>
                <a:tc>
                  <a:txBody>
                    <a:bodyPr wrap="square"/>
                    <a:lstStyle/>
                    <a:p>
                      <a:r>
                        <a:rPr sz="1024" b="0" i="0">
                          <a:solidFill>
                            <a:srgbClr val="1A1A1A"/>
                          </a:solidFill>
                          <a:latin typeface="Helvetica Neue"/>
                        </a:rPr>
                        <a:t>07/10/2018</a:t>
                      </a:r>
                    </a:p>
                  </a:txBody>
                  <a:tcPr marL="45720" marR="45720" marT="18288" marB="18288" anchor="t"/>
                </a:tc>
                <a:tc>
                  <a:txBody>
                    <a:bodyPr wrap="square"/>
                    <a:lstStyle/>
                    <a:p>
                      <a:r>
                        <a:rPr sz="1024" b="0" i="0">
                          <a:solidFill>
                            <a:srgbClr val="1A1A1A"/>
                          </a:solidFill>
                          <a:latin typeface="Helvetica Neue"/>
                        </a:rPr>
                        <a:t>EchoNous, Inc.</a:t>
                      </a:r>
                    </a:p>
                  </a:txBody>
                  <a:tcPr marL="45720" marR="45720" marT="18288" marB="18288" anchor="t"/>
                </a:tc>
                <a:tc>
                  <a:txBody>
                    <a:bodyPr wrap="square"/>
                    <a:lstStyle/>
                    <a:p>
                      <a:r>
                        <a:rPr sz="1024" b="0" i="0">
                          <a:solidFill>
                            <a:srgbClr val="1A1A1A"/>
                          </a:solidFill>
                          <a:latin typeface="Helvetica Neue"/>
                        </a:rPr>
                        <a:t>Uscan</a:t>
                      </a:r>
                    </a:p>
                  </a:txBody>
                  <a:tcPr marL="45720" marR="45720" marT="18288" marB="18288" anchor="t"/>
                </a:tc>
                <a:tc>
                  <a:txBody>
                    <a:bodyPr wrap="square"/>
                    <a:lstStyle/>
                    <a:p>
                      <a:r>
                        <a:rPr sz="1024" b="0" i="0">
                          <a:solidFill>
                            <a:srgbClr val="1A1A1A"/>
                          </a:solidFill>
                          <a:latin typeface="Helvetica Neue"/>
                        </a:rPr>
                        <a:t>IYO</a:t>
                      </a:r>
                    </a:p>
                  </a:txBody>
                  <a:tcPr marL="45720" marR="45720" marT="18288" marB="18288" anchor="t"/>
                </a:tc>
              </a:tr>
              <a:tr h="366979">
                <a:tc>
                  <a:txBody>
                    <a:bodyPr wrap="square"/>
                    <a:lstStyle/>
                    <a:p>
                      <a:r>
                        <a:rPr sz="1024" b="0" i="0">
                          <a:solidFill>
                            <a:srgbClr val="1A1A1A"/>
                          </a:solidFill>
                          <a:latin typeface="Helvetica Neue"/>
                        </a:rPr>
                        <a:t>K181685</a:t>
                      </a:r>
                    </a:p>
                  </a:txBody>
                  <a:tcPr marL="45720" marR="45720" marT="18288" marB="18288" anchor="t"/>
                </a:tc>
                <a:tc>
                  <a:txBody>
                    <a:bodyPr wrap="square"/>
                    <a:lstStyle/>
                    <a:p>
                      <a:r>
                        <a:rPr sz="1024" b="0" i="0">
                          <a:solidFill>
                            <a:srgbClr val="1A1A1A"/>
                          </a:solidFill>
                          <a:latin typeface="Helvetica Neue"/>
                        </a:rPr>
                        <a:t>10/25/2018</a:t>
                      </a:r>
                    </a:p>
                  </a:txBody>
                  <a:tcPr marL="45720" marR="45720" marT="18288" marB="18288" anchor="t"/>
                </a:tc>
                <a:tc>
                  <a:txBody>
                    <a:bodyPr wrap="square"/>
                    <a:lstStyle/>
                    <a:p>
                      <a:r>
                        <a:rPr sz="1024" b="0" i="0">
                          <a:solidFill>
                            <a:srgbClr val="1A1A1A"/>
                          </a:solidFill>
                          <a:latin typeface="Helvetica Neue"/>
                        </a:rPr>
                        <a:t>GE Medical Systems Ultrasound and Primary Care Diagnostics,</a:t>
                      </a:r>
                    </a:p>
                  </a:txBody>
                  <a:tcPr marL="45720" marR="45720" marT="18288" marB="18288" anchor="t"/>
                </a:tc>
                <a:tc>
                  <a:txBody>
                    <a:bodyPr wrap="square"/>
                    <a:lstStyle/>
                    <a:p>
                      <a:r>
                        <a:rPr sz="1024" b="0" i="0">
                          <a:solidFill>
                            <a:srgbClr val="1A1A1A"/>
                          </a:solidFill>
                          <a:latin typeface="Helvetica Neue"/>
                        </a:rPr>
                        <a:t>Vivid E80, Vivid E90, Vivid E95</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K191171</a:t>
                      </a:r>
                    </a:p>
                  </a:txBody>
                  <a:tcPr marL="45720" marR="45720" marT="18288" marB="18288" anchor="t"/>
                </a:tc>
                <a:tc>
                  <a:txBody>
                    <a:bodyPr wrap="square"/>
                    <a:lstStyle/>
                    <a:p>
                      <a:r>
                        <a:rPr sz="1024" b="0" i="0">
                          <a:solidFill>
                            <a:srgbClr val="1A1A1A"/>
                          </a:solidFill>
                          <a:latin typeface="Helvetica Neue"/>
                        </a:rPr>
                        <a:t>11/13/2019</a:t>
                      </a:r>
                    </a:p>
                  </a:txBody>
                  <a:tcPr marL="45720" marR="45720" marT="18288" marB="18288" anchor="t"/>
                </a:tc>
                <a:tc>
                  <a:txBody>
                    <a:bodyPr wrap="square"/>
                    <a:lstStyle/>
                    <a:p>
                      <a:r>
                        <a:rPr sz="1024" b="0" i="0">
                          <a:solidFill>
                            <a:srgbClr val="1A1A1A"/>
                          </a:solidFill>
                          <a:latin typeface="Helvetica Neue"/>
                        </a:rPr>
                        <a:t>Ultromics Ltd</a:t>
                      </a:r>
                    </a:p>
                  </a:txBody>
                  <a:tcPr marL="45720" marR="45720" marT="18288" marB="18288" anchor="t"/>
                </a:tc>
                <a:tc>
                  <a:txBody>
                    <a:bodyPr wrap="square"/>
                    <a:lstStyle/>
                    <a:p>
                      <a:r>
                        <a:rPr sz="1024" b="0" i="0">
                          <a:solidFill>
                            <a:srgbClr val="1A1A1A"/>
                          </a:solidFill>
                          <a:latin typeface="Helvetica Neue"/>
                        </a:rPr>
                        <a:t>EchoGo Core</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366979">
                <a:tc>
                  <a:txBody>
                    <a:bodyPr wrap="square"/>
                    <a:lstStyle/>
                    <a:p>
                      <a:r>
                        <a:rPr sz="1024" b="0" i="0">
                          <a:solidFill>
                            <a:srgbClr val="1A1A1A"/>
                          </a:solidFill>
                          <a:latin typeface="Helvetica Neue"/>
                        </a:rPr>
                        <a:t>K191278</a:t>
                      </a:r>
                    </a:p>
                  </a:txBody>
                  <a:tcPr marL="45720" marR="45720" marT="18288" marB="18288" anchor="t"/>
                </a:tc>
                <a:tc>
                  <a:txBody>
                    <a:bodyPr wrap="square"/>
                    <a:lstStyle/>
                    <a:p>
                      <a:r>
                        <a:rPr sz="1024" b="0" i="0">
                          <a:solidFill>
                            <a:srgbClr val="1A1A1A"/>
                          </a:solidFill>
                          <a:latin typeface="Helvetica Neue"/>
                        </a:rPr>
                        <a:t>11/19/2019</a:t>
                      </a:r>
                    </a:p>
                  </a:txBody>
                  <a:tcPr marL="45720" marR="45720" marT="18288" marB="18288" anchor="t"/>
                </a:tc>
                <a:tc>
                  <a:txBody>
                    <a:bodyPr wrap="square"/>
                    <a:lstStyle/>
                    <a:p>
                      <a:r>
                        <a:rPr sz="1024" b="0" i="0">
                          <a:solidFill>
                            <a:srgbClr val="1A1A1A"/>
                          </a:solidFill>
                          <a:latin typeface="Helvetica Neue"/>
                        </a:rPr>
                        <a:t>MultiModal Imaging Services Corporation (dba HealthLytix)</a:t>
                      </a:r>
                    </a:p>
                  </a:txBody>
                  <a:tcPr marL="45720" marR="45720" marT="18288" marB="18288" anchor="t"/>
                </a:tc>
                <a:tc>
                  <a:txBody>
                    <a:bodyPr wrap="square"/>
                    <a:lstStyle/>
                    <a:p>
                      <a:r>
                        <a:rPr sz="1024" b="0" i="0">
                          <a:solidFill>
                            <a:srgbClr val="1A1A1A"/>
                          </a:solidFill>
                          <a:latin typeface="Helvetica Neue"/>
                        </a:rPr>
                        <a:t>RSI-MRI+</a:t>
                      </a:r>
                    </a:p>
                  </a:txBody>
                  <a:tcPr marL="45720" marR="45720" marT="18288" marB="18288" anchor="t"/>
                </a:tc>
                <a:tc>
                  <a:txBody>
                    <a:bodyPr wrap="square"/>
                    <a:lstStyle/>
                    <a:p>
                      <a:r>
                        <a:rPr sz="1024" b="0" i="0">
                          <a:solidFill>
                            <a:srgbClr val="1A1A1A"/>
                          </a:solidFill>
                          <a:latin typeface="Helvetica Neue"/>
                        </a:rPr>
                        <a:t>LLZ</a:t>
                      </a:r>
                    </a:p>
                  </a:txBody>
                  <a:tcPr marL="45720" marR="45720" marT="18288" marB="18288" anchor="t"/>
                </a:tc>
              </a:tr>
              <a:tr h="210921">
                <a:tc>
                  <a:txBody>
                    <a:bodyPr wrap="square"/>
                    <a:lstStyle/>
                    <a:p>
                      <a:r>
                        <a:rPr sz="1024" b="0" i="0">
                          <a:solidFill>
                            <a:srgbClr val="1A1A1A"/>
                          </a:solidFill>
                          <a:latin typeface="Helvetica Neue"/>
                        </a:rPr>
                        <a:t>K192107</a:t>
                      </a:r>
                    </a:p>
                  </a:txBody>
                  <a:tcPr marL="45720" marR="45720" marT="18288" marB="18288" anchor="t"/>
                </a:tc>
                <a:tc>
                  <a:txBody>
                    <a:bodyPr wrap="square"/>
                    <a:lstStyle/>
                    <a:p>
                      <a:r>
                        <a:rPr sz="1024" b="0" i="0">
                          <a:solidFill>
                            <a:srgbClr val="1A1A1A"/>
                          </a:solidFill>
                          <a:latin typeface="Helvetica Neue"/>
                        </a:rPr>
                        <a:t>08/29/2019</a:t>
                      </a:r>
                    </a:p>
                  </a:txBody>
                  <a:tcPr marL="45720" marR="45720" marT="18288" marB="18288" anchor="t"/>
                </a:tc>
                <a:tc>
                  <a:txBody>
                    <a:bodyPr wrap="square"/>
                    <a:lstStyle/>
                    <a:p>
                      <a:r>
                        <a:rPr sz="1024" b="0" i="0">
                          <a:solidFill>
                            <a:srgbClr val="1A1A1A"/>
                          </a:solidFill>
                          <a:latin typeface="Helvetica Neue"/>
                        </a:rPr>
                        <a:t>Clarius Mobile Health Corp.</a:t>
                      </a:r>
                    </a:p>
                  </a:txBody>
                  <a:tcPr marL="45720" marR="45720" marT="18288" marB="18288" anchor="t"/>
                </a:tc>
                <a:tc>
                  <a:txBody>
                    <a:bodyPr wrap="square"/>
                    <a:lstStyle/>
                    <a:p>
                      <a:r>
                        <a:rPr sz="1024" b="0" i="0">
                          <a:solidFill>
                            <a:srgbClr val="1A1A1A"/>
                          </a:solidFill>
                          <a:latin typeface="Helvetica Neue"/>
                        </a:rPr>
                        <a:t>Clarius Ultrasound Scanner</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366979">
                <a:tc>
                  <a:txBody>
                    <a:bodyPr wrap="square"/>
                    <a:lstStyle/>
                    <a:p>
                      <a:r>
                        <a:rPr sz="1024" b="0" i="0">
                          <a:solidFill>
                            <a:srgbClr val="1A1A1A"/>
                          </a:solidFill>
                          <a:latin typeface="Helvetica Neue"/>
                        </a:rPr>
                        <a:t>K192377</a:t>
                      </a:r>
                    </a:p>
                  </a:txBody>
                  <a:tcPr marL="45720" marR="45720" marT="18288" marB="18288" anchor="t"/>
                </a:tc>
                <a:tc>
                  <a:txBody>
                    <a:bodyPr wrap="square"/>
                    <a:lstStyle/>
                    <a:p>
                      <a:r>
                        <a:rPr sz="1024" b="0" i="0">
                          <a:solidFill>
                            <a:srgbClr val="1A1A1A"/>
                          </a:solidFill>
                          <a:latin typeface="Helvetica Neue"/>
                        </a:rPr>
                        <a:t>02/10/2020</a:t>
                      </a:r>
                    </a:p>
                  </a:txBody>
                  <a:tcPr marL="45720" marR="45720" marT="18288" marB="18288" anchor="t"/>
                </a:tc>
                <a:tc>
                  <a:txBody>
                    <a:bodyPr wrap="square"/>
                    <a:lstStyle/>
                    <a:p>
                      <a:r>
                        <a:rPr sz="1024" b="0" i="0">
                          <a:solidFill>
                            <a:srgbClr val="1A1A1A"/>
                          </a:solidFill>
                          <a:latin typeface="Helvetica Neue"/>
                        </a:rPr>
                        <a:t>Varian Medical Systems, Inc.</a:t>
                      </a:r>
                    </a:p>
                  </a:txBody>
                  <a:tcPr marL="45720" marR="45720" marT="18288" marB="18288" anchor="t"/>
                </a:tc>
                <a:tc>
                  <a:txBody>
                    <a:bodyPr wrap="square"/>
                    <a:lstStyle/>
                    <a:p>
                      <a:r>
                        <a:rPr sz="1024" b="0" i="0">
                          <a:solidFill>
                            <a:srgbClr val="1A1A1A"/>
                          </a:solidFill>
                          <a:latin typeface="Helvetica Neue"/>
                        </a:rPr>
                        <a:t>Ethos Treatment Management, Ethos Treatment Planning, Ethos Radiotherapy System, Halcyon</a:t>
                      </a:r>
                    </a:p>
                  </a:txBody>
                  <a:tcPr marL="45720" marR="45720" marT="18288" marB="18288" anchor="t"/>
                </a:tc>
                <a:tc>
                  <a:txBody>
                    <a:bodyPr wrap="square"/>
                    <a:lstStyle/>
                    <a:p>
                      <a:r>
                        <a:rPr sz="1024" b="0" i="0">
                          <a:solidFill>
                            <a:srgbClr val="1A1A1A"/>
                          </a:solidFill>
                          <a:latin typeface="Helvetica Neue"/>
                        </a:rPr>
                        <a:t>IYE</a:t>
                      </a:r>
                    </a:p>
                  </a:txBody>
                  <a:tcPr marL="45720" marR="45720" marT="18288" marB="18288" anchor="t"/>
                </a:tc>
              </a:tr>
              <a:tr h="210921">
                <a:tc>
                  <a:txBody>
                    <a:bodyPr wrap="square"/>
                    <a:lstStyle/>
                    <a:p>
                      <a:r>
                        <a:rPr sz="1024" b="0" i="0">
                          <a:solidFill>
                            <a:srgbClr val="1A1A1A"/>
                          </a:solidFill>
                          <a:latin typeface="Helvetica Neue"/>
                        </a:rPr>
                        <a:t>K193518</a:t>
                      </a:r>
                    </a:p>
                  </a:txBody>
                  <a:tcPr marL="45720" marR="45720" marT="18288" marB="18288" anchor="t"/>
                </a:tc>
                <a:tc>
                  <a:txBody>
                    <a:bodyPr wrap="square"/>
                    <a:lstStyle/>
                    <a:p>
                      <a:r>
                        <a:rPr sz="1024" b="0" i="0">
                          <a:solidFill>
                            <a:srgbClr val="1A1A1A"/>
                          </a:solidFill>
                          <a:latin typeface="Helvetica Neue"/>
                        </a:rPr>
                        <a:t>03/26/2020</a:t>
                      </a:r>
                    </a:p>
                  </a:txBody>
                  <a:tcPr marL="45720" marR="45720" marT="18288" marB="18288" anchor="t"/>
                </a:tc>
                <a:tc>
                  <a:txBody>
                    <a:bodyPr wrap="square"/>
                    <a:lstStyle/>
                    <a:p>
                      <a:r>
                        <a:rPr sz="1024" b="0" i="0">
                          <a:solidFill>
                            <a:srgbClr val="1A1A1A"/>
                          </a:solidFill>
                          <a:latin typeface="Helvetica Neue"/>
                        </a:rPr>
                        <a:t>EchoNous, Inc.</a:t>
                      </a:r>
                    </a:p>
                  </a:txBody>
                  <a:tcPr marL="45720" marR="45720" marT="18288" marB="18288" anchor="t"/>
                </a:tc>
                <a:tc>
                  <a:txBody>
                    <a:bodyPr wrap="square"/>
                    <a:lstStyle/>
                    <a:p>
                      <a:r>
                        <a:rPr sz="1024" b="0" i="0">
                          <a:solidFill>
                            <a:srgbClr val="1A1A1A"/>
                          </a:solidFill>
                          <a:latin typeface="Helvetica Neue"/>
                        </a:rPr>
                        <a:t>KOSMOS</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K200232</a:t>
                      </a:r>
                    </a:p>
                  </a:txBody>
                  <a:tcPr marL="45720" marR="45720" marT="18288" marB="18288" anchor="t"/>
                </a:tc>
                <a:tc>
                  <a:txBody>
                    <a:bodyPr wrap="square"/>
                    <a:lstStyle/>
                    <a:p>
                      <a:r>
                        <a:rPr sz="1024" b="0" i="0">
                          <a:solidFill>
                            <a:srgbClr val="1A1A1A"/>
                          </a:solidFill>
                          <a:latin typeface="Helvetica Neue"/>
                        </a:rPr>
                        <a:t>06/23/2020</a:t>
                      </a:r>
                    </a:p>
                  </a:txBody>
                  <a:tcPr marL="45720" marR="45720" marT="18288" marB="18288" anchor="t"/>
                </a:tc>
                <a:tc>
                  <a:txBody>
                    <a:bodyPr wrap="square"/>
                    <a:lstStyle/>
                    <a:p>
                      <a:r>
                        <a:rPr sz="1024" b="0" i="0">
                          <a:solidFill>
                            <a:srgbClr val="1A1A1A"/>
                          </a:solidFill>
                          <a:latin typeface="Helvetica Neue"/>
                        </a:rPr>
                        <a:t>DiA Imaging Analysis Ltd</a:t>
                      </a:r>
                    </a:p>
                  </a:txBody>
                  <a:tcPr marL="45720" marR="45720" marT="18288" marB="18288" anchor="t"/>
                </a:tc>
                <a:tc>
                  <a:txBody>
                    <a:bodyPr wrap="square"/>
                    <a:lstStyle/>
                    <a:p>
                      <a:r>
                        <a:rPr sz="1024" b="0" i="0">
                          <a:solidFill>
                            <a:srgbClr val="1A1A1A"/>
                          </a:solidFill>
                          <a:latin typeface="Helvetica Neue"/>
                        </a:rPr>
                        <a:t>LVivo Software Application</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K200356</a:t>
                      </a:r>
                    </a:p>
                  </a:txBody>
                  <a:tcPr marL="45720" marR="45720" marT="18288" marB="18288" anchor="t"/>
                </a:tc>
                <a:tc>
                  <a:txBody>
                    <a:bodyPr wrap="square"/>
                    <a:lstStyle/>
                    <a:p>
                      <a:r>
                        <a:rPr sz="1024" b="0" i="0">
                          <a:solidFill>
                            <a:srgbClr val="1A1A1A"/>
                          </a:solidFill>
                          <a:latin typeface="Helvetica Neue"/>
                        </a:rPr>
                        <a:t>06/11/2020</a:t>
                      </a:r>
                    </a:p>
                  </a:txBody>
                  <a:tcPr marL="45720" marR="45720" marT="18288" marB="18288" anchor="t"/>
                </a:tc>
                <a:tc>
                  <a:txBody>
                    <a:bodyPr wrap="square"/>
                    <a:lstStyle/>
                    <a:p>
                      <a:r>
                        <a:rPr sz="1024" b="0" i="0">
                          <a:solidFill>
                            <a:srgbClr val="1A1A1A"/>
                          </a:solidFill>
                          <a:latin typeface="Helvetica Neue"/>
                        </a:rPr>
                        <a:t>Medo.ai</a:t>
                      </a:r>
                    </a:p>
                  </a:txBody>
                  <a:tcPr marL="45720" marR="45720" marT="18288" marB="18288" anchor="t"/>
                </a:tc>
                <a:tc>
                  <a:txBody>
                    <a:bodyPr wrap="square"/>
                    <a:lstStyle/>
                    <a:p>
                      <a:r>
                        <a:rPr sz="1024" b="0" i="0">
                          <a:solidFill>
                            <a:srgbClr val="1A1A1A"/>
                          </a:solidFill>
                          <a:latin typeface="Helvetica Neue"/>
                        </a:rPr>
                        <a:t>MEDO ARIA</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K200980</a:t>
                      </a:r>
                    </a:p>
                  </a:txBody>
                  <a:tcPr marL="45720" marR="45720" marT="18288" marB="18288" anchor="t"/>
                </a:tc>
                <a:tc>
                  <a:txBody>
                    <a:bodyPr wrap="square"/>
                    <a:lstStyle/>
                    <a:p>
                      <a:r>
                        <a:rPr sz="1024" b="0" i="0">
                          <a:solidFill>
                            <a:srgbClr val="1A1A1A"/>
                          </a:solidFill>
                          <a:latin typeface="Helvetica Neue"/>
                        </a:rPr>
                        <a:t>06/11/2020</a:t>
                      </a:r>
                    </a:p>
                  </a:txBody>
                  <a:tcPr marL="45720" marR="45720" marT="18288" marB="18288" anchor="t"/>
                </a:tc>
                <a:tc>
                  <a:txBody>
                    <a:bodyPr wrap="square"/>
                    <a:lstStyle/>
                    <a:p>
                      <a:r>
                        <a:rPr sz="1024" b="0" i="0">
                          <a:solidFill>
                            <a:srgbClr val="1A1A1A"/>
                          </a:solidFill>
                          <a:latin typeface="Helvetica Neue"/>
                        </a:rPr>
                        <a:t>Butterfly Network, Inc.</a:t>
                      </a:r>
                    </a:p>
                  </a:txBody>
                  <a:tcPr marL="45720" marR="45720" marT="18288" marB="18288" anchor="t"/>
                </a:tc>
                <a:tc>
                  <a:txBody>
                    <a:bodyPr wrap="square"/>
                    <a:lstStyle/>
                    <a:p>
                      <a:r>
                        <a:rPr sz="1024" b="0" i="0">
                          <a:solidFill>
                            <a:srgbClr val="1A1A1A"/>
                          </a:solidFill>
                          <a:latin typeface="Helvetica Neue"/>
                        </a:rPr>
                        <a:t>Auto 3D Bladder Volume Tool</a:t>
                      </a:r>
                    </a:p>
                  </a:txBody>
                  <a:tcPr marL="45720" marR="45720" marT="18288" marB="18288" anchor="t"/>
                </a:tc>
                <a:tc>
                  <a:txBody>
                    <a:bodyPr wrap="square"/>
                    <a:lstStyle/>
                    <a:p>
                      <a:r>
                        <a:rPr sz="1024" b="0" i="0">
                          <a:solidFill>
                            <a:srgbClr val="1A1A1A"/>
                          </a:solidFill>
                          <a:latin typeface="Helvetica Neue"/>
                        </a:rPr>
                        <a:t>IYO</a:t>
                      </a:r>
                    </a:p>
                  </a:txBody>
                  <a:tcPr marL="45720" marR="45720" marT="18288" marB="18288" anchor="t"/>
                </a:tc>
              </a:tr>
              <a:tr h="523036">
                <a:tc>
                  <a:txBody>
                    <a:bodyPr wrap="square"/>
                    <a:lstStyle/>
                    <a:p>
                      <a:r>
                        <a:rPr sz="1024" b="0" i="0">
                          <a:solidFill>
                            <a:srgbClr val="1A1A1A"/>
                          </a:solidFill>
                          <a:latin typeface="Helvetica Neue"/>
                        </a:rPr>
                        <a:t>K201012</a:t>
                      </a:r>
                    </a:p>
                  </a:txBody>
                  <a:tcPr marL="45720" marR="45720" marT="18288" marB="18288" anchor="t"/>
                </a:tc>
                <a:tc>
                  <a:txBody>
                    <a:bodyPr wrap="square"/>
                    <a:lstStyle/>
                    <a:p>
                      <a:r>
                        <a:rPr sz="1024" b="0" i="0">
                          <a:solidFill>
                            <a:srgbClr val="1A1A1A"/>
                          </a:solidFill>
                          <a:latin typeface="Helvetica Neue"/>
                        </a:rPr>
                        <a:t>05/01/2020</a:t>
                      </a:r>
                    </a:p>
                  </a:txBody>
                  <a:tcPr marL="45720" marR="45720" marT="18288" marB="18288" anchor="t"/>
                </a:tc>
                <a:tc>
                  <a:txBody>
                    <a:bodyPr wrap="square"/>
                    <a:lstStyle/>
                    <a:p>
                      <a:r>
                        <a:rPr sz="1024" b="0" i="0">
                          <a:solidFill>
                            <a:srgbClr val="1A1A1A"/>
                          </a:solidFill>
                          <a:latin typeface="Helvetica Neue"/>
                        </a:rPr>
                        <a:t>Philips Ultrasound, Inc.</a:t>
                      </a:r>
                    </a:p>
                  </a:txBody>
                  <a:tcPr marL="45720" marR="45720" marT="18288" marB="18288" anchor="t"/>
                </a:tc>
                <a:tc>
                  <a:txBody>
                    <a:bodyPr wrap="square"/>
                    <a:lstStyle/>
                    <a:p>
                      <a:r>
                        <a:rPr sz="1024" b="0" i="0">
                          <a:solidFill>
                            <a:srgbClr val="1A1A1A"/>
                          </a:solidFill>
                          <a:latin typeface="Helvetica Neue"/>
                        </a:rPr>
                        <a:t>EPIQ Diagnostic Ultrasound System Series, Affiniti Diagnostic Ultrasound System Series, CX50 Diagnostic Ultrasound System, Sparq Diagnostic Ultrasound System, Lumify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366979">
                <a:tc>
                  <a:txBody>
                    <a:bodyPr wrap="square"/>
                    <a:lstStyle/>
                    <a:p>
                      <a:r>
                        <a:rPr sz="1024" b="0" i="0">
                          <a:solidFill>
                            <a:srgbClr val="1A1A1A"/>
                          </a:solidFill>
                          <a:latin typeface="Helvetica Neue"/>
                        </a:rPr>
                        <a:t>K201039</a:t>
                      </a:r>
                    </a:p>
                  </a:txBody>
                  <a:tcPr marL="45720" marR="45720" marT="18288" marB="18288" anchor="t"/>
                </a:tc>
                <a:tc>
                  <a:txBody>
                    <a:bodyPr wrap="square"/>
                    <a:lstStyle/>
                    <a:p>
                      <a:r>
                        <a:rPr sz="1024" b="0" i="0">
                          <a:solidFill>
                            <a:srgbClr val="1A1A1A"/>
                          </a:solidFill>
                          <a:latin typeface="Helvetica Neue"/>
                        </a:rPr>
                        <a:t>12/07/2020</a:t>
                      </a:r>
                    </a:p>
                  </a:txBody>
                  <a:tcPr marL="45720" marR="45720" marT="18288" marB="18288" anchor="t"/>
                </a:tc>
                <a:tc>
                  <a:txBody>
                    <a:bodyPr wrap="square"/>
                    <a:lstStyle/>
                    <a:p>
                      <a:r>
                        <a:rPr sz="1024" b="0" i="0">
                          <a:solidFill>
                            <a:srgbClr val="1A1A1A"/>
                          </a:solidFill>
                          <a:latin typeface="Helvetica Neue"/>
                        </a:rPr>
                        <a:t>Resonance Health Analysis Services Pty Ltd</a:t>
                      </a:r>
                    </a:p>
                  </a:txBody>
                  <a:tcPr marL="45720" marR="45720" marT="18288" marB="18288" anchor="t"/>
                </a:tc>
                <a:tc>
                  <a:txBody>
                    <a:bodyPr wrap="square"/>
                    <a:lstStyle/>
                    <a:p>
                      <a:r>
                        <a:rPr sz="1024" b="0" i="0">
                          <a:solidFill>
                            <a:srgbClr val="1A1A1A"/>
                          </a:solidFill>
                          <a:latin typeface="Helvetica Neue"/>
                        </a:rPr>
                        <a:t>HepaFat-AI</a:t>
                      </a:r>
                    </a:p>
                  </a:txBody>
                  <a:tcPr marL="45720" marR="45720" marT="18288" marB="18288" anchor="t"/>
                </a:tc>
                <a:tc>
                  <a:txBody>
                    <a:bodyPr wrap="square"/>
                    <a:lstStyle/>
                    <a:p>
                      <a:r>
                        <a:rPr sz="1024" b="0" i="0">
                          <a:solidFill>
                            <a:srgbClr val="1A1A1A"/>
                          </a:solidFill>
                          <a:latin typeface="Helvetica Neue"/>
                        </a:rPr>
                        <a:t>LNH</a:t>
                      </a:r>
                    </a:p>
                  </a:txBody>
                  <a:tcPr marL="45720" marR="45720" marT="18288" marB="18288" anchor="t"/>
                </a:tc>
              </a:tr>
              <a:tr h="210921">
                <a:tc>
                  <a:txBody>
                    <a:bodyPr wrap="square"/>
                    <a:lstStyle/>
                    <a:p>
                      <a:r>
                        <a:rPr sz="1024" b="0" i="0">
                          <a:solidFill>
                            <a:srgbClr val="1A1A1A"/>
                          </a:solidFill>
                          <a:latin typeface="Helvetica Neue"/>
                        </a:rPr>
                        <a:t>K201632</a:t>
                      </a:r>
                    </a:p>
                  </a:txBody>
                  <a:tcPr marL="45720" marR="45720" marT="18288" marB="18288" anchor="t"/>
                </a:tc>
                <a:tc>
                  <a:txBody>
                    <a:bodyPr wrap="square"/>
                    <a:lstStyle/>
                    <a:p>
                      <a:r>
                        <a:rPr sz="1024" b="0" i="0">
                          <a:solidFill>
                            <a:srgbClr val="1A1A1A"/>
                          </a:solidFill>
                          <a:latin typeface="Helvetica Neue"/>
                        </a:rPr>
                        <a:t>08/14/2020</a:t>
                      </a:r>
                    </a:p>
                  </a:txBody>
                  <a:tcPr marL="45720" marR="45720" marT="18288" marB="18288" anchor="t"/>
                </a:tc>
                <a:tc>
                  <a:txBody>
                    <a:bodyPr wrap="square"/>
                    <a:lstStyle/>
                    <a:p>
                      <a:r>
                        <a:rPr sz="1024" b="0" i="0">
                          <a:solidFill>
                            <a:srgbClr val="1A1A1A"/>
                          </a:solidFill>
                          <a:latin typeface="Helvetica Neue"/>
                        </a:rPr>
                        <a:t>TOMTEC Imaging Systems GmbH</a:t>
                      </a:r>
                    </a:p>
                  </a:txBody>
                  <a:tcPr marL="45720" marR="45720" marT="18288" marB="18288" anchor="t"/>
                </a:tc>
                <a:tc>
                  <a:txBody>
                    <a:bodyPr wrap="square"/>
                    <a:lstStyle/>
                    <a:p>
                      <a:r>
                        <a:rPr sz="1024" b="0" i="0">
                          <a:solidFill>
                            <a:srgbClr val="1A1A1A"/>
                          </a:solidFill>
                          <a:latin typeface="Helvetica Neue"/>
                        </a:rPr>
                        <a:t>TOMTEC-ARENA</a:t>
                      </a:r>
                    </a:p>
                  </a:txBody>
                  <a:tcPr marL="45720" marR="45720" marT="18288" marB="18288" anchor="t"/>
                </a:tc>
                <a:tc>
                  <a:txBody>
                    <a:bodyPr wrap="square"/>
                    <a:lstStyle/>
                    <a:p>
                      <a:r>
                        <a:rPr sz="1024" b="0" i="0">
                          <a:solidFill>
                            <a:srgbClr val="1A1A1A"/>
                          </a:solidFill>
                          <a:latin typeface="Helvetica Neue"/>
                        </a:rPr>
                        <a:t>LLZ</a:t>
                      </a:r>
                    </a:p>
                  </a:txBody>
                  <a:tcPr marL="45720" marR="45720" marT="18288" marB="18288" anchor="t"/>
                </a:tc>
              </a:tr>
              <a:tr h="210921">
                <a:tc>
                  <a:txBody>
                    <a:bodyPr wrap="square"/>
                    <a:lstStyle/>
                    <a:p>
                      <a:r>
                        <a:rPr sz="1024" b="0" i="0">
                          <a:solidFill>
                            <a:srgbClr val="1A1A1A"/>
                          </a:solidFill>
                          <a:latin typeface="Helvetica Neue"/>
                        </a:rPr>
                        <a:t>K210426</a:t>
                      </a:r>
                    </a:p>
                  </a:txBody>
                  <a:tcPr marL="45720" marR="45720" marT="18288" marB="18288" anchor="t"/>
                </a:tc>
                <a:tc>
                  <a:txBody>
                    <a:bodyPr wrap="square"/>
                    <a:lstStyle/>
                    <a:p>
                      <a:r>
                        <a:rPr sz="1024" b="0" i="0">
                          <a:solidFill>
                            <a:srgbClr val="1A1A1A"/>
                          </a:solidFill>
                          <a:latin typeface="Helvetica Neue"/>
                        </a:rPr>
                        <a:t>05/13/2021</a:t>
                      </a:r>
                    </a:p>
                  </a:txBody>
                  <a:tcPr marL="45720" marR="45720" marT="18288" marB="18288" anchor="t"/>
                </a:tc>
                <a:tc>
                  <a:txBody>
                    <a:bodyPr wrap="square"/>
                    <a:lstStyle/>
                    <a:p>
                      <a:r>
                        <a:rPr sz="1024" b="0" i="0">
                          <a:solidFill>
                            <a:srgbClr val="1A1A1A"/>
                          </a:solidFill>
                          <a:latin typeface="Helvetica Neue"/>
                        </a:rPr>
                        <a:t>Samsung Medison CO., LTD.</a:t>
                      </a:r>
                    </a:p>
                  </a:txBody>
                  <a:tcPr marL="45720" marR="45720" marT="18288" marB="18288" anchor="t"/>
                </a:tc>
                <a:tc>
                  <a:txBody>
                    <a:bodyPr wrap="square"/>
                    <a:lstStyle/>
                    <a:p>
                      <a:r>
                        <a:rPr sz="1024" b="0" i="0">
                          <a:solidFill>
                            <a:srgbClr val="1A1A1A"/>
                          </a:solidFill>
                          <a:latin typeface="Helvetica Neue"/>
                        </a:rPr>
                        <a:t>HS40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K210556</a:t>
                      </a:r>
                    </a:p>
                  </a:txBody>
                  <a:tcPr marL="45720" marR="45720" marT="18288" marB="18288" anchor="t"/>
                </a:tc>
                <a:tc>
                  <a:txBody>
                    <a:bodyPr wrap="square"/>
                    <a:lstStyle/>
                    <a:p>
                      <a:r>
                        <a:rPr sz="1024" b="0" i="0">
                          <a:solidFill>
                            <a:srgbClr val="1A1A1A"/>
                          </a:solidFill>
                          <a:latin typeface="Helvetica Neue"/>
                        </a:rPr>
                        <a:t>04/21/2021</a:t>
                      </a:r>
                    </a:p>
                  </a:txBody>
                  <a:tcPr marL="45720" marR="45720" marT="18288" marB="18288" anchor="t"/>
                </a:tc>
                <a:tc>
                  <a:txBody>
                    <a:bodyPr wrap="square"/>
                    <a:lstStyle/>
                    <a:p>
                      <a:r>
                        <a:rPr sz="1024" b="0" i="0">
                          <a:solidFill>
                            <a:srgbClr val="1A1A1A"/>
                          </a:solidFill>
                          <a:latin typeface="Helvetica Neue"/>
                        </a:rPr>
                        <a:t>Genesis Software Innovations</a:t>
                      </a:r>
                    </a:p>
                  </a:txBody>
                  <a:tcPr marL="45720" marR="45720" marT="18288" marB="18288" anchor="t"/>
                </a:tc>
                <a:tc>
                  <a:txBody>
                    <a:bodyPr wrap="square"/>
                    <a:lstStyle/>
                    <a:p>
                      <a:r>
                        <a:rPr sz="1024" b="0" i="0">
                          <a:solidFill>
                            <a:srgbClr val="1A1A1A"/>
                          </a:solidFill>
                          <a:latin typeface="Helvetica Neue"/>
                        </a:rPr>
                        <a:t>Preview Shoulder</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67 / 83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(21–40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365688"/>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10921">
                <a:tc>
                  <a:txBody>
                    <a:bodyPr wrap="square"/>
                    <a:lstStyle/>
                    <a:p>
                      <a:r>
                        <a:rPr sz="1024" b="1" i="0">
                          <a:solidFill>
                            <a:srgbClr val="FFFFFF"/>
                          </a:solidFill>
                          <a:latin typeface="Helvetica Neue"/>
                        </a:rPr>
                        <a:t>Submission</a:t>
                      </a:r>
                    </a:p>
                  </a:txBody>
                  <a:tcPr marL="45720" marR="45720" marT="18288" marB="18288" anchor="t"/>
                </a:tc>
                <a:tc>
                  <a:txBody>
                    <a:bodyPr wrap="square"/>
                    <a:lstStyle/>
                    <a:p>
                      <a:r>
                        <a:rPr sz="1024" b="1" i="0">
                          <a:solidFill>
                            <a:srgbClr val="FFFFFF"/>
                          </a:solidFill>
                          <a:latin typeface="Helvetica Neue"/>
                        </a:rPr>
                        <a:t>Date</a:t>
                      </a:r>
                    </a:p>
                  </a:txBody>
                  <a:tcPr marL="45720" marR="45720" marT="18288" marB="18288" anchor="t"/>
                </a:tc>
                <a:tc>
                  <a:txBody>
                    <a:bodyPr wrap="square"/>
                    <a:lstStyle/>
                    <a:p>
                      <a:r>
                        <a:rPr sz="1024" b="1" i="0">
                          <a:solidFill>
                            <a:srgbClr val="FFFFFF"/>
                          </a:solidFill>
                          <a:latin typeface="Helvetica Neue"/>
                        </a:rPr>
                        <a:t>Company</a:t>
                      </a:r>
                    </a:p>
                  </a:txBody>
                  <a:tcPr marL="45720" marR="45720" marT="18288" marB="18288" anchor="t"/>
                </a:tc>
                <a:tc>
                  <a:txBody>
                    <a:bodyPr wrap="square"/>
                    <a:lstStyle/>
                    <a:p>
                      <a:r>
                        <a:rPr sz="1024" b="1" i="0">
                          <a:solidFill>
                            <a:srgbClr val="FFFFFF"/>
                          </a:solidFill>
                          <a:latin typeface="Helvetica Neue"/>
                        </a:rPr>
                        <a:t>Device</a:t>
                      </a:r>
                    </a:p>
                  </a:txBody>
                  <a:tcPr marL="45720" marR="45720" marT="18288" marB="18288" anchor="t"/>
                </a:tc>
                <a:tc>
                  <a:txBody>
                    <a:bodyPr wrap="square"/>
                    <a:lstStyle/>
                    <a:p>
                      <a:r>
                        <a:rPr sz="1024" b="1" i="0">
                          <a:solidFill>
                            <a:srgbClr val="FFFFFF"/>
                          </a:solidFill>
                          <a:latin typeface="Helvetica Neue"/>
                        </a:rPr>
                        <a:t>Code</a:t>
                      </a:r>
                    </a:p>
                  </a:txBody>
                  <a:tcPr marL="45720" marR="45720" marT="18288" marB="18288" anchor="t"/>
                </a:tc>
              </a:tr>
              <a:tr h="366979">
                <a:tc>
                  <a:txBody>
                    <a:bodyPr wrap="square"/>
                    <a:lstStyle/>
                    <a:p>
                      <a:r>
                        <a:rPr sz="1024" b="0" i="0">
                          <a:solidFill>
                            <a:srgbClr val="1A1A1A"/>
                          </a:solidFill>
                          <a:latin typeface="Helvetica Neue"/>
                        </a:rPr>
                        <a:t>K210760</a:t>
                      </a:r>
                    </a:p>
                  </a:txBody>
                  <a:tcPr marL="45720" marR="45720" marT="18288" marB="18288" anchor="t"/>
                </a:tc>
                <a:tc>
                  <a:txBody>
                    <a:bodyPr wrap="square"/>
                    <a:lstStyle/>
                    <a:p>
                      <a:r>
                        <a:rPr sz="1024" b="0" i="0">
                          <a:solidFill>
                            <a:srgbClr val="1A1A1A"/>
                          </a:solidFill>
                          <a:latin typeface="Helvetica Neue"/>
                        </a:rPr>
                        <a:t>01/14/2022</a:t>
                      </a:r>
                    </a:p>
                  </a:txBody>
                  <a:tcPr marL="45720" marR="45720" marT="18288" marB="18288" anchor="t"/>
                </a:tc>
                <a:tc>
                  <a:txBody>
                    <a:bodyPr wrap="square"/>
                    <a:lstStyle/>
                    <a:p>
                      <a:r>
                        <a:rPr sz="1024" b="0" i="0">
                          <a:solidFill>
                            <a:srgbClr val="1A1A1A"/>
                          </a:solidFill>
                          <a:latin typeface="Helvetica Neue"/>
                        </a:rPr>
                        <a:t>Philips Medical Systems Nederland, B.V.</a:t>
                      </a:r>
                    </a:p>
                  </a:txBody>
                  <a:tcPr marL="45720" marR="45720" marT="18288" marB="18288" anchor="t"/>
                </a:tc>
                <a:tc>
                  <a:txBody>
                    <a:bodyPr wrap="square"/>
                    <a:lstStyle/>
                    <a:p>
                      <a:r>
                        <a:rPr sz="1024" b="0" i="0">
                          <a:solidFill>
                            <a:srgbClr val="1A1A1A"/>
                          </a:solidFill>
                          <a:latin typeface="Helvetica Neue"/>
                        </a:rPr>
                        <a:t>Precise Image</a:t>
                      </a:r>
                    </a:p>
                  </a:txBody>
                  <a:tcPr marL="45720" marR="45720" marT="18288" marB="18288" anchor="t"/>
                </a:tc>
                <a:tc>
                  <a:txBody>
                    <a:bodyPr wrap="square"/>
                    <a:lstStyle/>
                    <a:p>
                      <a:r>
                        <a:rPr sz="1024" b="0" i="0">
                          <a:solidFill>
                            <a:srgbClr val="1A1A1A"/>
                          </a:solidFill>
                          <a:latin typeface="Helvetica Neue"/>
                        </a:rPr>
                        <a:t>JAK</a:t>
                      </a:r>
                    </a:p>
                  </a:txBody>
                  <a:tcPr marL="45720" marR="45720" marT="18288" marB="18288" anchor="t"/>
                </a:tc>
              </a:tr>
              <a:tr h="366979">
                <a:tc>
                  <a:txBody>
                    <a:bodyPr wrap="square"/>
                    <a:lstStyle/>
                    <a:p>
                      <a:r>
                        <a:rPr sz="1024" b="0" i="0">
                          <a:solidFill>
                            <a:srgbClr val="1A1A1A"/>
                          </a:solidFill>
                          <a:latin typeface="Helvetica Neue"/>
                        </a:rPr>
                        <a:t>K211597</a:t>
                      </a:r>
                    </a:p>
                  </a:txBody>
                  <a:tcPr marL="45720" marR="45720" marT="18288" marB="18288" anchor="t"/>
                </a:tc>
                <a:tc>
                  <a:txBody>
                    <a:bodyPr wrap="square"/>
                    <a:lstStyle/>
                    <a:p>
                      <a:r>
                        <a:rPr sz="1024" b="0" i="0">
                          <a:solidFill>
                            <a:srgbClr val="1A1A1A"/>
                          </a:solidFill>
                          <a:latin typeface="Helvetica Neue"/>
                        </a:rPr>
                        <a:t>09/08/2021</a:t>
                      </a:r>
                    </a:p>
                  </a:txBody>
                  <a:tcPr marL="45720" marR="45720" marT="18288" marB="18288" anchor="t"/>
                </a:tc>
                <a:tc>
                  <a:txBody>
                    <a:bodyPr wrap="square"/>
                    <a:lstStyle/>
                    <a:p>
                      <a:r>
                        <a:rPr sz="1024" b="0" i="0">
                          <a:solidFill>
                            <a:srgbClr val="1A1A1A"/>
                          </a:solidFill>
                          <a:latin typeface="Helvetica Neue"/>
                        </a:rPr>
                        <a:t>Philips Medical Systems</a:t>
                      </a:r>
                    </a:p>
                  </a:txBody>
                  <a:tcPr marL="45720" marR="45720" marT="18288" marB="18288" anchor="t"/>
                </a:tc>
                <a:tc>
                  <a:txBody>
                    <a:bodyPr wrap="square"/>
                    <a:lstStyle/>
                    <a:p>
                      <a:r>
                        <a:rPr sz="1024" b="0" i="0">
                          <a:solidFill>
                            <a:srgbClr val="1A1A1A"/>
                          </a:solidFill>
                          <a:latin typeface="Helvetica Neue"/>
                        </a:rPr>
                        <a:t>EPIQ Series Diagnostic Ultrasound System, Affiniti Series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366979">
                <a:tc>
                  <a:txBody>
                    <a:bodyPr wrap="square"/>
                    <a:lstStyle/>
                    <a:p>
                      <a:r>
                        <a:rPr sz="1024" b="0" i="0">
                          <a:solidFill>
                            <a:srgbClr val="1A1A1A"/>
                          </a:solidFill>
                          <a:latin typeface="Helvetica Neue"/>
                        </a:rPr>
                        <a:t>K211611</a:t>
                      </a:r>
                    </a:p>
                  </a:txBody>
                  <a:tcPr marL="45720" marR="45720" marT="18288" marB="18288" anchor="t"/>
                </a:tc>
                <a:tc>
                  <a:txBody>
                    <a:bodyPr wrap="square"/>
                    <a:lstStyle/>
                    <a:p>
                      <a:r>
                        <a:rPr sz="1024" b="0" i="0">
                          <a:solidFill>
                            <a:srgbClr val="1A1A1A"/>
                          </a:solidFill>
                          <a:latin typeface="Helvetica Neue"/>
                        </a:rPr>
                        <a:t>09/30/2022</a:t>
                      </a:r>
                    </a:p>
                  </a:txBody>
                  <a:tcPr marL="45720" marR="45720" marT="18288" marB="18288" anchor="t"/>
                </a:tc>
                <a:tc>
                  <a:txBody>
                    <a:bodyPr wrap="square"/>
                    <a:lstStyle/>
                    <a:p>
                      <a:r>
                        <a:rPr sz="1024" b="0" i="0">
                          <a:solidFill>
                            <a:srgbClr val="1A1A1A"/>
                          </a:solidFill>
                          <a:latin typeface="Helvetica Neue"/>
                        </a:rPr>
                        <a:t>CASIS Cardiac Simulation &amp; Imaging Software</a:t>
                      </a:r>
                    </a:p>
                  </a:txBody>
                  <a:tcPr marL="45720" marR="45720" marT="18288" marB="18288" anchor="t"/>
                </a:tc>
                <a:tc>
                  <a:txBody>
                    <a:bodyPr wrap="square"/>
                    <a:lstStyle/>
                    <a:p>
                      <a:r>
                        <a:rPr sz="1024" b="0" i="0">
                          <a:solidFill>
                            <a:srgbClr val="1A1A1A"/>
                          </a:solidFill>
                          <a:latin typeface="Helvetica Neue"/>
                        </a:rPr>
                        <a:t>QIR Suite</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K211824</a:t>
                      </a:r>
                    </a:p>
                  </a:txBody>
                  <a:tcPr marL="45720" marR="45720" marT="18288" marB="18288" anchor="t"/>
                </a:tc>
                <a:tc>
                  <a:txBody>
                    <a:bodyPr wrap="square"/>
                    <a:lstStyle/>
                    <a:p>
                      <a:r>
                        <a:rPr sz="1024" b="0" i="0">
                          <a:solidFill>
                            <a:srgbClr val="1A1A1A"/>
                          </a:solidFill>
                          <a:latin typeface="Helvetica Neue"/>
                        </a:rPr>
                        <a:t>09/09/2021</a:t>
                      </a:r>
                    </a:p>
                  </a:txBody>
                  <a:tcPr marL="45720" marR="45720" marT="18288" marB="18288" anchor="t"/>
                </a:tc>
                <a:tc>
                  <a:txBody>
                    <a:bodyPr wrap="square"/>
                    <a:lstStyle/>
                    <a:p>
                      <a:r>
                        <a:rPr sz="1024" b="0" i="0">
                          <a:solidFill>
                            <a:srgbClr val="1A1A1A"/>
                          </a:solidFill>
                          <a:latin typeface="Helvetica Neue"/>
                        </a:rPr>
                        <a:t>Samsung Medison Co., Ltd.</a:t>
                      </a:r>
                    </a:p>
                  </a:txBody>
                  <a:tcPr marL="45720" marR="45720" marT="18288" marB="18288" anchor="t"/>
                </a:tc>
                <a:tc>
                  <a:txBody>
                    <a:bodyPr wrap="square"/>
                    <a:lstStyle/>
                    <a:p>
                      <a:r>
                        <a:rPr sz="1024" b="0" i="0">
                          <a:solidFill>
                            <a:srgbClr val="1A1A1A"/>
                          </a:solidFill>
                          <a:latin typeface="Helvetica Neue"/>
                        </a:rPr>
                        <a:t>HERA W9, HERA W10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K211945</a:t>
                      </a:r>
                    </a:p>
                  </a:txBody>
                  <a:tcPr marL="45720" marR="45720" marT="18288" marB="18288" anchor="t"/>
                </a:tc>
                <a:tc>
                  <a:txBody>
                    <a:bodyPr wrap="square"/>
                    <a:lstStyle/>
                    <a:p>
                      <a:r>
                        <a:rPr sz="1024" b="0" i="0">
                          <a:solidFill>
                            <a:srgbClr val="1A1A1A"/>
                          </a:solidFill>
                          <a:latin typeface="Helvetica Neue"/>
                        </a:rPr>
                        <a:t>09/08/2021</a:t>
                      </a:r>
                    </a:p>
                  </a:txBody>
                  <a:tcPr marL="45720" marR="45720" marT="18288" marB="18288" anchor="t"/>
                </a:tc>
                <a:tc>
                  <a:txBody>
                    <a:bodyPr wrap="square"/>
                    <a:lstStyle/>
                    <a:p>
                      <a:r>
                        <a:rPr sz="1024" b="0" i="0">
                          <a:solidFill>
                            <a:srgbClr val="1A1A1A"/>
                          </a:solidFill>
                          <a:latin typeface="Helvetica Neue"/>
                        </a:rPr>
                        <a:t>Samsung Medison CO., LTD.</a:t>
                      </a:r>
                    </a:p>
                  </a:txBody>
                  <a:tcPr marL="45720" marR="45720" marT="18288" marB="18288" anchor="t"/>
                </a:tc>
                <a:tc>
                  <a:txBody>
                    <a:bodyPr wrap="square"/>
                    <a:lstStyle/>
                    <a:p>
                      <a:r>
                        <a:rPr sz="1024" b="0" i="0">
                          <a:solidFill>
                            <a:srgbClr val="1A1A1A"/>
                          </a:solidFill>
                          <a:latin typeface="Helvetica Neue"/>
                        </a:rPr>
                        <a:t>V8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K211966</a:t>
                      </a:r>
                    </a:p>
                  </a:txBody>
                  <a:tcPr marL="45720" marR="45720" marT="18288" marB="18288" anchor="t"/>
                </a:tc>
                <a:tc>
                  <a:txBody>
                    <a:bodyPr wrap="square"/>
                    <a:lstStyle/>
                    <a:p>
                      <a:r>
                        <a:rPr sz="1024" b="0" i="0">
                          <a:solidFill>
                            <a:srgbClr val="1A1A1A"/>
                          </a:solidFill>
                          <a:latin typeface="Helvetica Neue"/>
                        </a:rPr>
                        <a:t>05/06/2022</a:t>
                      </a:r>
                    </a:p>
                  </a:txBody>
                  <a:tcPr marL="45720" marR="45720" marT="18288" marB="18288" anchor="t"/>
                </a:tc>
                <a:tc>
                  <a:txBody>
                    <a:bodyPr wrap="square"/>
                    <a:lstStyle/>
                    <a:p>
                      <a:r>
                        <a:rPr sz="1024" b="0" i="0">
                          <a:solidFill>
                            <a:srgbClr val="1A1A1A"/>
                          </a:solidFill>
                          <a:latin typeface="Helvetica Neue"/>
                        </a:rPr>
                        <a:t>Medviso AB</a:t>
                      </a:r>
                    </a:p>
                  </a:txBody>
                  <a:tcPr marL="45720" marR="45720" marT="18288" marB="18288" anchor="t"/>
                </a:tc>
                <a:tc>
                  <a:txBody>
                    <a:bodyPr wrap="square"/>
                    <a:lstStyle/>
                    <a:p>
                      <a:r>
                        <a:rPr sz="1024" b="0" i="0">
                          <a:solidFill>
                            <a:srgbClr val="1A1A1A"/>
                          </a:solidFill>
                          <a:latin typeface="Helvetica Neue"/>
                        </a:rPr>
                        <a:t>Segment 3DPrint</a:t>
                      </a:r>
                    </a:p>
                  </a:txBody>
                  <a:tcPr marL="45720" marR="45720" marT="18288" marB="18288" anchor="t"/>
                </a:tc>
                <a:tc>
                  <a:txBody>
                    <a:bodyPr wrap="square"/>
                    <a:lstStyle/>
                    <a:p>
                      <a:r>
                        <a:rPr sz="1024" b="0" i="0">
                          <a:solidFill>
                            <a:srgbClr val="1A1A1A"/>
                          </a:solidFill>
                          <a:latin typeface="Helvetica Neue"/>
                        </a:rPr>
                        <a:t>LLZ</a:t>
                      </a:r>
                    </a:p>
                  </a:txBody>
                  <a:tcPr marL="45720" marR="45720" marT="18288" marB="18288" anchor="t"/>
                </a:tc>
              </a:tr>
              <a:tr h="210921">
                <a:tc>
                  <a:txBody>
                    <a:bodyPr wrap="square"/>
                    <a:lstStyle/>
                    <a:p>
                      <a:r>
                        <a:rPr sz="1024" b="0" i="0">
                          <a:solidFill>
                            <a:srgbClr val="1A1A1A"/>
                          </a:solidFill>
                          <a:latin typeface="Helvetica Neue"/>
                        </a:rPr>
                        <a:t>K212012</a:t>
                      </a:r>
                    </a:p>
                  </a:txBody>
                  <a:tcPr marL="45720" marR="45720" marT="18288" marB="18288" anchor="t"/>
                </a:tc>
                <a:tc>
                  <a:txBody>
                    <a:bodyPr wrap="square"/>
                    <a:lstStyle/>
                    <a:p>
                      <a:r>
                        <a:rPr sz="1024" b="0" i="0">
                          <a:solidFill>
                            <a:srgbClr val="1A1A1A"/>
                          </a:solidFill>
                          <a:latin typeface="Helvetica Neue"/>
                        </a:rPr>
                        <a:t>01/19/2022</a:t>
                      </a:r>
                    </a:p>
                  </a:txBody>
                  <a:tcPr marL="45720" marR="45720" marT="18288" marB="18288" anchor="t"/>
                </a:tc>
                <a:tc>
                  <a:txBody>
                    <a:bodyPr wrap="square"/>
                    <a:lstStyle/>
                    <a:p>
                      <a:r>
                        <a:rPr sz="1024" b="0" i="0">
                          <a:solidFill>
                            <a:srgbClr val="1A1A1A"/>
                          </a:solidFill>
                          <a:latin typeface="Helvetica Neue"/>
                        </a:rPr>
                        <a:t>Cycle Clarity</a:t>
                      </a:r>
                    </a:p>
                  </a:txBody>
                  <a:tcPr marL="45720" marR="45720" marT="18288" marB="18288" anchor="t"/>
                </a:tc>
                <a:tc>
                  <a:txBody>
                    <a:bodyPr wrap="square"/>
                    <a:lstStyle/>
                    <a:p>
                      <a:r>
                        <a:rPr sz="1024" b="0" i="0">
                          <a:solidFill>
                            <a:srgbClr val="1A1A1A"/>
                          </a:solidFill>
                          <a:latin typeface="Helvetica Neue"/>
                        </a:rPr>
                        <a:t>Follicle Clarity</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K212100</a:t>
                      </a:r>
                    </a:p>
                  </a:txBody>
                  <a:tcPr marL="45720" marR="45720" marT="18288" marB="18288" anchor="t"/>
                </a:tc>
                <a:tc>
                  <a:txBody>
                    <a:bodyPr wrap="square"/>
                    <a:lstStyle/>
                    <a:p>
                      <a:r>
                        <a:rPr sz="1024" b="0" i="0">
                          <a:solidFill>
                            <a:srgbClr val="1A1A1A"/>
                          </a:solidFill>
                          <a:latin typeface="Helvetica Neue"/>
                        </a:rPr>
                        <a:t>08/06/2021</a:t>
                      </a:r>
                    </a:p>
                  </a:txBody>
                  <a:tcPr marL="45720" marR="45720" marT="18288" marB="18288" anchor="t"/>
                </a:tc>
                <a:tc>
                  <a:txBody>
                    <a:bodyPr wrap="square"/>
                    <a:lstStyle/>
                    <a:p>
                      <a:r>
                        <a:rPr sz="1024" b="0" i="0">
                          <a:solidFill>
                            <a:srgbClr val="1A1A1A"/>
                          </a:solidFill>
                          <a:latin typeface="Helvetica Neue"/>
                        </a:rPr>
                        <a:t>EchoNous, Inc.</a:t>
                      </a:r>
                    </a:p>
                  </a:txBody>
                  <a:tcPr marL="45720" marR="45720" marT="18288" marB="18288" anchor="t"/>
                </a:tc>
                <a:tc>
                  <a:txBody>
                    <a:bodyPr wrap="square"/>
                    <a:lstStyle/>
                    <a:p>
                      <a:r>
                        <a:rPr sz="1024" b="0" i="0">
                          <a:solidFill>
                            <a:srgbClr val="1A1A1A"/>
                          </a:solidFill>
                          <a:latin typeface="Helvetica Neue"/>
                        </a:rPr>
                        <a:t>Kosmos</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523036">
                <a:tc>
                  <a:txBody>
                    <a:bodyPr wrap="square"/>
                    <a:lstStyle/>
                    <a:p>
                      <a:r>
                        <a:rPr sz="1024" b="0" i="0">
                          <a:solidFill>
                            <a:srgbClr val="1A1A1A"/>
                          </a:solidFill>
                          <a:latin typeface="Helvetica Neue"/>
                        </a:rPr>
                        <a:t>K212265</a:t>
                      </a:r>
                    </a:p>
                  </a:txBody>
                  <a:tcPr marL="45720" marR="45720" marT="18288" marB="18288" anchor="t"/>
                </a:tc>
                <a:tc>
                  <a:txBody>
                    <a:bodyPr wrap="square"/>
                    <a:lstStyle/>
                    <a:p>
                      <a:r>
                        <a:rPr sz="1024" b="0" i="0">
                          <a:solidFill>
                            <a:srgbClr val="1A1A1A"/>
                          </a:solidFill>
                          <a:latin typeface="Helvetica Neue"/>
                        </a:rPr>
                        <a:t>11/16/2021</a:t>
                      </a:r>
                    </a:p>
                  </a:txBody>
                  <a:tcPr marL="45720" marR="45720" marT="18288" marB="18288" anchor="t"/>
                </a:tc>
                <a:tc>
                  <a:txBody>
                    <a:bodyPr wrap="square"/>
                    <a:lstStyle/>
                    <a:p>
                      <a:r>
                        <a:rPr sz="1024" b="0" i="0">
                          <a:solidFill>
                            <a:srgbClr val="1A1A1A"/>
                          </a:solidFill>
                          <a:latin typeface="Helvetica Neue"/>
                        </a:rPr>
                        <a:t>Shenzhen Mindray Bio-Medical Electronics Co.,LTD</a:t>
                      </a:r>
                    </a:p>
                  </a:txBody>
                  <a:tcPr marL="45720" marR="45720" marT="18288" marB="18288" anchor="t"/>
                </a:tc>
                <a:tc>
                  <a:txBody>
                    <a:bodyPr wrap="square"/>
                    <a:lstStyle/>
                    <a:p>
                      <a:r>
                        <a:rPr sz="1024" b="0" i="0">
                          <a:solidFill>
                            <a:srgbClr val="1A1A1A"/>
                          </a:solidFill>
                          <a:latin typeface="Helvetica Neue"/>
                        </a:rPr>
                        <a:t>TEX20/TEX20 Pro/TEX20S/TEX20T/TEX20 Exp/TEX20 Elite Diagnostic Ultrasound System, TEX10/ TEX10 Pro/TEX10S/TEX10T/TEX10 Exp/TEX10 Elite/TE X/TE X Lite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K212269</a:t>
                      </a:r>
                    </a:p>
                  </a:txBody>
                  <a:tcPr marL="45720" marR="45720" marT="18288" marB="18288" anchor="t"/>
                </a:tc>
                <a:tc>
                  <a:txBody>
                    <a:bodyPr wrap="square"/>
                    <a:lstStyle/>
                    <a:p>
                      <a:r>
                        <a:rPr sz="1024" b="0" i="0">
                          <a:solidFill>
                            <a:srgbClr val="1A1A1A"/>
                          </a:solidFill>
                          <a:latin typeface="Helvetica Neue"/>
                        </a:rPr>
                        <a:t>09/17/2021</a:t>
                      </a:r>
                    </a:p>
                  </a:txBody>
                  <a:tcPr marL="45720" marR="45720" marT="18288" marB="18288" anchor="t"/>
                </a:tc>
                <a:tc>
                  <a:txBody>
                    <a:bodyPr wrap="square"/>
                    <a:lstStyle/>
                    <a:p>
                      <a:r>
                        <a:rPr sz="1024" b="0" i="0">
                          <a:solidFill>
                            <a:srgbClr val="1A1A1A"/>
                          </a:solidFill>
                          <a:latin typeface="Helvetica Neue"/>
                        </a:rPr>
                        <a:t>Canon Inc.</a:t>
                      </a:r>
                    </a:p>
                  </a:txBody>
                  <a:tcPr marL="45720" marR="45720" marT="18288" marB="18288" anchor="t"/>
                </a:tc>
                <a:tc>
                  <a:txBody>
                    <a:bodyPr wrap="square"/>
                    <a:lstStyle/>
                    <a:p>
                      <a:r>
                        <a:rPr sz="1024" b="0" i="0">
                          <a:solidFill>
                            <a:srgbClr val="1A1A1A"/>
                          </a:solidFill>
                          <a:latin typeface="Helvetica Neue"/>
                        </a:rPr>
                        <a:t>Intelligent NR</a:t>
                      </a:r>
                    </a:p>
                  </a:txBody>
                  <a:tcPr marL="45720" marR="45720" marT="18288" marB="18288" anchor="t"/>
                </a:tc>
                <a:tc>
                  <a:txBody>
                    <a:bodyPr wrap="square"/>
                    <a:lstStyle/>
                    <a:p>
                      <a:r>
                        <a:rPr sz="1024" b="0" i="0">
                          <a:solidFill>
                            <a:srgbClr val="1A1A1A"/>
                          </a:solidFill>
                          <a:latin typeface="Helvetica Neue"/>
                        </a:rPr>
                        <a:t>MQB</a:t>
                      </a:r>
                    </a:p>
                  </a:txBody>
                  <a:tcPr marL="45720" marR="45720" marT="18288" marB="18288" anchor="t"/>
                </a:tc>
              </a:tr>
              <a:tr h="210921">
                <a:tc>
                  <a:txBody>
                    <a:bodyPr wrap="square"/>
                    <a:lstStyle/>
                    <a:p>
                      <a:r>
                        <a:rPr sz="1024" b="0" i="0">
                          <a:solidFill>
                            <a:srgbClr val="1A1A1A"/>
                          </a:solidFill>
                          <a:latin typeface="Helvetica Neue"/>
                        </a:rPr>
                        <a:t>K212336</a:t>
                      </a:r>
                    </a:p>
                  </a:txBody>
                  <a:tcPr marL="45720" marR="45720" marT="18288" marB="18288" anchor="t"/>
                </a:tc>
                <a:tc>
                  <a:txBody>
                    <a:bodyPr wrap="square"/>
                    <a:lstStyle/>
                    <a:p>
                      <a:r>
                        <a:rPr sz="1024" b="0" i="0">
                          <a:solidFill>
                            <a:srgbClr val="1A1A1A"/>
                          </a:solidFill>
                          <a:latin typeface="Helvetica Neue"/>
                        </a:rPr>
                        <a:t>11/17/2021</a:t>
                      </a:r>
                    </a:p>
                  </a:txBody>
                  <a:tcPr marL="45720" marR="45720" marT="18288" marB="18288" anchor="t"/>
                </a:tc>
                <a:tc>
                  <a:txBody>
                    <a:bodyPr wrap="square"/>
                    <a:lstStyle/>
                    <a:p>
                      <a:r>
                        <a:rPr sz="1024" b="0" i="0">
                          <a:solidFill>
                            <a:srgbClr val="1A1A1A"/>
                          </a:solidFill>
                          <a:latin typeface="Helvetica Neue"/>
                        </a:rPr>
                        <a:t>Omega Medical Imaging, LLC</a:t>
                      </a:r>
                    </a:p>
                  </a:txBody>
                  <a:tcPr marL="45720" marR="45720" marT="18288" marB="18288" anchor="t"/>
                </a:tc>
                <a:tc>
                  <a:txBody>
                    <a:bodyPr wrap="square"/>
                    <a:lstStyle/>
                    <a:p>
                      <a:r>
                        <a:rPr sz="1024" b="0" i="0">
                          <a:solidFill>
                            <a:srgbClr val="1A1A1A"/>
                          </a:solidFill>
                          <a:latin typeface="Helvetica Neue"/>
                        </a:rPr>
                        <a:t>Soteria.AI</a:t>
                      </a:r>
                    </a:p>
                  </a:txBody>
                  <a:tcPr marL="45720" marR="45720" marT="18288" marB="18288" anchor="t"/>
                </a:tc>
                <a:tc>
                  <a:txBody>
                    <a:bodyPr wrap="square"/>
                    <a:lstStyle/>
                    <a:p>
                      <a:r>
                        <a:rPr sz="1024" b="0" i="0">
                          <a:solidFill>
                            <a:srgbClr val="1A1A1A"/>
                          </a:solidFill>
                          <a:latin typeface="Helvetica Neue"/>
                        </a:rPr>
                        <a:t>OWB</a:t>
                      </a:r>
                    </a:p>
                  </a:txBody>
                  <a:tcPr marL="45720" marR="45720" marT="18288" marB="18288" anchor="t"/>
                </a:tc>
              </a:tr>
              <a:tr h="210921">
                <a:tc>
                  <a:txBody>
                    <a:bodyPr wrap="square"/>
                    <a:lstStyle/>
                    <a:p>
                      <a:r>
                        <a:rPr sz="1024" b="0" i="0">
                          <a:solidFill>
                            <a:srgbClr val="1A1A1A"/>
                          </a:solidFill>
                          <a:latin typeface="Helvetica Neue"/>
                        </a:rPr>
                        <a:t>K212616</a:t>
                      </a:r>
                    </a:p>
                  </a:txBody>
                  <a:tcPr marL="45720" marR="45720" marT="18288" marB="18288" anchor="t"/>
                </a:tc>
                <a:tc>
                  <a:txBody>
                    <a:bodyPr wrap="square"/>
                    <a:lstStyle/>
                    <a:p>
                      <a:r>
                        <a:rPr sz="1024" b="0" i="0">
                          <a:solidFill>
                            <a:srgbClr val="1A1A1A"/>
                          </a:solidFill>
                          <a:latin typeface="Helvetica Neue"/>
                        </a:rPr>
                        <a:t>12/16/2021</a:t>
                      </a:r>
                    </a:p>
                  </a:txBody>
                  <a:tcPr marL="45720" marR="45720" marT="18288" marB="18288" anchor="t"/>
                </a:tc>
                <a:tc>
                  <a:txBody>
                    <a:bodyPr wrap="square"/>
                    <a:lstStyle/>
                    <a:p>
                      <a:r>
                        <a:rPr sz="1024" b="0" i="0">
                          <a:solidFill>
                            <a:srgbClr val="1A1A1A"/>
                          </a:solidFill>
                          <a:latin typeface="Helvetica Neue"/>
                        </a:rPr>
                        <a:t>Koios Medical, Inc.</a:t>
                      </a:r>
                    </a:p>
                  </a:txBody>
                  <a:tcPr marL="45720" marR="45720" marT="18288" marB="18288" anchor="t"/>
                </a:tc>
                <a:tc>
                  <a:txBody>
                    <a:bodyPr wrap="square"/>
                    <a:lstStyle/>
                    <a:p>
                      <a:r>
                        <a:rPr sz="1024" b="0" i="0">
                          <a:solidFill>
                            <a:srgbClr val="1A1A1A"/>
                          </a:solidFill>
                          <a:latin typeface="Helvetica Neue"/>
                        </a:rPr>
                        <a:t>Koios DS</a:t>
                      </a:r>
                    </a:p>
                  </a:txBody>
                  <a:tcPr marL="45720" marR="45720" marT="18288" marB="18288" anchor="t"/>
                </a:tc>
                <a:tc>
                  <a:txBody>
                    <a:bodyPr wrap="square"/>
                    <a:lstStyle/>
                    <a:p>
                      <a:r>
                        <a:rPr sz="1024" b="0" i="0">
                          <a:solidFill>
                            <a:srgbClr val="1A1A1A"/>
                          </a:solidFill>
                          <a:latin typeface="Helvetica Neue"/>
                        </a:rPr>
                        <a:t>POK</a:t>
                      </a:r>
                    </a:p>
                  </a:txBody>
                  <a:tcPr marL="45720" marR="45720" marT="18288" marB="18288" anchor="t"/>
                </a:tc>
              </a:tr>
              <a:tr h="210921">
                <a:tc>
                  <a:txBody>
                    <a:bodyPr wrap="square"/>
                    <a:lstStyle/>
                    <a:p>
                      <a:r>
                        <a:rPr sz="1024" b="0" i="0">
                          <a:solidFill>
                            <a:srgbClr val="1A1A1A"/>
                          </a:solidFill>
                          <a:latin typeface="Helvetica Neue"/>
                        </a:rPr>
                        <a:t>K212654</a:t>
                      </a:r>
                    </a:p>
                  </a:txBody>
                  <a:tcPr marL="45720" marR="45720" marT="18288" marB="18288" anchor="t"/>
                </a:tc>
                <a:tc>
                  <a:txBody>
                    <a:bodyPr wrap="square"/>
                    <a:lstStyle/>
                    <a:p>
                      <a:r>
                        <a:rPr sz="1024" b="0" i="0">
                          <a:solidFill>
                            <a:srgbClr val="1A1A1A"/>
                          </a:solidFill>
                          <a:latin typeface="Helvetica Neue"/>
                        </a:rPr>
                        <a:t>02/04/2022</a:t>
                      </a:r>
                    </a:p>
                  </a:txBody>
                  <a:tcPr marL="45720" marR="45720" marT="18288" marB="18288" anchor="t"/>
                </a:tc>
                <a:tc>
                  <a:txBody>
                    <a:bodyPr wrap="square"/>
                    <a:lstStyle/>
                    <a:p>
                      <a:r>
                        <a:rPr sz="1024" b="0" i="0">
                          <a:solidFill>
                            <a:srgbClr val="1A1A1A"/>
                          </a:solidFill>
                          <a:latin typeface="Helvetica Neue"/>
                        </a:rPr>
                        <a:t>OXOS Medical, Inc.</a:t>
                      </a:r>
                    </a:p>
                  </a:txBody>
                  <a:tcPr marL="45720" marR="45720" marT="18288" marB="18288" anchor="t"/>
                </a:tc>
                <a:tc>
                  <a:txBody>
                    <a:bodyPr wrap="square"/>
                    <a:lstStyle/>
                    <a:p>
                      <a:r>
                        <a:rPr sz="1024" b="0" i="0">
                          <a:solidFill>
                            <a:srgbClr val="1A1A1A"/>
                          </a:solidFill>
                          <a:latin typeface="Helvetica Neue"/>
                        </a:rPr>
                        <a:t>Micro C Medical Imaging System, M01</a:t>
                      </a:r>
                    </a:p>
                  </a:txBody>
                  <a:tcPr marL="45720" marR="45720" marT="18288" marB="18288" anchor="t"/>
                </a:tc>
                <a:tc>
                  <a:txBody>
                    <a:bodyPr wrap="square"/>
                    <a:lstStyle/>
                    <a:p>
                      <a:r>
                        <a:rPr sz="1024" b="0" i="0">
                          <a:solidFill>
                            <a:srgbClr val="1A1A1A"/>
                          </a:solidFill>
                          <a:latin typeface="Helvetica Neue"/>
                        </a:rPr>
                        <a:t>IZL</a:t>
                      </a:r>
                    </a:p>
                  </a:txBody>
                  <a:tcPr marL="45720" marR="45720" marT="18288" marB="18288" anchor="t"/>
                </a:tc>
              </a:tr>
              <a:tr h="366979">
                <a:tc>
                  <a:txBody>
                    <a:bodyPr wrap="square"/>
                    <a:lstStyle/>
                    <a:p>
                      <a:r>
                        <a:rPr sz="1024" b="0" i="0">
                          <a:solidFill>
                            <a:srgbClr val="1A1A1A"/>
                          </a:solidFill>
                          <a:latin typeface="Helvetica Neue"/>
                        </a:rPr>
                        <a:t>K212704</a:t>
                      </a:r>
                    </a:p>
                  </a:txBody>
                  <a:tcPr marL="45720" marR="45720" marT="18288" marB="18288" anchor="t"/>
                </a:tc>
                <a:tc>
                  <a:txBody>
                    <a:bodyPr wrap="square"/>
                    <a:lstStyle/>
                    <a:p>
                      <a:r>
                        <a:rPr sz="1024" b="0" i="0">
                          <a:solidFill>
                            <a:srgbClr val="1A1A1A"/>
                          </a:solidFill>
                          <a:latin typeface="Helvetica Neue"/>
                        </a:rPr>
                        <a:t>09/24/2021</a:t>
                      </a:r>
                    </a:p>
                  </a:txBody>
                  <a:tcPr marL="45720" marR="45720" marT="18288" marB="18288" anchor="t"/>
                </a:tc>
                <a:tc>
                  <a:txBody>
                    <a:bodyPr wrap="square"/>
                    <a:lstStyle/>
                    <a:p>
                      <a:r>
                        <a:rPr sz="1024" b="0" i="0">
                          <a:solidFill>
                            <a:srgbClr val="1A1A1A"/>
                          </a:solidFill>
                          <a:latin typeface="Helvetica Neue"/>
                        </a:rPr>
                        <a:t>Philips Medical Systems</a:t>
                      </a:r>
                    </a:p>
                  </a:txBody>
                  <a:tcPr marL="45720" marR="45720" marT="18288" marB="18288" anchor="t"/>
                </a:tc>
                <a:tc>
                  <a:txBody>
                    <a:bodyPr wrap="square"/>
                    <a:lstStyle/>
                    <a:p>
                      <a:r>
                        <a:rPr sz="1024" b="0" i="0">
                          <a:solidFill>
                            <a:srgbClr val="1A1A1A"/>
                          </a:solidFill>
                          <a:latin typeface="Helvetica Neue"/>
                        </a:rPr>
                        <a:t>Philips EPIQ Diagnostic Ultrasound System, Philips Affiniti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K213272</a:t>
                      </a:r>
                    </a:p>
                  </a:txBody>
                  <a:tcPr marL="45720" marR="45720" marT="18288" marB="18288" anchor="t"/>
                </a:tc>
                <a:tc>
                  <a:txBody>
                    <a:bodyPr wrap="square"/>
                    <a:lstStyle/>
                    <a:p>
                      <a:r>
                        <a:rPr sz="1024" b="0" i="0">
                          <a:solidFill>
                            <a:srgbClr val="1A1A1A"/>
                          </a:solidFill>
                          <a:latin typeface="Helvetica Neue"/>
                        </a:rPr>
                        <a:t>03/31/2023</a:t>
                      </a:r>
                    </a:p>
                  </a:txBody>
                  <a:tcPr marL="45720" marR="45720" marT="18288" marB="18288" anchor="t"/>
                </a:tc>
                <a:tc>
                  <a:txBody>
                    <a:bodyPr wrap="square"/>
                    <a:lstStyle/>
                    <a:p>
                      <a:r>
                        <a:rPr sz="1024" b="0" i="0">
                          <a:solidFill>
                            <a:srgbClr val="1A1A1A"/>
                          </a:solidFill>
                          <a:latin typeface="Helvetica Neue"/>
                        </a:rPr>
                        <a:t>Formus Labs, Ltd</a:t>
                      </a:r>
                    </a:p>
                  </a:txBody>
                  <a:tcPr marL="45720" marR="45720" marT="18288" marB="18288" anchor="t"/>
                </a:tc>
                <a:tc>
                  <a:txBody>
                    <a:bodyPr wrap="square"/>
                    <a:lstStyle/>
                    <a:p>
                      <a:r>
                        <a:rPr sz="1024" b="0" i="0">
                          <a:solidFill>
                            <a:srgbClr val="1A1A1A"/>
                          </a:solidFill>
                          <a:latin typeface="Helvetica Neue"/>
                        </a:rPr>
                        <a:t>Formus Hip</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K213436</a:t>
                      </a:r>
                    </a:p>
                  </a:txBody>
                  <a:tcPr marL="45720" marR="45720" marT="18288" marB="18288" anchor="t"/>
                </a:tc>
                <a:tc>
                  <a:txBody>
                    <a:bodyPr wrap="square"/>
                    <a:lstStyle/>
                    <a:p>
                      <a:r>
                        <a:rPr sz="1024" b="0" i="0">
                          <a:solidFill>
                            <a:srgbClr val="1A1A1A"/>
                          </a:solidFill>
                          <a:latin typeface="Helvetica Neue"/>
                        </a:rPr>
                        <a:t>11/15/2021</a:t>
                      </a:r>
                    </a:p>
                  </a:txBody>
                  <a:tcPr marL="45720" marR="45720" marT="18288" marB="18288" anchor="t"/>
                </a:tc>
                <a:tc>
                  <a:txBody>
                    <a:bodyPr wrap="square"/>
                    <a:lstStyle/>
                    <a:p>
                      <a:r>
                        <a:rPr sz="1024" b="0" i="0">
                          <a:solidFill>
                            <a:srgbClr val="1A1A1A"/>
                          </a:solidFill>
                          <a:latin typeface="Helvetica Neue"/>
                        </a:rPr>
                        <a:t>Clarius Mobile Health Corp.</a:t>
                      </a:r>
                    </a:p>
                  </a:txBody>
                  <a:tcPr marL="45720" marR="45720" marT="18288" marB="18288" anchor="t"/>
                </a:tc>
                <a:tc>
                  <a:txBody>
                    <a:bodyPr wrap="square"/>
                    <a:lstStyle/>
                    <a:p>
                      <a:r>
                        <a:rPr sz="1024" b="0" i="0">
                          <a:solidFill>
                            <a:srgbClr val="1A1A1A"/>
                          </a:solidFill>
                          <a:latin typeface="Helvetica Neue"/>
                        </a:rPr>
                        <a:t>Clarius Ultrasound Scanner</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K213544</a:t>
                      </a:r>
                    </a:p>
                  </a:txBody>
                  <a:tcPr marL="45720" marR="45720" marT="18288" marB="18288" anchor="t"/>
                </a:tc>
                <a:tc>
                  <a:txBody>
                    <a:bodyPr wrap="square"/>
                    <a:lstStyle/>
                    <a:p>
                      <a:r>
                        <a:rPr sz="1024" b="0" i="0">
                          <a:solidFill>
                            <a:srgbClr val="1A1A1A"/>
                          </a:solidFill>
                          <a:latin typeface="Helvetica Neue"/>
                        </a:rPr>
                        <a:t>01/06/2022</a:t>
                      </a:r>
                    </a:p>
                  </a:txBody>
                  <a:tcPr marL="45720" marR="45720" marT="18288" marB="18288" anchor="t"/>
                </a:tc>
                <a:tc>
                  <a:txBody>
                    <a:bodyPr wrap="square"/>
                    <a:lstStyle/>
                    <a:p>
                      <a:r>
                        <a:rPr sz="1024" b="0" i="0">
                          <a:solidFill>
                            <a:srgbClr val="1A1A1A"/>
                          </a:solidFill>
                          <a:latin typeface="Helvetica Neue"/>
                        </a:rPr>
                        <a:t>TOMTEC Imaging Systems GmbH</a:t>
                      </a:r>
                    </a:p>
                  </a:txBody>
                  <a:tcPr marL="45720" marR="45720" marT="18288" marB="18288" anchor="t"/>
                </a:tc>
                <a:tc>
                  <a:txBody>
                    <a:bodyPr wrap="square"/>
                    <a:lstStyle/>
                    <a:p>
                      <a:r>
                        <a:rPr sz="1024" b="0" i="0">
                          <a:solidFill>
                            <a:srgbClr val="1A1A1A"/>
                          </a:solidFill>
                          <a:latin typeface="Helvetica Neue"/>
                        </a:rPr>
                        <a:t>TOMTEC-ARENA</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K213689</a:t>
                      </a:r>
                    </a:p>
                  </a:txBody>
                  <a:tcPr marL="45720" marR="45720" marT="18288" marB="18288" anchor="t"/>
                </a:tc>
                <a:tc>
                  <a:txBody>
                    <a:bodyPr wrap="square"/>
                    <a:lstStyle/>
                    <a:p>
                      <a:r>
                        <a:rPr sz="1024" b="0" i="0">
                          <a:solidFill>
                            <a:srgbClr val="1A1A1A"/>
                          </a:solidFill>
                          <a:latin typeface="Helvetica Neue"/>
                        </a:rPr>
                        <a:t>02/17/2022</a:t>
                      </a:r>
                    </a:p>
                  </a:txBody>
                  <a:tcPr marL="45720" marR="45720" marT="18288" marB="18288" anchor="t"/>
                </a:tc>
                <a:tc>
                  <a:txBody>
                    <a:bodyPr wrap="square"/>
                    <a:lstStyle/>
                    <a:p>
                      <a:r>
                        <a:rPr sz="1024" b="0" i="0">
                          <a:solidFill>
                            <a:srgbClr val="1A1A1A"/>
                          </a:solidFill>
                          <a:latin typeface="Helvetica Neue"/>
                        </a:rPr>
                        <a:t>GE Healthcare</a:t>
                      </a:r>
                    </a:p>
                  </a:txBody>
                  <a:tcPr marL="45720" marR="45720" marT="18288" marB="18288" anchor="t"/>
                </a:tc>
                <a:tc>
                  <a:txBody>
                    <a:bodyPr wrap="square"/>
                    <a:lstStyle/>
                    <a:p>
                      <a:r>
                        <a:rPr sz="1024" b="0" i="0">
                          <a:solidFill>
                            <a:srgbClr val="1A1A1A"/>
                          </a:solidFill>
                          <a:latin typeface="Helvetica Neue"/>
                        </a:rPr>
                        <a:t>Voluson P6, Voluson P8</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K213886</a:t>
                      </a:r>
                    </a:p>
                  </a:txBody>
                  <a:tcPr marL="45720" marR="45720" marT="18288" marB="18288" anchor="t"/>
                </a:tc>
                <a:tc>
                  <a:txBody>
                    <a:bodyPr wrap="square"/>
                    <a:lstStyle/>
                    <a:p>
                      <a:r>
                        <a:rPr sz="1024" b="0" i="0">
                          <a:solidFill>
                            <a:srgbClr val="1A1A1A"/>
                          </a:solidFill>
                          <a:latin typeface="Helvetica Neue"/>
                        </a:rPr>
                        <a:t>04/26/2022</a:t>
                      </a:r>
                    </a:p>
                  </a:txBody>
                  <a:tcPr marL="45720" marR="45720" marT="18288" marB="18288" anchor="t"/>
                </a:tc>
                <a:tc>
                  <a:txBody>
                    <a:bodyPr wrap="square"/>
                    <a:lstStyle/>
                    <a:p>
                      <a:r>
                        <a:rPr sz="1024" b="0" i="0">
                          <a:solidFill>
                            <a:srgbClr val="1A1A1A"/>
                          </a:solidFill>
                          <a:latin typeface="Helvetica Neue"/>
                        </a:rPr>
                        <a:t>Aidoc Medical, Ltd.</a:t>
                      </a:r>
                    </a:p>
                  </a:txBody>
                  <a:tcPr marL="45720" marR="45720" marT="18288" marB="18288" anchor="t"/>
                </a:tc>
                <a:tc>
                  <a:txBody>
                    <a:bodyPr wrap="square"/>
                    <a:lstStyle/>
                    <a:p>
                      <a:r>
                        <a:rPr sz="1024" b="0" i="0">
                          <a:solidFill>
                            <a:srgbClr val="1A1A1A"/>
                          </a:solidFill>
                          <a:latin typeface="Helvetica Neue"/>
                        </a:rPr>
                        <a:t>BriefCase</a:t>
                      </a:r>
                    </a:p>
                  </a:txBody>
                  <a:tcPr marL="45720" marR="45720" marT="18288" marB="18288" anchor="t"/>
                </a:tc>
                <a:tc>
                  <a:txBody>
                    <a:bodyPr wrap="square"/>
                    <a:lstStyle/>
                    <a:p>
                      <a:r>
                        <a:rPr sz="1024" b="0" i="0">
                          <a:solidFill>
                            <a:srgbClr val="1A1A1A"/>
                          </a:solidFill>
                          <a:latin typeface="Helvetica Neue"/>
                        </a:rPr>
                        <a:t>QAS</a:t>
                      </a:r>
                    </a:p>
                  </a:txBody>
                  <a:tcPr marL="45720" marR="45720" marT="18288" marB="18288" anchor="t"/>
                </a:tc>
              </a:tr>
              <a:tr h="210921">
                <a:tc>
                  <a:txBody>
                    <a:bodyPr wrap="square"/>
                    <a:lstStyle/>
                    <a:p>
                      <a:r>
                        <a:rPr sz="1024" b="0" i="0">
                          <a:solidFill>
                            <a:srgbClr val="1A1A1A"/>
                          </a:solidFill>
                          <a:latin typeface="Helvetica Neue"/>
                        </a:rPr>
                        <a:t>K214043</a:t>
                      </a:r>
                    </a:p>
                  </a:txBody>
                  <a:tcPr marL="45720" marR="45720" marT="18288" marB="18288" anchor="t"/>
                </a:tc>
                <a:tc>
                  <a:txBody>
                    <a:bodyPr wrap="square"/>
                    <a:lstStyle/>
                    <a:p>
                      <a:r>
                        <a:rPr sz="1024" b="0" i="0">
                          <a:solidFill>
                            <a:srgbClr val="1A1A1A"/>
                          </a:solidFill>
                          <a:latin typeface="Helvetica Neue"/>
                        </a:rPr>
                        <a:t>03/14/2022</a:t>
                      </a:r>
                    </a:p>
                  </a:txBody>
                  <a:tcPr marL="45720" marR="45720" marT="18288" marB="18288" anchor="t"/>
                </a:tc>
                <a:tc>
                  <a:txBody>
                    <a:bodyPr wrap="square"/>
                    <a:lstStyle/>
                    <a:p>
                      <a:r>
                        <a:rPr sz="1024" b="0" i="0">
                          <a:solidFill>
                            <a:srgbClr val="1A1A1A"/>
                          </a:solidFill>
                          <a:latin typeface="Helvetica Neue"/>
                        </a:rPr>
                        <a:t>Aidoc Medical, Ltd.</a:t>
                      </a:r>
                    </a:p>
                  </a:txBody>
                  <a:tcPr marL="45720" marR="45720" marT="18288" marB="18288" anchor="t"/>
                </a:tc>
                <a:tc>
                  <a:txBody>
                    <a:bodyPr wrap="square"/>
                    <a:lstStyle/>
                    <a:p>
                      <a:r>
                        <a:rPr sz="1024" b="0" i="0">
                          <a:solidFill>
                            <a:srgbClr val="1A1A1A"/>
                          </a:solidFill>
                          <a:latin typeface="Helvetica Neue"/>
                        </a:rPr>
                        <a:t>BriefCase</a:t>
                      </a:r>
                    </a:p>
                  </a:txBody>
                  <a:tcPr marL="45720" marR="45720" marT="18288" marB="18288" anchor="t"/>
                </a:tc>
                <a:tc>
                  <a:txBody>
                    <a:bodyPr wrap="square"/>
                    <a:lstStyle/>
                    <a:p>
                      <a:r>
                        <a:rPr sz="1024" b="0" i="0">
                          <a:solidFill>
                            <a:srgbClr val="1A1A1A"/>
                          </a:solidFill>
                          <a:latin typeface="Helvetica Neue"/>
                        </a:rPr>
                        <a:t>QFM</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68 / 83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(41–60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541248"/>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30428">
                <a:tc>
                  <a:txBody>
                    <a:bodyPr wrap="square"/>
                    <a:lstStyle/>
                    <a:p>
                      <a:r>
                        <a:rPr sz="1152" b="1" i="0">
                          <a:solidFill>
                            <a:srgbClr val="FFFFFF"/>
                          </a:solidFill>
                          <a:latin typeface="Helvetica Neue"/>
                        </a:rPr>
                        <a:t>Submission</a:t>
                      </a:r>
                    </a:p>
                  </a:txBody>
                  <a:tcPr marL="45720" marR="45720" marT="18288" marB="18288" anchor="t"/>
                </a:tc>
                <a:tc>
                  <a:txBody>
                    <a:bodyPr wrap="square"/>
                    <a:lstStyle/>
                    <a:p>
                      <a:r>
                        <a:rPr sz="1152" b="1" i="0">
                          <a:solidFill>
                            <a:srgbClr val="FFFFFF"/>
                          </a:solidFill>
                          <a:latin typeface="Helvetica Neue"/>
                        </a:rPr>
                        <a:t>Date</a:t>
                      </a:r>
                    </a:p>
                  </a:txBody>
                  <a:tcPr marL="45720" marR="45720" marT="18288" marB="18288" anchor="t"/>
                </a:tc>
                <a:tc>
                  <a:txBody>
                    <a:bodyPr wrap="square"/>
                    <a:lstStyle/>
                    <a:p>
                      <a:r>
                        <a:rPr sz="1152" b="1" i="0">
                          <a:solidFill>
                            <a:srgbClr val="FFFFFF"/>
                          </a:solidFill>
                          <a:latin typeface="Helvetica Neue"/>
                        </a:rPr>
                        <a:t>Company</a:t>
                      </a:r>
                    </a:p>
                  </a:txBody>
                  <a:tcPr marL="45720" marR="45720" marT="18288" marB="18288" anchor="t"/>
                </a:tc>
                <a:tc>
                  <a:txBody>
                    <a:bodyPr wrap="square"/>
                    <a:lstStyle/>
                    <a:p>
                      <a:r>
                        <a:rPr sz="1152" b="1" i="0">
                          <a:solidFill>
                            <a:srgbClr val="FFFFFF"/>
                          </a:solidFill>
                          <a:latin typeface="Helvetica Neue"/>
                        </a:rPr>
                        <a:t>Device</a:t>
                      </a:r>
                    </a:p>
                  </a:txBody>
                  <a:tcPr marL="45720" marR="45720" marT="18288" marB="18288" anchor="t"/>
                </a:tc>
                <a:tc>
                  <a:txBody>
                    <a:bodyPr wrap="square"/>
                    <a:lstStyle/>
                    <a:p>
                      <a:r>
                        <a:rPr sz="1152" b="1" i="0">
                          <a:solidFill>
                            <a:srgbClr val="FFFFFF"/>
                          </a:solidFill>
                          <a:latin typeface="Helvetica Neue"/>
                        </a:rPr>
                        <a:t>Code</a:t>
                      </a:r>
                    </a:p>
                  </a:txBody>
                  <a:tcPr marL="45720" marR="45720" marT="18288" marB="18288" anchor="t"/>
                </a:tc>
              </a:tr>
              <a:tr h="405993">
                <a:tc>
                  <a:txBody>
                    <a:bodyPr wrap="square"/>
                    <a:lstStyle/>
                    <a:p>
                      <a:r>
                        <a:rPr sz="1152" b="0" i="0">
                          <a:solidFill>
                            <a:srgbClr val="1A1A1A"/>
                          </a:solidFill>
                          <a:latin typeface="Helvetica Neue"/>
                        </a:rPr>
                        <a:t>K220043</a:t>
                      </a:r>
                    </a:p>
                  </a:txBody>
                  <a:tcPr marL="45720" marR="45720" marT="18288" marB="18288" anchor="t"/>
                </a:tc>
                <a:tc>
                  <a:txBody>
                    <a:bodyPr wrap="square"/>
                    <a:lstStyle/>
                    <a:p>
                      <a:r>
                        <a:rPr sz="1152" b="0" i="0">
                          <a:solidFill>
                            <a:srgbClr val="1A1A1A"/>
                          </a:solidFill>
                          <a:latin typeface="Helvetica Neue"/>
                        </a:rPr>
                        <a:t>04/05/2022</a:t>
                      </a:r>
                    </a:p>
                  </a:txBody>
                  <a:tcPr marL="45720" marR="45720" marT="18288" marB="18288" anchor="t"/>
                </a:tc>
                <a:tc>
                  <a:txBody>
                    <a:bodyPr wrap="square"/>
                    <a:lstStyle/>
                    <a:p>
                      <a:r>
                        <a:rPr sz="1152" b="0" i="0">
                          <a:solidFill>
                            <a:srgbClr val="1A1A1A"/>
                          </a:solidFill>
                          <a:latin typeface="Helvetica Neue"/>
                        </a:rPr>
                        <a:t>Samsung Medison Co., LTD</a:t>
                      </a:r>
                    </a:p>
                  </a:txBody>
                  <a:tcPr marL="45720" marR="45720" marT="18288" marB="18288" anchor="t"/>
                </a:tc>
                <a:tc>
                  <a:txBody>
                    <a:bodyPr wrap="square"/>
                    <a:lstStyle/>
                    <a:p>
                      <a:r>
                        <a:rPr sz="1152" b="0" i="0">
                          <a:solidFill>
                            <a:srgbClr val="1A1A1A"/>
                          </a:solidFill>
                          <a:latin typeface="Helvetica Neue"/>
                        </a:rPr>
                        <a:t>HERA W10 Diagnostic Ultrasound System, HERA W9 Diagnostic Ultrasound System</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K220068</a:t>
                      </a:r>
                    </a:p>
                  </a:txBody>
                  <a:tcPr marL="45720" marR="45720" marT="18288" marB="18288" anchor="t"/>
                </a:tc>
                <a:tc>
                  <a:txBody>
                    <a:bodyPr wrap="square"/>
                    <a:lstStyle/>
                    <a:p>
                      <a:r>
                        <a:rPr sz="1152" b="0" i="0">
                          <a:solidFill>
                            <a:srgbClr val="1A1A1A"/>
                          </a:solidFill>
                          <a:latin typeface="Helvetica Neue"/>
                        </a:rPr>
                        <a:t>03/31/2023</a:t>
                      </a:r>
                    </a:p>
                  </a:txBody>
                  <a:tcPr marL="45720" marR="45720" marT="18288" marB="18288" anchor="t"/>
                </a:tc>
                <a:tc>
                  <a:txBody>
                    <a:bodyPr wrap="square"/>
                    <a:lstStyle/>
                    <a:p>
                      <a:r>
                        <a:rPr sz="1152" b="0" i="0">
                          <a:solidFill>
                            <a:srgbClr val="1A1A1A"/>
                          </a:solidFill>
                          <a:latin typeface="Helvetica Neue"/>
                        </a:rPr>
                        <a:t>Butterfly Network, Inc.</a:t>
                      </a:r>
                    </a:p>
                  </a:txBody>
                  <a:tcPr marL="45720" marR="45720" marT="18288" marB="18288" anchor="t"/>
                </a:tc>
                <a:tc>
                  <a:txBody>
                    <a:bodyPr wrap="square"/>
                    <a:lstStyle/>
                    <a:p>
                      <a:r>
                        <a:rPr sz="1152" b="0" i="0">
                          <a:solidFill>
                            <a:srgbClr val="1A1A1A"/>
                          </a:solidFill>
                          <a:latin typeface="Helvetica Neue"/>
                        </a:rPr>
                        <a:t>Butterfly iQ/iQ+ Ultrasound System</a:t>
                      </a:r>
                    </a:p>
                  </a:txBody>
                  <a:tcPr marL="45720" marR="45720" marT="18288" marB="18288" anchor="t"/>
                </a:tc>
                <a:tc>
                  <a:txBody>
                    <a:bodyPr wrap="square"/>
                    <a:lstStyle/>
                    <a:p>
                      <a:r>
                        <a:rPr sz="1152" b="0" i="0">
                          <a:solidFill>
                            <a:srgbClr val="1A1A1A"/>
                          </a:solidFill>
                          <a:latin typeface="Helvetica Neue"/>
                        </a:rPr>
                        <a:t>IYO</a:t>
                      </a:r>
                    </a:p>
                  </a:txBody>
                  <a:tcPr marL="45720" marR="45720" marT="18288" marB="18288" anchor="t"/>
                </a:tc>
              </a:tr>
              <a:tr h="581558">
                <a:tc>
                  <a:txBody>
                    <a:bodyPr wrap="square"/>
                    <a:lstStyle/>
                    <a:p>
                      <a:r>
                        <a:rPr sz="1152" b="0" i="0">
                          <a:solidFill>
                            <a:srgbClr val="1A1A1A"/>
                          </a:solidFill>
                          <a:latin typeface="Helvetica Neue"/>
                        </a:rPr>
                        <a:t>K220358</a:t>
                      </a:r>
                    </a:p>
                  </a:txBody>
                  <a:tcPr marL="45720" marR="45720" marT="18288" marB="18288" anchor="t"/>
                </a:tc>
                <a:tc>
                  <a:txBody>
                    <a:bodyPr wrap="square"/>
                    <a:lstStyle/>
                    <a:p>
                      <a:r>
                        <a:rPr sz="1152" b="0" i="0">
                          <a:solidFill>
                            <a:srgbClr val="1A1A1A"/>
                          </a:solidFill>
                          <a:latin typeface="Helvetica Neue"/>
                        </a:rPr>
                        <a:t>06/06/2022</a:t>
                      </a:r>
                    </a:p>
                  </a:txBody>
                  <a:tcPr marL="45720" marR="45720" marT="18288" marB="18288" anchor="t"/>
                </a:tc>
                <a:tc>
                  <a:txBody>
                    <a:bodyPr wrap="square"/>
                    <a:lstStyle/>
                    <a:p>
                      <a:r>
                        <a:rPr sz="1152" b="0" i="0">
                          <a:solidFill>
                            <a:srgbClr val="1A1A1A"/>
                          </a:solidFill>
                          <a:latin typeface="Helvetica Neue"/>
                        </a:rPr>
                        <a:t>GE Medical Systems Ultrasound and Primary Care Diagnostics,</a:t>
                      </a:r>
                    </a:p>
                  </a:txBody>
                  <a:tcPr marL="45720" marR="45720" marT="18288" marB="18288" anchor="t"/>
                </a:tc>
                <a:tc>
                  <a:txBody>
                    <a:bodyPr wrap="square"/>
                    <a:lstStyle/>
                    <a:p>
                      <a:r>
                        <a:rPr sz="1152" b="0" i="0">
                          <a:solidFill>
                            <a:srgbClr val="1A1A1A"/>
                          </a:solidFill>
                          <a:latin typeface="Helvetica Neue"/>
                        </a:rPr>
                        <a:t>Voluson Expert 22, Voluson Expert 20, Voluson Expert 18</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K220497</a:t>
                      </a:r>
                    </a:p>
                  </a:txBody>
                  <a:tcPr marL="45720" marR="45720" marT="18288" marB="18288" anchor="t"/>
                </a:tc>
                <a:tc>
                  <a:txBody>
                    <a:bodyPr wrap="square"/>
                    <a:lstStyle/>
                    <a:p>
                      <a:r>
                        <a:rPr sz="1152" b="0" i="0">
                          <a:solidFill>
                            <a:srgbClr val="1A1A1A"/>
                          </a:solidFill>
                          <a:latin typeface="Helvetica Neue"/>
                        </a:rPr>
                        <a:t>06/23/2022</a:t>
                      </a:r>
                    </a:p>
                  </a:txBody>
                  <a:tcPr marL="45720" marR="45720" marT="18288" marB="18288" anchor="t"/>
                </a:tc>
                <a:tc>
                  <a:txBody>
                    <a:bodyPr wrap="square"/>
                    <a:lstStyle/>
                    <a:p>
                      <a:r>
                        <a:rPr sz="1152" b="0" i="0">
                          <a:solidFill>
                            <a:srgbClr val="1A1A1A"/>
                          </a:solidFill>
                          <a:latin typeface="Helvetica Neue"/>
                        </a:rPr>
                        <a:t>Smart Soft Healthcare AD</a:t>
                      </a:r>
                    </a:p>
                  </a:txBody>
                  <a:tcPr marL="45720" marR="45720" marT="18288" marB="18288" anchor="t"/>
                </a:tc>
                <a:tc>
                  <a:txBody>
                    <a:bodyPr wrap="square"/>
                    <a:lstStyle/>
                    <a:p>
                      <a:r>
                        <a:rPr sz="1152" b="0" i="0">
                          <a:solidFill>
                            <a:srgbClr val="1A1A1A"/>
                          </a:solidFill>
                          <a:latin typeface="Helvetica Neue"/>
                        </a:rPr>
                        <a:t>CoLumbo</a:t>
                      </a:r>
                    </a:p>
                  </a:txBody>
                  <a:tcPr marL="45720" marR="45720" marT="18288" marB="18288" anchor="t"/>
                </a:tc>
                <a:tc>
                  <a:txBody>
                    <a:bodyPr wrap="square"/>
                    <a:lstStyle/>
                    <a:p>
                      <a:r>
                        <a:rPr sz="1152" b="0" i="0">
                          <a:solidFill>
                            <a:srgbClr val="1A1A1A"/>
                          </a:solidFill>
                          <a:latin typeface="Helvetica Neue"/>
                        </a:rPr>
                        <a:t>QIH</a:t>
                      </a:r>
                    </a:p>
                  </a:txBody>
                  <a:tcPr marL="45720" marR="45720" marT="18288" marB="18288" anchor="t"/>
                </a:tc>
              </a:tr>
              <a:tr h="230428">
                <a:tc>
                  <a:txBody>
                    <a:bodyPr wrap="square"/>
                    <a:lstStyle/>
                    <a:p>
                      <a:r>
                        <a:rPr sz="1152" b="0" i="0">
                          <a:solidFill>
                            <a:srgbClr val="1A1A1A"/>
                          </a:solidFill>
                          <a:latin typeface="Helvetica Neue"/>
                        </a:rPr>
                        <a:t>K220709</a:t>
                      </a:r>
                    </a:p>
                  </a:txBody>
                  <a:tcPr marL="45720" marR="45720" marT="18288" marB="18288" anchor="t"/>
                </a:tc>
                <a:tc>
                  <a:txBody>
                    <a:bodyPr wrap="square"/>
                    <a:lstStyle/>
                    <a:p>
                      <a:r>
                        <a:rPr sz="1152" b="0" i="0">
                          <a:solidFill>
                            <a:srgbClr val="1A1A1A"/>
                          </a:solidFill>
                          <a:latin typeface="Helvetica Neue"/>
                        </a:rPr>
                        <a:t>10/07/2022</a:t>
                      </a:r>
                    </a:p>
                  </a:txBody>
                  <a:tcPr marL="45720" marR="45720" marT="18288" marB="18288" anchor="t"/>
                </a:tc>
                <a:tc>
                  <a:txBody>
                    <a:bodyPr wrap="square"/>
                    <a:lstStyle/>
                    <a:p>
                      <a:r>
                        <a:rPr sz="1152" b="0" i="0">
                          <a:solidFill>
                            <a:srgbClr val="1A1A1A"/>
                          </a:solidFill>
                          <a:latin typeface="Helvetica Neue"/>
                        </a:rPr>
                        <a:t>Aidoc Medical, Ltd.</a:t>
                      </a:r>
                    </a:p>
                  </a:txBody>
                  <a:tcPr marL="45720" marR="45720" marT="18288" marB="18288" anchor="t"/>
                </a:tc>
                <a:tc>
                  <a:txBody>
                    <a:bodyPr wrap="square"/>
                    <a:lstStyle/>
                    <a:p>
                      <a:r>
                        <a:rPr sz="1152" b="0" i="0">
                          <a:solidFill>
                            <a:srgbClr val="1A1A1A"/>
                          </a:solidFill>
                          <a:latin typeface="Helvetica Neue"/>
                        </a:rPr>
                        <a:t>BriefCase</a:t>
                      </a:r>
                    </a:p>
                  </a:txBody>
                  <a:tcPr marL="45720" marR="45720" marT="18288" marB="18288" anchor="t"/>
                </a:tc>
                <a:tc>
                  <a:txBody>
                    <a:bodyPr wrap="square"/>
                    <a:lstStyle/>
                    <a:p>
                      <a:r>
                        <a:rPr sz="1152" b="0" i="0">
                          <a:solidFill>
                            <a:srgbClr val="1A1A1A"/>
                          </a:solidFill>
                          <a:latin typeface="Helvetica Neue"/>
                        </a:rPr>
                        <a:t>QAS</a:t>
                      </a:r>
                    </a:p>
                  </a:txBody>
                  <a:tcPr marL="45720" marR="45720" marT="18288" marB="18288" anchor="t"/>
                </a:tc>
              </a:tr>
              <a:tr h="230428">
                <a:tc>
                  <a:txBody>
                    <a:bodyPr wrap="square"/>
                    <a:lstStyle/>
                    <a:p>
                      <a:r>
                        <a:rPr sz="1152" b="0" i="0">
                          <a:solidFill>
                            <a:srgbClr val="1A1A1A"/>
                          </a:solidFill>
                          <a:latin typeface="Helvetica Neue"/>
                        </a:rPr>
                        <a:t>K220813</a:t>
                      </a:r>
                    </a:p>
                  </a:txBody>
                  <a:tcPr marL="45720" marR="45720" marT="18288" marB="18288" anchor="t"/>
                </a:tc>
                <a:tc>
                  <a:txBody>
                    <a:bodyPr wrap="square"/>
                    <a:lstStyle/>
                    <a:p>
                      <a:r>
                        <a:rPr sz="1152" b="0" i="0">
                          <a:solidFill>
                            <a:srgbClr val="1A1A1A"/>
                          </a:solidFill>
                          <a:latin typeface="Helvetica Neue"/>
                        </a:rPr>
                        <a:t>06/17/2022</a:t>
                      </a:r>
                    </a:p>
                  </a:txBody>
                  <a:tcPr marL="45720" marR="45720" marT="18288" marB="18288" anchor="t"/>
                </a:tc>
                <a:tc>
                  <a:txBody>
                    <a:bodyPr wrap="square"/>
                    <a:lstStyle/>
                    <a:p>
                      <a:r>
                        <a:rPr sz="1152" b="0" i="0">
                          <a:solidFill>
                            <a:srgbClr val="1A1A1A"/>
                          </a:solidFill>
                          <a:latin typeface="Helvetica Neue"/>
                        </a:rPr>
                        <a:t>TheraPanacea</a:t>
                      </a:r>
                    </a:p>
                  </a:txBody>
                  <a:tcPr marL="45720" marR="45720" marT="18288" marB="18288" anchor="t"/>
                </a:tc>
                <a:tc>
                  <a:txBody>
                    <a:bodyPr wrap="square"/>
                    <a:lstStyle/>
                    <a:p>
                      <a:r>
                        <a:rPr sz="1152" b="0" i="0">
                          <a:solidFill>
                            <a:srgbClr val="1A1A1A"/>
                          </a:solidFill>
                          <a:latin typeface="Helvetica Neue"/>
                        </a:rPr>
                        <a:t>ART-PLAN</a:t>
                      </a:r>
                    </a:p>
                  </a:txBody>
                  <a:tcPr marL="45720" marR="45720" marT="18288" marB="18288" anchor="t"/>
                </a:tc>
                <a:tc>
                  <a:txBody>
                    <a:bodyPr wrap="square"/>
                    <a:lstStyle/>
                    <a:p>
                      <a:r>
                        <a:rPr sz="1152" b="0" i="0">
                          <a:solidFill>
                            <a:srgbClr val="1A1A1A"/>
                          </a:solidFill>
                          <a:latin typeface="Helvetica Neue"/>
                        </a:rPr>
                        <a:t>QKB</a:t>
                      </a:r>
                    </a:p>
                  </a:txBody>
                  <a:tcPr marL="45720" marR="45720" marT="18288" marB="18288" anchor="t"/>
                </a:tc>
              </a:tr>
              <a:tr h="230428">
                <a:tc>
                  <a:txBody>
                    <a:bodyPr wrap="square"/>
                    <a:lstStyle/>
                    <a:p>
                      <a:r>
                        <a:rPr sz="1152" b="0" i="0">
                          <a:solidFill>
                            <a:srgbClr val="1A1A1A"/>
                          </a:solidFill>
                          <a:latin typeface="Helvetica Neue"/>
                        </a:rPr>
                        <a:t>K220848</a:t>
                      </a:r>
                    </a:p>
                  </a:txBody>
                  <a:tcPr marL="45720" marR="45720" marT="18288" marB="18288" anchor="t"/>
                </a:tc>
                <a:tc>
                  <a:txBody>
                    <a:bodyPr wrap="square"/>
                    <a:lstStyle/>
                    <a:p>
                      <a:r>
                        <a:rPr sz="1152" b="0" i="0">
                          <a:solidFill>
                            <a:srgbClr val="1A1A1A"/>
                          </a:solidFill>
                          <a:latin typeface="Helvetica Neue"/>
                        </a:rPr>
                        <a:t>06/27/2022</a:t>
                      </a:r>
                    </a:p>
                  </a:txBody>
                  <a:tcPr marL="45720" marR="45720" marT="18288" marB="18288" anchor="t"/>
                </a:tc>
                <a:tc>
                  <a:txBody>
                    <a:bodyPr wrap="square"/>
                    <a:lstStyle/>
                    <a:p>
                      <a:r>
                        <a:rPr sz="1152" b="0" i="0">
                          <a:solidFill>
                            <a:srgbClr val="1A1A1A"/>
                          </a:solidFill>
                          <a:latin typeface="Helvetica Neue"/>
                        </a:rPr>
                        <a:t>GE Medical Systems</a:t>
                      </a:r>
                    </a:p>
                  </a:txBody>
                  <a:tcPr marL="45720" marR="45720" marT="18288" marB="18288" anchor="t"/>
                </a:tc>
                <a:tc>
                  <a:txBody>
                    <a:bodyPr wrap="square"/>
                    <a:lstStyle/>
                    <a:p>
                      <a:r>
                        <a:rPr sz="1152" b="0" i="0">
                          <a:solidFill>
                            <a:srgbClr val="1A1A1A"/>
                          </a:solidFill>
                          <a:latin typeface="Helvetica Neue"/>
                        </a:rPr>
                        <a:t>Venue Fit</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K220851</a:t>
                      </a:r>
                    </a:p>
                  </a:txBody>
                  <a:tcPr marL="45720" marR="45720" marT="18288" marB="18288" anchor="t"/>
                </a:tc>
                <a:tc>
                  <a:txBody>
                    <a:bodyPr wrap="square"/>
                    <a:lstStyle/>
                    <a:p>
                      <a:r>
                        <a:rPr sz="1152" b="0" i="0">
                          <a:solidFill>
                            <a:srgbClr val="1A1A1A"/>
                          </a:solidFill>
                          <a:latin typeface="Helvetica Neue"/>
                        </a:rPr>
                        <a:t>06/27/2022</a:t>
                      </a:r>
                    </a:p>
                  </a:txBody>
                  <a:tcPr marL="45720" marR="45720" marT="18288" marB="18288" anchor="t"/>
                </a:tc>
                <a:tc>
                  <a:txBody>
                    <a:bodyPr wrap="square"/>
                    <a:lstStyle/>
                    <a:p>
                      <a:r>
                        <a:rPr sz="1152" b="0" i="0">
                          <a:solidFill>
                            <a:srgbClr val="1A1A1A"/>
                          </a:solidFill>
                          <a:latin typeface="Helvetica Neue"/>
                        </a:rPr>
                        <a:t>GE Medical Systems</a:t>
                      </a:r>
                    </a:p>
                  </a:txBody>
                  <a:tcPr marL="45720" marR="45720" marT="18288" marB="18288" anchor="t"/>
                </a:tc>
                <a:tc>
                  <a:txBody>
                    <a:bodyPr wrap="square"/>
                    <a:lstStyle/>
                    <a:p>
                      <a:r>
                        <a:rPr sz="1152" b="0" i="0">
                          <a:solidFill>
                            <a:srgbClr val="1A1A1A"/>
                          </a:solidFill>
                          <a:latin typeface="Helvetica Neue"/>
                        </a:rPr>
                        <a:t>Venue</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K220975</a:t>
                      </a:r>
                    </a:p>
                  </a:txBody>
                  <a:tcPr marL="45720" marR="45720" marT="18288" marB="18288" anchor="t"/>
                </a:tc>
                <a:tc>
                  <a:txBody>
                    <a:bodyPr wrap="square"/>
                    <a:lstStyle/>
                    <a:p>
                      <a:r>
                        <a:rPr sz="1152" b="0" i="0">
                          <a:solidFill>
                            <a:srgbClr val="1A1A1A"/>
                          </a:solidFill>
                          <a:latin typeface="Helvetica Neue"/>
                        </a:rPr>
                        <a:t>06/29/2022</a:t>
                      </a:r>
                    </a:p>
                  </a:txBody>
                  <a:tcPr marL="45720" marR="45720" marT="18288" marB="18288" anchor="t"/>
                </a:tc>
                <a:tc>
                  <a:txBody>
                    <a:bodyPr wrap="square"/>
                    <a:lstStyle/>
                    <a:p>
                      <a:r>
                        <a:rPr sz="1152" b="0" i="0">
                          <a:solidFill>
                            <a:srgbClr val="1A1A1A"/>
                          </a:solidFill>
                          <a:latin typeface="Helvetica Neue"/>
                        </a:rPr>
                        <a:t>Samsung Medison Co., Ltd.</a:t>
                      </a:r>
                    </a:p>
                  </a:txBody>
                  <a:tcPr marL="45720" marR="45720" marT="18288" marB="18288" anchor="t"/>
                </a:tc>
                <a:tc>
                  <a:txBody>
                    <a:bodyPr wrap="square"/>
                    <a:lstStyle/>
                    <a:p>
                      <a:r>
                        <a:rPr sz="1152" b="0" i="0">
                          <a:solidFill>
                            <a:srgbClr val="1A1A1A"/>
                          </a:solidFill>
                          <a:latin typeface="Helvetica Neue"/>
                        </a:rPr>
                        <a:t>V8 Diagnostic Ultrasound System, V7 Diagnostic Ultrasound System</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K221240</a:t>
                      </a:r>
                    </a:p>
                  </a:txBody>
                  <a:tcPr marL="45720" marR="45720" marT="18288" marB="18288" anchor="t"/>
                </a:tc>
                <a:tc>
                  <a:txBody>
                    <a:bodyPr wrap="square"/>
                    <a:lstStyle/>
                    <a:p>
                      <a:r>
                        <a:rPr sz="1152" b="0" i="0">
                          <a:solidFill>
                            <a:srgbClr val="1A1A1A"/>
                          </a:solidFill>
                          <a:latin typeface="Helvetica Neue"/>
                        </a:rPr>
                        <a:t>05/17/2022</a:t>
                      </a:r>
                    </a:p>
                  </a:txBody>
                  <a:tcPr marL="45720" marR="45720" marT="18288" marB="18288" anchor="t"/>
                </a:tc>
                <a:tc>
                  <a:txBody>
                    <a:bodyPr wrap="square"/>
                    <a:lstStyle/>
                    <a:p>
                      <a:r>
                        <a:rPr sz="1152" b="0" i="0">
                          <a:solidFill>
                            <a:srgbClr val="1A1A1A"/>
                          </a:solidFill>
                          <a:latin typeface="Helvetica Neue"/>
                        </a:rPr>
                        <a:t>Aidoc Medical, Ltd.</a:t>
                      </a:r>
                    </a:p>
                  </a:txBody>
                  <a:tcPr marL="45720" marR="45720" marT="18288" marB="18288" anchor="t"/>
                </a:tc>
                <a:tc>
                  <a:txBody>
                    <a:bodyPr wrap="square"/>
                    <a:lstStyle/>
                    <a:p>
                      <a:r>
                        <a:rPr sz="1152" b="0" i="0">
                          <a:solidFill>
                            <a:srgbClr val="1A1A1A"/>
                          </a:solidFill>
                          <a:latin typeface="Helvetica Neue"/>
                        </a:rPr>
                        <a:t>BriefCase</a:t>
                      </a:r>
                    </a:p>
                  </a:txBody>
                  <a:tcPr marL="45720" marR="45720" marT="18288" marB="18288" anchor="t"/>
                </a:tc>
                <a:tc>
                  <a:txBody>
                    <a:bodyPr wrap="square"/>
                    <a:lstStyle/>
                    <a:p>
                      <a:r>
                        <a:rPr sz="1152" b="0" i="0">
                          <a:solidFill>
                            <a:srgbClr val="1A1A1A"/>
                          </a:solidFill>
                          <a:latin typeface="Helvetica Neue"/>
                        </a:rPr>
                        <a:t>QAS</a:t>
                      </a:r>
                    </a:p>
                  </a:txBody>
                  <a:tcPr marL="45720" marR="45720" marT="18288" marB="18288" anchor="t"/>
                </a:tc>
              </a:tr>
              <a:tr h="230428">
                <a:tc>
                  <a:txBody>
                    <a:bodyPr wrap="square"/>
                    <a:lstStyle/>
                    <a:p>
                      <a:r>
                        <a:rPr sz="1152" b="0" i="0">
                          <a:solidFill>
                            <a:srgbClr val="1A1A1A"/>
                          </a:solidFill>
                          <a:latin typeface="Helvetica Neue"/>
                        </a:rPr>
                        <a:t>K221314</a:t>
                      </a:r>
                    </a:p>
                  </a:txBody>
                  <a:tcPr marL="45720" marR="45720" marT="18288" marB="18288" anchor="t"/>
                </a:tc>
                <a:tc>
                  <a:txBody>
                    <a:bodyPr wrap="square"/>
                    <a:lstStyle/>
                    <a:p>
                      <a:r>
                        <a:rPr sz="1152" b="0" i="0">
                          <a:solidFill>
                            <a:srgbClr val="1A1A1A"/>
                          </a:solidFill>
                          <a:latin typeface="Helvetica Neue"/>
                        </a:rPr>
                        <a:t>06/03/2022</a:t>
                      </a:r>
                    </a:p>
                  </a:txBody>
                  <a:tcPr marL="45720" marR="45720" marT="18288" marB="18288" anchor="t"/>
                </a:tc>
                <a:tc>
                  <a:txBody>
                    <a:bodyPr wrap="square"/>
                    <a:lstStyle/>
                    <a:p>
                      <a:r>
                        <a:rPr sz="1152" b="0" i="0">
                          <a:solidFill>
                            <a:srgbClr val="1A1A1A"/>
                          </a:solidFill>
                          <a:latin typeface="Helvetica Neue"/>
                        </a:rPr>
                        <a:t>Aidoc Medical, Ltd.</a:t>
                      </a:r>
                    </a:p>
                  </a:txBody>
                  <a:tcPr marL="45720" marR="45720" marT="18288" marB="18288" anchor="t"/>
                </a:tc>
                <a:tc>
                  <a:txBody>
                    <a:bodyPr wrap="square"/>
                    <a:lstStyle/>
                    <a:p>
                      <a:r>
                        <a:rPr sz="1152" b="0" i="0">
                          <a:solidFill>
                            <a:srgbClr val="1A1A1A"/>
                          </a:solidFill>
                          <a:latin typeface="Helvetica Neue"/>
                        </a:rPr>
                        <a:t>BriefCase</a:t>
                      </a:r>
                    </a:p>
                  </a:txBody>
                  <a:tcPr marL="45720" marR="45720" marT="18288" marB="18288" anchor="t"/>
                </a:tc>
                <a:tc>
                  <a:txBody>
                    <a:bodyPr wrap="square"/>
                    <a:lstStyle/>
                    <a:p>
                      <a:r>
                        <a:rPr sz="1152" b="0" i="0">
                          <a:solidFill>
                            <a:srgbClr val="1A1A1A"/>
                          </a:solidFill>
                          <a:latin typeface="Helvetica Neue"/>
                        </a:rPr>
                        <a:t>QAS</a:t>
                      </a:r>
                    </a:p>
                  </a:txBody>
                  <a:tcPr marL="45720" marR="45720" marT="18288" marB="18288" anchor="t"/>
                </a:tc>
              </a:tr>
              <a:tr h="230428">
                <a:tc>
                  <a:txBody>
                    <a:bodyPr wrap="square"/>
                    <a:lstStyle/>
                    <a:p>
                      <a:r>
                        <a:rPr sz="1152" b="0" i="0">
                          <a:solidFill>
                            <a:srgbClr val="1A1A1A"/>
                          </a:solidFill>
                          <a:latin typeface="Helvetica Neue"/>
                        </a:rPr>
                        <a:t>K221330</a:t>
                      </a:r>
                    </a:p>
                  </a:txBody>
                  <a:tcPr marL="45720" marR="45720" marT="18288" marB="18288" anchor="t"/>
                </a:tc>
                <a:tc>
                  <a:txBody>
                    <a:bodyPr wrap="square"/>
                    <a:lstStyle/>
                    <a:p>
                      <a:r>
                        <a:rPr sz="1152" b="0" i="0">
                          <a:solidFill>
                            <a:srgbClr val="1A1A1A"/>
                          </a:solidFill>
                          <a:latin typeface="Helvetica Neue"/>
                        </a:rPr>
                        <a:t>11/18/2022</a:t>
                      </a:r>
                    </a:p>
                  </a:txBody>
                  <a:tcPr marL="45720" marR="45720" marT="18288" marB="18288" anchor="t"/>
                </a:tc>
                <a:tc>
                  <a:txBody>
                    <a:bodyPr wrap="square"/>
                    <a:lstStyle/>
                    <a:p>
                      <a:r>
                        <a:rPr sz="1152" b="0" i="0">
                          <a:solidFill>
                            <a:srgbClr val="1A1A1A"/>
                          </a:solidFill>
                          <a:latin typeface="Helvetica Neue"/>
                        </a:rPr>
                        <a:t>Aidoc Medical, Ltd.</a:t>
                      </a:r>
                    </a:p>
                  </a:txBody>
                  <a:tcPr marL="45720" marR="45720" marT="18288" marB="18288" anchor="t"/>
                </a:tc>
                <a:tc>
                  <a:txBody>
                    <a:bodyPr wrap="square"/>
                    <a:lstStyle/>
                    <a:p>
                      <a:r>
                        <a:rPr sz="1152" b="0" i="0">
                          <a:solidFill>
                            <a:srgbClr val="1A1A1A"/>
                          </a:solidFill>
                          <a:latin typeface="Helvetica Neue"/>
                        </a:rPr>
                        <a:t>BriefCase</a:t>
                      </a:r>
                    </a:p>
                  </a:txBody>
                  <a:tcPr marL="45720" marR="45720" marT="18288" marB="18288" anchor="t"/>
                </a:tc>
                <a:tc>
                  <a:txBody>
                    <a:bodyPr wrap="square"/>
                    <a:lstStyle/>
                    <a:p>
                      <a:r>
                        <a:rPr sz="1152" b="0" i="0">
                          <a:solidFill>
                            <a:srgbClr val="1A1A1A"/>
                          </a:solidFill>
                          <a:latin typeface="Helvetica Neue"/>
                        </a:rPr>
                        <a:t>QAS</a:t>
                      </a:r>
                    </a:p>
                  </a:txBody>
                  <a:tcPr marL="45720" marR="45720" marT="18288" marB="18288" anchor="t"/>
                </a:tc>
              </a:tr>
              <a:tr h="230428">
                <a:tc>
                  <a:txBody>
                    <a:bodyPr wrap="square"/>
                    <a:lstStyle/>
                    <a:p>
                      <a:r>
                        <a:rPr sz="1152" b="0" i="0">
                          <a:solidFill>
                            <a:srgbClr val="1A1A1A"/>
                          </a:solidFill>
                          <a:latin typeface="Helvetica Neue"/>
                        </a:rPr>
                        <a:t>K221393</a:t>
                      </a:r>
                    </a:p>
                  </a:txBody>
                  <a:tcPr marL="45720" marR="45720" marT="18288" marB="18288" anchor="t"/>
                </a:tc>
                <a:tc>
                  <a:txBody>
                    <a:bodyPr wrap="square"/>
                    <a:lstStyle/>
                    <a:p>
                      <a:r>
                        <a:rPr sz="1152" b="0" i="0">
                          <a:solidFill>
                            <a:srgbClr val="1A1A1A"/>
                          </a:solidFill>
                          <a:latin typeface="Helvetica Neue"/>
                        </a:rPr>
                        <a:t>06/10/2022</a:t>
                      </a:r>
                    </a:p>
                  </a:txBody>
                  <a:tcPr marL="45720" marR="45720" marT="18288" marB="18288" anchor="t"/>
                </a:tc>
                <a:tc>
                  <a:txBody>
                    <a:bodyPr wrap="square"/>
                    <a:lstStyle/>
                    <a:p>
                      <a:r>
                        <a:rPr sz="1152" b="0" i="0">
                          <a:solidFill>
                            <a:srgbClr val="1A1A1A"/>
                          </a:solidFill>
                          <a:latin typeface="Helvetica Neue"/>
                        </a:rPr>
                        <a:t>Hyperfine, Inc.</a:t>
                      </a:r>
                    </a:p>
                  </a:txBody>
                  <a:tcPr marL="45720" marR="45720" marT="18288" marB="18288" anchor="t"/>
                </a:tc>
                <a:tc>
                  <a:txBody>
                    <a:bodyPr wrap="square"/>
                    <a:lstStyle/>
                    <a:p>
                      <a:r>
                        <a:rPr sz="1152" b="0" i="0">
                          <a:solidFill>
                            <a:srgbClr val="1A1A1A"/>
                          </a:solidFill>
                          <a:latin typeface="Helvetica Neue"/>
                        </a:rPr>
                        <a:t>Swoop Portable MR Imaging System</a:t>
                      </a:r>
                    </a:p>
                  </a:txBody>
                  <a:tcPr marL="45720" marR="45720" marT="18288" marB="18288" anchor="t"/>
                </a:tc>
                <a:tc>
                  <a:txBody>
                    <a:bodyPr wrap="square"/>
                    <a:lstStyle/>
                    <a:p>
                      <a:r>
                        <a:rPr sz="1152" b="0" i="0">
                          <a:solidFill>
                            <a:srgbClr val="1A1A1A"/>
                          </a:solidFill>
                          <a:latin typeface="Helvetica Neue"/>
                        </a:rPr>
                        <a:t>LNH</a:t>
                      </a:r>
                    </a:p>
                  </a:txBody>
                  <a:tcPr marL="45720" marR="45720" marT="18288" marB="18288" anchor="t"/>
                </a:tc>
              </a:tr>
              <a:tr h="230428">
                <a:tc>
                  <a:txBody>
                    <a:bodyPr wrap="square"/>
                    <a:lstStyle/>
                    <a:p>
                      <a:r>
                        <a:rPr sz="1152" b="0" i="0">
                          <a:solidFill>
                            <a:srgbClr val="1A1A1A"/>
                          </a:solidFill>
                          <a:latin typeface="Helvetica Neue"/>
                        </a:rPr>
                        <a:t>K221599</a:t>
                      </a:r>
                    </a:p>
                  </a:txBody>
                  <a:tcPr marL="45720" marR="45720" marT="18288" marB="18288" anchor="t"/>
                </a:tc>
                <a:tc>
                  <a:txBody>
                    <a:bodyPr wrap="square"/>
                    <a:lstStyle/>
                    <a:p>
                      <a:r>
                        <a:rPr sz="1152" b="0" i="0">
                          <a:solidFill>
                            <a:srgbClr val="1A1A1A"/>
                          </a:solidFill>
                          <a:latin typeface="Helvetica Neue"/>
                        </a:rPr>
                        <a:t>08/22/2022</a:t>
                      </a:r>
                    </a:p>
                  </a:txBody>
                  <a:tcPr marL="45720" marR="45720" marT="18288" marB="18288" anchor="t"/>
                </a:tc>
                <a:tc>
                  <a:txBody>
                    <a:bodyPr wrap="square"/>
                    <a:lstStyle/>
                    <a:p>
                      <a:r>
                        <a:rPr sz="1152" b="0" i="0">
                          <a:solidFill>
                            <a:srgbClr val="1A1A1A"/>
                          </a:solidFill>
                          <a:latin typeface="Helvetica Neue"/>
                        </a:rPr>
                        <a:t>Samsung Medison Co., Ltd.</a:t>
                      </a:r>
                    </a:p>
                  </a:txBody>
                  <a:tcPr marL="45720" marR="45720" marT="18288" marB="18288" anchor="t"/>
                </a:tc>
                <a:tc>
                  <a:txBody>
                    <a:bodyPr wrap="square"/>
                    <a:lstStyle/>
                    <a:p>
                      <a:r>
                        <a:rPr sz="1152" b="0" i="0">
                          <a:solidFill>
                            <a:srgbClr val="1A1A1A"/>
                          </a:solidFill>
                          <a:latin typeface="Helvetica Neue"/>
                        </a:rPr>
                        <a:t>HS40 Diagnostic Ultrasound System</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K221923</a:t>
                      </a:r>
                    </a:p>
                  </a:txBody>
                  <a:tcPr marL="45720" marR="45720" marT="18288" marB="18288" anchor="t"/>
                </a:tc>
                <a:tc>
                  <a:txBody>
                    <a:bodyPr wrap="square"/>
                    <a:lstStyle/>
                    <a:p>
                      <a:r>
                        <a:rPr sz="1152" b="0" i="0">
                          <a:solidFill>
                            <a:srgbClr val="1A1A1A"/>
                          </a:solidFill>
                          <a:latin typeface="Helvetica Neue"/>
                        </a:rPr>
                        <a:t>07/28/2022</a:t>
                      </a:r>
                    </a:p>
                  </a:txBody>
                  <a:tcPr marL="45720" marR="45720" marT="18288" marB="18288" anchor="t"/>
                </a:tc>
                <a:tc>
                  <a:txBody>
                    <a:bodyPr wrap="square"/>
                    <a:lstStyle/>
                    <a:p>
                      <a:r>
                        <a:rPr sz="1152" b="0" i="0">
                          <a:solidFill>
                            <a:srgbClr val="1A1A1A"/>
                          </a:solidFill>
                          <a:latin typeface="Helvetica Neue"/>
                        </a:rPr>
                        <a:t>Hyperfine, Inc.</a:t>
                      </a:r>
                    </a:p>
                  </a:txBody>
                  <a:tcPr marL="45720" marR="45720" marT="18288" marB="18288" anchor="t"/>
                </a:tc>
                <a:tc>
                  <a:txBody>
                    <a:bodyPr wrap="square"/>
                    <a:lstStyle/>
                    <a:p>
                      <a:r>
                        <a:rPr sz="1152" b="0" i="0">
                          <a:solidFill>
                            <a:srgbClr val="1A1A1A"/>
                          </a:solidFill>
                          <a:latin typeface="Helvetica Neue"/>
                        </a:rPr>
                        <a:t>Swoop Portable MR Imaging System</a:t>
                      </a:r>
                    </a:p>
                  </a:txBody>
                  <a:tcPr marL="45720" marR="45720" marT="18288" marB="18288" anchor="t"/>
                </a:tc>
                <a:tc>
                  <a:txBody>
                    <a:bodyPr wrap="square"/>
                    <a:lstStyle/>
                    <a:p>
                      <a:r>
                        <a:rPr sz="1152" b="0" i="0">
                          <a:solidFill>
                            <a:srgbClr val="1A1A1A"/>
                          </a:solidFill>
                          <a:latin typeface="Helvetica Neue"/>
                        </a:rPr>
                        <a:t>LNH</a:t>
                      </a:r>
                    </a:p>
                  </a:txBody>
                  <a:tcPr marL="45720" marR="45720" marT="18288" marB="18288" anchor="t"/>
                </a:tc>
              </a:tr>
              <a:tr h="230428">
                <a:tc>
                  <a:txBody>
                    <a:bodyPr wrap="square"/>
                    <a:lstStyle/>
                    <a:p>
                      <a:r>
                        <a:rPr sz="1152" b="0" i="0">
                          <a:solidFill>
                            <a:srgbClr val="1A1A1A"/>
                          </a:solidFill>
                          <a:latin typeface="Helvetica Neue"/>
                        </a:rPr>
                        <a:t>K222176</a:t>
                      </a:r>
                    </a:p>
                  </a:txBody>
                  <a:tcPr marL="45720" marR="45720" marT="18288" marB="18288" anchor="t"/>
                </a:tc>
                <a:tc>
                  <a:txBody>
                    <a:bodyPr wrap="square"/>
                    <a:lstStyle/>
                    <a:p>
                      <a:r>
                        <a:rPr sz="1152" b="0" i="0">
                          <a:solidFill>
                            <a:srgbClr val="1A1A1A"/>
                          </a:solidFill>
                          <a:latin typeface="Helvetica Neue"/>
                        </a:rPr>
                        <a:t>03/02/2023</a:t>
                      </a:r>
                    </a:p>
                  </a:txBody>
                  <a:tcPr marL="45720" marR="45720" marT="18288" marB="18288" anchor="t"/>
                </a:tc>
                <a:tc>
                  <a:txBody>
                    <a:bodyPr wrap="square"/>
                    <a:lstStyle/>
                    <a:p>
                      <a:r>
                        <a:rPr sz="1152" b="0" i="0">
                          <a:solidFill>
                            <a:srgbClr val="1A1A1A"/>
                          </a:solidFill>
                          <a:latin typeface="Helvetica Neue"/>
                        </a:rPr>
                        <a:t>Gleamer</a:t>
                      </a:r>
                    </a:p>
                  </a:txBody>
                  <a:tcPr marL="45720" marR="45720" marT="18288" marB="18288" anchor="t"/>
                </a:tc>
                <a:tc>
                  <a:txBody>
                    <a:bodyPr wrap="square"/>
                    <a:lstStyle/>
                    <a:p>
                      <a:r>
                        <a:rPr sz="1152" b="0" i="0">
                          <a:solidFill>
                            <a:srgbClr val="1A1A1A"/>
                          </a:solidFill>
                          <a:latin typeface="Helvetica Neue"/>
                        </a:rPr>
                        <a:t>BoneView</a:t>
                      </a:r>
                    </a:p>
                  </a:txBody>
                  <a:tcPr marL="45720" marR="45720" marT="18288" marB="18288" anchor="t"/>
                </a:tc>
                <a:tc>
                  <a:txBody>
                    <a:bodyPr wrap="square"/>
                    <a:lstStyle/>
                    <a:p>
                      <a:r>
                        <a:rPr sz="1152" b="0" i="0">
                          <a:solidFill>
                            <a:srgbClr val="1A1A1A"/>
                          </a:solidFill>
                          <a:latin typeface="Helvetica Neue"/>
                        </a:rPr>
                        <a:t>QBS</a:t>
                      </a:r>
                    </a:p>
                  </a:txBody>
                  <a:tcPr marL="45720" marR="45720" marT="18288" marB="18288" anchor="t"/>
                </a:tc>
              </a:tr>
              <a:tr h="230428">
                <a:tc>
                  <a:txBody>
                    <a:bodyPr wrap="square"/>
                    <a:lstStyle/>
                    <a:p>
                      <a:r>
                        <a:rPr sz="1152" b="0" i="0">
                          <a:solidFill>
                            <a:srgbClr val="1A1A1A"/>
                          </a:solidFill>
                          <a:latin typeface="Helvetica Neue"/>
                        </a:rPr>
                        <a:t>K222277</a:t>
                      </a:r>
                    </a:p>
                  </a:txBody>
                  <a:tcPr marL="45720" marR="45720" marT="18288" marB="18288" anchor="t"/>
                </a:tc>
                <a:tc>
                  <a:txBody>
                    <a:bodyPr wrap="square"/>
                    <a:lstStyle/>
                    <a:p>
                      <a:r>
                        <a:rPr sz="1152" b="0" i="0">
                          <a:solidFill>
                            <a:srgbClr val="1A1A1A"/>
                          </a:solidFill>
                          <a:latin typeface="Helvetica Neue"/>
                        </a:rPr>
                        <a:t>08/26/2022</a:t>
                      </a:r>
                    </a:p>
                  </a:txBody>
                  <a:tcPr marL="45720" marR="45720" marT="18288" marB="18288" anchor="t"/>
                </a:tc>
                <a:tc>
                  <a:txBody>
                    <a:bodyPr wrap="square"/>
                    <a:lstStyle/>
                    <a:p>
                      <a:r>
                        <a:rPr sz="1152" b="0" i="0">
                          <a:solidFill>
                            <a:srgbClr val="1A1A1A"/>
                          </a:solidFill>
                          <a:latin typeface="Helvetica Neue"/>
                        </a:rPr>
                        <a:t>Aidoc Medical, Ltd.</a:t>
                      </a:r>
                    </a:p>
                  </a:txBody>
                  <a:tcPr marL="45720" marR="45720" marT="18288" marB="18288" anchor="t"/>
                </a:tc>
                <a:tc>
                  <a:txBody>
                    <a:bodyPr wrap="square"/>
                    <a:lstStyle/>
                    <a:p>
                      <a:r>
                        <a:rPr sz="1152" b="0" i="0">
                          <a:solidFill>
                            <a:srgbClr val="1A1A1A"/>
                          </a:solidFill>
                          <a:latin typeface="Helvetica Neue"/>
                        </a:rPr>
                        <a:t>BriefCase</a:t>
                      </a:r>
                    </a:p>
                  </a:txBody>
                  <a:tcPr marL="45720" marR="45720" marT="18288" marB="18288" anchor="t"/>
                </a:tc>
                <a:tc>
                  <a:txBody>
                    <a:bodyPr wrap="square"/>
                    <a:lstStyle/>
                    <a:p>
                      <a:r>
                        <a:rPr sz="1152" b="0" i="0">
                          <a:solidFill>
                            <a:srgbClr val="1A1A1A"/>
                          </a:solidFill>
                          <a:latin typeface="Helvetica Neue"/>
                        </a:rPr>
                        <a:t>QAS</a:t>
                      </a:r>
                    </a:p>
                  </a:txBody>
                  <a:tcPr marL="45720" marR="45720" marT="18288" marB="18288" anchor="t"/>
                </a:tc>
              </a:tr>
              <a:tr h="230428">
                <a:tc>
                  <a:txBody>
                    <a:bodyPr wrap="square"/>
                    <a:lstStyle/>
                    <a:p>
                      <a:r>
                        <a:rPr sz="1152" b="0" i="0">
                          <a:solidFill>
                            <a:srgbClr val="1A1A1A"/>
                          </a:solidFill>
                          <a:latin typeface="Helvetica Neue"/>
                        </a:rPr>
                        <a:t>K222329</a:t>
                      </a:r>
                    </a:p>
                  </a:txBody>
                  <a:tcPr marL="45720" marR="45720" marT="18288" marB="18288" anchor="t"/>
                </a:tc>
                <a:tc>
                  <a:txBody>
                    <a:bodyPr wrap="square"/>
                    <a:lstStyle/>
                    <a:p>
                      <a:r>
                        <a:rPr sz="1152" b="0" i="0">
                          <a:solidFill>
                            <a:srgbClr val="1A1A1A"/>
                          </a:solidFill>
                          <a:latin typeface="Helvetica Neue"/>
                        </a:rPr>
                        <a:t>09/28/2022</a:t>
                      </a:r>
                    </a:p>
                  </a:txBody>
                  <a:tcPr marL="45720" marR="45720" marT="18288" marB="18288" anchor="t"/>
                </a:tc>
                <a:tc>
                  <a:txBody>
                    <a:bodyPr wrap="square"/>
                    <a:lstStyle/>
                    <a:p>
                      <a:r>
                        <a:rPr sz="1152" b="0" i="0">
                          <a:solidFill>
                            <a:srgbClr val="1A1A1A"/>
                          </a:solidFill>
                          <a:latin typeface="Helvetica Neue"/>
                        </a:rPr>
                        <a:t>Aidoc Medical, Ltd.</a:t>
                      </a:r>
                    </a:p>
                  </a:txBody>
                  <a:tcPr marL="45720" marR="45720" marT="18288" marB="18288" anchor="t"/>
                </a:tc>
                <a:tc>
                  <a:txBody>
                    <a:bodyPr wrap="square"/>
                    <a:lstStyle/>
                    <a:p>
                      <a:r>
                        <a:rPr sz="1152" b="0" i="0">
                          <a:solidFill>
                            <a:srgbClr val="1A1A1A"/>
                          </a:solidFill>
                          <a:latin typeface="Helvetica Neue"/>
                        </a:rPr>
                        <a:t>BriefCase</a:t>
                      </a:r>
                    </a:p>
                  </a:txBody>
                  <a:tcPr marL="45720" marR="45720" marT="18288" marB="18288" anchor="t"/>
                </a:tc>
                <a:tc>
                  <a:txBody>
                    <a:bodyPr wrap="square"/>
                    <a:lstStyle/>
                    <a:p>
                      <a:r>
                        <a:rPr sz="1152" b="0" i="0">
                          <a:solidFill>
                            <a:srgbClr val="1A1A1A"/>
                          </a:solidFill>
                          <a:latin typeface="Helvetica Neue"/>
                        </a:rPr>
                        <a:t>QAS</a:t>
                      </a:r>
                    </a:p>
                  </a:txBody>
                  <a:tcPr marL="45720" marR="45720" marT="18288" marB="18288" anchor="t"/>
                </a:tc>
              </a:tr>
              <a:tr h="230428">
                <a:tc>
                  <a:txBody>
                    <a:bodyPr wrap="square"/>
                    <a:lstStyle/>
                    <a:p>
                      <a:r>
                        <a:rPr sz="1152" b="0" i="0">
                          <a:solidFill>
                            <a:srgbClr val="1A1A1A"/>
                          </a:solidFill>
                          <a:latin typeface="Helvetica Neue"/>
                        </a:rPr>
                        <a:t>K222406</a:t>
                      </a:r>
                    </a:p>
                  </a:txBody>
                  <a:tcPr marL="45720" marR="45720" marT="18288" marB="18288" anchor="t"/>
                </a:tc>
                <a:tc>
                  <a:txBody>
                    <a:bodyPr wrap="square"/>
                    <a:lstStyle/>
                    <a:p>
                      <a:r>
                        <a:rPr sz="1152" b="0" i="0">
                          <a:solidFill>
                            <a:srgbClr val="1A1A1A"/>
                          </a:solidFill>
                          <a:latin typeface="Helvetica Neue"/>
                        </a:rPr>
                        <a:t>01/23/2023</a:t>
                      </a:r>
                    </a:p>
                  </a:txBody>
                  <a:tcPr marL="45720" marR="45720" marT="18288" marB="18288" anchor="t"/>
                </a:tc>
                <a:tc>
                  <a:txBody>
                    <a:bodyPr wrap="square"/>
                    <a:lstStyle/>
                    <a:p>
                      <a:r>
                        <a:rPr sz="1152" b="0" i="0">
                          <a:solidFill>
                            <a:srgbClr val="1A1A1A"/>
                          </a:solidFill>
                          <a:latin typeface="Helvetica Neue"/>
                        </a:rPr>
                        <a:t>Clarius Mobile Health Corp.</a:t>
                      </a:r>
                    </a:p>
                  </a:txBody>
                  <a:tcPr marL="45720" marR="45720" marT="18288" marB="18288" anchor="t"/>
                </a:tc>
                <a:tc>
                  <a:txBody>
                    <a:bodyPr wrap="square"/>
                    <a:lstStyle/>
                    <a:p>
                      <a:r>
                        <a:rPr sz="1152" b="0" i="0">
                          <a:solidFill>
                            <a:srgbClr val="1A1A1A"/>
                          </a:solidFill>
                          <a:latin typeface="Helvetica Neue"/>
                        </a:rPr>
                        <a:t>Clarius AI</a:t>
                      </a:r>
                    </a:p>
                  </a:txBody>
                  <a:tcPr marL="45720" marR="45720" marT="18288" marB="18288" anchor="t"/>
                </a:tc>
                <a:tc>
                  <a:txBody>
                    <a:bodyPr wrap="square"/>
                    <a:lstStyle/>
                    <a:p>
                      <a:r>
                        <a:rPr sz="1152" b="0" i="0">
                          <a:solidFill>
                            <a:srgbClr val="1A1A1A"/>
                          </a:solidFill>
                          <a:latin typeface="Helvetica Neue"/>
                        </a:rPr>
                        <a:t>QIH</a:t>
                      </a:r>
                    </a:p>
                  </a:txBody>
                  <a:tcPr marL="45720" marR="45720" marT="18288" marB="18288" anchor="t"/>
                </a:tc>
              </a:tr>
              <a:tr h="405993">
                <a:tc>
                  <a:txBody>
                    <a:bodyPr wrap="square"/>
                    <a:lstStyle/>
                    <a:p>
                      <a:r>
                        <a:rPr sz="1152" b="0" i="0">
                          <a:solidFill>
                            <a:srgbClr val="1A1A1A"/>
                          </a:solidFill>
                          <a:latin typeface="Helvetica Neue"/>
                        </a:rPr>
                        <a:t>K222428</a:t>
                      </a:r>
                    </a:p>
                  </a:txBody>
                  <a:tcPr marL="45720" marR="45720" marT="18288" marB="18288" anchor="t"/>
                </a:tc>
                <a:tc>
                  <a:txBody>
                    <a:bodyPr wrap="square"/>
                    <a:lstStyle/>
                    <a:p>
                      <a:r>
                        <a:rPr sz="1152" b="0" i="0">
                          <a:solidFill>
                            <a:srgbClr val="1A1A1A"/>
                          </a:solidFill>
                          <a:latin typeface="Helvetica Neue"/>
                        </a:rPr>
                        <a:t>11/14/2022</a:t>
                      </a:r>
                    </a:p>
                  </a:txBody>
                  <a:tcPr marL="45720" marR="45720" marT="18288" marB="18288" anchor="t"/>
                </a:tc>
                <a:tc>
                  <a:txBody>
                    <a:bodyPr wrap="square"/>
                    <a:lstStyle/>
                    <a:p>
                      <a:r>
                        <a:rPr sz="1152" b="0" i="0">
                          <a:solidFill>
                            <a:srgbClr val="1A1A1A"/>
                          </a:solidFill>
                          <a:latin typeface="Helvetica Neue"/>
                        </a:rPr>
                        <a:t>Siemens Medical Solutions USA, Inc.</a:t>
                      </a:r>
                    </a:p>
                  </a:txBody>
                  <a:tcPr marL="45720" marR="45720" marT="18288" marB="18288" anchor="t"/>
                </a:tc>
                <a:tc>
                  <a:txBody>
                    <a:bodyPr wrap="square"/>
                    <a:lstStyle/>
                    <a:p>
                      <a:r>
                        <a:rPr sz="1152" b="0" i="0">
                          <a:solidFill>
                            <a:srgbClr val="1A1A1A"/>
                          </a:solidFill>
                          <a:latin typeface="Helvetica Neue"/>
                        </a:rPr>
                        <a:t>Syngo Dynamics (Version VA40F)</a:t>
                      </a:r>
                    </a:p>
                  </a:txBody>
                  <a:tcPr marL="45720" marR="45720" marT="18288" marB="18288" anchor="t"/>
                </a:tc>
                <a:tc>
                  <a:txBody>
                    <a:bodyPr wrap="square"/>
                    <a:lstStyle/>
                    <a:p>
                      <a:r>
                        <a:rPr sz="1152" b="0" i="0">
                          <a:solidFill>
                            <a:srgbClr val="1A1A1A"/>
                          </a:solidFill>
                          <a:latin typeface="Helvetica Neue"/>
                        </a:rPr>
                        <a:t>QIH</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69 / 83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(61–80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209631"/>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10921">
                <a:tc>
                  <a:txBody>
                    <a:bodyPr wrap="square"/>
                    <a:lstStyle/>
                    <a:p>
                      <a:r>
                        <a:rPr sz="1024" b="1" i="0">
                          <a:solidFill>
                            <a:srgbClr val="FFFFFF"/>
                          </a:solidFill>
                          <a:latin typeface="Helvetica Neue"/>
                        </a:rPr>
                        <a:t>Submission</a:t>
                      </a:r>
                    </a:p>
                  </a:txBody>
                  <a:tcPr marL="45720" marR="45720" marT="18288" marB="18288" anchor="t"/>
                </a:tc>
                <a:tc>
                  <a:txBody>
                    <a:bodyPr wrap="square"/>
                    <a:lstStyle/>
                    <a:p>
                      <a:r>
                        <a:rPr sz="1024" b="1" i="0">
                          <a:solidFill>
                            <a:srgbClr val="FFFFFF"/>
                          </a:solidFill>
                          <a:latin typeface="Helvetica Neue"/>
                        </a:rPr>
                        <a:t>Date</a:t>
                      </a:r>
                    </a:p>
                  </a:txBody>
                  <a:tcPr marL="45720" marR="45720" marT="18288" marB="18288" anchor="t"/>
                </a:tc>
                <a:tc>
                  <a:txBody>
                    <a:bodyPr wrap="square"/>
                    <a:lstStyle/>
                    <a:p>
                      <a:r>
                        <a:rPr sz="1024" b="1" i="0">
                          <a:solidFill>
                            <a:srgbClr val="FFFFFF"/>
                          </a:solidFill>
                          <a:latin typeface="Helvetica Neue"/>
                        </a:rPr>
                        <a:t>Company</a:t>
                      </a:r>
                    </a:p>
                  </a:txBody>
                  <a:tcPr marL="45720" marR="45720" marT="18288" marB="18288" anchor="t"/>
                </a:tc>
                <a:tc>
                  <a:txBody>
                    <a:bodyPr wrap="square"/>
                    <a:lstStyle/>
                    <a:p>
                      <a:r>
                        <a:rPr sz="1024" b="1" i="0">
                          <a:solidFill>
                            <a:srgbClr val="FFFFFF"/>
                          </a:solidFill>
                          <a:latin typeface="Helvetica Neue"/>
                        </a:rPr>
                        <a:t>Device</a:t>
                      </a:r>
                    </a:p>
                  </a:txBody>
                  <a:tcPr marL="45720" marR="45720" marT="18288" marB="18288" anchor="t"/>
                </a:tc>
                <a:tc>
                  <a:txBody>
                    <a:bodyPr wrap="square"/>
                    <a:lstStyle/>
                    <a:p>
                      <a:r>
                        <a:rPr sz="1024" b="1" i="0">
                          <a:solidFill>
                            <a:srgbClr val="FFFFFF"/>
                          </a:solidFill>
                          <a:latin typeface="Helvetica Neue"/>
                        </a:rPr>
                        <a:t>Code</a:t>
                      </a:r>
                    </a:p>
                  </a:txBody>
                  <a:tcPr marL="45720" marR="45720" marT="18288" marB="18288" anchor="t"/>
                </a:tc>
              </a:tr>
              <a:tr h="366979">
                <a:tc>
                  <a:txBody>
                    <a:bodyPr wrap="square"/>
                    <a:lstStyle/>
                    <a:p>
                      <a:r>
                        <a:rPr sz="1024" b="0" i="0">
                          <a:solidFill>
                            <a:srgbClr val="1A1A1A"/>
                          </a:solidFill>
                          <a:latin typeface="Helvetica Neue"/>
                        </a:rPr>
                        <a:t>K222755</a:t>
                      </a:r>
                    </a:p>
                  </a:txBody>
                  <a:tcPr marL="45720" marR="45720" marT="18288" marB="18288" anchor="t"/>
                </a:tc>
                <a:tc>
                  <a:txBody>
                    <a:bodyPr wrap="square"/>
                    <a:lstStyle/>
                    <a:p>
                      <a:r>
                        <a:rPr sz="1024" b="0" i="0">
                          <a:solidFill>
                            <a:srgbClr val="1A1A1A"/>
                          </a:solidFill>
                          <a:latin typeface="Helvetica Neue"/>
                        </a:rPr>
                        <a:t>02/16/2023</a:t>
                      </a:r>
                    </a:p>
                  </a:txBody>
                  <a:tcPr marL="45720" marR="45720" marT="18288" marB="18288" anchor="t"/>
                </a:tc>
                <a:tc>
                  <a:txBody>
                    <a:bodyPr wrap="square"/>
                    <a:lstStyle/>
                    <a:p>
                      <a:r>
                        <a:rPr sz="1024" b="0" i="0">
                          <a:solidFill>
                            <a:srgbClr val="1A1A1A"/>
                          </a:solidFill>
                          <a:latin typeface="Helvetica Neue"/>
                        </a:rPr>
                        <a:t>Shanghai United Imaging Intelligence Co., Ltd.</a:t>
                      </a:r>
                    </a:p>
                  </a:txBody>
                  <a:tcPr marL="45720" marR="45720" marT="18288" marB="18288" anchor="t"/>
                </a:tc>
                <a:tc>
                  <a:txBody>
                    <a:bodyPr wrap="square"/>
                    <a:lstStyle/>
                    <a:p>
                      <a:r>
                        <a:rPr sz="1024" b="0" i="0">
                          <a:solidFill>
                            <a:srgbClr val="1A1A1A"/>
                          </a:solidFill>
                          <a:latin typeface="Helvetica Neue"/>
                        </a:rPr>
                        <a:t>uMR 680</a:t>
                      </a:r>
                    </a:p>
                  </a:txBody>
                  <a:tcPr marL="45720" marR="45720" marT="18288" marB="18288" anchor="t"/>
                </a:tc>
                <a:tc>
                  <a:txBody>
                    <a:bodyPr wrap="square"/>
                    <a:lstStyle/>
                    <a:p>
                      <a:r>
                        <a:rPr sz="1024" b="0" i="0">
                          <a:solidFill>
                            <a:srgbClr val="1A1A1A"/>
                          </a:solidFill>
                          <a:latin typeface="Helvetica Neue"/>
                        </a:rPr>
                        <a:t>LNH</a:t>
                      </a:r>
                    </a:p>
                  </a:txBody>
                  <a:tcPr marL="45720" marR="45720" marT="18288" marB="18288" anchor="t"/>
                </a:tc>
              </a:tr>
              <a:tr h="210921">
                <a:tc>
                  <a:txBody>
                    <a:bodyPr wrap="square"/>
                    <a:lstStyle/>
                    <a:p>
                      <a:r>
                        <a:rPr sz="1024" b="0" i="0">
                          <a:solidFill>
                            <a:srgbClr val="1A1A1A"/>
                          </a:solidFill>
                          <a:latin typeface="Helvetica Neue"/>
                        </a:rPr>
                        <a:t>K223268</a:t>
                      </a:r>
                    </a:p>
                  </a:txBody>
                  <a:tcPr marL="45720" marR="45720" marT="18288" marB="18288" anchor="t"/>
                </a:tc>
                <a:tc>
                  <a:txBody>
                    <a:bodyPr wrap="square"/>
                    <a:lstStyle/>
                    <a:p>
                      <a:r>
                        <a:rPr sz="1024" b="0" i="0">
                          <a:solidFill>
                            <a:srgbClr val="1A1A1A"/>
                          </a:solidFill>
                          <a:latin typeface="Helvetica Neue"/>
                        </a:rPr>
                        <a:t>12/16/2022</a:t>
                      </a:r>
                    </a:p>
                  </a:txBody>
                  <a:tcPr marL="45720" marR="45720" marT="18288" marB="18288" anchor="t"/>
                </a:tc>
                <a:tc>
                  <a:txBody>
                    <a:bodyPr wrap="square"/>
                    <a:lstStyle/>
                    <a:p>
                      <a:r>
                        <a:rPr sz="1024" b="0" i="0">
                          <a:solidFill>
                            <a:srgbClr val="1A1A1A"/>
                          </a:solidFill>
                          <a:latin typeface="Helvetica Neue"/>
                        </a:rPr>
                        <a:t>Hyperfine, Inc.</a:t>
                      </a:r>
                    </a:p>
                  </a:txBody>
                  <a:tcPr marL="45720" marR="45720" marT="18288" marB="18288" anchor="t"/>
                </a:tc>
                <a:tc>
                  <a:txBody>
                    <a:bodyPr wrap="square"/>
                    <a:lstStyle/>
                    <a:p>
                      <a:r>
                        <a:rPr sz="1024" b="0" i="0">
                          <a:solidFill>
                            <a:srgbClr val="1A1A1A"/>
                          </a:solidFill>
                          <a:latin typeface="Helvetica Neue"/>
                        </a:rPr>
                        <a:t>BrainInsight</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K223387</a:t>
                      </a:r>
                    </a:p>
                  </a:txBody>
                  <a:tcPr marL="45720" marR="45720" marT="18288" marB="18288" anchor="t"/>
                </a:tc>
                <a:tc>
                  <a:txBody>
                    <a:bodyPr wrap="square"/>
                    <a:lstStyle/>
                    <a:p>
                      <a:r>
                        <a:rPr sz="1024" b="0" i="0">
                          <a:solidFill>
                            <a:srgbClr val="1A1A1A"/>
                          </a:solidFill>
                          <a:latin typeface="Helvetica Neue"/>
                        </a:rPr>
                        <a:t>02/13/2023</a:t>
                      </a:r>
                    </a:p>
                  </a:txBody>
                  <a:tcPr marL="45720" marR="45720" marT="18288" marB="18288" anchor="t"/>
                </a:tc>
                <a:tc>
                  <a:txBody>
                    <a:bodyPr wrap="square"/>
                    <a:lstStyle/>
                    <a:p>
                      <a:r>
                        <a:rPr sz="1024" b="0" i="0">
                          <a:solidFill>
                            <a:srgbClr val="1A1A1A"/>
                          </a:solidFill>
                          <a:latin typeface="Helvetica Neue"/>
                        </a:rPr>
                        <a:t>Samsung Medison Co., Ltd.</a:t>
                      </a:r>
                    </a:p>
                  </a:txBody>
                  <a:tcPr marL="45720" marR="45720" marT="18288" marB="18288" anchor="t"/>
                </a:tc>
                <a:tc>
                  <a:txBody>
                    <a:bodyPr wrap="square"/>
                    <a:lstStyle/>
                    <a:p>
                      <a:r>
                        <a:rPr sz="1024" b="0" i="0">
                          <a:solidFill>
                            <a:srgbClr val="1A1A1A"/>
                          </a:solidFill>
                          <a:latin typeface="Helvetica Neue"/>
                        </a:rPr>
                        <a:t>V8 Diagnostic Ultrasound System, V7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366979">
                <a:tc>
                  <a:txBody>
                    <a:bodyPr wrap="square"/>
                    <a:lstStyle/>
                    <a:p>
                      <a:r>
                        <a:rPr sz="1024" b="0" i="0">
                          <a:solidFill>
                            <a:srgbClr val="1A1A1A"/>
                          </a:solidFill>
                          <a:latin typeface="Helvetica Neue"/>
                        </a:rPr>
                        <a:t>K223491</a:t>
                      </a:r>
                    </a:p>
                  </a:txBody>
                  <a:tcPr marL="45720" marR="45720" marT="18288" marB="18288" anchor="t"/>
                </a:tc>
                <a:tc>
                  <a:txBody>
                    <a:bodyPr wrap="square"/>
                    <a:lstStyle/>
                    <a:p>
                      <a:r>
                        <a:rPr sz="1024" b="0" i="0">
                          <a:solidFill>
                            <a:srgbClr val="1A1A1A"/>
                          </a:solidFill>
                          <a:latin typeface="Helvetica Neue"/>
                        </a:rPr>
                        <a:t>05/25/2023</a:t>
                      </a:r>
                    </a:p>
                  </a:txBody>
                  <a:tcPr marL="45720" marR="45720" marT="18288" marB="18288" anchor="t"/>
                </a:tc>
                <a:tc>
                  <a:txBody>
                    <a:bodyPr wrap="square"/>
                    <a:lstStyle/>
                    <a:p>
                      <a:r>
                        <a:rPr sz="1024" b="0" i="0">
                          <a:solidFill>
                            <a:srgbClr val="1A1A1A"/>
                          </a:solidFill>
                          <a:latin typeface="Helvetica Neue"/>
                        </a:rPr>
                        <a:t>GE Medical Systems, LLC</a:t>
                      </a:r>
                    </a:p>
                  </a:txBody>
                  <a:tcPr marL="45720" marR="45720" marT="18288" marB="18288" anchor="t"/>
                </a:tc>
                <a:tc>
                  <a:txBody>
                    <a:bodyPr wrap="square"/>
                    <a:lstStyle/>
                    <a:p>
                      <a:r>
                        <a:rPr sz="1024" b="0" i="0">
                          <a:solidFill>
                            <a:srgbClr val="1A1A1A"/>
                          </a:solidFill>
                          <a:latin typeface="Helvetica Neue"/>
                        </a:rPr>
                        <a:t>Critical Care Suite with Pneumothorax Detection AI Algorithm, Critical Care Suite 2.1, Critical Care Suite</a:t>
                      </a:r>
                    </a:p>
                  </a:txBody>
                  <a:tcPr marL="45720" marR="45720" marT="18288" marB="18288" anchor="t"/>
                </a:tc>
                <a:tc>
                  <a:txBody>
                    <a:bodyPr wrap="square"/>
                    <a:lstStyle/>
                    <a:p>
                      <a:r>
                        <a:rPr sz="1024" b="0" i="0">
                          <a:solidFill>
                            <a:srgbClr val="1A1A1A"/>
                          </a:solidFill>
                          <a:latin typeface="Helvetica Neue"/>
                        </a:rPr>
                        <a:t>QBS</a:t>
                      </a:r>
                    </a:p>
                  </a:txBody>
                  <a:tcPr marL="45720" marR="45720" marT="18288" marB="18288" anchor="t"/>
                </a:tc>
              </a:tr>
              <a:tr h="210921">
                <a:tc>
                  <a:txBody>
                    <a:bodyPr wrap="square"/>
                    <a:lstStyle/>
                    <a:p>
                      <a:r>
                        <a:rPr sz="1024" b="0" i="0">
                          <a:solidFill>
                            <a:srgbClr val="1A1A1A"/>
                          </a:solidFill>
                          <a:latin typeface="Helvetica Neue"/>
                        </a:rPr>
                        <a:t>K223771</a:t>
                      </a:r>
                    </a:p>
                  </a:txBody>
                  <a:tcPr marL="45720" marR="45720" marT="18288" marB="18288" anchor="t"/>
                </a:tc>
                <a:tc>
                  <a:txBody>
                    <a:bodyPr wrap="square"/>
                    <a:lstStyle/>
                    <a:p>
                      <a:r>
                        <a:rPr sz="1024" b="0" i="0">
                          <a:solidFill>
                            <a:srgbClr val="1A1A1A"/>
                          </a:solidFill>
                          <a:latin typeface="Helvetica Neue"/>
                        </a:rPr>
                        <a:t>05/04/2023</a:t>
                      </a:r>
                    </a:p>
                  </a:txBody>
                  <a:tcPr marL="45720" marR="45720" marT="18288" marB="18288" anchor="t"/>
                </a:tc>
                <a:tc>
                  <a:txBody>
                    <a:bodyPr wrap="square"/>
                    <a:lstStyle/>
                    <a:p>
                      <a:r>
                        <a:rPr sz="1024" b="0" i="0">
                          <a:solidFill>
                            <a:srgbClr val="1A1A1A"/>
                          </a:solidFill>
                          <a:latin typeface="Helvetica Neue"/>
                        </a:rPr>
                        <a:t>Philips Ultrasound</a:t>
                      </a:r>
                    </a:p>
                  </a:txBody>
                  <a:tcPr marL="45720" marR="45720" marT="18288" marB="18288" anchor="t"/>
                </a:tc>
                <a:tc>
                  <a:txBody>
                    <a:bodyPr wrap="square"/>
                    <a:lstStyle/>
                    <a:p>
                      <a:r>
                        <a:rPr sz="1024" b="0" i="0">
                          <a:solidFill>
                            <a:srgbClr val="1A1A1A"/>
                          </a:solidFill>
                          <a:latin typeface="Helvetica Neue"/>
                        </a:rPr>
                        <a:t>Lumify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K223830</a:t>
                      </a:r>
                    </a:p>
                  </a:txBody>
                  <a:tcPr marL="45720" marR="45720" marT="18288" marB="18288" anchor="t"/>
                </a:tc>
                <a:tc>
                  <a:txBody>
                    <a:bodyPr wrap="square"/>
                    <a:lstStyle/>
                    <a:p>
                      <a:r>
                        <a:rPr sz="1024" b="0" i="0">
                          <a:solidFill>
                            <a:srgbClr val="1A1A1A"/>
                          </a:solidFill>
                          <a:latin typeface="Helvetica Neue"/>
                        </a:rPr>
                        <a:t>04/11/2023</a:t>
                      </a:r>
                    </a:p>
                  </a:txBody>
                  <a:tcPr marL="45720" marR="45720" marT="18288" marB="18288" anchor="t"/>
                </a:tc>
                <a:tc>
                  <a:txBody>
                    <a:bodyPr wrap="square"/>
                    <a:lstStyle/>
                    <a:p>
                      <a:r>
                        <a:rPr sz="1024" b="0" i="0">
                          <a:solidFill>
                            <a:srgbClr val="1A1A1A"/>
                          </a:solidFill>
                          <a:latin typeface="Helvetica Neue"/>
                        </a:rPr>
                        <a:t>BK Medical Aps</a:t>
                      </a:r>
                    </a:p>
                  </a:txBody>
                  <a:tcPr marL="45720" marR="45720" marT="18288" marB="18288" anchor="t"/>
                </a:tc>
                <a:tc>
                  <a:txBody>
                    <a:bodyPr wrap="square"/>
                    <a:lstStyle/>
                    <a:p>
                      <a:r>
                        <a:rPr sz="1024" b="0" i="0">
                          <a:solidFill>
                            <a:srgbClr val="1A1A1A"/>
                          </a:solidFill>
                          <a:latin typeface="Helvetica Neue"/>
                        </a:rPr>
                        <a:t>Ultrasound System 2300</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K230020</a:t>
                      </a:r>
                    </a:p>
                  </a:txBody>
                  <a:tcPr marL="45720" marR="45720" marT="18288" marB="18288" anchor="t"/>
                </a:tc>
                <a:tc>
                  <a:txBody>
                    <a:bodyPr wrap="square"/>
                    <a:lstStyle/>
                    <a:p>
                      <a:r>
                        <a:rPr sz="1024" b="0" i="0">
                          <a:solidFill>
                            <a:srgbClr val="1A1A1A"/>
                          </a:solidFill>
                          <a:latin typeface="Helvetica Neue"/>
                        </a:rPr>
                        <a:t>02/01/2023</a:t>
                      </a:r>
                    </a:p>
                  </a:txBody>
                  <a:tcPr marL="45720" marR="45720" marT="18288" marB="18288" anchor="t"/>
                </a:tc>
                <a:tc>
                  <a:txBody>
                    <a:bodyPr wrap="square"/>
                    <a:lstStyle/>
                    <a:p>
                      <a:r>
                        <a:rPr sz="1024" b="0" i="0">
                          <a:solidFill>
                            <a:srgbClr val="1A1A1A"/>
                          </a:solidFill>
                          <a:latin typeface="Helvetica Neue"/>
                        </a:rPr>
                        <a:t>Aidoc Medical, Ltd.</a:t>
                      </a:r>
                    </a:p>
                  </a:txBody>
                  <a:tcPr marL="45720" marR="45720" marT="18288" marB="18288" anchor="t"/>
                </a:tc>
                <a:tc>
                  <a:txBody>
                    <a:bodyPr wrap="square"/>
                    <a:lstStyle/>
                    <a:p>
                      <a:r>
                        <a:rPr sz="1024" b="0" i="0">
                          <a:solidFill>
                            <a:srgbClr val="1A1A1A"/>
                          </a:solidFill>
                          <a:latin typeface="Helvetica Neue"/>
                        </a:rPr>
                        <a:t>BriefCase</a:t>
                      </a:r>
                    </a:p>
                  </a:txBody>
                  <a:tcPr marL="45720" marR="45720" marT="18288" marB="18288" anchor="t"/>
                </a:tc>
                <a:tc>
                  <a:txBody>
                    <a:bodyPr wrap="square"/>
                    <a:lstStyle/>
                    <a:p>
                      <a:r>
                        <a:rPr sz="1024" b="0" i="0">
                          <a:solidFill>
                            <a:srgbClr val="1A1A1A"/>
                          </a:solidFill>
                          <a:latin typeface="Helvetica Neue"/>
                        </a:rPr>
                        <a:t>QFM</a:t>
                      </a:r>
                    </a:p>
                  </a:txBody>
                  <a:tcPr marL="45720" marR="45720" marT="18288" marB="18288" anchor="t"/>
                </a:tc>
              </a:tr>
              <a:tr h="366979">
                <a:tc>
                  <a:txBody>
                    <a:bodyPr wrap="square"/>
                    <a:lstStyle/>
                    <a:p>
                      <a:r>
                        <a:rPr sz="1024" b="0" i="0">
                          <a:solidFill>
                            <a:srgbClr val="1A1A1A"/>
                          </a:solidFill>
                          <a:latin typeface="Helvetica Neue"/>
                        </a:rPr>
                        <a:t>K230084</a:t>
                      </a:r>
                    </a:p>
                  </a:txBody>
                  <a:tcPr marL="45720" marR="45720" marT="18288" marB="18288" anchor="t"/>
                </a:tc>
                <a:tc>
                  <a:txBody>
                    <a:bodyPr wrap="square"/>
                    <a:lstStyle/>
                    <a:p>
                      <a:r>
                        <a:rPr sz="1024" b="0" i="0">
                          <a:solidFill>
                            <a:srgbClr val="1A1A1A"/>
                          </a:solidFill>
                          <a:latin typeface="Helvetica Neue"/>
                        </a:rPr>
                        <a:t>04/21/2023</a:t>
                      </a:r>
                    </a:p>
                  </a:txBody>
                  <a:tcPr marL="45720" marR="45720" marT="18288" marB="18288" anchor="t"/>
                </a:tc>
                <a:tc>
                  <a:txBody>
                    <a:bodyPr wrap="square"/>
                    <a:lstStyle/>
                    <a:p>
                      <a:r>
                        <a:rPr sz="1024" b="0" i="0">
                          <a:solidFill>
                            <a:srgbClr val="1A1A1A"/>
                          </a:solidFill>
                          <a:latin typeface="Helvetica Neue"/>
                        </a:rPr>
                        <a:t>Samsung Medison CO., LTD.</a:t>
                      </a:r>
                    </a:p>
                  </a:txBody>
                  <a:tcPr marL="45720" marR="45720" marT="18288" marB="18288" anchor="t"/>
                </a:tc>
                <a:tc>
                  <a:txBody>
                    <a:bodyPr wrap="square"/>
                    <a:lstStyle/>
                    <a:p>
                      <a:r>
                        <a:rPr sz="1024" b="0" i="0">
                          <a:solidFill>
                            <a:srgbClr val="1A1A1A"/>
                          </a:solidFill>
                          <a:latin typeface="Helvetica Neue"/>
                        </a:rPr>
                        <a:t>HERA W10 Diagnostic Ultrasound System; HERA W9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K230112</a:t>
                      </a:r>
                    </a:p>
                  </a:txBody>
                  <a:tcPr marL="45720" marR="45720" marT="18288" marB="18288" anchor="t"/>
                </a:tc>
                <a:tc>
                  <a:txBody>
                    <a:bodyPr wrap="square"/>
                    <a:lstStyle/>
                    <a:p>
                      <a:r>
                        <a:rPr sz="1024" b="0" i="0">
                          <a:solidFill>
                            <a:srgbClr val="1A1A1A"/>
                          </a:solidFill>
                          <a:latin typeface="Helvetica Neue"/>
                        </a:rPr>
                        <a:t>06/13/2023</a:t>
                      </a:r>
                    </a:p>
                  </a:txBody>
                  <a:tcPr marL="45720" marR="45720" marT="18288" marB="18288" anchor="t"/>
                </a:tc>
                <a:tc>
                  <a:txBody>
                    <a:bodyPr wrap="square"/>
                    <a:lstStyle/>
                    <a:p>
                      <a:r>
                        <a:rPr sz="1024" b="0" i="0">
                          <a:solidFill>
                            <a:srgbClr val="1A1A1A"/>
                          </a:solidFill>
                          <a:latin typeface="Helvetica Neue"/>
                        </a:rPr>
                        <a:t>Imbio, Inc.</a:t>
                      </a:r>
                    </a:p>
                  </a:txBody>
                  <a:tcPr marL="45720" marR="45720" marT="18288" marB="18288" anchor="t"/>
                </a:tc>
                <a:tc>
                  <a:txBody>
                    <a:bodyPr wrap="square"/>
                    <a:lstStyle/>
                    <a:p>
                      <a:r>
                        <a:rPr sz="1024" b="0" i="0">
                          <a:solidFill>
                            <a:srgbClr val="1A1A1A"/>
                          </a:solidFill>
                          <a:latin typeface="Helvetica Neue"/>
                        </a:rPr>
                        <a:t>CAC Software</a:t>
                      </a:r>
                    </a:p>
                  </a:txBody>
                  <a:tcPr marL="45720" marR="45720" marT="18288" marB="18288" anchor="t"/>
                </a:tc>
                <a:tc>
                  <a:txBody>
                    <a:bodyPr wrap="square"/>
                    <a:lstStyle/>
                    <a:p>
                      <a:r>
                        <a:rPr sz="1024" b="0" i="0">
                          <a:solidFill>
                            <a:srgbClr val="1A1A1A"/>
                          </a:solidFill>
                          <a:latin typeface="Helvetica Neue"/>
                        </a:rPr>
                        <a:t>JAK</a:t>
                      </a:r>
                    </a:p>
                  </a:txBody>
                  <a:tcPr marL="45720" marR="45720" marT="18288" marB="18288" anchor="t"/>
                </a:tc>
              </a:tr>
              <a:tr h="210921">
                <a:tc>
                  <a:txBody>
                    <a:bodyPr wrap="square"/>
                    <a:lstStyle/>
                    <a:p>
                      <a:r>
                        <a:rPr sz="1024" b="0" i="0">
                          <a:solidFill>
                            <a:srgbClr val="1A1A1A"/>
                          </a:solidFill>
                          <a:latin typeface="Helvetica Neue"/>
                        </a:rPr>
                        <a:t>K230179</a:t>
                      </a:r>
                    </a:p>
                  </a:txBody>
                  <a:tcPr marL="45720" marR="45720" marT="18288" marB="18288" anchor="t"/>
                </a:tc>
                <a:tc>
                  <a:txBody>
                    <a:bodyPr wrap="square"/>
                    <a:lstStyle/>
                    <a:p>
                      <a:r>
                        <a:rPr sz="1024" b="0" i="0">
                          <a:solidFill>
                            <a:srgbClr val="1A1A1A"/>
                          </a:solidFill>
                          <a:latin typeface="Helvetica Neue"/>
                        </a:rPr>
                        <a:t>11/29/2023</a:t>
                      </a:r>
                    </a:p>
                  </a:txBody>
                  <a:tcPr marL="45720" marR="45720" marT="18288" marB="18288" anchor="t"/>
                </a:tc>
                <a:tc>
                  <a:txBody>
                    <a:bodyPr wrap="square"/>
                    <a:lstStyle/>
                    <a:p>
                      <a:r>
                        <a:rPr sz="1024" b="0" i="0">
                          <a:solidFill>
                            <a:srgbClr val="1A1A1A"/>
                          </a:solidFill>
                          <a:latin typeface="Helvetica Neue"/>
                        </a:rPr>
                        <a:t>Esaote S.p.A.</a:t>
                      </a:r>
                    </a:p>
                  </a:txBody>
                  <a:tcPr marL="45720" marR="45720" marT="18288" marB="18288" anchor="t"/>
                </a:tc>
                <a:tc>
                  <a:txBody>
                    <a:bodyPr wrap="square"/>
                    <a:lstStyle/>
                    <a:p>
                      <a:r>
                        <a:rPr sz="1024" b="0" i="0">
                          <a:solidFill>
                            <a:srgbClr val="1A1A1A"/>
                          </a:solidFill>
                          <a:latin typeface="Helvetica Neue"/>
                        </a:rPr>
                        <a:t>6440 MyLabX90</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K230208</a:t>
                      </a:r>
                    </a:p>
                  </a:txBody>
                  <a:tcPr marL="45720" marR="45720" marT="18288" marB="18288" anchor="t"/>
                </a:tc>
                <a:tc>
                  <a:txBody>
                    <a:bodyPr wrap="square"/>
                    <a:lstStyle/>
                    <a:p>
                      <a:r>
                        <a:rPr sz="1024" b="0" i="0">
                          <a:solidFill>
                            <a:srgbClr val="1A1A1A"/>
                          </a:solidFill>
                          <a:latin typeface="Helvetica Neue"/>
                        </a:rPr>
                        <a:t>02/22/2023</a:t>
                      </a:r>
                    </a:p>
                  </a:txBody>
                  <a:tcPr marL="45720" marR="45720" marT="18288" marB="18288" anchor="t"/>
                </a:tc>
                <a:tc>
                  <a:txBody>
                    <a:bodyPr wrap="square"/>
                    <a:lstStyle/>
                    <a:p>
                      <a:r>
                        <a:rPr sz="1024" b="0" i="0">
                          <a:solidFill>
                            <a:srgbClr val="1A1A1A"/>
                          </a:solidFill>
                          <a:latin typeface="Helvetica Neue"/>
                        </a:rPr>
                        <a:t>Hyperfine, Inc.</a:t>
                      </a:r>
                    </a:p>
                  </a:txBody>
                  <a:tcPr marL="45720" marR="45720" marT="18288" marB="18288" anchor="t"/>
                </a:tc>
                <a:tc>
                  <a:txBody>
                    <a:bodyPr wrap="square"/>
                    <a:lstStyle/>
                    <a:p>
                      <a:r>
                        <a:rPr sz="1024" b="0" i="0">
                          <a:solidFill>
                            <a:srgbClr val="1A1A1A"/>
                          </a:solidFill>
                          <a:latin typeface="Helvetica Neue"/>
                        </a:rPr>
                        <a:t>Swoop® Portable MR Imaging System</a:t>
                      </a:r>
                    </a:p>
                  </a:txBody>
                  <a:tcPr marL="45720" marR="45720" marT="18288" marB="18288" anchor="t"/>
                </a:tc>
                <a:tc>
                  <a:txBody>
                    <a:bodyPr wrap="square"/>
                    <a:lstStyle/>
                    <a:p>
                      <a:r>
                        <a:rPr sz="1024" b="0" i="0">
                          <a:solidFill>
                            <a:srgbClr val="1A1A1A"/>
                          </a:solidFill>
                          <a:latin typeface="Helvetica Neue"/>
                        </a:rPr>
                        <a:t>LNH</a:t>
                      </a:r>
                    </a:p>
                  </a:txBody>
                  <a:tcPr marL="45720" marR="45720" marT="18288" marB="18288" anchor="t"/>
                </a:tc>
              </a:tr>
              <a:tr h="210921">
                <a:tc>
                  <a:txBody>
                    <a:bodyPr wrap="square"/>
                    <a:lstStyle/>
                    <a:p>
                      <a:r>
                        <a:rPr sz="1024" b="0" i="0">
                          <a:solidFill>
                            <a:srgbClr val="1A1A1A"/>
                          </a:solidFill>
                          <a:latin typeface="Helvetica Neue"/>
                        </a:rPr>
                        <a:t>K230209</a:t>
                      </a:r>
                    </a:p>
                  </a:txBody>
                  <a:tcPr marL="45720" marR="45720" marT="18288" marB="18288" anchor="t"/>
                </a:tc>
                <a:tc>
                  <a:txBody>
                    <a:bodyPr wrap="square"/>
                    <a:lstStyle/>
                    <a:p>
                      <a:r>
                        <a:rPr sz="1024" b="0" i="0">
                          <a:solidFill>
                            <a:srgbClr val="1A1A1A"/>
                          </a:solidFill>
                          <a:latin typeface="Helvetica Neue"/>
                        </a:rPr>
                        <a:t>10/20/2023</a:t>
                      </a:r>
                    </a:p>
                  </a:txBody>
                  <a:tcPr marL="45720" marR="45720" marT="18288" marB="18288" anchor="t"/>
                </a:tc>
                <a:tc>
                  <a:txBody>
                    <a:bodyPr wrap="square"/>
                    <a:lstStyle/>
                    <a:p>
                      <a:r>
                        <a:rPr sz="1024" b="0" i="0">
                          <a:solidFill>
                            <a:srgbClr val="1A1A1A"/>
                          </a:solidFill>
                          <a:latin typeface="Helvetica Neue"/>
                        </a:rPr>
                        <a:t>Ontact Health Co., Ltd.</a:t>
                      </a:r>
                    </a:p>
                  </a:txBody>
                  <a:tcPr marL="45720" marR="45720" marT="18288" marB="18288" anchor="t"/>
                </a:tc>
                <a:tc>
                  <a:txBody>
                    <a:bodyPr wrap="square"/>
                    <a:lstStyle/>
                    <a:p>
                      <a:r>
                        <a:rPr sz="1024" b="0" i="0">
                          <a:solidFill>
                            <a:srgbClr val="1A1A1A"/>
                          </a:solidFill>
                          <a:latin typeface="Helvetica Neue"/>
                        </a:rPr>
                        <a:t>Sonix Health</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366979">
                <a:tc>
                  <a:txBody>
                    <a:bodyPr wrap="square"/>
                    <a:lstStyle/>
                    <a:p>
                      <a:r>
                        <a:rPr sz="1024" b="0" i="0">
                          <a:solidFill>
                            <a:srgbClr val="1A1A1A"/>
                          </a:solidFill>
                          <a:latin typeface="Helvetica Neue"/>
                        </a:rPr>
                        <a:t>K230346</a:t>
                      </a:r>
                    </a:p>
                  </a:txBody>
                  <a:tcPr marL="45720" marR="45720" marT="18288" marB="18288" anchor="t"/>
                </a:tc>
                <a:tc>
                  <a:txBody>
                    <a:bodyPr wrap="square"/>
                    <a:lstStyle/>
                    <a:p>
                      <a:r>
                        <a:rPr sz="1024" b="0" i="0">
                          <a:solidFill>
                            <a:srgbClr val="1A1A1A"/>
                          </a:solidFill>
                          <a:latin typeface="Helvetica Neue"/>
                        </a:rPr>
                        <a:t>06/20/2023</a:t>
                      </a:r>
                    </a:p>
                  </a:txBody>
                  <a:tcPr marL="45720" marR="45720" marT="18288" marB="18288" anchor="t"/>
                </a:tc>
                <a:tc>
                  <a:txBody>
                    <a:bodyPr wrap="square"/>
                    <a:lstStyle/>
                    <a:p>
                      <a:r>
                        <a:rPr sz="1024" b="0" i="0">
                          <a:solidFill>
                            <a:srgbClr val="1A1A1A"/>
                          </a:solidFill>
                          <a:latin typeface="Helvetica Neue"/>
                        </a:rPr>
                        <a:t>GE Medical Systems Ultrasound &amp; Primary Care Diagnostic, LLC</a:t>
                      </a:r>
                    </a:p>
                  </a:txBody>
                  <a:tcPr marL="45720" marR="45720" marT="18288" marB="18288" anchor="t"/>
                </a:tc>
                <a:tc>
                  <a:txBody>
                    <a:bodyPr wrap="square"/>
                    <a:lstStyle/>
                    <a:p>
                      <a:r>
                        <a:rPr sz="1024" b="0" i="0">
                          <a:solidFill>
                            <a:srgbClr val="1A1A1A"/>
                          </a:solidFill>
                          <a:latin typeface="Helvetica Neue"/>
                        </a:rPr>
                        <a:t>Voluson SWIFT; Voluson SWIFT+</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K230365</a:t>
                      </a:r>
                    </a:p>
                  </a:txBody>
                  <a:tcPr marL="45720" marR="45720" marT="18288" marB="18288" anchor="t"/>
                </a:tc>
                <a:tc>
                  <a:txBody>
                    <a:bodyPr wrap="square"/>
                    <a:lstStyle/>
                    <a:p>
                      <a:r>
                        <a:rPr sz="1024" b="0" i="0">
                          <a:solidFill>
                            <a:srgbClr val="1A1A1A"/>
                          </a:solidFill>
                          <a:latin typeface="Helvetica Neue"/>
                        </a:rPr>
                        <a:t>07/25/2023</a:t>
                      </a:r>
                    </a:p>
                  </a:txBody>
                  <a:tcPr marL="45720" marR="45720" marT="18288" marB="18288" anchor="t"/>
                </a:tc>
                <a:tc>
                  <a:txBody>
                    <a:bodyPr wrap="square"/>
                    <a:lstStyle/>
                    <a:p>
                      <a:r>
                        <a:rPr sz="1024" b="0" i="0">
                          <a:solidFill>
                            <a:srgbClr val="1A1A1A"/>
                          </a:solidFill>
                          <a:latin typeface="Helvetica Neue"/>
                        </a:rPr>
                        <a:t>Sonio</a:t>
                      </a:r>
                    </a:p>
                  </a:txBody>
                  <a:tcPr marL="45720" marR="45720" marT="18288" marB="18288" anchor="t"/>
                </a:tc>
                <a:tc>
                  <a:txBody>
                    <a:bodyPr wrap="square"/>
                    <a:lstStyle/>
                    <a:p>
                      <a:r>
                        <a:rPr sz="1024" b="0" i="0">
                          <a:solidFill>
                            <a:srgbClr val="1A1A1A"/>
                          </a:solidFill>
                          <a:latin typeface="Helvetica Neue"/>
                        </a:rPr>
                        <a:t>Sonio Detect</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K231001</a:t>
                      </a:r>
                    </a:p>
                  </a:txBody>
                  <a:tcPr marL="45720" marR="45720" marT="18288" marB="18288" anchor="t"/>
                </a:tc>
                <a:tc>
                  <a:txBody>
                    <a:bodyPr wrap="square"/>
                    <a:lstStyle/>
                    <a:p>
                      <a:r>
                        <a:rPr sz="1024" b="0" i="0">
                          <a:solidFill>
                            <a:srgbClr val="1A1A1A"/>
                          </a:solidFill>
                          <a:latin typeface="Helvetica Neue"/>
                        </a:rPr>
                        <a:t>10/05/2023</a:t>
                      </a:r>
                    </a:p>
                  </a:txBody>
                  <a:tcPr marL="45720" marR="45720" marT="18288" marB="18288" anchor="t"/>
                </a:tc>
                <a:tc>
                  <a:txBody>
                    <a:bodyPr wrap="square"/>
                    <a:lstStyle/>
                    <a:p>
                      <a:r>
                        <a:rPr sz="1024" b="0" i="0">
                          <a:solidFill>
                            <a:srgbClr val="1A1A1A"/>
                          </a:solidFill>
                          <a:latin typeface="Helvetica Neue"/>
                        </a:rPr>
                        <a:t>DeepTek Medical Imaging Pvt Ltd</a:t>
                      </a:r>
                    </a:p>
                  </a:txBody>
                  <a:tcPr marL="45720" marR="45720" marT="18288" marB="18288" anchor="t"/>
                </a:tc>
                <a:tc>
                  <a:txBody>
                    <a:bodyPr wrap="square"/>
                    <a:lstStyle/>
                    <a:p>
                      <a:r>
                        <a:rPr sz="1024" b="0" i="0">
                          <a:solidFill>
                            <a:srgbClr val="1A1A1A"/>
                          </a:solidFill>
                          <a:latin typeface="Helvetica Neue"/>
                        </a:rPr>
                        <a:t>DeepTek CXR Analyzer v1.0</a:t>
                      </a:r>
                    </a:p>
                  </a:txBody>
                  <a:tcPr marL="45720" marR="45720" marT="18288" marB="18288" anchor="t"/>
                </a:tc>
                <a:tc>
                  <a:txBody>
                    <a:bodyPr wrap="square"/>
                    <a:lstStyle/>
                    <a:p>
                      <a:r>
                        <a:rPr sz="1024" b="0" i="0">
                          <a:solidFill>
                            <a:srgbClr val="1A1A1A"/>
                          </a:solidFill>
                          <a:latin typeface="Helvetica Neue"/>
                        </a:rPr>
                        <a:t>MYN</a:t>
                      </a:r>
                    </a:p>
                  </a:txBody>
                  <a:tcPr marL="45720" marR="45720" marT="18288" marB="18288" anchor="t"/>
                </a:tc>
              </a:tr>
              <a:tr h="210921">
                <a:tc>
                  <a:txBody>
                    <a:bodyPr wrap="square"/>
                    <a:lstStyle/>
                    <a:p>
                      <a:r>
                        <a:rPr sz="1024" b="0" i="0">
                          <a:solidFill>
                            <a:srgbClr val="1A1A1A"/>
                          </a:solidFill>
                          <a:latin typeface="Helvetica Neue"/>
                        </a:rPr>
                        <a:t>K231190</a:t>
                      </a:r>
                    </a:p>
                  </a:txBody>
                  <a:tcPr marL="45720" marR="45720" marT="18288" marB="18288" anchor="t"/>
                </a:tc>
                <a:tc>
                  <a:txBody>
                    <a:bodyPr wrap="square"/>
                    <a:lstStyle/>
                    <a:p>
                      <a:r>
                        <a:rPr sz="1024" b="0" i="0">
                          <a:solidFill>
                            <a:srgbClr val="1A1A1A"/>
                          </a:solidFill>
                          <a:latin typeface="Helvetica Neue"/>
                        </a:rPr>
                        <a:t>05/12/2023</a:t>
                      </a:r>
                    </a:p>
                  </a:txBody>
                  <a:tcPr marL="45720" marR="45720" marT="18288" marB="18288" anchor="t"/>
                </a:tc>
                <a:tc>
                  <a:txBody>
                    <a:bodyPr wrap="square"/>
                    <a:lstStyle/>
                    <a:p>
                      <a:r>
                        <a:rPr sz="1024" b="0" i="0">
                          <a:solidFill>
                            <a:srgbClr val="1A1A1A"/>
                          </a:solidFill>
                          <a:latin typeface="Helvetica Neue"/>
                        </a:rPr>
                        <a:t>Philips Ultrasound LLC</a:t>
                      </a:r>
                    </a:p>
                  </a:txBody>
                  <a:tcPr marL="45720" marR="45720" marT="18288" marB="18288" anchor="t"/>
                </a:tc>
                <a:tc>
                  <a:txBody>
                    <a:bodyPr wrap="square"/>
                    <a:lstStyle/>
                    <a:p>
                      <a:r>
                        <a:rPr sz="1024" b="0" i="0">
                          <a:solidFill>
                            <a:srgbClr val="1A1A1A"/>
                          </a:solidFill>
                          <a:latin typeface="Helvetica Neue"/>
                        </a:rPr>
                        <a:t>EPIQ Series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K231677</a:t>
                      </a:r>
                    </a:p>
                  </a:txBody>
                  <a:tcPr marL="45720" marR="45720" marT="18288" marB="18288" anchor="t"/>
                </a:tc>
                <a:tc>
                  <a:txBody>
                    <a:bodyPr wrap="square"/>
                    <a:lstStyle/>
                    <a:p>
                      <a:r>
                        <a:rPr sz="1024" b="0" i="0">
                          <a:solidFill>
                            <a:srgbClr val="1A1A1A"/>
                          </a:solidFill>
                          <a:latin typeface="Helvetica Neue"/>
                        </a:rPr>
                        <a:t>03/06/2024</a:t>
                      </a:r>
                    </a:p>
                  </a:txBody>
                  <a:tcPr marL="45720" marR="45720" marT="18288" marB="18288" anchor="t"/>
                </a:tc>
                <a:tc>
                  <a:txBody>
                    <a:bodyPr wrap="square"/>
                    <a:lstStyle/>
                    <a:p>
                      <a:r>
                        <a:rPr sz="1024" b="0" i="0">
                          <a:solidFill>
                            <a:srgbClr val="1A1A1A"/>
                          </a:solidFill>
                          <a:latin typeface="Helvetica Neue"/>
                        </a:rPr>
                        <a:t>Edgecare Inc.</a:t>
                      </a:r>
                    </a:p>
                  </a:txBody>
                  <a:tcPr marL="45720" marR="45720" marT="18288" marB="18288" anchor="t"/>
                </a:tc>
                <a:tc>
                  <a:txBody>
                    <a:bodyPr wrap="square"/>
                    <a:lstStyle/>
                    <a:p>
                      <a:r>
                        <a:rPr sz="1024" b="0" i="0">
                          <a:solidFill>
                            <a:srgbClr val="1A1A1A"/>
                          </a:solidFill>
                          <a:latin typeface="Helvetica Neue"/>
                        </a:rPr>
                        <a:t>EdgeFlow UH10</a:t>
                      </a:r>
                    </a:p>
                  </a:txBody>
                  <a:tcPr marL="45720" marR="45720" marT="18288" marB="18288" anchor="t"/>
                </a:tc>
                <a:tc>
                  <a:txBody>
                    <a:bodyPr wrap="square"/>
                    <a:lstStyle/>
                    <a:p>
                      <a:r>
                        <a:rPr sz="1024" b="0" i="0">
                          <a:solidFill>
                            <a:srgbClr val="1A1A1A"/>
                          </a:solidFill>
                          <a:latin typeface="Helvetica Neue"/>
                        </a:rPr>
                        <a:t>IYO</a:t>
                      </a:r>
                    </a:p>
                  </a:txBody>
                  <a:tcPr marL="45720" marR="45720" marT="18288" marB="18288" anchor="t"/>
                </a:tc>
              </a:tr>
              <a:tr h="210921">
                <a:tc>
                  <a:txBody>
                    <a:bodyPr wrap="square"/>
                    <a:lstStyle/>
                    <a:p>
                      <a:r>
                        <a:rPr sz="1024" b="0" i="0">
                          <a:solidFill>
                            <a:srgbClr val="1A1A1A"/>
                          </a:solidFill>
                          <a:latin typeface="Helvetica Neue"/>
                        </a:rPr>
                        <a:t>K231764</a:t>
                      </a:r>
                    </a:p>
                  </a:txBody>
                  <a:tcPr marL="45720" marR="45720" marT="18288" marB="18288" anchor="t"/>
                </a:tc>
                <a:tc>
                  <a:txBody>
                    <a:bodyPr wrap="square"/>
                    <a:lstStyle/>
                    <a:p>
                      <a:r>
                        <a:rPr sz="1024" b="0" i="0">
                          <a:solidFill>
                            <a:srgbClr val="1A1A1A"/>
                          </a:solidFill>
                          <a:latin typeface="Helvetica Neue"/>
                        </a:rPr>
                        <a:t>10/23/2023</a:t>
                      </a:r>
                    </a:p>
                  </a:txBody>
                  <a:tcPr marL="45720" marR="45720" marT="18288" marB="18288" anchor="t"/>
                </a:tc>
                <a:tc>
                  <a:txBody>
                    <a:bodyPr wrap="square"/>
                    <a:lstStyle/>
                    <a:p>
                      <a:r>
                        <a:rPr sz="1024" b="0" i="0">
                          <a:solidFill>
                            <a:srgbClr val="1A1A1A"/>
                          </a:solidFill>
                          <a:latin typeface="Helvetica Neue"/>
                        </a:rPr>
                        <a:t>BK Medical Aps</a:t>
                      </a:r>
                    </a:p>
                  </a:txBody>
                  <a:tcPr marL="45720" marR="45720" marT="18288" marB="18288" anchor="t"/>
                </a:tc>
                <a:tc>
                  <a:txBody>
                    <a:bodyPr wrap="square"/>
                    <a:lstStyle/>
                    <a:p>
                      <a:r>
                        <a:rPr sz="1024" b="0" i="0">
                          <a:solidFill>
                            <a:srgbClr val="1A1A1A"/>
                          </a:solidFill>
                          <a:latin typeface="Helvetica Neue"/>
                        </a:rPr>
                        <a:t>Ultrasound System 1300</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366979">
                <a:tc>
                  <a:txBody>
                    <a:bodyPr wrap="square"/>
                    <a:lstStyle/>
                    <a:p>
                      <a:r>
                        <a:rPr sz="1024" b="0" i="0">
                          <a:solidFill>
                            <a:srgbClr val="1A1A1A"/>
                          </a:solidFill>
                          <a:latin typeface="Helvetica Neue"/>
                        </a:rPr>
                        <a:t>K231772</a:t>
                      </a:r>
                    </a:p>
                  </a:txBody>
                  <a:tcPr marL="45720" marR="45720" marT="18288" marB="18288" anchor="t"/>
                </a:tc>
                <a:tc>
                  <a:txBody>
                    <a:bodyPr wrap="square"/>
                    <a:lstStyle/>
                    <a:p>
                      <a:r>
                        <a:rPr sz="1024" b="0" i="0">
                          <a:solidFill>
                            <a:srgbClr val="1A1A1A"/>
                          </a:solidFill>
                          <a:latin typeface="Helvetica Neue"/>
                        </a:rPr>
                        <a:t>10/03/2023</a:t>
                      </a:r>
                    </a:p>
                  </a:txBody>
                  <a:tcPr marL="45720" marR="45720" marT="18288" marB="18288" anchor="t"/>
                </a:tc>
                <a:tc>
                  <a:txBody>
                    <a:bodyPr wrap="square"/>
                    <a:lstStyle/>
                    <a:p>
                      <a:r>
                        <a:rPr sz="1024" b="0" i="0">
                          <a:solidFill>
                            <a:srgbClr val="1A1A1A"/>
                          </a:solidFill>
                          <a:latin typeface="Helvetica Neue"/>
                        </a:rPr>
                        <a:t>Samsung Medison Co., Ltd.</a:t>
                      </a:r>
                    </a:p>
                  </a:txBody>
                  <a:tcPr marL="45720" marR="45720" marT="18288" marB="18288" anchor="t"/>
                </a:tc>
                <a:tc>
                  <a:txBody>
                    <a:bodyPr wrap="square"/>
                    <a:lstStyle/>
                    <a:p>
                      <a:r>
                        <a:rPr sz="1024" b="0" i="0">
                          <a:solidFill>
                            <a:srgbClr val="1A1A1A"/>
                          </a:solidFill>
                          <a:latin typeface="Helvetica Neue"/>
                        </a:rPr>
                        <a:t>V8/H8 Diagnostic Ultrasound System, V7/H7 Diagnostic Ultrasound System, V6/H6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K231917</a:t>
                      </a:r>
                    </a:p>
                  </a:txBody>
                  <a:tcPr marL="45720" marR="45720" marT="18288" marB="18288" anchor="t"/>
                </a:tc>
                <a:tc>
                  <a:txBody>
                    <a:bodyPr wrap="square"/>
                    <a:lstStyle/>
                    <a:p>
                      <a:r>
                        <a:rPr sz="1024" b="0" i="0">
                          <a:solidFill>
                            <a:srgbClr val="1A1A1A"/>
                          </a:solidFill>
                          <a:latin typeface="Helvetica Neue"/>
                        </a:rPr>
                        <a:t>01/05/2024</a:t>
                      </a:r>
                    </a:p>
                  </a:txBody>
                  <a:tcPr marL="45720" marR="45720" marT="18288" marB="18288" anchor="t"/>
                </a:tc>
                <a:tc>
                  <a:txBody>
                    <a:bodyPr wrap="square"/>
                    <a:lstStyle/>
                    <a:p>
                      <a:r>
                        <a:rPr sz="1024" b="0" i="0">
                          <a:solidFill>
                            <a:srgbClr val="1A1A1A"/>
                          </a:solidFill>
                          <a:latin typeface="Helvetica Neue"/>
                        </a:rPr>
                        <a:t>EOS imaging</a:t>
                      </a:r>
                    </a:p>
                  </a:txBody>
                  <a:tcPr marL="45720" marR="45720" marT="18288" marB="18288" anchor="t"/>
                </a:tc>
                <a:tc>
                  <a:txBody>
                    <a:bodyPr wrap="square"/>
                    <a:lstStyle/>
                    <a:p>
                      <a:r>
                        <a:rPr sz="1024" b="0" i="0">
                          <a:solidFill>
                            <a:srgbClr val="1A1A1A"/>
                          </a:solidFill>
                          <a:latin typeface="Helvetica Neue"/>
                        </a:rPr>
                        <a:t>VEA Align</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70 / 83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(81–100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297419"/>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20675">
                <a:tc>
                  <a:txBody>
                    <a:bodyPr wrap="square"/>
                    <a:lstStyle/>
                    <a:p>
                      <a:r>
                        <a:rPr sz="1088" b="1" i="0">
                          <a:solidFill>
                            <a:srgbClr val="FFFFFF"/>
                          </a:solidFill>
                          <a:latin typeface="Helvetica Neue"/>
                        </a:rPr>
                        <a:t>Submission</a:t>
                      </a:r>
                    </a:p>
                  </a:txBody>
                  <a:tcPr marL="45720" marR="45720" marT="18288" marB="18288" anchor="t"/>
                </a:tc>
                <a:tc>
                  <a:txBody>
                    <a:bodyPr wrap="square"/>
                    <a:lstStyle/>
                    <a:p>
                      <a:r>
                        <a:rPr sz="1088" b="1" i="0">
                          <a:solidFill>
                            <a:srgbClr val="FFFFFF"/>
                          </a:solidFill>
                          <a:latin typeface="Helvetica Neue"/>
                        </a:rPr>
                        <a:t>Date</a:t>
                      </a:r>
                    </a:p>
                  </a:txBody>
                  <a:tcPr marL="45720" marR="45720" marT="18288" marB="18288" anchor="t"/>
                </a:tc>
                <a:tc>
                  <a:txBody>
                    <a:bodyPr wrap="square"/>
                    <a:lstStyle/>
                    <a:p>
                      <a:r>
                        <a:rPr sz="1088" b="1" i="0">
                          <a:solidFill>
                            <a:srgbClr val="FFFFFF"/>
                          </a:solidFill>
                          <a:latin typeface="Helvetica Neue"/>
                        </a:rPr>
                        <a:t>Company</a:t>
                      </a:r>
                    </a:p>
                  </a:txBody>
                  <a:tcPr marL="45720" marR="45720" marT="18288" marB="18288" anchor="t"/>
                </a:tc>
                <a:tc>
                  <a:txBody>
                    <a:bodyPr wrap="square"/>
                    <a:lstStyle/>
                    <a:p>
                      <a:r>
                        <a:rPr sz="1088" b="1" i="0">
                          <a:solidFill>
                            <a:srgbClr val="FFFFFF"/>
                          </a:solidFill>
                          <a:latin typeface="Helvetica Neue"/>
                        </a:rPr>
                        <a:t>Device</a:t>
                      </a:r>
                    </a:p>
                  </a:txBody>
                  <a:tcPr marL="45720" marR="45720" marT="18288" marB="18288" anchor="t"/>
                </a:tc>
                <a:tc>
                  <a:txBody>
                    <a:bodyPr wrap="square"/>
                    <a:lstStyle/>
                    <a:p>
                      <a:r>
                        <a:rPr sz="1088" b="1" i="0">
                          <a:solidFill>
                            <a:srgbClr val="FFFFFF"/>
                          </a:solidFill>
                          <a:latin typeface="Helvetica Neue"/>
                        </a:rPr>
                        <a:t>Code</a:t>
                      </a:r>
                    </a:p>
                  </a:txBody>
                  <a:tcPr marL="45720" marR="45720" marT="18288" marB="18288" anchor="t"/>
                </a:tc>
              </a:tr>
              <a:tr h="386486">
                <a:tc>
                  <a:txBody>
                    <a:bodyPr wrap="square"/>
                    <a:lstStyle/>
                    <a:p>
                      <a:r>
                        <a:rPr sz="1088" b="0" i="0">
                          <a:solidFill>
                            <a:srgbClr val="1A1A1A"/>
                          </a:solidFill>
                          <a:latin typeface="Helvetica Neue"/>
                        </a:rPr>
                        <a:t>K231965</a:t>
                      </a:r>
                    </a:p>
                  </a:txBody>
                  <a:tcPr marL="45720" marR="45720" marT="18288" marB="18288" anchor="t"/>
                </a:tc>
                <a:tc>
                  <a:txBody>
                    <a:bodyPr wrap="square"/>
                    <a:lstStyle/>
                    <a:p>
                      <a:r>
                        <a:rPr sz="1088" b="0" i="0">
                          <a:solidFill>
                            <a:srgbClr val="1A1A1A"/>
                          </a:solidFill>
                          <a:latin typeface="Helvetica Neue"/>
                        </a:rPr>
                        <a:t>10/30/2023</a:t>
                      </a:r>
                    </a:p>
                  </a:txBody>
                  <a:tcPr marL="45720" marR="45720" marT="18288" marB="18288" anchor="t"/>
                </a:tc>
                <a:tc>
                  <a:txBody>
                    <a:bodyPr wrap="square"/>
                    <a:lstStyle/>
                    <a:p>
                      <a:r>
                        <a:rPr sz="1088" b="0" i="0">
                          <a:solidFill>
                            <a:srgbClr val="1A1A1A"/>
                          </a:solidFill>
                          <a:latin typeface="Helvetica Neue"/>
                        </a:rPr>
                        <a:t>GE Medical Systems Ultrasound and Primary Care Diagnostics,</a:t>
                      </a:r>
                    </a:p>
                  </a:txBody>
                  <a:tcPr marL="45720" marR="45720" marT="18288" marB="18288" anchor="t"/>
                </a:tc>
                <a:tc>
                  <a:txBody>
                    <a:bodyPr wrap="square"/>
                    <a:lstStyle/>
                    <a:p>
                      <a:r>
                        <a:rPr sz="1088" b="0" i="0">
                          <a:solidFill>
                            <a:srgbClr val="1A1A1A"/>
                          </a:solidFill>
                          <a:latin typeface="Helvetica Neue"/>
                        </a:rPr>
                        <a:t>Voluson Expert 22, Voluson Expert 20, Voluson Expert 18</a:t>
                      </a:r>
                    </a:p>
                  </a:txBody>
                  <a:tcPr marL="45720" marR="45720" marT="18288" marB="18288" anchor="t"/>
                </a:tc>
                <a:tc>
                  <a:txBody>
                    <a:bodyPr wrap="square"/>
                    <a:lstStyle/>
                    <a:p>
                      <a:r>
                        <a:rPr sz="1088" b="0" i="0">
                          <a:solidFill>
                            <a:srgbClr val="1A1A1A"/>
                          </a:solidFill>
                          <a:latin typeface="Helvetica Neue"/>
                        </a:rPr>
                        <a:t>IYN</a:t>
                      </a:r>
                    </a:p>
                  </a:txBody>
                  <a:tcPr marL="45720" marR="45720" marT="18288" marB="18288" anchor="t"/>
                </a:tc>
              </a:tr>
              <a:tr h="386486">
                <a:tc>
                  <a:txBody>
                    <a:bodyPr wrap="square"/>
                    <a:lstStyle/>
                    <a:p>
                      <a:r>
                        <a:rPr sz="1088" b="0" i="0">
                          <a:solidFill>
                            <a:srgbClr val="1A1A1A"/>
                          </a:solidFill>
                          <a:latin typeface="Helvetica Neue"/>
                        </a:rPr>
                        <a:t>K231966</a:t>
                      </a:r>
                    </a:p>
                  </a:txBody>
                  <a:tcPr marL="45720" marR="45720" marT="18288" marB="18288" anchor="t"/>
                </a:tc>
                <a:tc>
                  <a:txBody>
                    <a:bodyPr wrap="square"/>
                    <a:lstStyle/>
                    <a:p>
                      <a:r>
                        <a:rPr sz="1088" b="0" i="0">
                          <a:solidFill>
                            <a:srgbClr val="1A1A1A"/>
                          </a:solidFill>
                          <a:latin typeface="Helvetica Neue"/>
                        </a:rPr>
                        <a:t>11/07/2023</a:t>
                      </a:r>
                    </a:p>
                  </a:txBody>
                  <a:tcPr marL="45720" marR="45720" marT="18288" marB="18288" anchor="t"/>
                </a:tc>
                <a:tc>
                  <a:txBody>
                    <a:bodyPr wrap="square"/>
                    <a:lstStyle/>
                    <a:p>
                      <a:r>
                        <a:rPr sz="1088" b="0" i="0">
                          <a:solidFill>
                            <a:srgbClr val="1A1A1A"/>
                          </a:solidFill>
                          <a:latin typeface="Helvetica Neue"/>
                        </a:rPr>
                        <a:t>GE Medical Systems Ultrasound and Primary care Diagnostics,</a:t>
                      </a:r>
                    </a:p>
                  </a:txBody>
                  <a:tcPr marL="45720" marR="45720" marT="18288" marB="18288" anchor="t"/>
                </a:tc>
                <a:tc>
                  <a:txBody>
                    <a:bodyPr wrap="square"/>
                    <a:lstStyle/>
                    <a:p>
                      <a:r>
                        <a:rPr sz="1088" b="0" i="0">
                          <a:solidFill>
                            <a:srgbClr val="1A1A1A"/>
                          </a:solidFill>
                          <a:latin typeface="Helvetica Neue"/>
                        </a:rPr>
                        <a:t>LOGIQ E10</a:t>
                      </a:r>
                    </a:p>
                  </a:txBody>
                  <a:tcPr marL="45720" marR="45720" marT="18288" marB="18288" anchor="t"/>
                </a:tc>
                <a:tc>
                  <a:txBody>
                    <a:bodyPr wrap="square"/>
                    <a:lstStyle/>
                    <a:p>
                      <a:r>
                        <a:rPr sz="1088" b="0" i="0">
                          <a:solidFill>
                            <a:srgbClr val="1A1A1A"/>
                          </a:solidFill>
                          <a:latin typeface="Helvetica Neue"/>
                        </a:rPr>
                        <a:t>IYN</a:t>
                      </a:r>
                    </a:p>
                  </a:txBody>
                  <a:tcPr marL="45720" marR="45720" marT="18288" marB="18288" anchor="t"/>
                </a:tc>
              </a:tr>
              <a:tr h="220675">
                <a:tc>
                  <a:txBody>
                    <a:bodyPr wrap="square"/>
                    <a:lstStyle/>
                    <a:p>
                      <a:r>
                        <a:rPr sz="1088" b="0" i="0">
                          <a:solidFill>
                            <a:srgbClr val="1A1A1A"/>
                          </a:solidFill>
                          <a:latin typeface="Helvetica Neue"/>
                        </a:rPr>
                        <a:t>K232083</a:t>
                      </a:r>
                    </a:p>
                  </a:txBody>
                  <a:tcPr marL="45720" marR="45720" marT="18288" marB="18288" anchor="t"/>
                </a:tc>
                <a:tc>
                  <a:txBody>
                    <a:bodyPr wrap="square"/>
                    <a:lstStyle/>
                    <a:p>
                      <a:r>
                        <a:rPr sz="1088" b="0" i="0">
                          <a:solidFill>
                            <a:srgbClr val="1A1A1A"/>
                          </a:solidFill>
                          <a:latin typeface="Helvetica Neue"/>
                        </a:rPr>
                        <a:t>11/13/2023</a:t>
                      </a:r>
                    </a:p>
                  </a:txBody>
                  <a:tcPr marL="45720" marR="45720" marT="18288" marB="18288" anchor="t"/>
                </a:tc>
                <a:tc>
                  <a:txBody>
                    <a:bodyPr wrap="square"/>
                    <a:lstStyle/>
                    <a:p>
                      <a:r>
                        <a:rPr sz="1088" b="0" i="0">
                          <a:solidFill>
                            <a:srgbClr val="1A1A1A"/>
                          </a:solidFill>
                          <a:latin typeface="Helvetica Neue"/>
                        </a:rPr>
                        <a:t>Aidoc Medical, Ltd.</a:t>
                      </a:r>
                    </a:p>
                  </a:txBody>
                  <a:tcPr marL="45720" marR="45720" marT="18288" marB="18288" anchor="t"/>
                </a:tc>
                <a:tc>
                  <a:txBody>
                    <a:bodyPr wrap="square"/>
                    <a:lstStyle/>
                    <a:p>
                      <a:r>
                        <a:rPr sz="1088" b="0" i="0">
                          <a:solidFill>
                            <a:srgbClr val="1A1A1A"/>
                          </a:solidFill>
                          <a:latin typeface="Helvetica Neue"/>
                        </a:rPr>
                        <a:t>BriefCase-Quantification</a:t>
                      </a:r>
                    </a:p>
                  </a:txBody>
                  <a:tcPr marL="45720" marR="45720" marT="18288" marB="18288" anchor="t"/>
                </a:tc>
                <a:tc>
                  <a:txBody>
                    <a:bodyPr wrap="square"/>
                    <a:lstStyle/>
                    <a:p>
                      <a:r>
                        <a:rPr sz="1088" b="0" i="0">
                          <a:solidFill>
                            <a:srgbClr val="1A1A1A"/>
                          </a:solidFill>
                          <a:latin typeface="Helvetica Neue"/>
                        </a:rPr>
                        <a:t>QIH</a:t>
                      </a:r>
                    </a:p>
                  </a:txBody>
                  <a:tcPr marL="45720" marR="45720" marT="18288" marB="18288" anchor="t"/>
                </a:tc>
              </a:tr>
              <a:tr h="552297">
                <a:tc>
                  <a:txBody>
                    <a:bodyPr wrap="square"/>
                    <a:lstStyle/>
                    <a:p>
                      <a:r>
                        <a:rPr sz="1088" b="0" i="0">
                          <a:solidFill>
                            <a:srgbClr val="1A1A1A"/>
                          </a:solidFill>
                          <a:latin typeface="Helvetica Neue"/>
                        </a:rPr>
                        <a:t>K232145</a:t>
                      </a:r>
                    </a:p>
                  </a:txBody>
                  <a:tcPr marL="45720" marR="45720" marT="18288" marB="18288" anchor="t"/>
                </a:tc>
                <a:tc>
                  <a:txBody>
                    <a:bodyPr wrap="square"/>
                    <a:lstStyle/>
                    <a:p>
                      <a:r>
                        <a:rPr sz="1088" b="0" i="0">
                          <a:solidFill>
                            <a:srgbClr val="1A1A1A"/>
                          </a:solidFill>
                          <a:latin typeface="Helvetica Neue"/>
                        </a:rPr>
                        <a:t>10/30/2023</a:t>
                      </a:r>
                    </a:p>
                  </a:txBody>
                  <a:tcPr marL="45720" marR="45720" marT="18288" marB="18288" anchor="t"/>
                </a:tc>
                <a:tc>
                  <a:txBody>
                    <a:bodyPr wrap="square"/>
                    <a:lstStyle/>
                    <a:p>
                      <a:r>
                        <a:rPr sz="1088" b="0" i="0">
                          <a:solidFill>
                            <a:srgbClr val="1A1A1A"/>
                          </a:solidFill>
                          <a:latin typeface="Helvetica Neue"/>
                        </a:rPr>
                        <a:t>Siemens Medical Solutions USA, Inc.</a:t>
                      </a:r>
                    </a:p>
                  </a:txBody>
                  <a:tcPr marL="45720" marR="45720" marT="18288" marB="18288" anchor="t"/>
                </a:tc>
                <a:tc>
                  <a:txBody>
                    <a:bodyPr wrap="square"/>
                    <a:lstStyle/>
                    <a:p>
                      <a:r>
                        <a:rPr sz="1088" b="0" i="0">
                          <a:solidFill>
                            <a:srgbClr val="1A1A1A"/>
                          </a:solidFill>
                          <a:latin typeface="Helvetica Neue"/>
                        </a:rPr>
                        <a:t>ACUSON Sequoia Diagnostic Ultrasound System, ACUSON Sequoia Select Diagnostic Ultrasound System, ACUSON Origin Diagnostic Ultrasound System</a:t>
                      </a:r>
                    </a:p>
                  </a:txBody>
                  <a:tcPr marL="45720" marR="45720" marT="18288" marB="18288" anchor="t"/>
                </a:tc>
                <a:tc>
                  <a:txBody>
                    <a:bodyPr wrap="square"/>
                    <a:lstStyle/>
                    <a:p>
                      <a:r>
                        <a:rPr sz="1088" b="0" i="0">
                          <a:solidFill>
                            <a:srgbClr val="1A1A1A"/>
                          </a:solidFill>
                          <a:latin typeface="Helvetica Neue"/>
                        </a:rPr>
                        <a:t>IYN</a:t>
                      </a:r>
                    </a:p>
                  </a:txBody>
                  <a:tcPr marL="45720" marR="45720" marT="18288" marB="18288" anchor="t"/>
                </a:tc>
              </a:tr>
              <a:tr h="220675">
                <a:tc>
                  <a:txBody>
                    <a:bodyPr wrap="square"/>
                    <a:lstStyle/>
                    <a:p>
                      <a:r>
                        <a:rPr sz="1088" b="0" i="0">
                          <a:solidFill>
                            <a:srgbClr val="1A1A1A"/>
                          </a:solidFill>
                          <a:latin typeface="Helvetica Neue"/>
                        </a:rPr>
                        <a:t>K232231</a:t>
                      </a:r>
                    </a:p>
                  </a:txBody>
                  <a:tcPr marL="45720" marR="45720" marT="18288" marB="18288" anchor="t"/>
                </a:tc>
                <a:tc>
                  <a:txBody>
                    <a:bodyPr wrap="square"/>
                    <a:lstStyle/>
                    <a:p>
                      <a:r>
                        <a:rPr sz="1088" b="0" i="0">
                          <a:solidFill>
                            <a:srgbClr val="1A1A1A"/>
                          </a:solidFill>
                          <a:latin typeface="Helvetica Neue"/>
                        </a:rPr>
                        <a:t>12/13/2023</a:t>
                      </a:r>
                    </a:p>
                  </a:txBody>
                  <a:tcPr marL="45720" marR="45720" marT="18288" marB="18288" anchor="t"/>
                </a:tc>
                <a:tc>
                  <a:txBody>
                    <a:bodyPr wrap="square"/>
                    <a:lstStyle/>
                    <a:p>
                      <a:r>
                        <a:rPr sz="1088" b="0" i="0">
                          <a:solidFill>
                            <a:srgbClr val="1A1A1A"/>
                          </a:solidFill>
                          <a:latin typeface="Helvetica Neue"/>
                        </a:rPr>
                        <a:t>Quibim S.L.</a:t>
                      </a:r>
                    </a:p>
                  </a:txBody>
                  <a:tcPr marL="45720" marR="45720" marT="18288" marB="18288" anchor="t"/>
                </a:tc>
                <a:tc>
                  <a:txBody>
                    <a:bodyPr wrap="square"/>
                    <a:lstStyle/>
                    <a:p>
                      <a:r>
                        <a:rPr sz="1088" b="0" i="0">
                          <a:solidFill>
                            <a:srgbClr val="1A1A1A"/>
                          </a:solidFill>
                          <a:latin typeface="Helvetica Neue"/>
                        </a:rPr>
                        <a:t>QP-Brain®</a:t>
                      </a:r>
                    </a:p>
                  </a:txBody>
                  <a:tcPr marL="45720" marR="45720" marT="18288" marB="18288" anchor="t"/>
                </a:tc>
                <a:tc>
                  <a:txBody>
                    <a:bodyPr wrap="square"/>
                    <a:lstStyle/>
                    <a:p>
                      <a:r>
                        <a:rPr sz="1088" b="0" i="0">
                          <a:solidFill>
                            <a:srgbClr val="1A1A1A"/>
                          </a:solidFill>
                          <a:latin typeface="Helvetica Neue"/>
                        </a:rPr>
                        <a:t>QIH</a:t>
                      </a:r>
                    </a:p>
                  </a:txBody>
                  <a:tcPr marL="45720" marR="45720" marT="18288" marB="18288" anchor="t"/>
                </a:tc>
              </a:tr>
              <a:tr h="220675">
                <a:tc>
                  <a:txBody>
                    <a:bodyPr wrap="square"/>
                    <a:lstStyle/>
                    <a:p>
                      <a:r>
                        <a:rPr sz="1088" b="0" i="0">
                          <a:solidFill>
                            <a:srgbClr val="1A1A1A"/>
                          </a:solidFill>
                          <a:latin typeface="Helvetica Neue"/>
                        </a:rPr>
                        <a:t>K232257</a:t>
                      </a:r>
                    </a:p>
                  </a:txBody>
                  <a:tcPr marL="45720" marR="45720" marT="18288" marB="18288" anchor="t"/>
                </a:tc>
                <a:tc>
                  <a:txBody>
                    <a:bodyPr wrap="square"/>
                    <a:lstStyle/>
                    <a:p>
                      <a:r>
                        <a:rPr sz="1088" b="0" i="0">
                          <a:solidFill>
                            <a:srgbClr val="1A1A1A"/>
                          </a:solidFill>
                          <a:latin typeface="Helvetica Neue"/>
                        </a:rPr>
                        <a:t>11/13/2023</a:t>
                      </a:r>
                    </a:p>
                  </a:txBody>
                  <a:tcPr marL="45720" marR="45720" marT="18288" marB="18288" anchor="t"/>
                </a:tc>
                <a:tc>
                  <a:txBody>
                    <a:bodyPr wrap="square"/>
                    <a:lstStyle/>
                    <a:p>
                      <a:r>
                        <a:rPr sz="1088" b="0" i="0">
                          <a:solidFill>
                            <a:srgbClr val="1A1A1A"/>
                          </a:solidFill>
                          <a:latin typeface="Helvetica Neue"/>
                        </a:rPr>
                        <a:t>Clarius Mobile Health Corp.</a:t>
                      </a:r>
                    </a:p>
                  </a:txBody>
                  <a:tcPr marL="45720" marR="45720" marT="18288" marB="18288" anchor="t"/>
                </a:tc>
                <a:tc>
                  <a:txBody>
                    <a:bodyPr wrap="square"/>
                    <a:lstStyle/>
                    <a:p>
                      <a:r>
                        <a:rPr sz="1088" b="0" i="0">
                          <a:solidFill>
                            <a:srgbClr val="1A1A1A"/>
                          </a:solidFill>
                          <a:latin typeface="Helvetica Neue"/>
                        </a:rPr>
                        <a:t>Clarius Bladder AI</a:t>
                      </a:r>
                    </a:p>
                  </a:txBody>
                  <a:tcPr marL="45720" marR="45720" marT="18288" marB="18288" anchor="t"/>
                </a:tc>
                <a:tc>
                  <a:txBody>
                    <a:bodyPr wrap="square"/>
                    <a:lstStyle/>
                    <a:p>
                      <a:r>
                        <a:rPr sz="1088" b="0" i="0">
                          <a:solidFill>
                            <a:srgbClr val="1A1A1A"/>
                          </a:solidFill>
                          <a:latin typeface="Helvetica Neue"/>
                        </a:rPr>
                        <a:t>QIH</a:t>
                      </a:r>
                    </a:p>
                  </a:txBody>
                  <a:tcPr marL="45720" marR="45720" marT="18288" marB="18288" anchor="t"/>
                </a:tc>
              </a:tr>
              <a:tr h="220675">
                <a:tc>
                  <a:txBody>
                    <a:bodyPr wrap="square"/>
                    <a:lstStyle/>
                    <a:p>
                      <a:r>
                        <a:rPr sz="1088" b="0" i="0">
                          <a:solidFill>
                            <a:srgbClr val="1A1A1A"/>
                          </a:solidFill>
                          <a:latin typeface="Helvetica Neue"/>
                        </a:rPr>
                        <a:t>K232384</a:t>
                      </a:r>
                    </a:p>
                  </a:txBody>
                  <a:tcPr marL="45720" marR="45720" marT="18288" marB="18288" anchor="t"/>
                </a:tc>
                <a:tc>
                  <a:txBody>
                    <a:bodyPr wrap="square"/>
                    <a:lstStyle/>
                    <a:p>
                      <a:r>
                        <a:rPr sz="1088" b="0" i="0">
                          <a:solidFill>
                            <a:srgbClr val="1A1A1A"/>
                          </a:solidFill>
                          <a:latin typeface="Helvetica Neue"/>
                        </a:rPr>
                        <a:t>12/15/2023</a:t>
                      </a:r>
                    </a:p>
                  </a:txBody>
                  <a:tcPr marL="45720" marR="45720" marT="18288" marB="18288" anchor="t"/>
                </a:tc>
                <a:tc>
                  <a:txBody>
                    <a:bodyPr wrap="square"/>
                    <a:lstStyle/>
                    <a:p>
                      <a:r>
                        <a:rPr sz="1088" b="0" i="0">
                          <a:solidFill>
                            <a:srgbClr val="1A1A1A"/>
                          </a:solidFill>
                          <a:latin typeface="Helvetica Neue"/>
                        </a:rPr>
                        <a:t>VideaHealth, Inc.</a:t>
                      </a:r>
                    </a:p>
                  </a:txBody>
                  <a:tcPr marL="45720" marR="45720" marT="18288" marB="18288" anchor="t"/>
                </a:tc>
                <a:tc>
                  <a:txBody>
                    <a:bodyPr wrap="square"/>
                    <a:lstStyle/>
                    <a:p>
                      <a:r>
                        <a:rPr sz="1088" b="0" i="0">
                          <a:solidFill>
                            <a:srgbClr val="1A1A1A"/>
                          </a:solidFill>
                          <a:latin typeface="Helvetica Neue"/>
                        </a:rPr>
                        <a:t>Videa Dental Assist</a:t>
                      </a:r>
                    </a:p>
                  </a:txBody>
                  <a:tcPr marL="45720" marR="45720" marT="18288" marB="18288" anchor="t"/>
                </a:tc>
                <a:tc>
                  <a:txBody>
                    <a:bodyPr wrap="square"/>
                    <a:lstStyle/>
                    <a:p>
                      <a:r>
                        <a:rPr sz="1088" b="0" i="0">
                          <a:solidFill>
                            <a:srgbClr val="1A1A1A"/>
                          </a:solidFill>
                          <a:latin typeface="Helvetica Neue"/>
                        </a:rPr>
                        <a:t>MYN</a:t>
                      </a:r>
                    </a:p>
                  </a:txBody>
                  <a:tcPr marL="45720" marR="45720" marT="18288" marB="18288" anchor="t"/>
                </a:tc>
              </a:tr>
              <a:tr h="220675">
                <a:tc>
                  <a:txBody>
                    <a:bodyPr wrap="square"/>
                    <a:lstStyle/>
                    <a:p>
                      <a:r>
                        <a:rPr sz="1088" b="0" i="0">
                          <a:solidFill>
                            <a:srgbClr val="1A1A1A"/>
                          </a:solidFill>
                          <a:latin typeface="Helvetica Neue"/>
                        </a:rPr>
                        <a:t>K232410</a:t>
                      </a:r>
                    </a:p>
                  </a:txBody>
                  <a:tcPr marL="45720" marR="45720" marT="18288" marB="18288" anchor="t"/>
                </a:tc>
                <a:tc>
                  <a:txBody>
                    <a:bodyPr wrap="square"/>
                    <a:lstStyle/>
                    <a:p>
                      <a:r>
                        <a:rPr sz="1088" b="0" i="0">
                          <a:solidFill>
                            <a:srgbClr val="1A1A1A"/>
                          </a:solidFill>
                          <a:latin typeface="Helvetica Neue"/>
                        </a:rPr>
                        <a:t>05/10/2024</a:t>
                      </a:r>
                    </a:p>
                  </a:txBody>
                  <a:tcPr marL="45720" marR="45720" marT="18288" marB="18288" anchor="t"/>
                </a:tc>
                <a:tc>
                  <a:txBody>
                    <a:bodyPr wrap="square"/>
                    <a:lstStyle/>
                    <a:p>
                      <a:r>
                        <a:rPr sz="1088" b="0" i="0">
                          <a:solidFill>
                            <a:srgbClr val="1A1A1A"/>
                          </a:solidFill>
                          <a:latin typeface="Helvetica Neue"/>
                        </a:rPr>
                        <a:t>Milvue</a:t>
                      </a:r>
                    </a:p>
                  </a:txBody>
                  <a:tcPr marL="45720" marR="45720" marT="18288" marB="18288" anchor="t"/>
                </a:tc>
                <a:tc>
                  <a:txBody>
                    <a:bodyPr wrap="square"/>
                    <a:lstStyle/>
                    <a:p>
                      <a:r>
                        <a:rPr sz="1088" b="0" i="0">
                          <a:solidFill>
                            <a:srgbClr val="1A1A1A"/>
                          </a:solidFill>
                          <a:latin typeface="Helvetica Neue"/>
                        </a:rPr>
                        <a:t>SmartChest</a:t>
                      </a:r>
                    </a:p>
                  </a:txBody>
                  <a:tcPr marL="45720" marR="45720" marT="18288" marB="18288" anchor="t"/>
                </a:tc>
                <a:tc>
                  <a:txBody>
                    <a:bodyPr wrap="square"/>
                    <a:lstStyle/>
                    <a:p>
                      <a:r>
                        <a:rPr sz="1088" b="0" i="0">
                          <a:solidFill>
                            <a:srgbClr val="1A1A1A"/>
                          </a:solidFill>
                          <a:latin typeface="Helvetica Neue"/>
                        </a:rPr>
                        <a:t>QFM</a:t>
                      </a:r>
                    </a:p>
                  </a:txBody>
                  <a:tcPr marL="45720" marR="45720" marT="18288" marB="18288" anchor="t"/>
                </a:tc>
              </a:tr>
              <a:tr h="220675">
                <a:tc>
                  <a:txBody>
                    <a:bodyPr wrap="square"/>
                    <a:lstStyle/>
                    <a:p>
                      <a:r>
                        <a:rPr sz="1088" b="0" i="0">
                          <a:solidFill>
                            <a:srgbClr val="1A1A1A"/>
                          </a:solidFill>
                          <a:latin typeface="Helvetica Neue"/>
                        </a:rPr>
                        <a:t>K232500</a:t>
                      </a:r>
                    </a:p>
                  </a:txBody>
                  <a:tcPr marL="45720" marR="45720" marT="18288" marB="18288" anchor="t"/>
                </a:tc>
                <a:tc>
                  <a:txBody>
                    <a:bodyPr wrap="square"/>
                    <a:lstStyle/>
                    <a:p>
                      <a:r>
                        <a:rPr sz="1088" b="0" i="0">
                          <a:solidFill>
                            <a:srgbClr val="1A1A1A"/>
                          </a:solidFill>
                          <a:latin typeface="Helvetica Neue"/>
                        </a:rPr>
                        <a:t>10/26/2023</a:t>
                      </a:r>
                    </a:p>
                  </a:txBody>
                  <a:tcPr marL="45720" marR="45720" marT="18288" marB="18288" anchor="t"/>
                </a:tc>
                <a:tc>
                  <a:txBody>
                    <a:bodyPr wrap="square"/>
                    <a:lstStyle/>
                    <a:p>
                      <a:r>
                        <a:rPr sz="1088" b="0" i="0">
                          <a:solidFill>
                            <a:srgbClr val="1A1A1A"/>
                          </a:solidFill>
                          <a:latin typeface="Helvetica Neue"/>
                        </a:rPr>
                        <a:t>Philips Ultrasound</a:t>
                      </a:r>
                    </a:p>
                  </a:txBody>
                  <a:tcPr marL="45720" marR="45720" marT="18288" marB="18288" anchor="t"/>
                </a:tc>
                <a:tc>
                  <a:txBody>
                    <a:bodyPr wrap="square"/>
                    <a:lstStyle/>
                    <a:p>
                      <a:r>
                        <a:rPr sz="1088" b="0" i="0">
                          <a:solidFill>
                            <a:srgbClr val="1A1A1A"/>
                          </a:solidFill>
                          <a:latin typeface="Helvetica Neue"/>
                        </a:rPr>
                        <a:t>Lumify Diagnostic Ultrasound System</a:t>
                      </a:r>
                    </a:p>
                  </a:txBody>
                  <a:tcPr marL="45720" marR="45720" marT="18288" marB="18288" anchor="t"/>
                </a:tc>
                <a:tc>
                  <a:txBody>
                    <a:bodyPr wrap="square"/>
                    <a:lstStyle/>
                    <a:p>
                      <a:r>
                        <a:rPr sz="1088" b="0" i="0">
                          <a:solidFill>
                            <a:srgbClr val="1A1A1A"/>
                          </a:solidFill>
                          <a:latin typeface="Helvetica Neue"/>
                        </a:rPr>
                        <a:t>IYN</a:t>
                      </a:r>
                    </a:p>
                  </a:txBody>
                  <a:tcPr marL="45720" marR="45720" marT="18288" marB="18288" anchor="t"/>
                </a:tc>
              </a:tr>
              <a:tr h="220675">
                <a:tc>
                  <a:txBody>
                    <a:bodyPr wrap="square"/>
                    <a:lstStyle/>
                    <a:p>
                      <a:r>
                        <a:rPr sz="1088" b="0" i="0">
                          <a:solidFill>
                            <a:srgbClr val="1A1A1A"/>
                          </a:solidFill>
                          <a:latin typeface="Helvetica Neue"/>
                        </a:rPr>
                        <a:t>K232613</a:t>
                      </a:r>
                    </a:p>
                  </a:txBody>
                  <a:tcPr marL="45720" marR="45720" marT="18288" marB="18288" anchor="t"/>
                </a:tc>
                <a:tc>
                  <a:txBody>
                    <a:bodyPr wrap="square"/>
                    <a:lstStyle/>
                    <a:p>
                      <a:r>
                        <a:rPr sz="1088" b="0" i="0">
                          <a:solidFill>
                            <a:srgbClr val="1A1A1A"/>
                          </a:solidFill>
                          <a:latin typeface="Helvetica Neue"/>
                        </a:rPr>
                        <a:t>02/28/2024</a:t>
                      </a:r>
                    </a:p>
                  </a:txBody>
                  <a:tcPr marL="45720" marR="45720" marT="18288" marB="18288" anchor="t"/>
                </a:tc>
                <a:tc>
                  <a:txBody>
                    <a:bodyPr wrap="square"/>
                    <a:lstStyle/>
                    <a:p>
                      <a:r>
                        <a:rPr sz="1088" b="0" i="0">
                          <a:solidFill>
                            <a:srgbClr val="1A1A1A"/>
                          </a:solidFill>
                          <a:latin typeface="Helvetica Neue"/>
                        </a:rPr>
                        <a:t>Innolitics, LLC</a:t>
                      </a:r>
                    </a:p>
                  </a:txBody>
                  <a:tcPr marL="45720" marR="45720" marT="18288" marB="18288" anchor="t"/>
                </a:tc>
                <a:tc>
                  <a:txBody>
                    <a:bodyPr wrap="square"/>
                    <a:lstStyle/>
                    <a:p>
                      <a:r>
                        <a:rPr sz="1088" b="0" i="0">
                          <a:solidFill>
                            <a:srgbClr val="1A1A1A"/>
                          </a:solidFill>
                          <a:latin typeface="Helvetica Neue"/>
                        </a:rPr>
                        <a:t>CT Cardiomegaly</a:t>
                      </a:r>
                    </a:p>
                  </a:txBody>
                  <a:tcPr marL="45720" marR="45720" marT="18288" marB="18288" anchor="t"/>
                </a:tc>
                <a:tc>
                  <a:txBody>
                    <a:bodyPr wrap="square"/>
                    <a:lstStyle/>
                    <a:p>
                      <a:r>
                        <a:rPr sz="1088" b="0" i="0">
                          <a:solidFill>
                            <a:srgbClr val="1A1A1A"/>
                          </a:solidFill>
                          <a:latin typeface="Helvetica Neue"/>
                        </a:rPr>
                        <a:t>QIH</a:t>
                      </a:r>
                    </a:p>
                  </a:txBody>
                  <a:tcPr marL="45720" marR="45720" marT="18288" marB="18288" anchor="t"/>
                </a:tc>
              </a:tr>
              <a:tr h="220675">
                <a:tc>
                  <a:txBody>
                    <a:bodyPr wrap="square"/>
                    <a:lstStyle/>
                    <a:p>
                      <a:r>
                        <a:rPr sz="1088" b="0" i="0">
                          <a:solidFill>
                            <a:srgbClr val="1A1A1A"/>
                          </a:solidFill>
                          <a:latin typeface="Helvetica Neue"/>
                        </a:rPr>
                        <a:t>K232698</a:t>
                      </a:r>
                    </a:p>
                  </a:txBody>
                  <a:tcPr marL="45720" marR="45720" marT="18288" marB="18288" anchor="t"/>
                </a:tc>
                <a:tc>
                  <a:txBody>
                    <a:bodyPr wrap="square"/>
                    <a:lstStyle/>
                    <a:p>
                      <a:r>
                        <a:rPr sz="1088" b="0" i="0">
                          <a:solidFill>
                            <a:srgbClr val="1A1A1A"/>
                          </a:solidFill>
                          <a:latin typeface="Helvetica Neue"/>
                        </a:rPr>
                        <a:t>01/18/2024</a:t>
                      </a:r>
                    </a:p>
                  </a:txBody>
                  <a:tcPr marL="45720" marR="45720" marT="18288" marB="18288" anchor="t"/>
                </a:tc>
                <a:tc>
                  <a:txBody>
                    <a:bodyPr wrap="square"/>
                    <a:lstStyle/>
                    <a:p>
                      <a:r>
                        <a:rPr sz="1088" b="0" i="0">
                          <a:solidFill>
                            <a:srgbClr val="1A1A1A"/>
                          </a:solidFill>
                          <a:latin typeface="Helvetica Neue"/>
                        </a:rPr>
                        <a:t>Software Nemotec S.L.</a:t>
                      </a:r>
                    </a:p>
                  </a:txBody>
                  <a:tcPr marL="45720" marR="45720" marT="18288" marB="18288" anchor="t"/>
                </a:tc>
                <a:tc>
                  <a:txBody>
                    <a:bodyPr wrap="square"/>
                    <a:lstStyle/>
                    <a:p>
                      <a:r>
                        <a:rPr sz="1088" b="0" i="0">
                          <a:solidFill>
                            <a:srgbClr val="1A1A1A"/>
                          </a:solidFill>
                          <a:latin typeface="Helvetica Neue"/>
                        </a:rPr>
                        <a:t>NemoScan</a:t>
                      </a:r>
                    </a:p>
                  </a:txBody>
                  <a:tcPr marL="45720" marR="45720" marT="18288" marB="18288" anchor="t"/>
                </a:tc>
                <a:tc>
                  <a:txBody>
                    <a:bodyPr wrap="square"/>
                    <a:lstStyle/>
                    <a:p>
                      <a:r>
                        <a:rPr sz="1088" b="0" i="0">
                          <a:solidFill>
                            <a:srgbClr val="1A1A1A"/>
                          </a:solidFill>
                          <a:latin typeface="Helvetica Neue"/>
                        </a:rPr>
                        <a:t>QIH</a:t>
                      </a:r>
                    </a:p>
                  </a:txBody>
                  <a:tcPr marL="45720" marR="45720" marT="18288" marB="18288" anchor="t"/>
                </a:tc>
              </a:tr>
              <a:tr h="220675">
                <a:tc>
                  <a:txBody>
                    <a:bodyPr wrap="square"/>
                    <a:lstStyle/>
                    <a:p>
                      <a:r>
                        <a:rPr sz="1088" b="0" i="0">
                          <a:solidFill>
                            <a:srgbClr val="1A1A1A"/>
                          </a:solidFill>
                          <a:latin typeface="Helvetica Neue"/>
                        </a:rPr>
                        <a:t>K232704</a:t>
                      </a:r>
                    </a:p>
                  </a:txBody>
                  <a:tcPr marL="45720" marR="45720" marT="18288" marB="18288" anchor="t"/>
                </a:tc>
                <a:tc>
                  <a:txBody>
                    <a:bodyPr wrap="square"/>
                    <a:lstStyle/>
                    <a:p>
                      <a:r>
                        <a:rPr sz="1088" b="0" i="0">
                          <a:solidFill>
                            <a:srgbClr val="1A1A1A"/>
                          </a:solidFill>
                          <a:latin typeface="Helvetica Neue"/>
                        </a:rPr>
                        <a:t>10/05/2023</a:t>
                      </a:r>
                    </a:p>
                  </a:txBody>
                  <a:tcPr marL="45720" marR="45720" marT="18288" marB="18288" anchor="t"/>
                </a:tc>
                <a:tc>
                  <a:txBody>
                    <a:bodyPr wrap="square"/>
                    <a:lstStyle/>
                    <a:p>
                      <a:r>
                        <a:rPr sz="1088" b="0" i="0">
                          <a:solidFill>
                            <a:srgbClr val="1A1A1A"/>
                          </a:solidFill>
                          <a:latin typeface="Helvetica Neue"/>
                        </a:rPr>
                        <a:t>Clarius Mobile Health Corp.</a:t>
                      </a:r>
                    </a:p>
                  </a:txBody>
                  <a:tcPr marL="45720" marR="45720" marT="18288" marB="18288" anchor="t"/>
                </a:tc>
                <a:tc>
                  <a:txBody>
                    <a:bodyPr wrap="square"/>
                    <a:lstStyle/>
                    <a:p>
                      <a:r>
                        <a:rPr sz="1088" b="0" i="0">
                          <a:solidFill>
                            <a:srgbClr val="1A1A1A"/>
                          </a:solidFill>
                          <a:latin typeface="Helvetica Neue"/>
                        </a:rPr>
                        <a:t>Clarius Ultrasound Scanner</a:t>
                      </a:r>
                    </a:p>
                  </a:txBody>
                  <a:tcPr marL="45720" marR="45720" marT="18288" marB="18288" anchor="t"/>
                </a:tc>
                <a:tc>
                  <a:txBody>
                    <a:bodyPr wrap="square"/>
                    <a:lstStyle/>
                    <a:p>
                      <a:r>
                        <a:rPr sz="1088" b="0" i="0">
                          <a:solidFill>
                            <a:srgbClr val="1A1A1A"/>
                          </a:solidFill>
                          <a:latin typeface="Helvetica Neue"/>
                        </a:rPr>
                        <a:t>IYN</a:t>
                      </a:r>
                    </a:p>
                  </a:txBody>
                  <a:tcPr marL="45720" marR="45720" marT="18288" marB="18288" anchor="t"/>
                </a:tc>
              </a:tr>
              <a:tr h="220675">
                <a:tc>
                  <a:txBody>
                    <a:bodyPr wrap="square"/>
                    <a:lstStyle/>
                    <a:p>
                      <a:r>
                        <a:rPr sz="1088" b="0" i="0">
                          <a:solidFill>
                            <a:srgbClr val="1A1A1A"/>
                          </a:solidFill>
                          <a:latin typeface="Helvetica Neue"/>
                        </a:rPr>
                        <a:t>K232751</a:t>
                      </a:r>
                    </a:p>
                  </a:txBody>
                  <a:tcPr marL="45720" marR="45720" marT="18288" marB="18288" anchor="t"/>
                </a:tc>
                <a:tc>
                  <a:txBody>
                    <a:bodyPr wrap="square"/>
                    <a:lstStyle/>
                    <a:p>
                      <a:r>
                        <a:rPr sz="1088" b="0" i="0">
                          <a:solidFill>
                            <a:srgbClr val="1A1A1A"/>
                          </a:solidFill>
                          <a:latin typeface="Helvetica Neue"/>
                        </a:rPr>
                        <a:t>10/30/2023</a:t>
                      </a:r>
                    </a:p>
                  </a:txBody>
                  <a:tcPr marL="45720" marR="45720" marT="18288" marB="18288" anchor="t"/>
                </a:tc>
                <a:tc>
                  <a:txBody>
                    <a:bodyPr wrap="square"/>
                    <a:lstStyle/>
                    <a:p>
                      <a:r>
                        <a:rPr sz="1088" b="0" i="0">
                          <a:solidFill>
                            <a:srgbClr val="1A1A1A"/>
                          </a:solidFill>
                          <a:latin typeface="Helvetica Neue"/>
                        </a:rPr>
                        <a:t>Aidoc Medical, Ltd.</a:t>
                      </a:r>
                    </a:p>
                  </a:txBody>
                  <a:tcPr marL="45720" marR="45720" marT="18288" marB="18288" anchor="t"/>
                </a:tc>
                <a:tc>
                  <a:txBody>
                    <a:bodyPr wrap="square"/>
                    <a:lstStyle/>
                    <a:p>
                      <a:r>
                        <a:rPr sz="1088" b="0" i="0">
                          <a:solidFill>
                            <a:srgbClr val="1A1A1A"/>
                          </a:solidFill>
                          <a:latin typeface="Helvetica Neue"/>
                        </a:rPr>
                        <a:t>BriefCase-Triage</a:t>
                      </a:r>
                    </a:p>
                  </a:txBody>
                  <a:tcPr marL="45720" marR="45720" marT="18288" marB="18288" anchor="t"/>
                </a:tc>
                <a:tc>
                  <a:txBody>
                    <a:bodyPr wrap="square"/>
                    <a:lstStyle/>
                    <a:p>
                      <a:r>
                        <a:rPr sz="1088" b="0" i="0">
                          <a:solidFill>
                            <a:srgbClr val="1A1A1A"/>
                          </a:solidFill>
                          <a:latin typeface="Helvetica Neue"/>
                        </a:rPr>
                        <a:t>QAS</a:t>
                      </a:r>
                    </a:p>
                  </a:txBody>
                  <a:tcPr marL="45720" marR="45720" marT="18288" marB="18288" anchor="t"/>
                </a:tc>
              </a:tr>
              <a:tr h="220675">
                <a:tc>
                  <a:txBody>
                    <a:bodyPr wrap="square"/>
                    <a:lstStyle/>
                    <a:p>
                      <a:r>
                        <a:rPr sz="1088" b="0" i="0">
                          <a:solidFill>
                            <a:srgbClr val="1A1A1A"/>
                          </a:solidFill>
                          <a:latin typeface="Helvetica Neue"/>
                        </a:rPr>
                        <a:t>K232760</a:t>
                      </a:r>
                    </a:p>
                  </a:txBody>
                  <a:tcPr marL="45720" marR="45720" marT="18288" marB="18288" anchor="t"/>
                </a:tc>
                <a:tc>
                  <a:txBody>
                    <a:bodyPr wrap="square"/>
                    <a:lstStyle/>
                    <a:p>
                      <a:r>
                        <a:rPr sz="1088" b="0" i="0">
                          <a:solidFill>
                            <a:srgbClr val="1A1A1A"/>
                          </a:solidFill>
                          <a:latin typeface="Helvetica Neue"/>
                        </a:rPr>
                        <a:t>10/06/2023</a:t>
                      </a:r>
                    </a:p>
                  </a:txBody>
                  <a:tcPr marL="45720" marR="45720" marT="18288" marB="18288" anchor="t"/>
                </a:tc>
                <a:tc>
                  <a:txBody>
                    <a:bodyPr wrap="square"/>
                    <a:lstStyle/>
                    <a:p>
                      <a:r>
                        <a:rPr sz="1088" b="0" i="0">
                          <a:solidFill>
                            <a:srgbClr val="1A1A1A"/>
                          </a:solidFill>
                          <a:latin typeface="Helvetica Neue"/>
                        </a:rPr>
                        <a:t>Hyperfine, Inc.</a:t>
                      </a:r>
                    </a:p>
                  </a:txBody>
                  <a:tcPr marL="45720" marR="45720" marT="18288" marB="18288" anchor="t"/>
                </a:tc>
                <a:tc>
                  <a:txBody>
                    <a:bodyPr wrap="square"/>
                    <a:lstStyle/>
                    <a:p>
                      <a:r>
                        <a:rPr sz="1088" b="0" i="0">
                          <a:solidFill>
                            <a:srgbClr val="1A1A1A"/>
                          </a:solidFill>
                          <a:latin typeface="Helvetica Neue"/>
                        </a:rPr>
                        <a:t>Swoop® Portable MR Imaging System®</a:t>
                      </a:r>
                    </a:p>
                  </a:txBody>
                  <a:tcPr marL="45720" marR="45720" marT="18288" marB="18288" anchor="t"/>
                </a:tc>
                <a:tc>
                  <a:txBody>
                    <a:bodyPr wrap="square"/>
                    <a:lstStyle/>
                    <a:p>
                      <a:r>
                        <a:rPr sz="1088" b="0" i="0">
                          <a:solidFill>
                            <a:srgbClr val="1A1A1A"/>
                          </a:solidFill>
                          <a:latin typeface="Helvetica Neue"/>
                        </a:rPr>
                        <a:t>LNH</a:t>
                      </a:r>
                    </a:p>
                  </a:txBody>
                  <a:tcPr marL="45720" marR="45720" marT="18288" marB="18288" anchor="t"/>
                </a:tc>
              </a:tr>
              <a:tr h="220675">
                <a:tc>
                  <a:txBody>
                    <a:bodyPr wrap="square"/>
                    <a:lstStyle/>
                    <a:p>
                      <a:r>
                        <a:rPr sz="1088" b="0" i="0">
                          <a:solidFill>
                            <a:srgbClr val="1A1A1A"/>
                          </a:solidFill>
                          <a:latin typeface="Helvetica Neue"/>
                        </a:rPr>
                        <a:t>K232808</a:t>
                      </a:r>
                    </a:p>
                  </a:txBody>
                  <a:tcPr marL="45720" marR="45720" marT="18288" marB="18288" anchor="t"/>
                </a:tc>
                <a:tc>
                  <a:txBody>
                    <a:bodyPr wrap="square"/>
                    <a:lstStyle/>
                    <a:p>
                      <a:r>
                        <a:rPr sz="1088" b="0" i="0">
                          <a:solidFill>
                            <a:srgbClr val="1A1A1A"/>
                          </a:solidFill>
                          <a:latin typeface="Helvetica Neue"/>
                        </a:rPr>
                        <a:t>01/04/2024</a:t>
                      </a:r>
                    </a:p>
                  </a:txBody>
                  <a:tcPr marL="45720" marR="45720" marT="18288" marB="18288" anchor="t"/>
                </a:tc>
                <a:tc>
                  <a:txBody>
                    <a:bodyPr wrap="square"/>
                    <a:lstStyle/>
                    <a:p>
                      <a:r>
                        <a:rPr sz="1088" b="0" i="0">
                          <a:solidFill>
                            <a:srgbClr val="1A1A1A"/>
                          </a:solidFill>
                          <a:latin typeface="Helvetica Neue"/>
                        </a:rPr>
                        <a:t>Butterfly Network, Inc.</a:t>
                      </a:r>
                    </a:p>
                  </a:txBody>
                  <a:tcPr marL="45720" marR="45720" marT="18288" marB="18288" anchor="t"/>
                </a:tc>
                <a:tc>
                  <a:txBody>
                    <a:bodyPr wrap="square"/>
                    <a:lstStyle/>
                    <a:p>
                      <a:r>
                        <a:rPr sz="1088" b="0" i="0">
                          <a:solidFill>
                            <a:srgbClr val="1A1A1A"/>
                          </a:solidFill>
                          <a:latin typeface="Helvetica Neue"/>
                        </a:rPr>
                        <a:t>Butterfly iQ3 Ultrasound System</a:t>
                      </a:r>
                    </a:p>
                  </a:txBody>
                  <a:tcPr marL="45720" marR="45720" marT="18288" marB="18288" anchor="t"/>
                </a:tc>
                <a:tc>
                  <a:txBody>
                    <a:bodyPr wrap="square"/>
                    <a:lstStyle/>
                    <a:p>
                      <a:r>
                        <a:rPr sz="1088" b="0" i="0">
                          <a:solidFill>
                            <a:srgbClr val="1A1A1A"/>
                          </a:solidFill>
                          <a:latin typeface="Helvetica Neue"/>
                        </a:rPr>
                        <a:t>IYN</a:t>
                      </a:r>
                    </a:p>
                  </a:txBody>
                  <a:tcPr marL="45720" marR="45720" marT="18288" marB="18288" anchor="t"/>
                </a:tc>
              </a:tr>
              <a:tr h="220675">
                <a:tc>
                  <a:txBody>
                    <a:bodyPr wrap="square"/>
                    <a:lstStyle/>
                    <a:p>
                      <a:r>
                        <a:rPr sz="1088" b="0" i="0">
                          <a:solidFill>
                            <a:srgbClr val="1A1A1A"/>
                          </a:solidFill>
                          <a:latin typeface="Helvetica Neue"/>
                        </a:rPr>
                        <a:t>K233030</a:t>
                      </a:r>
                    </a:p>
                  </a:txBody>
                  <a:tcPr marL="45720" marR="45720" marT="18288" marB="18288" anchor="t"/>
                </a:tc>
                <a:tc>
                  <a:txBody>
                    <a:bodyPr wrap="square"/>
                    <a:lstStyle/>
                    <a:p>
                      <a:r>
                        <a:rPr sz="1088" b="0" i="0">
                          <a:solidFill>
                            <a:srgbClr val="1A1A1A"/>
                          </a:solidFill>
                          <a:latin typeface="Helvetica Neue"/>
                        </a:rPr>
                        <a:t>03/01/2024</a:t>
                      </a:r>
                    </a:p>
                  </a:txBody>
                  <a:tcPr marL="45720" marR="45720" marT="18288" marB="18288" anchor="t"/>
                </a:tc>
                <a:tc>
                  <a:txBody>
                    <a:bodyPr wrap="square"/>
                    <a:lstStyle/>
                    <a:p>
                      <a:r>
                        <a:rPr sz="1088" b="0" i="0">
                          <a:solidFill>
                            <a:srgbClr val="1A1A1A"/>
                          </a:solidFill>
                          <a:latin typeface="Helvetica Neue"/>
                        </a:rPr>
                        <a:t>MRIguidance B.V</a:t>
                      </a:r>
                    </a:p>
                  </a:txBody>
                  <a:tcPr marL="45720" marR="45720" marT="18288" marB="18288" anchor="t"/>
                </a:tc>
                <a:tc>
                  <a:txBody>
                    <a:bodyPr wrap="square"/>
                    <a:lstStyle/>
                    <a:p>
                      <a:r>
                        <a:rPr sz="1088" b="0" i="0">
                          <a:solidFill>
                            <a:srgbClr val="1A1A1A"/>
                          </a:solidFill>
                          <a:latin typeface="Helvetica Neue"/>
                        </a:rPr>
                        <a:t>BoneMRI</a:t>
                      </a:r>
                    </a:p>
                  </a:txBody>
                  <a:tcPr marL="45720" marR="45720" marT="18288" marB="18288" anchor="t"/>
                </a:tc>
                <a:tc>
                  <a:txBody>
                    <a:bodyPr wrap="square"/>
                    <a:lstStyle/>
                    <a:p>
                      <a:r>
                        <a:rPr sz="1088" b="0" i="0">
                          <a:solidFill>
                            <a:srgbClr val="1A1A1A"/>
                          </a:solidFill>
                          <a:latin typeface="Helvetica Neue"/>
                        </a:rPr>
                        <a:t>QIH</a:t>
                      </a:r>
                    </a:p>
                  </a:txBody>
                  <a:tcPr marL="45720" marR="45720" marT="18288" marB="18288" anchor="t"/>
                </a:tc>
              </a:tr>
              <a:tr h="220675">
                <a:tc>
                  <a:txBody>
                    <a:bodyPr wrap="square"/>
                    <a:lstStyle/>
                    <a:p>
                      <a:r>
                        <a:rPr sz="1088" b="0" i="0">
                          <a:solidFill>
                            <a:srgbClr val="1A1A1A"/>
                          </a:solidFill>
                          <a:latin typeface="Helvetica Neue"/>
                        </a:rPr>
                        <a:t>K233247</a:t>
                      </a:r>
                    </a:p>
                  </a:txBody>
                  <a:tcPr marL="45720" marR="45720" marT="18288" marB="18288" anchor="t"/>
                </a:tc>
                <a:tc>
                  <a:txBody>
                    <a:bodyPr wrap="square"/>
                    <a:lstStyle/>
                    <a:p>
                      <a:r>
                        <a:rPr sz="1088" b="0" i="0">
                          <a:solidFill>
                            <a:srgbClr val="1A1A1A"/>
                          </a:solidFill>
                          <a:latin typeface="Helvetica Neue"/>
                        </a:rPr>
                        <a:t>05/15/2024</a:t>
                      </a:r>
                    </a:p>
                  </a:txBody>
                  <a:tcPr marL="45720" marR="45720" marT="18288" marB="18288" anchor="t"/>
                </a:tc>
                <a:tc>
                  <a:txBody>
                    <a:bodyPr wrap="square"/>
                    <a:lstStyle/>
                    <a:p>
                      <a:r>
                        <a:rPr sz="1088" b="0" i="0">
                          <a:solidFill>
                            <a:srgbClr val="1A1A1A"/>
                          </a:solidFill>
                          <a:latin typeface="Helvetica Neue"/>
                        </a:rPr>
                        <a:t>Heuron Co., Ltd.</a:t>
                      </a:r>
                    </a:p>
                  </a:txBody>
                  <a:tcPr marL="45720" marR="45720" marT="18288" marB="18288" anchor="t"/>
                </a:tc>
                <a:tc>
                  <a:txBody>
                    <a:bodyPr wrap="square"/>
                    <a:lstStyle/>
                    <a:p>
                      <a:r>
                        <a:rPr sz="1088" b="0" i="0">
                          <a:solidFill>
                            <a:srgbClr val="1A1A1A"/>
                          </a:solidFill>
                          <a:latin typeface="Helvetica Neue"/>
                        </a:rPr>
                        <a:t>Heuron ICH</a:t>
                      </a:r>
                    </a:p>
                  </a:txBody>
                  <a:tcPr marL="45720" marR="45720" marT="18288" marB="18288" anchor="t"/>
                </a:tc>
                <a:tc>
                  <a:txBody>
                    <a:bodyPr wrap="square"/>
                    <a:lstStyle/>
                    <a:p>
                      <a:r>
                        <a:rPr sz="1088" b="0" i="0">
                          <a:solidFill>
                            <a:srgbClr val="1A1A1A"/>
                          </a:solidFill>
                          <a:latin typeface="Helvetica Neue"/>
                        </a:rPr>
                        <a:t>QAS</a:t>
                      </a:r>
                    </a:p>
                  </a:txBody>
                  <a:tcPr marL="45720" marR="45720" marT="18288" marB="18288" anchor="t"/>
                </a:tc>
              </a:tr>
              <a:tr h="220675">
                <a:tc>
                  <a:txBody>
                    <a:bodyPr wrap="square"/>
                    <a:lstStyle/>
                    <a:p>
                      <a:r>
                        <a:rPr sz="1088" b="0" i="0">
                          <a:solidFill>
                            <a:srgbClr val="1A1A1A"/>
                          </a:solidFill>
                          <a:latin typeface="Helvetica Neue"/>
                        </a:rPr>
                        <a:t>K233457</a:t>
                      </a:r>
                    </a:p>
                  </a:txBody>
                  <a:tcPr marL="45720" marR="45720" marT="18288" marB="18288" anchor="t"/>
                </a:tc>
                <a:tc>
                  <a:txBody>
                    <a:bodyPr wrap="square"/>
                    <a:lstStyle/>
                    <a:p>
                      <a:r>
                        <a:rPr sz="1088" b="0" i="0">
                          <a:solidFill>
                            <a:srgbClr val="1A1A1A"/>
                          </a:solidFill>
                          <a:latin typeface="Helvetica Neue"/>
                        </a:rPr>
                        <a:t>07/12/2024</a:t>
                      </a:r>
                    </a:p>
                  </a:txBody>
                  <a:tcPr marL="45720" marR="45720" marT="18288" marB="18288" anchor="t"/>
                </a:tc>
                <a:tc>
                  <a:txBody>
                    <a:bodyPr wrap="square"/>
                    <a:lstStyle/>
                    <a:p>
                      <a:r>
                        <a:rPr sz="1088" b="0" i="0">
                          <a:solidFill>
                            <a:srgbClr val="1A1A1A"/>
                          </a:solidFill>
                          <a:latin typeface="Helvetica Neue"/>
                        </a:rPr>
                        <a:t>Hutom Inc.</a:t>
                      </a:r>
                    </a:p>
                  </a:txBody>
                  <a:tcPr marL="45720" marR="45720" marT="18288" marB="18288" anchor="t"/>
                </a:tc>
                <a:tc>
                  <a:txBody>
                    <a:bodyPr wrap="square"/>
                    <a:lstStyle/>
                    <a:p>
                      <a:r>
                        <a:rPr sz="1088" b="0" i="0">
                          <a:solidFill>
                            <a:srgbClr val="1A1A1A"/>
                          </a:solidFill>
                          <a:latin typeface="Helvetica Neue"/>
                        </a:rPr>
                        <a:t>RUS</a:t>
                      </a:r>
                    </a:p>
                  </a:txBody>
                  <a:tcPr marL="45720" marR="45720" marT="18288" marB="18288" anchor="t"/>
                </a:tc>
                <a:tc>
                  <a:txBody>
                    <a:bodyPr wrap="square"/>
                    <a:lstStyle/>
                    <a:p>
                      <a:r>
                        <a:rPr sz="1088" b="0" i="0">
                          <a:solidFill>
                            <a:srgbClr val="1A1A1A"/>
                          </a:solidFill>
                          <a:latin typeface="Helvetica Neue"/>
                        </a:rPr>
                        <a:t>QIH</a:t>
                      </a:r>
                    </a:p>
                  </a:txBody>
                  <a:tcPr marL="45720" marR="45720" marT="18288" marB="18288" anchor="t"/>
                </a:tc>
              </a:tr>
              <a:tr h="220675">
                <a:tc>
                  <a:txBody>
                    <a:bodyPr wrap="square"/>
                    <a:lstStyle/>
                    <a:p>
                      <a:r>
                        <a:rPr sz="1088" b="0" i="0">
                          <a:solidFill>
                            <a:srgbClr val="1A1A1A"/>
                          </a:solidFill>
                          <a:latin typeface="Helvetica Neue"/>
                        </a:rPr>
                        <a:t>K233543</a:t>
                      </a:r>
                    </a:p>
                  </a:txBody>
                  <a:tcPr marL="45720" marR="45720" marT="18288" marB="18288" anchor="t"/>
                </a:tc>
                <a:tc>
                  <a:txBody>
                    <a:bodyPr wrap="square"/>
                    <a:lstStyle/>
                    <a:p>
                      <a:r>
                        <a:rPr sz="1088" b="0" i="0">
                          <a:solidFill>
                            <a:srgbClr val="1A1A1A"/>
                          </a:solidFill>
                          <a:latin typeface="Helvetica Neue"/>
                        </a:rPr>
                        <a:t>05/21/2024</a:t>
                      </a:r>
                    </a:p>
                  </a:txBody>
                  <a:tcPr marL="45720" marR="45720" marT="18288" marB="18288" anchor="t"/>
                </a:tc>
                <a:tc>
                  <a:txBody>
                    <a:bodyPr wrap="square"/>
                    <a:lstStyle/>
                    <a:p>
                      <a:r>
                        <a:rPr sz="1088" b="0" i="0">
                          <a:solidFill>
                            <a:srgbClr val="1A1A1A"/>
                          </a:solidFill>
                          <a:latin typeface="Helvetica Neue"/>
                        </a:rPr>
                        <a:t>Siemens Medical Solutions</a:t>
                      </a:r>
                    </a:p>
                  </a:txBody>
                  <a:tcPr marL="45720" marR="45720" marT="18288" marB="18288" anchor="t"/>
                </a:tc>
                <a:tc>
                  <a:txBody>
                    <a:bodyPr wrap="square"/>
                    <a:lstStyle/>
                    <a:p>
                      <a:r>
                        <a:rPr sz="1088" b="0" i="0">
                          <a:solidFill>
                            <a:srgbClr val="1A1A1A"/>
                          </a:solidFill>
                          <a:latin typeface="Helvetica Neue"/>
                        </a:rPr>
                        <a:t>YSIO X.pree</a:t>
                      </a:r>
                    </a:p>
                  </a:txBody>
                  <a:tcPr marL="45720" marR="45720" marT="18288" marB="18288" anchor="t"/>
                </a:tc>
                <a:tc>
                  <a:txBody>
                    <a:bodyPr wrap="square"/>
                    <a:lstStyle/>
                    <a:p>
                      <a:r>
                        <a:rPr sz="1088" b="0" i="0">
                          <a:solidFill>
                            <a:srgbClr val="1A1A1A"/>
                          </a:solidFill>
                          <a:latin typeface="Helvetica Neue"/>
                        </a:rPr>
                        <a:t>KPR</a:t>
                      </a:r>
                    </a:p>
                  </a:txBody>
                  <a:tcPr marL="45720" marR="45720" marT="18288" marB="18288" anchor="t"/>
                </a:tc>
              </a:tr>
              <a:tr h="220675">
                <a:tc>
                  <a:txBody>
                    <a:bodyPr wrap="square"/>
                    <a:lstStyle/>
                    <a:p>
                      <a:r>
                        <a:rPr sz="1088" b="0" i="0">
                          <a:solidFill>
                            <a:srgbClr val="1A1A1A"/>
                          </a:solidFill>
                          <a:latin typeface="Helvetica Neue"/>
                        </a:rPr>
                        <a:t>K233545</a:t>
                      </a:r>
                    </a:p>
                  </a:txBody>
                  <a:tcPr marL="45720" marR="45720" marT="18288" marB="18288" anchor="t"/>
                </a:tc>
                <a:tc>
                  <a:txBody>
                    <a:bodyPr wrap="square"/>
                    <a:lstStyle/>
                    <a:p>
                      <a:r>
                        <a:rPr sz="1088" b="0" i="0">
                          <a:solidFill>
                            <a:srgbClr val="1A1A1A"/>
                          </a:solidFill>
                          <a:latin typeface="Helvetica Neue"/>
                        </a:rPr>
                        <a:t>11/30/2023</a:t>
                      </a:r>
                    </a:p>
                  </a:txBody>
                  <a:tcPr marL="45720" marR="45720" marT="18288" marB="18288" anchor="t"/>
                </a:tc>
                <a:tc>
                  <a:txBody>
                    <a:bodyPr wrap="square"/>
                    <a:lstStyle/>
                    <a:p>
                      <a:r>
                        <a:rPr sz="1088" b="0" i="0">
                          <a:solidFill>
                            <a:srgbClr val="1A1A1A"/>
                          </a:solidFill>
                          <a:latin typeface="Helvetica Neue"/>
                        </a:rPr>
                        <a:t>Philips Ultrasound LLC</a:t>
                      </a:r>
                    </a:p>
                  </a:txBody>
                  <a:tcPr marL="45720" marR="45720" marT="18288" marB="18288" anchor="t"/>
                </a:tc>
                <a:tc>
                  <a:txBody>
                    <a:bodyPr wrap="square"/>
                    <a:lstStyle/>
                    <a:p>
                      <a:r>
                        <a:rPr sz="1088" b="0" i="0">
                          <a:solidFill>
                            <a:srgbClr val="1A1A1A"/>
                          </a:solidFill>
                          <a:latin typeface="Helvetica Neue"/>
                        </a:rPr>
                        <a:t>EPIQ Series Diagnostic Ultrasound System</a:t>
                      </a:r>
                    </a:p>
                  </a:txBody>
                  <a:tcPr marL="45720" marR="45720" marT="18288" marB="18288" anchor="t"/>
                </a:tc>
                <a:tc>
                  <a:txBody>
                    <a:bodyPr wrap="square"/>
                    <a:lstStyle/>
                    <a:p>
                      <a:r>
                        <a:rPr sz="1088" b="0" i="0">
                          <a:solidFill>
                            <a:srgbClr val="1A1A1A"/>
                          </a:solidFill>
                          <a:latin typeface="Helvetica Neue"/>
                        </a:rPr>
                        <a:t>IYN</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71 / 83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(101–120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541248"/>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30428">
                <a:tc>
                  <a:txBody>
                    <a:bodyPr wrap="square"/>
                    <a:lstStyle/>
                    <a:p>
                      <a:r>
                        <a:rPr sz="1152" b="1" i="0">
                          <a:solidFill>
                            <a:srgbClr val="FFFFFF"/>
                          </a:solidFill>
                          <a:latin typeface="Helvetica Neue"/>
                        </a:rPr>
                        <a:t>Submission</a:t>
                      </a:r>
                    </a:p>
                  </a:txBody>
                  <a:tcPr marL="45720" marR="45720" marT="18288" marB="18288" anchor="t"/>
                </a:tc>
                <a:tc>
                  <a:txBody>
                    <a:bodyPr wrap="square"/>
                    <a:lstStyle/>
                    <a:p>
                      <a:r>
                        <a:rPr sz="1152" b="1" i="0">
                          <a:solidFill>
                            <a:srgbClr val="FFFFFF"/>
                          </a:solidFill>
                          <a:latin typeface="Helvetica Neue"/>
                        </a:rPr>
                        <a:t>Date</a:t>
                      </a:r>
                    </a:p>
                  </a:txBody>
                  <a:tcPr marL="45720" marR="45720" marT="18288" marB="18288" anchor="t"/>
                </a:tc>
                <a:tc>
                  <a:txBody>
                    <a:bodyPr wrap="square"/>
                    <a:lstStyle/>
                    <a:p>
                      <a:r>
                        <a:rPr sz="1152" b="1" i="0">
                          <a:solidFill>
                            <a:srgbClr val="FFFFFF"/>
                          </a:solidFill>
                          <a:latin typeface="Helvetica Neue"/>
                        </a:rPr>
                        <a:t>Company</a:t>
                      </a:r>
                    </a:p>
                  </a:txBody>
                  <a:tcPr marL="45720" marR="45720" marT="18288" marB="18288" anchor="t"/>
                </a:tc>
                <a:tc>
                  <a:txBody>
                    <a:bodyPr wrap="square"/>
                    <a:lstStyle/>
                    <a:p>
                      <a:r>
                        <a:rPr sz="1152" b="1" i="0">
                          <a:solidFill>
                            <a:srgbClr val="FFFFFF"/>
                          </a:solidFill>
                          <a:latin typeface="Helvetica Neue"/>
                        </a:rPr>
                        <a:t>Device</a:t>
                      </a:r>
                    </a:p>
                  </a:txBody>
                  <a:tcPr marL="45720" marR="45720" marT="18288" marB="18288" anchor="t"/>
                </a:tc>
                <a:tc>
                  <a:txBody>
                    <a:bodyPr wrap="square"/>
                    <a:lstStyle/>
                    <a:p>
                      <a:r>
                        <a:rPr sz="1152" b="1" i="0">
                          <a:solidFill>
                            <a:srgbClr val="FFFFFF"/>
                          </a:solidFill>
                          <a:latin typeface="Helvetica Neue"/>
                        </a:rPr>
                        <a:t>Code</a:t>
                      </a:r>
                    </a:p>
                  </a:txBody>
                  <a:tcPr marL="45720" marR="45720" marT="18288" marB="18288" anchor="t"/>
                </a:tc>
              </a:tr>
              <a:tr h="230428">
                <a:tc>
                  <a:txBody>
                    <a:bodyPr wrap="square"/>
                    <a:lstStyle/>
                    <a:p>
                      <a:r>
                        <a:rPr sz="1152" b="0" i="0">
                          <a:solidFill>
                            <a:srgbClr val="1A1A1A"/>
                          </a:solidFill>
                          <a:latin typeface="Helvetica Neue"/>
                        </a:rPr>
                        <a:t>K233738</a:t>
                      </a:r>
                    </a:p>
                  </a:txBody>
                  <a:tcPr marL="45720" marR="45720" marT="18288" marB="18288" anchor="t"/>
                </a:tc>
                <a:tc>
                  <a:txBody>
                    <a:bodyPr wrap="square"/>
                    <a:lstStyle/>
                    <a:p>
                      <a:r>
                        <a:rPr sz="1152" b="0" i="0">
                          <a:solidFill>
                            <a:srgbClr val="1A1A1A"/>
                          </a:solidFill>
                          <a:latin typeface="Helvetica Neue"/>
                        </a:rPr>
                        <a:t>03/04/2024</a:t>
                      </a:r>
                    </a:p>
                  </a:txBody>
                  <a:tcPr marL="45720" marR="45720" marT="18288" marB="18288" anchor="t"/>
                </a:tc>
                <a:tc>
                  <a:txBody>
                    <a:bodyPr wrap="square"/>
                    <a:lstStyle/>
                    <a:p>
                      <a:r>
                        <a:rPr sz="1152" b="0" i="0">
                          <a:solidFill>
                            <a:srgbClr val="1A1A1A"/>
                          </a:solidFill>
                          <a:latin typeface="Helvetica Neue"/>
                        </a:rPr>
                        <a:t>Overjet, Inc</a:t>
                      </a:r>
                    </a:p>
                  </a:txBody>
                  <a:tcPr marL="45720" marR="45720" marT="18288" marB="18288" anchor="t"/>
                </a:tc>
                <a:tc>
                  <a:txBody>
                    <a:bodyPr wrap="square"/>
                    <a:lstStyle/>
                    <a:p>
                      <a:r>
                        <a:rPr sz="1152" b="0" i="0">
                          <a:solidFill>
                            <a:srgbClr val="1A1A1A"/>
                          </a:solidFill>
                          <a:latin typeface="Helvetica Neue"/>
                        </a:rPr>
                        <a:t>Overjet Caries Assist-Pediatric</a:t>
                      </a:r>
                    </a:p>
                  </a:txBody>
                  <a:tcPr marL="45720" marR="45720" marT="18288" marB="18288" anchor="t"/>
                </a:tc>
                <a:tc>
                  <a:txBody>
                    <a:bodyPr wrap="square"/>
                    <a:lstStyle/>
                    <a:p>
                      <a:r>
                        <a:rPr sz="1152" b="0" i="0">
                          <a:solidFill>
                            <a:srgbClr val="1A1A1A"/>
                          </a:solidFill>
                          <a:latin typeface="Helvetica Neue"/>
                        </a:rPr>
                        <a:t>MYN</a:t>
                      </a:r>
                    </a:p>
                  </a:txBody>
                  <a:tcPr marL="45720" marR="45720" marT="18288" marB="18288" anchor="t"/>
                </a:tc>
              </a:tr>
              <a:tr h="405993">
                <a:tc>
                  <a:txBody>
                    <a:bodyPr wrap="square"/>
                    <a:lstStyle/>
                    <a:p>
                      <a:r>
                        <a:rPr sz="1152" b="0" i="0">
                          <a:solidFill>
                            <a:srgbClr val="1A1A1A"/>
                          </a:solidFill>
                          <a:latin typeface="Helvetica Neue"/>
                        </a:rPr>
                        <a:t>K233788</a:t>
                      </a:r>
                    </a:p>
                  </a:txBody>
                  <a:tcPr marL="45720" marR="45720" marT="18288" marB="18288" anchor="t"/>
                </a:tc>
                <a:tc>
                  <a:txBody>
                    <a:bodyPr wrap="square"/>
                    <a:lstStyle/>
                    <a:p>
                      <a:r>
                        <a:rPr sz="1152" b="0" i="0">
                          <a:solidFill>
                            <a:srgbClr val="1A1A1A"/>
                          </a:solidFill>
                          <a:latin typeface="Helvetica Neue"/>
                        </a:rPr>
                        <a:t>02/13/2024</a:t>
                      </a:r>
                    </a:p>
                  </a:txBody>
                  <a:tcPr marL="45720" marR="45720" marT="18288" marB="18288" anchor="t"/>
                </a:tc>
                <a:tc>
                  <a:txBody>
                    <a:bodyPr wrap="square"/>
                    <a:lstStyle/>
                    <a:p>
                      <a:r>
                        <a:rPr sz="1152" b="0" i="0">
                          <a:solidFill>
                            <a:srgbClr val="1A1A1A"/>
                          </a:solidFill>
                          <a:latin typeface="Helvetica Neue"/>
                        </a:rPr>
                        <a:t>Philips Ultrasound LLC</a:t>
                      </a:r>
                    </a:p>
                  </a:txBody>
                  <a:tcPr marL="45720" marR="45720" marT="18288" marB="18288" anchor="t"/>
                </a:tc>
                <a:tc>
                  <a:txBody>
                    <a:bodyPr wrap="square"/>
                    <a:lstStyle/>
                    <a:p>
                      <a:r>
                        <a:rPr sz="1152" b="0" i="0">
                          <a:solidFill>
                            <a:srgbClr val="1A1A1A"/>
                          </a:solidFill>
                          <a:latin typeface="Helvetica Neue"/>
                        </a:rPr>
                        <a:t>EPIQ Series Diagnostic Ultrasound System, Affiniti Series Diagnostic Ultrasound System</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K233955</a:t>
                      </a:r>
                    </a:p>
                  </a:txBody>
                  <a:tcPr marL="45720" marR="45720" marT="18288" marB="18288" anchor="t"/>
                </a:tc>
                <a:tc>
                  <a:txBody>
                    <a:bodyPr wrap="square"/>
                    <a:lstStyle/>
                    <a:p>
                      <a:r>
                        <a:rPr sz="1152" b="0" i="0">
                          <a:solidFill>
                            <a:srgbClr val="1A1A1A"/>
                          </a:solidFill>
                          <a:latin typeface="Helvetica Neue"/>
                        </a:rPr>
                        <a:t>06/14/2024</a:t>
                      </a:r>
                    </a:p>
                  </a:txBody>
                  <a:tcPr marL="45720" marR="45720" marT="18288" marB="18288" anchor="t"/>
                </a:tc>
                <a:tc>
                  <a:txBody>
                    <a:bodyPr wrap="square"/>
                    <a:lstStyle/>
                    <a:p>
                      <a:r>
                        <a:rPr sz="1152" b="0" i="0">
                          <a:solidFill>
                            <a:srgbClr val="1A1A1A"/>
                          </a:solidFill>
                          <a:latin typeface="Helvetica Neue"/>
                        </a:rPr>
                        <a:t>Clarius Mobile Health Corp.</a:t>
                      </a:r>
                    </a:p>
                  </a:txBody>
                  <a:tcPr marL="45720" marR="45720" marT="18288" marB="18288" anchor="t"/>
                </a:tc>
                <a:tc>
                  <a:txBody>
                    <a:bodyPr wrap="square"/>
                    <a:lstStyle/>
                    <a:p>
                      <a:r>
                        <a:rPr sz="1152" b="0" i="0">
                          <a:solidFill>
                            <a:srgbClr val="1A1A1A"/>
                          </a:solidFill>
                          <a:latin typeface="Helvetica Neue"/>
                        </a:rPr>
                        <a:t>Clarius OB AI</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K233968</a:t>
                      </a:r>
                    </a:p>
                  </a:txBody>
                  <a:tcPr marL="45720" marR="45720" marT="18288" marB="18288" anchor="t"/>
                </a:tc>
                <a:tc>
                  <a:txBody>
                    <a:bodyPr wrap="square"/>
                    <a:lstStyle/>
                    <a:p>
                      <a:r>
                        <a:rPr sz="1152" b="0" i="0">
                          <a:solidFill>
                            <a:srgbClr val="1A1A1A"/>
                          </a:solidFill>
                          <a:latin typeface="Helvetica Neue"/>
                        </a:rPr>
                        <a:t>03/13/2024</a:t>
                      </a:r>
                    </a:p>
                  </a:txBody>
                  <a:tcPr marL="45720" marR="45720" marT="18288" marB="18288" anchor="t"/>
                </a:tc>
                <a:tc>
                  <a:txBody>
                    <a:bodyPr wrap="square"/>
                    <a:lstStyle/>
                    <a:p>
                      <a:r>
                        <a:rPr sz="1152" b="0" i="0">
                          <a:solidFill>
                            <a:srgbClr val="1A1A1A"/>
                          </a:solidFill>
                          <a:latin typeface="Helvetica Neue"/>
                        </a:rPr>
                        <a:t>Avicenna.AI</a:t>
                      </a:r>
                    </a:p>
                  </a:txBody>
                  <a:tcPr marL="45720" marR="45720" marT="18288" marB="18288" anchor="t"/>
                </a:tc>
                <a:tc>
                  <a:txBody>
                    <a:bodyPr wrap="square"/>
                    <a:lstStyle/>
                    <a:p>
                      <a:r>
                        <a:rPr sz="1152" b="0" i="0">
                          <a:solidFill>
                            <a:srgbClr val="1A1A1A"/>
                          </a:solidFill>
                          <a:latin typeface="Helvetica Neue"/>
                        </a:rPr>
                        <a:t>CINA-iPE</a:t>
                      </a:r>
                    </a:p>
                  </a:txBody>
                  <a:tcPr marL="45720" marR="45720" marT="18288" marB="18288" anchor="t"/>
                </a:tc>
                <a:tc>
                  <a:txBody>
                    <a:bodyPr wrap="square"/>
                    <a:lstStyle/>
                    <a:p>
                      <a:r>
                        <a:rPr sz="1152" b="0" i="0">
                          <a:solidFill>
                            <a:srgbClr val="1A1A1A"/>
                          </a:solidFill>
                          <a:latin typeface="Helvetica Neue"/>
                        </a:rPr>
                        <a:t>QAS</a:t>
                      </a:r>
                    </a:p>
                  </a:txBody>
                  <a:tcPr marL="45720" marR="45720" marT="18288" marB="18288" anchor="t"/>
                </a:tc>
              </a:tr>
              <a:tr h="230428">
                <a:tc>
                  <a:txBody>
                    <a:bodyPr wrap="square"/>
                    <a:lstStyle/>
                    <a:p>
                      <a:r>
                        <a:rPr sz="1152" b="0" i="0">
                          <a:solidFill>
                            <a:srgbClr val="1A1A1A"/>
                          </a:solidFill>
                          <a:latin typeface="Helvetica Neue"/>
                        </a:rPr>
                        <a:t>K233977</a:t>
                      </a:r>
                    </a:p>
                  </a:txBody>
                  <a:tcPr marL="45720" marR="45720" marT="18288" marB="18288" anchor="t"/>
                </a:tc>
                <a:tc>
                  <a:txBody>
                    <a:bodyPr wrap="square"/>
                    <a:lstStyle/>
                    <a:p>
                      <a:r>
                        <a:rPr sz="1152" b="0" i="0">
                          <a:solidFill>
                            <a:srgbClr val="1A1A1A"/>
                          </a:solidFill>
                          <a:latin typeface="Helvetica Neue"/>
                        </a:rPr>
                        <a:t>09/04/2024</a:t>
                      </a:r>
                    </a:p>
                  </a:txBody>
                  <a:tcPr marL="45720" marR="45720" marT="18288" marB="18288" anchor="t"/>
                </a:tc>
                <a:tc>
                  <a:txBody>
                    <a:bodyPr wrap="square"/>
                    <a:lstStyle/>
                    <a:p>
                      <a:r>
                        <a:rPr sz="1152" b="0" i="0">
                          <a:solidFill>
                            <a:srgbClr val="1A1A1A"/>
                          </a:solidFill>
                          <a:latin typeface="Helvetica Neue"/>
                        </a:rPr>
                        <a:t>Sonic Incytes</a:t>
                      </a:r>
                    </a:p>
                  </a:txBody>
                  <a:tcPr marL="45720" marR="45720" marT="18288" marB="18288" anchor="t"/>
                </a:tc>
                <a:tc>
                  <a:txBody>
                    <a:bodyPr wrap="square"/>
                    <a:lstStyle/>
                    <a:p>
                      <a:r>
                        <a:rPr sz="1152" b="0" i="0">
                          <a:solidFill>
                            <a:srgbClr val="1A1A1A"/>
                          </a:solidFill>
                          <a:latin typeface="Helvetica Neue"/>
                        </a:rPr>
                        <a:t>Velacur</a:t>
                      </a:r>
                    </a:p>
                  </a:txBody>
                  <a:tcPr marL="45720" marR="45720" marT="18288" marB="18288" anchor="t"/>
                </a:tc>
                <a:tc>
                  <a:txBody>
                    <a:bodyPr wrap="square"/>
                    <a:lstStyle/>
                    <a:p>
                      <a:r>
                        <a:rPr sz="1152" b="0" i="0">
                          <a:solidFill>
                            <a:srgbClr val="1A1A1A"/>
                          </a:solidFill>
                          <a:latin typeface="Helvetica Neue"/>
                        </a:rPr>
                        <a:t>IYO</a:t>
                      </a:r>
                    </a:p>
                  </a:txBody>
                  <a:tcPr marL="45720" marR="45720" marT="18288" marB="18288" anchor="t"/>
                </a:tc>
              </a:tr>
              <a:tr h="230428">
                <a:tc>
                  <a:txBody>
                    <a:bodyPr wrap="square"/>
                    <a:lstStyle/>
                    <a:p>
                      <a:r>
                        <a:rPr sz="1152" b="0" i="0">
                          <a:solidFill>
                            <a:srgbClr val="1A1A1A"/>
                          </a:solidFill>
                          <a:latin typeface="Helvetica Neue"/>
                        </a:rPr>
                        <a:t>K234042</a:t>
                      </a:r>
                    </a:p>
                  </a:txBody>
                  <a:tcPr marL="45720" marR="45720" marT="18288" marB="18288" anchor="t"/>
                </a:tc>
                <a:tc>
                  <a:txBody>
                    <a:bodyPr wrap="square"/>
                    <a:lstStyle/>
                    <a:p>
                      <a:r>
                        <a:rPr sz="1152" b="0" i="0">
                          <a:solidFill>
                            <a:srgbClr val="1A1A1A"/>
                          </a:solidFill>
                          <a:latin typeface="Helvetica Neue"/>
                        </a:rPr>
                        <a:t>06/07/2024</a:t>
                      </a:r>
                    </a:p>
                  </a:txBody>
                  <a:tcPr marL="45720" marR="45720" marT="18288" marB="18288" anchor="t"/>
                </a:tc>
                <a:tc>
                  <a:txBody>
                    <a:bodyPr wrap="square"/>
                    <a:lstStyle/>
                    <a:p>
                      <a:r>
                        <a:rPr sz="1152" b="0" i="0">
                          <a:solidFill>
                            <a:srgbClr val="1A1A1A"/>
                          </a:solidFill>
                          <a:latin typeface="Helvetica Neue"/>
                        </a:rPr>
                        <a:t>Ever Fortune.AI Co., Ltd.</a:t>
                      </a:r>
                    </a:p>
                  </a:txBody>
                  <a:tcPr marL="45720" marR="45720" marT="18288" marB="18288" anchor="t"/>
                </a:tc>
                <a:tc>
                  <a:txBody>
                    <a:bodyPr wrap="square"/>
                    <a:lstStyle/>
                    <a:p>
                      <a:r>
                        <a:rPr sz="1152" b="0" i="0">
                          <a:solidFill>
                            <a:srgbClr val="1A1A1A"/>
                          </a:solidFill>
                          <a:latin typeface="Helvetica Neue"/>
                        </a:rPr>
                        <a:t>EFAI Bonesuite XR Bone Age Pro Assessment System (BAP-XR-100)</a:t>
                      </a:r>
                    </a:p>
                  </a:txBody>
                  <a:tcPr marL="45720" marR="45720" marT="18288" marB="18288" anchor="t"/>
                </a:tc>
                <a:tc>
                  <a:txBody>
                    <a:bodyPr wrap="square"/>
                    <a:lstStyle/>
                    <a:p>
                      <a:r>
                        <a:rPr sz="1152" b="0" i="0">
                          <a:solidFill>
                            <a:srgbClr val="1A1A1A"/>
                          </a:solidFill>
                          <a:latin typeface="Helvetica Neue"/>
                        </a:rPr>
                        <a:t>QIH</a:t>
                      </a:r>
                    </a:p>
                  </a:txBody>
                  <a:tcPr marL="45720" marR="45720" marT="18288" marB="18288" anchor="t"/>
                </a:tc>
              </a:tr>
              <a:tr h="230428">
                <a:tc>
                  <a:txBody>
                    <a:bodyPr wrap="square"/>
                    <a:lstStyle/>
                    <a:p>
                      <a:r>
                        <a:rPr sz="1152" b="0" i="0">
                          <a:solidFill>
                            <a:srgbClr val="1A1A1A"/>
                          </a:solidFill>
                          <a:latin typeface="Helvetica Neue"/>
                        </a:rPr>
                        <a:t>K240291</a:t>
                      </a:r>
                    </a:p>
                  </a:txBody>
                  <a:tcPr marL="45720" marR="45720" marT="18288" marB="18288" anchor="t"/>
                </a:tc>
                <a:tc>
                  <a:txBody>
                    <a:bodyPr wrap="square"/>
                    <a:lstStyle/>
                    <a:p>
                      <a:r>
                        <a:rPr sz="1152" b="0" i="0">
                          <a:solidFill>
                            <a:srgbClr val="1A1A1A"/>
                          </a:solidFill>
                          <a:latin typeface="Helvetica Neue"/>
                        </a:rPr>
                        <a:t>04/08/2024</a:t>
                      </a:r>
                    </a:p>
                  </a:txBody>
                  <a:tcPr marL="45720" marR="45720" marT="18288" marB="18288" anchor="t"/>
                </a:tc>
                <a:tc>
                  <a:txBody>
                    <a:bodyPr wrap="square"/>
                    <a:lstStyle/>
                    <a:p>
                      <a:r>
                        <a:rPr sz="1152" b="0" i="0">
                          <a:solidFill>
                            <a:srgbClr val="1A1A1A"/>
                          </a:solidFill>
                          <a:latin typeface="Helvetica Neue"/>
                        </a:rPr>
                        <a:t>Ever Fortune.AI, Co., Ltd.</a:t>
                      </a:r>
                    </a:p>
                  </a:txBody>
                  <a:tcPr marL="45720" marR="45720" marT="18288" marB="18288" anchor="t"/>
                </a:tc>
                <a:tc>
                  <a:txBody>
                    <a:bodyPr wrap="square"/>
                    <a:lstStyle/>
                    <a:p>
                      <a:r>
                        <a:rPr sz="1152" b="0" i="0">
                          <a:solidFill>
                            <a:srgbClr val="1A1A1A"/>
                          </a:solidFill>
                          <a:latin typeface="Helvetica Neue"/>
                        </a:rPr>
                        <a:t>EFAI CARDIOSUITE CTA ACUTE AORTIC SYNDROME ASSESSMENT SYSTEM</a:t>
                      </a:r>
                    </a:p>
                  </a:txBody>
                  <a:tcPr marL="45720" marR="45720" marT="18288" marB="18288" anchor="t"/>
                </a:tc>
                <a:tc>
                  <a:txBody>
                    <a:bodyPr wrap="square"/>
                    <a:lstStyle/>
                    <a:p>
                      <a:r>
                        <a:rPr sz="1152" b="0" i="0">
                          <a:solidFill>
                            <a:srgbClr val="1A1A1A"/>
                          </a:solidFill>
                          <a:latin typeface="Helvetica Neue"/>
                        </a:rPr>
                        <a:t>QAS</a:t>
                      </a:r>
                    </a:p>
                  </a:txBody>
                  <a:tcPr marL="45720" marR="45720" marT="18288" marB="18288" anchor="t"/>
                </a:tc>
              </a:tr>
              <a:tr h="230428">
                <a:tc>
                  <a:txBody>
                    <a:bodyPr wrap="square"/>
                    <a:lstStyle/>
                    <a:p>
                      <a:r>
                        <a:rPr sz="1152" b="0" i="0">
                          <a:solidFill>
                            <a:srgbClr val="1A1A1A"/>
                          </a:solidFill>
                          <a:latin typeface="Helvetica Neue"/>
                        </a:rPr>
                        <a:t>K240406</a:t>
                      </a:r>
                    </a:p>
                  </a:txBody>
                  <a:tcPr marL="45720" marR="45720" marT="18288" marB="18288" anchor="t"/>
                </a:tc>
                <a:tc>
                  <a:txBody>
                    <a:bodyPr wrap="square"/>
                    <a:lstStyle/>
                    <a:p>
                      <a:r>
                        <a:rPr sz="1152" b="0" i="0">
                          <a:solidFill>
                            <a:srgbClr val="1A1A1A"/>
                          </a:solidFill>
                          <a:latin typeface="Helvetica Neue"/>
                        </a:rPr>
                        <a:t>04/26/2024</a:t>
                      </a:r>
                    </a:p>
                  </a:txBody>
                  <a:tcPr marL="45720" marR="45720" marT="18288" marB="18288" anchor="t"/>
                </a:tc>
                <a:tc>
                  <a:txBody>
                    <a:bodyPr wrap="square"/>
                    <a:lstStyle/>
                    <a:p>
                      <a:r>
                        <a:rPr sz="1152" b="0" i="0">
                          <a:solidFill>
                            <a:srgbClr val="1A1A1A"/>
                          </a:solidFill>
                          <a:latin typeface="Helvetica Neue"/>
                        </a:rPr>
                        <a:t>Sonio</a:t>
                      </a:r>
                    </a:p>
                  </a:txBody>
                  <a:tcPr marL="45720" marR="45720" marT="18288" marB="18288" anchor="t"/>
                </a:tc>
                <a:tc>
                  <a:txBody>
                    <a:bodyPr wrap="square"/>
                    <a:lstStyle/>
                    <a:p>
                      <a:r>
                        <a:rPr sz="1152" b="0" i="0">
                          <a:solidFill>
                            <a:srgbClr val="1A1A1A"/>
                          </a:solidFill>
                          <a:latin typeface="Helvetica Neue"/>
                        </a:rPr>
                        <a:t>Sonio Detect</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K240516</a:t>
                      </a:r>
                    </a:p>
                  </a:txBody>
                  <a:tcPr marL="45720" marR="45720" marT="18288" marB="18288" anchor="t"/>
                </a:tc>
                <a:tc>
                  <a:txBody>
                    <a:bodyPr wrap="square"/>
                    <a:lstStyle/>
                    <a:p>
                      <a:r>
                        <a:rPr sz="1152" b="0" i="0">
                          <a:solidFill>
                            <a:srgbClr val="1A1A1A"/>
                          </a:solidFill>
                          <a:latin typeface="Helvetica Neue"/>
                        </a:rPr>
                        <a:t>06/12/2024</a:t>
                      </a:r>
                    </a:p>
                  </a:txBody>
                  <a:tcPr marL="45720" marR="45720" marT="18288" marB="18288" anchor="t"/>
                </a:tc>
                <a:tc>
                  <a:txBody>
                    <a:bodyPr wrap="square"/>
                    <a:lstStyle/>
                    <a:p>
                      <a:r>
                        <a:rPr sz="1152" b="0" i="0">
                          <a:solidFill>
                            <a:srgbClr val="1A1A1A"/>
                          </a:solidFill>
                          <a:latin typeface="Helvetica Neue"/>
                        </a:rPr>
                        <a:t>Samsung Medison Co., Ltd.</a:t>
                      </a:r>
                    </a:p>
                  </a:txBody>
                  <a:tcPr marL="45720" marR="45720" marT="18288" marB="18288" anchor="t"/>
                </a:tc>
                <a:tc>
                  <a:txBody>
                    <a:bodyPr wrap="square"/>
                    <a:lstStyle/>
                    <a:p>
                      <a:r>
                        <a:rPr sz="1152" b="0" i="0">
                          <a:solidFill>
                            <a:srgbClr val="1A1A1A"/>
                          </a:solidFill>
                          <a:latin typeface="Helvetica Neue"/>
                        </a:rPr>
                        <a:t>RS85 Diagnostic Ultrasound System</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K240582</a:t>
                      </a:r>
                    </a:p>
                  </a:txBody>
                  <a:tcPr marL="45720" marR="45720" marT="18288" marB="18288" anchor="t"/>
                </a:tc>
                <a:tc>
                  <a:txBody>
                    <a:bodyPr wrap="square"/>
                    <a:lstStyle/>
                    <a:p>
                      <a:r>
                        <a:rPr sz="1152" b="0" i="0">
                          <a:solidFill>
                            <a:srgbClr val="1A1A1A"/>
                          </a:solidFill>
                          <a:latin typeface="Helvetica Neue"/>
                        </a:rPr>
                        <a:t>06/25/2024</a:t>
                      </a:r>
                    </a:p>
                  </a:txBody>
                  <a:tcPr marL="45720" marR="45720" marT="18288" marB="18288" anchor="t"/>
                </a:tc>
                <a:tc>
                  <a:txBody>
                    <a:bodyPr wrap="square"/>
                    <a:lstStyle/>
                    <a:p>
                      <a:r>
                        <a:rPr sz="1152" b="0" i="0">
                          <a:solidFill>
                            <a:srgbClr val="1A1A1A"/>
                          </a:solidFill>
                          <a:latin typeface="Helvetica Neue"/>
                        </a:rPr>
                        <a:t>EOS imaging</a:t>
                      </a:r>
                    </a:p>
                  </a:txBody>
                  <a:tcPr marL="45720" marR="45720" marT="18288" marB="18288" anchor="t"/>
                </a:tc>
                <a:tc>
                  <a:txBody>
                    <a:bodyPr wrap="square"/>
                    <a:lstStyle/>
                    <a:p>
                      <a:r>
                        <a:rPr sz="1152" b="0" i="0">
                          <a:solidFill>
                            <a:srgbClr val="1A1A1A"/>
                          </a:solidFill>
                          <a:latin typeface="Helvetica Neue"/>
                        </a:rPr>
                        <a:t>VEA Align; spineEOS</a:t>
                      </a:r>
                    </a:p>
                  </a:txBody>
                  <a:tcPr marL="45720" marR="45720" marT="18288" marB="18288" anchor="t"/>
                </a:tc>
                <a:tc>
                  <a:txBody>
                    <a:bodyPr wrap="square"/>
                    <a:lstStyle/>
                    <a:p>
                      <a:r>
                        <a:rPr sz="1152" b="0" i="0">
                          <a:solidFill>
                            <a:srgbClr val="1A1A1A"/>
                          </a:solidFill>
                          <a:latin typeface="Helvetica Neue"/>
                        </a:rPr>
                        <a:t>QIH</a:t>
                      </a:r>
                    </a:p>
                  </a:txBody>
                  <a:tcPr marL="45720" marR="45720" marT="18288" marB="18288" anchor="t"/>
                </a:tc>
              </a:tr>
              <a:tr h="230428">
                <a:tc>
                  <a:txBody>
                    <a:bodyPr wrap="square"/>
                    <a:lstStyle/>
                    <a:p>
                      <a:r>
                        <a:rPr sz="1152" b="0" i="0">
                          <a:solidFill>
                            <a:srgbClr val="1A1A1A"/>
                          </a:solidFill>
                          <a:latin typeface="Helvetica Neue"/>
                        </a:rPr>
                        <a:t>K240631</a:t>
                      </a:r>
                    </a:p>
                  </a:txBody>
                  <a:tcPr marL="45720" marR="45720" marT="18288" marB="18288" anchor="t"/>
                </a:tc>
                <a:tc>
                  <a:txBody>
                    <a:bodyPr wrap="square"/>
                    <a:lstStyle/>
                    <a:p>
                      <a:r>
                        <a:rPr sz="1152" b="0" i="0">
                          <a:solidFill>
                            <a:srgbClr val="1A1A1A"/>
                          </a:solidFill>
                          <a:latin typeface="Helvetica Neue"/>
                        </a:rPr>
                        <a:t>06/21/2024</a:t>
                      </a:r>
                    </a:p>
                  </a:txBody>
                  <a:tcPr marL="45720" marR="45720" marT="18288" marB="18288" anchor="t"/>
                </a:tc>
                <a:tc>
                  <a:txBody>
                    <a:bodyPr wrap="square"/>
                    <a:lstStyle/>
                    <a:p>
                      <a:r>
                        <a:rPr sz="1152" b="0" i="0">
                          <a:solidFill>
                            <a:srgbClr val="1A1A1A"/>
                          </a:solidFill>
                          <a:latin typeface="Helvetica Neue"/>
                        </a:rPr>
                        <a:t>Samsung Medison Co., Ltd.</a:t>
                      </a:r>
                    </a:p>
                  </a:txBody>
                  <a:tcPr marL="45720" marR="45720" marT="18288" marB="18288" anchor="t"/>
                </a:tc>
                <a:tc>
                  <a:txBody>
                    <a:bodyPr wrap="square"/>
                    <a:lstStyle/>
                    <a:p>
                      <a:r>
                        <a:rPr sz="1152" b="0" i="0">
                          <a:solidFill>
                            <a:srgbClr val="1A1A1A"/>
                          </a:solidFill>
                          <a:latin typeface="Helvetica Neue"/>
                        </a:rPr>
                        <a:t>V8/XV8/XH8, V7/XV7/XH7, V6/XV6/XH6 Diagnostic Ultrasound System</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581558">
                <a:tc>
                  <a:txBody>
                    <a:bodyPr wrap="square"/>
                    <a:lstStyle/>
                    <a:p>
                      <a:r>
                        <a:rPr sz="1152" b="0" i="0">
                          <a:solidFill>
                            <a:srgbClr val="1A1A1A"/>
                          </a:solidFill>
                          <a:latin typeface="Helvetica Neue"/>
                        </a:rPr>
                        <a:t>K240704</a:t>
                      </a:r>
                    </a:p>
                  </a:txBody>
                  <a:tcPr marL="45720" marR="45720" marT="18288" marB="18288" anchor="t"/>
                </a:tc>
                <a:tc>
                  <a:txBody>
                    <a:bodyPr wrap="square"/>
                    <a:lstStyle/>
                    <a:p>
                      <a:r>
                        <a:rPr sz="1152" b="0" i="0">
                          <a:solidFill>
                            <a:srgbClr val="1A1A1A"/>
                          </a:solidFill>
                          <a:latin typeface="Helvetica Neue"/>
                        </a:rPr>
                        <a:t>07/22/2024</a:t>
                      </a:r>
                    </a:p>
                  </a:txBody>
                  <a:tcPr marL="45720" marR="45720" marT="18288" marB="18288" anchor="t"/>
                </a:tc>
                <a:tc>
                  <a:txBody>
                    <a:bodyPr wrap="square"/>
                    <a:lstStyle/>
                    <a:p>
                      <a:r>
                        <a:rPr sz="1152" b="0" i="0">
                          <a:solidFill>
                            <a:srgbClr val="1A1A1A"/>
                          </a:solidFill>
                          <a:latin typeface="Helvetica Neue"/>
                        </a:rPr>
                        <a:t>Siemens Medical Solutions, USA, Inc.</a:t>
                      </a:r>
                    </a:p>
                  </a:txBody>
                  <a:tcPr marL="45720" marR="45720" marT="18288" marB="18288" anchor="t"/>
                </a:tc>
                <a:tc>
                  <a:txBody>
                    <a:bodyPr wrap="square"/>
                    <a:lstStyle/>
                    <a:p>
                      <a:r>
                        <a:rPr sz="1152" b="0" i="0">
                          <a:solidFill>
                            <a:srgbClr val="1A1A1A"/>
                          </a:solidFill>
                          <a:latin typeface="Helvetica Neue"/>
                        </a:rPr>
                        <a:t>ACUSON Sequoia Diagnostic Ultrasound System, ACUSON Sequoia Select Diagnostic Ultrasound System, ACUSON Origin Diagnostic Ultrasound System, ACUSON Origin ICE Diagnostic Ultrasound System</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K240793</a:t>
                      </a:r>
                    </a:p>
                  </a:txBody>
                  <a:tcPr marL="45720" marR="45720" marT="18288" marB="18288" anchor="t"/>
                </a:tc>
                <a:tc>
                  <a:txBody>
                    <a:bodyPr wrap="square"/>
                    <a:lstStyle/>
                    <a:p>
                      <a:r>
                        <a:rPr sz="1152" b="0" i="0">
                          <a:solidFill>
                            <a:srgbClr val="1A1A1A"/>
                          </a:solidFill>
                          <a:latin typeface="Helvetica Neue"/>
                        </a:rPr>
                        <a:t>12/16/2024</a:t>
                      </a:r>
                    </a:p>
                  </a:txBody>
                  <a:tcPr marL="45720" marR="45720" marT="18288" marB="18288" anchor="t"/>
                </a:tc>
                <a:tc>
                  <a:txBody>
                    <a:bodyPr wrap="square"/>
                    <a:lstStyle/>
                    <a:p>
                      <a:r>
                        <a:rPr sz="1152" b="0" i="0">
                          <a:solidFill>
                            <a:srgbClr val="1A1A1A"/>
                          </a:solidFill>
                          <a:latin typeface="Helvetica Neue"/>
                        </a:rPr>
                        <a:t>MSKai</a:t>
                      </a:r>
                    </a:p>
                  </a:txBody>
                  <a:tcPr marL="45720" marR="45720" marT="18288" marB="18288" anchor="t"/>
                </a:tc>
                <a:tc>
                  <a:txBody>
                    <a:bodyPr wrap="square"/>
                    <a:lstStyle/>
                    <a:p>
                      <a:r>
                        <a:rPr sz="1152" b="0" i="0">
                          <a:solidFill>
                            <a:srgbClr val="1A1A1A"/>
                          </a:solidFill>
                          <a:latin typeface="Helvetica Neue"/>
                        </a:rPr>
                        <a:t>MSKai</a:t>
                      </a:r>
                    </a:p>
                  </a:txBody>
                  <a:tcPr marL="45720" marR="45720" marT="18288" marB="18288" anchor="t"/>
                </a:tc>
                <a:tc>
                  <a:txBody>
                    <a:bodyPr wrap="square"/>
                    <a:lstStyle/>
                    <a:p>
                      <a:r>
                        <a:rPr sz="1152" b="0" i="0">
                          <a:solidFill>
                            <a:srgbClr val="1A1A1A"/>
                          </a:solidFill>
                          <a:latin typeface="Helvetica Neue"/>
                        </a:rPr>
                        <a:t>QIH</a:t>
                      </a:r>
                    </a:p>
                  </a:txBody>
                  <a:tcPr marL="45720" marR="45720" marT="18288" marB="18288" anchor="t"/>
                </a:tc>
              </a:tr>
              <a:tr h="230428">
                <a:tc>
                  <a:txBody>
                    <a:bodyPr wrap="square"/>
                    <a:lstStyle/>
                    <a:p>
                      <a:r>
                        <a:rPr sz="1152" b="0" i="0">
                          <a:solidFill>
                            <a:srgbClr val="1A1A1A"/>
                          </a:solidFill>
                          <a:latin typeface="Helvetica Neue"/>
                        </a:rPr>
                        <a:t>K240845</a:t>
                      </a:r>
                    </a:p>
                  </a:txBody>
                  <a:tcPr marL="45720" marR="45720" marT="18288" marB="18288" anchor="t"/>
                </a:tc>
                <a:tc>
                  <a:txBody>
                    <a:bodyPr wrap="square"/>
                    <a:lstStyle/>
                    <a:p>
                      <a:r>
                        <a:rPr sz="1152" b="0" i="0">
                          <a:solidFill>
                            <a:srgbClr val="1A1A1A"/>
                          </a:solidFill>
                          <a:latin typeface="Helvetica Neue"/>
                        </a:rPr>
                        <a:t>07/17/2024</a:t>
                      </a:r>
                    </a:p>
                  </a:txBody>
                  <a:tcPr marL="45720" marR="45720" marT="18288" marB="18288" anchor="t"/>
                </a:tc>
                <a:tc>
                  <a:txBody>
                    <a:bodyPr wrap="square"/>
                    <a:lstStyle/>
                    <a:p>
                      <a:r>
                        <a:rPr sz="1152" b="0" i="0">
                          <a:solidFill>
                            <a:srgbClr val="1A1A1A"/>
                          </a:solidFill>
                          <a:latin typeface="Helvetica Neue"/>
                        </a:rPr>
                        <a:t>AZmed SAS</a:t>
                      </a:r>
                    </a:p>
                  </a:txBody>
                  <a:tcPr marL="45720" marR="45720" marT="18288" marB="18288" anchor="t"/>
                </a:tc>
                <a:tc>
                  <a:txBody>
                    <a:bodyPr wrap="square"/>
                    <a:lstStyle/>
                    <a:p>
                      <a:r>
                        <a:rPr sz="1152" b="0" i="0">
                          <a:solidFill>
                            <a:srgbClr val="1A1A1A"/>
                          </a:solidFill>
                          <a:latin typeface="Helvetica Neue"/>
                        </a:rPr>
                        <a:t>Rayvolve</a:t>
                      </a:r>
                    </a:p>
                  </a:txBody>
                  <a:tcPr marL="45720" marR="45720" marT="18288" marB="18288" anchor="t"/>
                </a:tc>
                <a:tc>
                  <a:txBody>
                    <a:bodyPr wrap="square"/>
                    <a:lstStyle/>
                    <a:p>
                      <a:r>
                        <a:rPr sz="1152" b="0" i="0">
                          <a:solidFill>
                            <a:srgbClr val="1A1A1A"/>
                          </a:solidFill>
                          <a:latin typeface="Helvetica Neue"/>
                        </a:rPr>
                        <a:t>QBS</a:t>
                      </a:r>
                    </a:p>
                  </a:txBody>
                  <a:tcPr marL="45720" marR="45720" marT="18288" marB="18288" anchor="t"/>
                </a:tc>
              </a:tr>
              <a:tr h="405993">
                <a:tc>
                  <a:txBody>
                    <a:bodyPr wrap="square"/>
                    <a:lstStyle/>
                    <a:p>
                      <a:r>
                        <a:rPr sz="1152" b="0" i="0">
                          <a:solidFill>
                            <a:srgbClr val="1A1A1A"/>
                          </a:solidFill>
                          <a:latin typeface="Helvetica Neue"/>
                        </a:rPr>
                        <a:t>K240850</a:t>
                      </a:r>
                    </a:p>
                  </a:txBody>
                  <a:tcPr marL="45720" marR="45720" marT="18288" marB="18288" anchor="t"/>
                </a:tc>
                <a:tc>
                  <a:txBody>
                    <a:bodyPr wrap="square"/>
                    <a:lstStyle/>
                    <a:p>
                      <a:r>
                        <a:rPr sz="1152" b="0" i="0">
                          <a:solidFill>
                            <a:srgbClr val="1A1A1A"/>
                          </a:solidFill>
                          <a:latin typeface="Helvetica Neue"/>
                        </a:rPr>
                        <a:t>04/24/2024</a:t>
                      </a:r>
                    </a:p>
                  </a:txBody>
                  <a:tcPr marL="45720" marR="45720" marT="18288" marB="18288" anchor="t"/>
                </a:tc>
                <a:tc>
                  <a:txBody>
                    <a:bodyPr wrap="square"/>
                    <a:lstStyle/>
                    <a:p>
                      <a:r>
                        <a:rPr sz="1152" b="0" i="0">
                          <a:solidFill>
                            <a:srgbClr val="1A1A1A"/>
                          </a:solidFill>
                          <a:latin typeface="Helvetica Neue"/>
                        </a:rPr>
                        <a:t>Philips Ultrasound LLC</a:t>
                      </a:r>
                    </a:p>
                  </a:txBody>
                  <a:tcPr marL="45720" marR="45720" marT="18288" marB="18288" anchor="t"/>
                </a:tc>
                <a:tc>
                  <a:txBody>
                    <a:bodyPr wrap="square"/>
                    <a:lstStyle/>
                    <a:p>
                      <a:r>
                        <a:rPr sz="1152" b="0" i="0">
                          <a:solidFill>
                            <a:srgbClr val="1A1A1A"/>
                          </a:solidFill>
                          <a:latin typeface="Helvetica Neue"/>
                        </a:rPr>
                        <a:t>EPIQ Series Diagnostic Ultrasound Systems; Affiniti Series Diagnostic Ultrasound Systems</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K240944</a:t>
                      </a:r>
                    </a:p>
                  </a:txBody>
                  <a:tcPr marL="45720" marR="45720" marT="18288" marB="18288" anchor="t"/>
                </a:tc>
                <a:tc>
                  <a:txBody>
                    <a:bodyPr wrap="square"/>
                    <a:lstStyle/>
                    <a:p>
                      <a:r>
                        <a:rPr sz="1152" b="0" i="0">
                          <a:solidFill>
                            <a:srgbClr val="1A1A1A"/>
                          </a:solidFill>
                          <a:latin typeface="Helvetica Neue"/>
                        </a:rPr>
                        <a:t>07/16/2024</a:t>
                      </a:r>
                    </a:p>
                  </a:txBody>
                  <a:tcPr marL="45720" marR="45720" marT="18288" marB="18288" anchor="t"/>
                </a:tc>
                <a:tc>
                  <a:txBody>
                    <a:bodyPr wrap="square"/>
                    <a:lstStyle/>
                    <a:p>
                      <a:r>
                        <a:rPr sz="1152" b="0" i="0">
                          <a:solidFill>
                            <a:srgbClr val="1A1A1A"/>
                          </a:solidFill>
                          <a:latin typeface="Helvetica Neue"/>
                        </a:rPr>
                        <a:t>Hyperfine, Inc.</a:t>
                      </a:r>
                    </a:p>
                  </a:txBody>
                  <a:tcPr marL="45720" marR="45720" marT="18288" marB="18288" anchor="t"/>
                </a:tc>
                <a:tc>
                  <a:txBody>
                    <a:bodyPr wrap="square"/>
                    <a:lstStyle/>
                    <a:p>
                      <a:r>
                        <a:rPr sz="1152" b="0" i="0">
                          <a:solidFill>
                            <a:srgbClr val="1A1A1A"/>
                          </a:solidFill>
                          <a:latin typeface="Helvetica Neue"/>
                        </a:rPr>
                        <a:t>Swoop® Portable MR Imaging® System</a:t>
                      </a:r>
                    </a:p>
                  </a:txBody>
                  <a:tcPr marL="45720" marR="45720" marT="18288" marB="18288" anchor="t"/>
                </a:tc>
                <a:tc>
                  <a:txBody>
                    <a:bodyPr wrap="square"/>
                    <a:lstStyle/>
                    <a:p>
                      <a:r>
                        <a:rPr sz="1152" b="0" i="0">
                          <a:solidFill>
                            <a:srgbClr val="1A1A1A"/>
                          </a:solidFill>
                          <a:latin typeface="Helvetica Neue"/>
                        </a:rPr>
                        <a:t>LNH</a:t>
                      </a:r>
                    </a:p>
                  </a:txBody>
                  <a:tcPr marL="45720" marR="45720" marT="18288" marB="18288" anchor="t"/>
                </a:tc>
              </a:tr>
              <a:tr h="230428">
                <a:tc>
                  <a:txBody>
                    <a:bodyPr wrap="square"/>
                    <a:lstStyle/>
                    <a:p>
                      <a:r>
                        <a:rPr sz="1152" b="0" i="0">
                          <a:solidFill>
                            <a:srgbClr val="1A1A1A"/>
                          </a:solidFill>
                          <a:latin typeface="Helvetica Neue"/>
                        </a:rPr>
                        <a:t>K240980</a:t>
                      </a:r>
                    </a:p>
                  </a:txBody>
                  <a:tcPr marL="45720" marR="45720" marT="18288" marB="18288" anchor="t"/>
                </a:tc>
                <a:tc>
                  <a:txBody>
                    <a:bodyPr wrap="square"/>
                    <a:lstStyle/>
                    <a:p>
                      <a:r>
                        <a:rPr sz="1152" b="0" i="0">
                          <a:solidFill>
                            <a:srgbClr val="1A1A1A"/>
                          </a:solidFill>
                          <a:latin typeface="Helvetica Neue"/>
                        </a:rPr>
                        <a:t>10/07/2024</a:t>
                      </a:r>
                    </a:p>
                  </a:txBody>
                  <a:tcPr marL="45720" marR="45720" marT="18288" marB="18288" anchor="t"/>
                </a:tc>
                <a:tc>
                  <a:txBody>
                    <a:bodyPr wrap="square"/>
                    <a:lstStyle/>
                    <a:p>
                      <a:r>
                        <a:rPr sz="1152" b="0" i="0">
                          <a:solidFill>
                            <a:srgbClr val="1A1A1A"/>
                          </a:solidFill>
                          <a:latin typeface="Helvetica Neue"/>
                        </a:rPr>
                        <a:t>Philips Ultrasound LLC</a:t>
                      </a:r>
                    </a:p>
                  </a:txBody>
                  <a:tcPr marL="45720" marR="45720" marT="18288" marB="18288" anchor="t"/>
                </a:tc>
                <a:tc>
                  <a:txBody>
                    <a:bodyPr wrap="square"/>
                    <a:lstStyle/>
                    <a:p>
                      <a:r>
                        <a:rPr sz="1152" b="0" i="0">
                          <a:solidFill>
                            <a:srgbClr val="1A1A1A"/>
                          </a:solidFill>
                          <a:latin typeface="Helvetica Neue"/>
                        </a:rPr>
                        <a:t>EPIQ Series Diagnostic Ultrasound System</a:t>
                      </a:r>
                    </a:p>
                  </a:txBody>
                  <a:tcPr marL="45720" marR="45720" marT="18288" marB="18288" anchor="t"/>
                </a:tc>
                <a:tc>
                  <a:txBody>
                    <a:bodyPr wrap="square"/>
                    <a:lstStyle/>
                    <a:p>
                      <a:r>
                        <a:rPr sz="1152" b="0" i="0">
                          <a:solidFill>
                            <a:srgbClr val="1A1A1A"/>
                          </a:solidFill>
                          <a:latin typeface="Helvetica Neue"/>
                        </a:rPr>
                        <a:t>IYN</a:t>
                      </a:r>
                    </a:p>
                  </a:txBody>
                  <a:tcPr marL="45720" marR="45720" marT="18288" marB="18288" anchor="t"/>
                </a:tc>
              </a:tr>
              <a:tr h="230428">
                <a:tc>
                  <a:txBody>
                    <a:bodyPr wrap="square"/>
                    <a:lstStyle/>
                    <a:p>
                      <a:r>
                        <a:rPr sz="1152" b="0" i="0">
                          <a:solidFill>
                            <a:srgbClr val="1A1A1A"/>
                          </a:solidFill>
                          <a:latin typeface="Helvetica Neue"/>
                        </a:rPr>
                        <a:t>K241029</a:t>
                      </a:r>
                    </a:p>
                  </a:txBody>
                  <a:tcPr marL="45720" marR="45720" marT="18288" marB="18288" anchor="t"/>
                </a:tc>
                <a:tc>
                  <a:txBody>
                    <a:bodyPr wrap="square"/>
                    <a:lstStyle/>
                    <a:p>
                      <a:r>
                        <a:rPr sz="1152" b="0" i="0">
                          <a:solidFill>
                            <a:srgbClr val="1A1A1A"/>
                          </a:solidFill>
                          <a:latin typeface="Helvetica Neue"/>
                        </a:rPr>
                        <a:t>10/07/2024</a:t>
                      </a:r>
                    </a:p>
                  </a:txBody>
                  <a:tcPr marL="45720" marR="45720" marT="18288" marB="18288" anchor="t"/>
                </a:tc>
                <a:tc>
                  <a:txBody>
                    <a:bodyPr wrap="square"/>
                    <a:lstStyle/>
                    <a:p>
                      <a:r>
                        <a:rPr sz="1152" b="0" i="0">
                          <a:solidFill>
                            <a:srgbClr val="1A1A1A"/>
                          </a:solidFill>
                          <a:latin typeface="Helvetica Neue"/>
                        </a:rPr>
                        <a:t>Verdure Imaging</a:t>
                      </a:r>
                    </a:p>
                  </a:txBody>
                  <a:tcPr marL="45720" marR="45720" marT="18288" marB="18288" anchor="t"/>
                </a:tc>
                <a:tc>
                  <a:txBody>
                    <a:bodyPr wrap="square"/>
                    <a:lstStyle/>
                    <a:p>
                      <a:r>
                        <a:rPr sz="1152" b="0" i="0">
                          <a:solidFill>
                            <a:srgbClr val="1A1A1A"/>
                          </a:solidFill>
                          <a:latin typeface="Helvetica Neue"/>
                        </a:rPr>
                        <a:t>SpineUs System</a:t>
                      </a:r>
                    </a:p>
                  </a:txBody>
                  <a:tcPr marL="45720" marR="45720" marT="18288" marB="18288" anchor="t"/>
                </a:tc>
                <a:tc>
                  <a:txBody>
                    <a:bodyPr wrap="square"/>
                    <a:lstStyle/>
                    <a:p>
                      <a:r>
                        <a:rPr sz="1152" b="0" i="0">
                          <a:solidFill>
                            <a:srgbClr val="1A1A1A"/>
                          </a:solidFill>
                          <a:latin typeface="Helvetica Neue"/>
                        </a:rPr>
                        <a:t>IYO</a:t>
                      </a:r>
                    </a:p>
                  </a:txBody>
                  <a:tcPr marL="45720" marR="45720" marT="18288" marB="18288" anchor="t"/>
                </a:tc>
              </a:tr>
              <a:tr h="230428">
                <a:tc>
                  <a:txBody>
                    <a:bodyPr wrap="square"/>
                    <a:lstStyle/>
                    <a:p>
                      <a:r>
                        <a:rPr sz="1152" b="0" i="0">
                          <a:solidFill>
                            <a:srgbClr val="1A1A1A"/>
                          </a:solidFill>
                          <a:latin typeface="Helvetica Neue"/>
                        </a:rPr>
                        <a:t>K241108</a:t>
                      </a:r>
                    </a:p>
                  </a:txBody>
                  <a:tcPr marL="45720" marR="45720" marT="18288" marB="18288" anchor="t"/>
                </a:tc>
                <a:tc>
                  <a:txBody>
                    <a:bodyPr wrap="square"/>
                    <a:lstStyle/>
                    <a:p>
                      <a:r>
                        <a:rPr sz="1152" b="0" i="0">
                          <a:solidFill>
                            <a:srgbClr val="1A1A1A"/>
                          </a:solidFill>
                          <a:latin typeface="Helvetica Neue"/>
                        </a:rPr>
                        <a:t>10/30/2024</a:t>
                      </a:r>
                    </a:p>
                  </a:txBody>
                  <a:tcPr marL="45720" marR="45720" marT="18288" marB="18288" anchor="t"/>
                </a:tc>
                <a:tc>
                  <a:txBody>
                    <a:bodyPr wrap="square"/>
                    <a:lstStyle/>
                    <a:p>
                      <a:r>
                        <a:rPr sz="1152" b="0" i="0">
                          <a:solidFill>
                            <a:srgbClr val="1A1A1A"/>
                          </a:solidFill>
                          <a:latin typeface="Helvetica Neue"/>
                        </a:rPr>
                        <a:t>Remedy Logic Inc.</a:t>
                      </a:r>
                    </a:p>
                  </a:txBody>
                  <a:tcPr marL="45720" marR="45720" marT="18288" marB="18288" anchor="t"/>
                </a:tc>
                <a:tc>
                  <a:txBody>
                    <a:bodyPr wrap="square"/>
                    <a:lstStyle/>
                    <a:p>
                      <a:r>
                        <a:rPr sz="1152" b="0" i="0">
                          <a:solidFill>
                            <a:srgbClr val="1A1A1A"/>
                          </a:solidFill>
                          <a:latin typeface="Helvetica Neue"/>
                        </a:rPr>
                        <a:t>RemedyLogic AI MRI Lumbar Spine Reader</a:t>
                      </a:r>
                    </a:p>
                  </a:txBody>
                  <a:tcPr marL="45720" marR="45720" marT="18288" marB="18288" anchor="t"/>
                </a:tc>
                <a:tc>
                  <a:txBody>
                    <a:bodyPr wrap="square"/>
                    <a:lstStyle/>
                    <a:p>
                      <a:r>
                        <a:rPr sz="1152" b="0" i="0">
                          <a:solidFill>
                            <a:srgbClr val="1A1A1A"/>
                          </a:solidFill>
                          <a:latin typeface="Helvetica Neue"/>
                        </a:rPr>
                        <a:t>QIH</a:t>
                      </a:r>
                    </a:p>
                  </a:txBody>
                  <a:tcPr marL="45720" marR="45720" marT="18288" marB="18288" anchor="t"/>
                </a:tc>
              </a:tr>
              <a:tr h="230428">
                <a:tc>
                  <a:txBody>
                    <a:bodyPr wrap="square"/>
                    <a:lstStyle/>
                    <a:p>
                      <a:r>
                        <a:rPr sz="1152" b="0" i="0">
                          <a:solidFill>
                            <a:srgbClr val="1A1A1A"/>
                          </a:solidFill>
                          <a:latin typeface="Helvetica Neue"/>
                        </a:rPr>
                        <a:t>K241112</a:t>
                      </a:r>
                    </a:p>
                  </a:txBody>
                  <a:tcPr marL="45720" marR="45720" marT="18288" marB="18288" anchor="t"/>
                </a:tc>
                <a:tc>
                  <a:txBody>
                    <a:bodyPr wrap="square"/>
                    <a:lstStyle/>
                    <a:p>
                      <a:r>
                        <a:rPr sz="1152" b="0" i="0">
                          <a:solidFill>
                            <a:srgbClr val="1A1A1A"/>
                          </a:solidFill>
                          <a:latin typeface="Helvetica Neue"/>
                        </a:rPr>
                        <a:t>05/15/2024</a:t>
                      </a:r>
                    </a:p>
                  </a:txBody>
                  <a:tcPr marL="45720" marR="45720" marT="18288" marB="18288" anchor="t"/>
                </a:tc>
                <a:tc>
                  <a:txBody>
                    <a:bodyPr wrap="square"/>
                    <a:lstStyle/>
                    <a:p>
                      <a:r>
                        <a:rPr sz="1152" b="0" i="0">
                          <a:solidFill>
                            <a:srgbClr val="1A1A1A"/>
                          </a:solidFill>
                          <a:latin typeface="Helvetica Neue"/>
                        </a:rPr>
                        <a:t>Aidoc Medical, Ltd.</a:t>
                      </a:r>
                    </a:p>
                  </a:txBody>
                  <a:tcPr marL="45720" marR="45720" marT="18288" marB="18288" anchor="t"/>
                </a:tc>
                <a:tc>
                  <a:txBody>
                    <a:bodyPr wrap="square"/>
                    <a:lstStyle/>
                    <a:p>
                      <a:r>
                        <a:rPr sz="1152" b="0" i="0">
                          <a:solidFill>
                            <a:srgbClr val="1A1A1A"/>
                          </a:solidFill>
                          <a:latin typeface="Helvetica Neue"/>
                        </a:rPr>
                        <a:t>BriefCase-Quantification</a:t>
                      </a:r>
                    </a:p>
                  </a:txBody>
                  <a:tcPr marL="45720" marR="45720" marT="18288" marB="18288" anchor="t"/>
                </a:tc>
                <a:tc>
                  <a:txBody>
                    <a:bodyPr wrap="square"/>
                    <a:lstStyle/>
                    <a:p>
                      <a:r>
                        <a:rPr sz="1152" b="0" i="0">
                          <a:solidFill>
                            <a:srgbClr val="1A1A1A"/>
                          </a:solidFill>
                          <a:latin typeface="Helvetica Neue"/>
                        </a:rPr>
                        <a:t>QIH</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72 / 83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(121–140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248655"/>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01168">
                <a:tc>
                  <a:txBody>
                    <a:bodyPr wrap="square"/>
                    <a:lstStyle/>
                    <a:p>
                      <a:r>
                        <a:rPr sz="960" b="1" i="0">
                          <a:solidFill>
                            <a:srgbClr val="FFFFFF"/>
                          </a:solidFill>
                          <a:latin typeface="Helvetica Neue"/>
                        </a:rPr>
                        <a:t>Submission</a:t>
                      </a:r>
                    </a:p>
                  </a:txBody>
                  <a:tcPr marL="45720" marR="45720" marT="18288" marB="18288" anchor="t"/>
                </a:tc>
                <a:tc>
                  <a:txBody>
                    <a:bodyPr wrap="square"/>
                    <a:lstStyle/>
                    <a:p>
                      <a:r>
                        <a:rPr sz="960" b="1" i="0">
                          <a:solidFill>
                            <a:srgbClr val="FFFFFF"/>
                          </a:solidFill>
                          <a:latin typeface="Helvetica Neue"/>
                        </a:rPr>
                        <a:t>Date</a:t>
                      </a:r>
                    </a:p>
                  </a:txBody>
                  <a:tcPr marL="45720" marR="45720" marT="18288" marB="18288" anchor="t"/>
                </a:tc>
                <a:tc>
                  <a:txBody>
                    <a:bodyPr wrap="square"/>
                    <a:lstStyle/>
                    <a:p>
                      <a:r>
                        <a:rPr sz="960" b="1" i="0">
                          <a:solidFill>
                            <a:srgbClr val="FFFFFF"/>
                          </a:solidFill>
                          <a:latin typeface="Helvetica Neue"/>
                        </a:rPr>
                        <a:t>Company</a:t>
                      </a:r>
                    </a:p>
                  </a:txBody>
                  <a:tcPr marL="45720" marR="45720" marT="18288" marB="18288" anchor="t"/>
                </a:tc>
                <a:tc>
                  <a:txBody>
                    <a:bodyPr wrap="square"/>
                    <a:lstStyle/>
                    <a:p>
                      <a:r>
                        <a:rPr sz="960" b="1" i="0">
                          <a:solidFill>
                            <a:srgbClr val="FFFFFF"/>
                          </a:solidFill>
                          <a:latin typeface="Helvetica Neue"/>
                        </a:rPr>
                        <a:t>Device</a:t>
                      </a:r>
                    </a:p>
                  </a:txBody>
                  <a:tcPr marL="45720" marR="45720" marT="18288" marB="18288" anchor="t"/>
                </a:tc>
                <a:tc>
                  <a:txBody>
                    <a:bodyPr wrap="square"/>
                    <a:lstStyle/>
                    <a:p>
                      <a:r>
                        <a:rPr sz="960" b="1" i="0">
                          <a:solidFill>
                            <a:srgbClr val="FFFFFF"/>
                          </a:solidFill>
                          <a:latin typeface="Helvetica Neue"/>
                        </a:rPr>
                        <a:t>Code</a:t>
                      </a:r>
                    </a:p>
                  </a:txBody>
                  <a:tcPr marL="45720" marR="45720" marT="18288" marB="18288" anchor="t"/>
                </a:tc>
              </a:tr>
              <a:tr h="201168">
                <a:tc>
                  <a:txBody>
                    <a:bodyPr wrap="square"/>
                    <a:lstStyle/>
                    <a:p>
                      <a:r>
                        <a:rPr sz="960" b="0" i="0">
                          <a:solidFill>
                            <a:srgbClr val="1A1A1A"/>
                          </a:solidFill>
                          <a:latin typeface="Helvetica Neue"/>
                        </a:rPr>
                        <a:t>K241211</a:t>
                      </a:r>
                    </a:p>
                  </a:txBody>
                  <a:tcPr marL="45720" marR="45720" marT="18288" marB="18288" anchor="t"/>
                </a:tc>
                <a:tc>
                  <a:txBody>
                    <a:bodyPr wrap="square"/>
                    <a:lstStyle/>
                    <a:p>
                      <a:r>
                        <a:rPr sz="960" b="0" i="0">
                          <a:solidFill>
                            <a:srgbClr val="1A1A1A"/>
                          </a:solidFill>
                          <a:latin typeface="Helvetica Neue"/>
                        </a:rPr>
                        <a:t>08/15/2024</a:t>
                      </a:r>
                    </a:p>
                  </a:txBody>
                  <a:tcPr marL="45720" marR="45720" marT="18288" marB="18288" anchor="t"/>
                </a:tc>
                <a:tc>
                  <a:txBody>
                    <a:bodyPr wrap="square"/>
                    <a:lstStyle/>
                    <a:p>
                      <a:r>
                        <a:rPr sz="960" b="0" i="0">
                          <a:solidFill>
                            <a:srgbClr val="1A1A1A"/>
                          </a:solidFill>
                          <a:latin typeface="Helvetica Neue"/>
                        </a:rPr>
                        <a:t>Smart Soft Healthcare</a:t>
                      </a:r>
                    </a:p>
                  </a:txBody>
                  <a:tcPr marL="45720" marR="45720" marT="18288" marB="18288" anchor="t"/>
                </a:tc>
                <a:tc>
                  <a:txBody>
                    <a:bodyPr wrap="square"/>
                    <a:lstStyle/>
                    <a:p>
                      <a:r>
                        <a:rPr sz="960" b="0" i="0">
                          <a:solidFill>
                            <a:srgbClr val="1A1A1A"/>
                          </a:solidFill>
                          <a:latin typeface="Helvetica Neue"/>
                        </a:rPr>
                        <a:t>CoLumbo</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r h="201168">
                <a:tc>
                  <a:txBody>
                    <a:bodyPr wrap="square"/>
                    <a:lstStyle/>
                    <a:p>
                      <a:r>
                        <a:rPr sz="960" b="0" i="0">
                          <a:solidFill>
                            <a:srgbClr val="1A1A1A"/>
                          </a:solidFill>
                          <a:latin typeface="Helvetica Neue"/>
                        </a:rPr>
                        <a:t>K241331</a:t>
                      </a:r>
                    </a:p>
                  </a:txBody>
                  <a:tcPr marL="45720" marR="45720" marT="18288" marB="18288" anchor="t"/>
                </a:tc>
                <a:tc>
                  <a:txBody>
                    <a:bodyPr wrap="square"/>
                    <a:lstStyle/>
                    <a:p>
                      <a:r>
                        <a:rPr sz="960" b="0" i="0">
                          <a:solidFill>
                            <a:srgbClr val="1A1A1A"/>
                          </a:solidFill>
                          <a:latin typeface="Helvetica Neue"/>
                        </a:rPr>
                        <a:t>10/01/2024</a:t>
                      </a:r>
                    </a:p>
                  </a:txBody>
                  <a:tcPr marL="45720" marR="45720" marT="18288" marB="18288" anchor="t"/>
                </a:tc>
                <a:tc>
                  <a:txBody>
                    <a:bodyPr wrap="square"/>
                    <a:lstStyle/>
                    <a:p>
                      <a:r>
                        <a:rPr sz="960" b="0" i="0">
                          <a:solidFill>
                            <a:srgbClr val="1A1A1A"/>
                          </a:solidFill>
                          <a:latin typeface="Helvetica Neue"/>
                        </a:rPr>
                        <a:t>Springbok, Inc.</a:t>
                      </a:r>
                    </a:p>
                  </a:txBody>
                  <a:tcPr marL="45720" marR="45720" marT="18288" marB="18288" anchor="t"/>
                </a:tc>
                <a:tc>
                  <a:txBody>
                    <a:bodyPr wrap="square"/>
                    <a:lstStyle/>
                    <a:p>
                      <a:r>
                        <a:rPr sz="960" b="0" i="0">
                          <a:solidFill>
                            <a:srgbClr val="1A1A1A"/>
                          </a:solidFill>
                          <a:latin typeface="Helvetica Neue"/>
                        </a:rPr>
                        <a:t>MuscleView</a:t>
                      </a:r>
                    </a:p>
                  </a:txBody>
                  <a:tcPr marL="45720" marR="45720" marT="18288" marB="18288" anchor="t"/>
                </a:tc>
                <a:tc>
                  <a:txBody>
                    <a:bodyPr wrap="square"/>
                    <a:lstStyle/>
                    <a:p>
                      <a:r>
                        <a:rPr sz="960" b="0" i="0">
                          <a:solidFill>
                            <a:srgbClr val="1A1A1A"/>
                          </a:solidFill>
                          <a:latin typeface="Helvetica Neue"/>
                        </a:rPr>
                        <a:t>LNH</a:t>
                      </a:r>
                    </a:p>
                  </a:txBody>
                  <a:tcPr marL="45720" marR="45720" marT="18288" marB="18288" anchor="t"/>
                </a:tc>
              </a:tr>
              <a:tr h="201168">
                <a:tc>
                  <a:txBody>
                    <a:bodyPr wrap="square"/>
                    <a:lstStyle/>
                    <a:p>
                      <a:r>
                        <a:rPr sz="960" b="0" i="0">
                          <a:solidFill>
                            <a:srgbClr val="1A1A1A"/>
                          </a:solidFill>
                          <a:latin typeface="Helvetica Neue"/>
                        </a:rPr>
                        <a:t>K241380</a:t>
                      </a:r>
                    </a:p>
                  </a:txBody>
                  <a:tcPr marL="45720" marR="45720" marT="18288" marB="18288" anchor="t"/>
                </a:tc>
                <a:tc>
                  <a:txBody>
                    <a:bodyPr wrap="square"/>
                    <a:lstStyle/>
                    <a:p>
                      <a:r>
                        <a:rPr sz="960" b="0" i="0">
                          <a:solidFill>
                            <a:srgbClr val="1A1A1A"/>
                          </a:solidFill>
                          <a:latin typeface="Helvetica Neue"/>
                        </a:rPr>
                        <a:t>09/11/2024</a:t>
                      </a:r>
                    </a:p>
                  </a:txBody>
                  <a:tcPr marL="45720" marR="45720" marT="18288" marB="18288" anchor="t"/>
                </a:tc>
                <a:tc>
                  <a:txBody>
                    <a:bodyPr wrap="square"/>
                    <a:lstStyle/>
                    <a:p>
                      <a:r>
                        <a:rPr sz="960" b="0" i="0">
                          <a:solidFill>
                            <a:srgbClr val="1A1A1A"/>
                          </a:solidFill>
                          <a:latin typeface="Helvetica Neue"/>
                        </a:rPr>
                        <a:t>Diagnoly</a:t>
                      </a:r>
                    </a:p>
                  </a:txBody>
                  <a:tcPr marL="45720" marR="45720" marT="18288" marB="18288" anchor="t"/>
                </a:tc>
                <a:tc>
                  <a:txBody>
                    <a:bodyPr wrap="square"/>
                    <a:lstStyle/>
                    <a:p>
                      <a:r>
                        <a:rPr sz="960" b="0" i="0">
                          <a:solidFill>
                            <a:srgbClr val="1A1A1A"/>
                          </a:solidFill>
                          <a:latin typeface="Helvetica Neue"/>
                        </a:rPr>
                        <a:t>FETOLY-HEART</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K241659</a:t>
                      </a:r>
                    </a:p>
                  </a:txBody>
                  <a:tcPr marL="45720" marR="45720" marT="18288" marB="18288" anchor="t"/>
                </a:tc>
                <a:tc>
                  <a:txBody>
                    <a:bodyPr wrap="square"/>
                    <a:lstStyle/>
                    <a:p>
                      <a:r>
                        <a:rPr sz="960" b="0" i="0">
                          <a:solidFill>
                            <a:srgbClr val="1A1A1A"/>
                          </a:solidFill>
                          <a:latin typeface="Helvetica Neue"/>
                        </a:rPr>
                        <a:t>02/10/2025</a:t>
                      </a:r>
                    </a:p>
                  </a:txBody>
                  <a:tcPr marL="45720" marR="45720" marT="18288" marB="18288" anchor="t"/>
                </a:tc>
                <a:tc>
                  <a:txBody>
                    <a:bodyPr wrap="square"/>
                    <a:lstStyle/>
                    <a:p>
                      <a:r>
                        <a:rPr sz="960" b="0" i="0">
                          <a:solidFill>
                            <a:srgbClr val="1A1A1A"/>
                          </a:solidFill>
                          <a:latin typeface="Helvetica Neue"/>
                        </a:rPr>
                        <a:t>Philips Ultrasound LLC</a:t>
                      </a:r>
                    </a:p>
                  </a:txBody>
                  <a:tcPr marL="45720" marR="45720" marT="18288" marB="18288" anchor="t"/>
                </a:tc>
                <a:tc>
                  <a:txBody>
                    <a:bodyPr wrap="square"/>
                    <a:lstStyle/>
                    <a:p>
                      <a:r>
                        <a:rPr sz="960" b="0" i="0">
                          <a:solidFill>
                            <a:srgbClr val="1A1A1A"/>
                          </a:solidFill>
                          <a:latin typeface="Helvetica Neue"/>
                        </a:rPr>
                        <a:t>Ultrasound Workspace (UWS 6.0)</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r h="201168">
                <a:tc>
                  <a:txBody>
                    <a:bodyPr wrap="square"/>
                    <a:lstStyle/>
                    <a:p>
                      <a:r>
                        <a:rPr sz="960" b="0" i="0">
                          <a:solidFill>
                            <a:srgbClr val="1A1A1A"/>
                          </a:solidFill>
                          <a:latin typeface="Helvetica Neue"/>
                        </a:rPr>
                        <a:t>K241727</a:t>
                      </a:r>
                    </a:p>
                  </a:txBody>
                  <a:tcPr marL="45720" marR="45720" marT="18288" marB="18288" anchor="t"/>
                </a:tc>
                <a:tc>
                  <a:txBody>
                    <a:bodyPr wrap="square"/>
                    <a:lstStyle/>
                    <a:p>
                      <a:r>
                        <a:rPr sz="960" b="0" i="0">
                          <a:solidFill>
                            <a:srgbClr val="1A1A1A"/>
                          </a:solidFill>
                          <a:latin typeface="Helvetica Neue"/>
                        </a:rPr>
                        <a:t>07/12/2024</a:t>
                      </a:r>
                    </a:p>
                  </a:txBody>
                  <a:tcPr marL="45720" marR="45720" marT="18288" marB="18288" anchor="t"/>
                </a:tc>
                <a:tc>
                  <a:txBody>
                    <a:bodyPr wrap="square"/>
                    <a:lstStyle/>
                    <a:p>
                      <a:r>
                        <a:rPr sz="960" b="0" i="0">
                          <a:solidFill>
                            <a:srgbClr val="1A1A1A"/>
                          </a:solidFill>
                          <a:latin typeface="Helvetica Neue"/>
                        </a:rPr>
                        <a:t>Aidoc Medical, Ltd.</a:t>
                      </a:r>
                    </a:p>
                  </a:txBody>
                  <a:tcPr marL="45720" marR="45720" marT="18288" marB="18288" anchor="t"/>
                </a:tc>
                <a:tc>
                  <a:txBody>
                    <a:bodyPr wrap="square"/>
                    <a:lstStyle/>
                    <a:p>
                      <a:r>
                        <a:rPr sz="960" b="0" i="0">
                          <a:solidFill>
                            <a:srgbClr val="1A1A1A"/>
                          </a:solidFill>
                          <a:latin typeface="Helvetica Neue"/>
                        </a:rPr>
                        <a:t>BriefCase-Triage</a:t>
                      </a:r>
                    </a:p>
                  </a:txBody>
                  <a:tcPr marL="45720" marR="45720" marT="18288" marB="18288" anchor="t"/>
                </a:tc>
                <a:tc>
                  <a:txBody>
                    <a:bodyPr wrap="square"/>
                    <a:lstStyle/>
                    <a:p>
                      <a:r>
                        <a:rPr sz="960" b="0" i="0">
                          <a:solidFill>
                            <a:srgbClr val="1A1A1A"/>
                          </a:solidFill>
                          <a:latin typeface="Helvetica Neue"/>
                        </a:rPr>
                        <a:t>QAS</a:t>
                      </a:r>
                    </a:p>
                  </a:txBody>
                  <a:tcPr marL="45720" marR="45720" marT="18288" marB="18288" anchor="t"/>
                </a:tc>
              </a:tr>
              <a:tr h="201168">
                <a:tc>
                  <a:txBody>
                    <a:bodyPr wrap="square"/>
                    <a:lstStyle/>
                    <a:p>
                      <a:r>
                        <a:rPr sz="960" b="0" i="0">
                          <a:solidFill>
                            <a:srgbClr val="1A1A1A"/>
                          </a:solidFill>
                          <a:latin typeface="Helvetica Neue"/>
                        </a:rPr>
                        <a:t>K241949</a:t>
                      </a:r>
                    </a:p>
                  </a:txBody>
                  <a:tcPr marL="45720" marR="45720" marT="18288" marB="18288" anchor="t"/>
                </a:tc>
                <a:tc>
                  <a:txBody>
                    <a:bodyPr wrap="square"/>
                    <a:lstStyle/>
                    <a:p>
                      <a:r>
                        <a:rPr sz="960" b="0" i="0">
                          <a:solidFill>
                            <a:srgbClr val="1A1A1A"/>
                          </a:solidFill>
                          <a:latin typeface="Helvetica Neue"/>
                        </a:rPr>
                        <a:t>01/17/2025</a:t>
                      </a:r>
                    </a:p>
                  </a:txBody>
                  <a:tcPr marL="45720" marR="45720" marT="18288" marB="18288" anchor="t"/>
                </a:tc>
                <a:tc>
                  <a:txBody>
                    <a:bodyPr wrap="square"/>
                    <a:lstStyle/>
                    <a:p>
                      <a:r>
                        <a:rPr sz="960" b="0" i="0">
                          <a:solidFill>
                            <a:srgbClr val="1A1A1A"/>
                          </a:solidFill>
                          <a:latin typeface="Helvetica Neue"/>
                        </a:rPr>
                        <a:t>Sonoscape Medical Corp.</a:t>
                      </a:r>
                    </a:p>
                  </a:txBody>
                  <a:tcPr marL="45720" marR="45720" marT="18288" marB="18288" anchor="t"/>
                </a:tc>
                <a:tc>
                  <a:txBody>
                    <a:bodyPr wrap="square"/>
                    <a:lstStyle/>
                    <a:p>
                      <a:r>
                        <a:rPr sz="960" b="0" i="0">
                          <a:solidFill>
                            <a:srgbClr val="1A1A1A"/>
                          </a:solidFill>
                          <a:latin typeface="Helvetica Neue"/>
                        </a:rPr>
                        <a:t>Digital Color Doppler Ultrasound System (P60 Series)</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K241971</a:t>
                      </a:r>
                    </a:p>
                  </a:txBody>
                  <a:tcPr marL="45720" marR="45720" marT="18288" marB="18288" anchor="t"/>
                </a:tc>
                <a:tc>
                  <a:txBody>
                    <a:bodyPr wrap="square"/>
                    <a:lstStyle/>
                    <a:p>
                      <a:r>
                        <a:rPr sz="960" b="0" i="0">
                          <a:solidFill>
                            <a:srgbClr val="1A1A1A"/>
                          </a:solidFill>
                          <a:latin typeface="Helvetica Neue"/>
                        </a:rPr>
                        <a:t>10/11/2024</a:t>
                      </a:r>
                    </a:p>
                  </a:txBody>
                  <a:tcPr marL="45720" marR="45720" marT="18288" marB="18288" anchor="t"/>
                </a:tc>
                <a:tc>
                  <a:txBody>
                    <a:bodyPr wrap="square"/>
                    <a:lstStyle/>
                    <a:p>
                      <a:r>
                        <a:rPr sz="960" b="0" i="0">
                          <a:solidFill>
                            <a:srgbClr val="1A1A1A"/>
                          </a:solidFill>
                          <a:latin typeface="Helvetica Neue"/>
                        </a:rPr>
                        <a:t>Samsung Medison Co., Ltd.</a:t>
                      </a:r>
                    </a:p>
                  </a:txBody>
                  <a:tcPr marL="45720" marR="45720" marT="18288" marB="18288" anchor="t"/>
                </a:tc>
                <a:tc>
                  <a:txBody>
                    <a:bodyPr wrap="square"/>
                    <a:lstStyle/>
                    <a:p>
                      <a:r>
                        <a:rPr sz="960" b="0" i="0">
                          <a:solidFill>
                            <a:srgbClr val="1A1A1A"/>
                          </a:solidFill>
                          <a:latin typeface="Helvetica Neue"/>
                        </a:rPr>
                        <a:t>HERA Z20, R20, HERA Z30, R30 Diagnostic Ultrasound System</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347472">
                <a:tc>
                  <a:txBody>
                    <a:bodyPr wrap="square"/>
                    <a:lstStyle/>
                    <a:p>
                      <a:r>
                        <a:rPr sz="960" b="0" i="0">
                          <a:solidFill>
                            <a:srgbClr val="1A1A1A"/>
                          </a:solidFill>
                          <a:latin typeface="Helvetica Neue"/>
                        </a:rPr>
                        <a:t>K242020</a:t>
                      </a:r>
                    </a:p>
                  </a:txBody>
                  <a:tcPr marL="45720" marR="45720" marT="18288" marB="18288" anchor="t"/>
                </a:tc>
                <a:tc>
                  <a:txBody>
                    <a:bodyPr wrap="square"/>
                    <a:lstStyle/>
                    <a:p>
                      <a:r>
                        <a:rPr sz="960" b="0" i="0">
                          <a:solidFill>
                            <a:srgbClr val="1A1A1A"/>
                          </a:solidFill>
                          <a:latin typeface="Helvetica Neue"/>
                        </a:rPr>
                        <a:t>12/12/2024</a:t>
                      </a:r>
                    </a:p>
                  </a:txBody>
                  <a:tcPr marL="45720" marR="45720" marT="18288" marB="18288" anchor="t"/>
                </a:tc>
                <a:tc>
                  <a:txBody>
                    <a:bodyPr wrap="square"/>
                    <a:lstStyle/>
                    <a:p>
                      <a:r>
                        <a:rPr sz="960" b="0" i="0">
                          <a:solidFill>
                            <a:srgbClr val="1A1A1A"/>
                          </a:solidFill>
                          <a:latin typeface="Helvetica Neue"/>
                        </a:rPr>
                        <a:t>Philips Ultrasound LLC</a:t>
                      </a:r>
                    </a:p>
                  </a:txBody>
                  <a:tcPr marL="45720" marR="45720" marT="18288" marB="18288" anchor="t"/>
                </a:tc>
                <a:tc>
                  <a:txBody>
                    <a:bodyPr wrap="square"/>
                    <a:lstStyle/>
                    <a:p>
                      <a:r>
                        <a:rPr sz="960" b="0" i="0">
                          <a:solidFill>
                            <a:srgbClr val="1A1A1A"/>
                          </a:solidFill>
                          <a:latin typeface="Helvetica Neue"/>
                        </a:rPr>
                        <a:t>EPIQ Series Diagnostic Ultrasound System; Affiniti Series Diagnostic Ultrasound System</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K242062</a:t>
                      </a:r>
                    </a:p>
                  </a:txBody>
                  <a:tcPr marL="45720" marR="45720" marT="18288" marB="18288" anchor="t"/>
                </a:tc>
                <a:tc>
                  <a:txBody>
                    <a:bodyPr wrap="square"/>
                    <a:lstStyle/>
                    <a:p>
                      <a:r>
                        <a:rPr sz="960" b="0" i="0">
                          <a:solidFill>
                            <a:srgbClr val="1A1A1A"/>
                          </a:solidFill>
                          <a:latin typeface="Helvetica Neue"/>
                        </a:rPr>
                        <a:t>11/15/2024</a:t>
                      </a:r>
                    </a:p>
                  </a:txBody>
                  <a:tcPr marL="45720" marR="45720" marT="18288" marB="18288" anchor="t"/>
                </a:tc>
                <a:tc>
                  <a:txBody>
                    <a:bodyPr wrap="square"/>
                    <a:lstStyle/>
                    <a:p>
                      <a:r>
                        <a:rPr sz="960" b="0" i="0">
                          <a:solidFill>
                            <a:srgbClr val="1A1A1A"/>
                          </a:solidFill>
                          <a:latin typeface="Helvetica Neue"/>
                        </a:rPr>
                        <a:t>Mycardium AI Limited</a:t>
                      </a:r>
                    </a:p>
                  </a:txBody>
                  <a:tcPr marL="45720" marR="45720" marT="18288" marB="18288" anchor="t"/>
                </a:tc>
                <a:tc>
                  <a:txBody>
                    <a:bodyPr wrap="square"/>
                    <a:lstStyle/>
                    <a:p>
                      <a:r>
                        <a:rPr sz="960" b="0" i="0">
                          <a:solidFill>
                            <a:srgbClr val="1A1A1A"/>
                          </a:solidFill>
                          <a:latin typeface="Helvetica Neue"/>
                        </a:rPr>
                        <a:t>1CMR Pro</a:t>
                      </a:r>
                    </a:p>
                  </a:txBody>
                  <a:tcPr marL="45720" marR="45720" marT="18288" marB="18288" anchor="t"/>
                </a:tc>
                <a:tc>
                  <a:txBody>
                    <a:bodyPr wrap="square"/>
                    <a:lstStyle/>
                    <a:p>
                      <a:r>
                        <a:rPr sz="960" b="0" i="0">
                          <a:solidFill>
                            <a:srgbClr val="1A1A1A"/>
                          </a:solidFill>
                          <a:latin typeface="Helvetica Neue"/>
                        </a:rPr>
                        <a:t>LLZ</a:t>
                      </a:r>
                    </a:p>
                  </a:txBody>
                  <a:tcPr marL="45720" marR="45720" marT="18288" marB="18288" anchor="t"/>
                </a:tc>
              </a:tr>
              <a:tr h="347472">
                <a:tc>
                  <a:txBody>
                    <a:bodyPr wrap="square"/>
                    <a:lstStyle/>
                    <a:p>
                      <a:r>
                        <a:rPr sz="960" b="0" i="0">
                          <a:solidFill>
                            <a:srgbClr val="1A1A1A"/>
                          </a:solidFill>
                          <a:latin typeface="Helvetica Neue"/>
                        </a:rPr>
                        <a:t>K242168</a:t>
                      </a:r>
                    </a:p>
                  </a:txBody>
                  <a:tcPr marL="45720" marR="45720" marT="18288" marB="18288" anchor="t"/>
                </a:tc>
                <a:tc>
                  <a:txBody>
                    <a:bodyPr wrap="square"/>
                    <a:lstStyle/>
                    <a:p>
                      <a:r>
                        <a:rPr sz="960" b="0" i="0">
                          <a:solidFill>
                            <a:srgbClr val="1A1A1A"/>
                          </a:solidFill>
                          <a:latin typeface="Helvetica Neue"/>
                        </a:rPr>
                        <a:t>12/20/2024</a:t>
                      </a:r>
                    </a:p>
                  </a:txBody>
                  <a:tcPr marL="45720" marR="45720" marT="18288" marB="18288" anchor="t"/>
                </a:tc>
                <a:tc>
                  <a:txBody>
                    <a:bodyPr wrap="square"/>
                    <a:lstStyle/>
                    <a:p>
                      <a:r>
                        <a:rPr sz="960" b="0" i="0">
                          <a:solidFill>
                            <a:srgbClr val="1A1A1A"/>
                          </a:solidFill>
                          <a:latin typeface="Helvetica Neue"/>
                        </a:rPr>
                        <a:t>GE Medical Systems Ultrasound and Primary care Diagnostics</a:t>
                      </a:r>
                    </a:p>
                  </a:txBody>
                  <a:tcPr marL="45720" marR="45720" marT="18288" marB="18288" anchor="t"/>
                </a:tc>
                <a:tc>
                  <a:txBody>
                    <a:bodyPr wrap="square"/>
                    <a:lstStyle/>
                    <a:p>
                      <a:r>
                        <a:rPr sz="960" b="0" i="0">
                          <a:solidFill>
                            <a:srgbClr val="1A1A1A"/>
                          </a:solidFill>
                          <a:latin typeface="Helvetica Neue"/>
                        </a:rPr>
                        <a:t>Voluson Expert 18; Voluson Expert 20; Voluson Expert 22</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K242171</a:t>
                      </a:r>
                    </a:p>
                  </a:txBody>
                  <a:tcPr marL="45720" marR="45720" marT="18288" marB="18288" anchor="t"/>
                </a:tc>
                <a:tc>
                  <a:txBody>
                    <a:bodyPr wrap="square"/>
                    <a:lstStyle/>
                    <a:p>
                      <a:r>
                        <a:rPr sz="960" b="0" i="0">
                          <a:solidFill>
                            <a:srgbClr val="1A1A1A"/>
                          </a:solidFill>
                          <a:latin typeface="Helvetica Neue"/>
                        </a:rPr>
                        <a:t>01/17/2025</a:t>
                      </a:r>
                    </a:p>
                  </a:txBody>
                  <a:tcPr marL="45720" marR="45720" marT="18288" marB="18288" anchor="t"/>
                </a:tc>
                <a:tc>
                  <a:txBody>
                    <a:bodyPr wrap="square"/>
                    <a:lstStyle/>
                    <a:p>
                      <a:r>
                        <a:rPr sz="960" b="0" i="0">
                          <a:solidFill>
                            <a:srgbClr val="1A1A1A"/>
                          </a:solidFill>
                          <a:latin typeface="Helvetica Neue"/>
                        </a:rPr>
                        <a:t>Milvue</a:t>
                      </a:r>
                    </a:p>
                  </a:txBody>
                  <a:tcPr marL="45720" marR="45720" marT="18288" marB="18288" anchor="t"/>
                </a:tc>
                <a:tc>
                  <a:txBody>
                    <a:bodyPr wrap="square"/>
                    <a:lstStyle/>
                    <a:p>
                      <a:r>
                        <a:rPr sz="960" b="0" i="0">
                          <a:solidFill>
                            <a:srgbClr val="1A1A1A"/>
                          </a:solidFill>
                          <a:latin typeface="Helvetica Neue"/>
                        </a:rPr>
                        <a:t>TechCare Trauma</a:t>
                      </a:r>
                    </a:p>
                  </a:txBody>
                  <a:tcPr marL="45720" marR="45720" marT="18288" marB="18288" anchor="t"/>
                </a:tc>
                <a:tc>
                  <a:txBody>
                    <a:bodyPr wrap="square"/>
                    <a:lstStyle/>
                    <a:p>
                      <a:r>
                        <a:rPr sz="960" b="0" i="0">
                          <a:solidFill>
                            <a:srgbClr val="1A1A1A"/>
                          </a:solidFill>
                          <a:latin typeface="Helvetica Neue"/>
                        </a:rPr>
                        <a:t>QBS</a:t>
                      </a:r>
                    </a:p>
                  </a:txBody>
                  <a:tcPr marL="45720" marR="45720" marT="18288" marB="18288" anchor="t"/>
                </a:tc>
              </a:tr>
              <a:tr h="201168">
                <a:tc>
                  <a:txBody>
                    <a:bodyPr wrap="square"/>
                    <a:lstStyle/>
                    <a:p>
                      <a:r>
                        <a:rPr sz="960" b="0" i="0">
                          <a:solidFill>
                            <a:srgbClr val="1A1A1A"/>
                          </a:solidFill>
                          <a:latin typeface="Helvetica Neue"/>
                        </a:rPr>
                        <a:t>K242203</a:t>
                      </a:r>
                    </a:p>
                  </a:txBody>
                  <a:tcPr marL="45720" marR="45720" marT="18288" marB="18288" anchor="t"/>
                </a:tc>
                <a:tc>
                  <a:txBody>
                    <a:bodyPr wrap="square"/>
                    <a:lstStyle/>
                    <a:p>
                      <a:r>
                        <a:rPr sz="960" b="0" i="0">
                          <a:solidFill>
                            <a:srgbClr val="1A1A1A"/>
                          </a:solidFill>
                          <a:latin typeface="Helvetica Neue"/>
                        </a:rPr>
                        <a:t>11/22/2024</a:t>
                      </a:r>
                    </a:p>
                  </a:txBody>
                  <a:tcPr marL="45720" marR="45720" marT="18288" marB="18288" anchor="t"/>
                </a:tc>
                <a:tc>
                  <a:txBody>
                    <a:bodyPr wrap="square"/>
                    <a:lstStyle/>
                    <a:p>
                      <a:r>
                        <a:rPr sz="960" b="0" i="0">
                          <a:solidFill>
                            <a:srgbClr val="1A1A1A"/>
                          </a:solidFill>
                          <a:latin typeface="Helvetica Neue"/>
                        </a:rPr>
                        <a:t>Aidoc Medical, Ltd.</a:t>
                      </a:r>
                    </a:p>
                  </a:txBody>
                  <a:tcPr marL="45720" marR="45720" marT="18288" marB="18288" anchor="t"/>
                </a:tc>
                <a:tc>
                  <a:txBody>
                    <a:bodyPr wrap="square"/>
                    <a:lstStyle/>
                    <a:p>
                      <a:r>
                        <a:rPr sz="960" b="0" i="0">
                          <a:solidFill>
                            <a:srgbClr val="1A1A1A"/>
                          </a:solidFill>
                          <a:latin typeface="Helvetica Neue"/>
                        </a:rPr>
                        <a:t>BriefCase-Quantification</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r h="201168">
                <a:tc>
                  <a:txBody>
                    <a:bodyPr wrap="square"/>
                    <a:lstStyle/>
                    <a:p>
                      <a:r>
                        <a:rPr sz="960" b="0" i="0">
                          <a:solidFill>
                            <a:srgbClr val="1A1A1A"/>
                          </a:solidFill>
                          <a:latin typeface="Helvetica Neue"/>
                        </a:rPr>
                        <a:t>K242342</a:t>
                      </a:r>
                    </a:p>
                  </a:txBody>
                  <a:tcPr marL="45720" marR="45720" marT="18288" marB="18288" anchor="t"/>
                </a:tc>
                <a:tc>
                  <a:txBody>
                    <a:bodyPr wrap="square"/>
                    <a:lstStyle/>
                    <a:p>
                      <a:r>
                        <a:rPr sz="960" b="0" i="0">
                          <a:solidFill>
                            <a:srgbClr val="1A1A1A"/>
                          </a:solidFill>
                          <a:latin typeface="Helvetica Neue"/>
                        </a:rPr>
                        <a:t>11/14/2024</a:t>
                      </a:r>
                    </a:p>
                  </a:txBody>
                  <a:tcPr marL="45720" marR="45720" marT="18288" marB="18288" anchor="t"/>
                </a:tc>
                <a:tc>
                  <a:txBody>
                    <a:bodyPr wrap="square"/>
                    <a:lstStyle/>
                    <a:p>
                      <a:r>
                        <a:rPr sz="960" b="0" i="0">
                          <a:solidFill>
                            <a:srgbClr val="1A1A1A"/>
                          </a:solidFill>
                          <a:latin typeface="Helvetica Neue"/>
                        </a:rPr>
                        <a:t>BrightHeart</a:t>
                      </a:r>
                    </a:p>
                  </a:txBody>
                  <a:tcPr marL="45720" marR="45720" marT="18288" marB="18288" anchor="t"/>
                </a:tc>
                <a:tc>
                  <a:txBody>
                    <a:bodyPr wrap="square"/>
                    <a:lstStyle/>
                    <a:p>
                      <a:r>
                        <a:rPr sz="960" b="0" i="0">
                          <a:solidFill>
                            <a:srgbClr val="1A1A1A"/>
                          </a:solidFill>
                          <a:latin typeface="Helvetica Neue"/>
                        </a:rPr>
                        <a:t>Fetal EchoScan</a:t>
                      </a:r>
                    </a:p>
                  </a:txBody>
                  <a:tcPr marL="45720" marR="45720" marT="18288" marB="18288" anchor="t"/>
                </a:tc>
                <a:tc>
                  <a:txBody>
                    <a:bodyPr wrap="square"/>
                    <a:lstStyle/>
                    <a:p>
                      <a:r>
                        <a:rPr sz="960" b="0" i="0">
                          <a:solidFill>
                            <a:srgbClr val="1A1A1A"/>
                          </a:solidFill>
                          <a:latin typeface="Helvetica Neue"/>
                        </a:rPr>
                        <a:t>POK</a:t>
                      </a:r>
                    </a:p>
                  </a:txBody>
                  <a:tcPr marL="45720" marR="45720" marT="18288" marB="18288" anchor="t"/>
                </a:tc>
              </a:tr>
              <a:tr h="201168">
                <a:tc>
                  <a:txBody>
                    <a:bodyPr wrap="square"/>
                    <a:lstStyle/>
                    <a:p>
                      <a:r>
                        <a:rPr sz="960" b="0" i="0">
                          <a:solidFill>
                            <a:srgbClr val="1A1A1A"/>
                          </a:solidFill>
                          <a:latin typeface="Helvetica Neue"/>
                        </a:rPr>
                        <a:t>K242444</a:t>
                      </a:r>
                    </a:p>
                  </a:txBody>
                  <a:tcPr marL="45720" marR="45720" marT="18288" marB="18288" anchor="t"/>
                </a:tc>
                <a:tc>
                  <a:txBody>
                    <a:bodyPr wrap="square"/>
                    <a:lstStyle/>
                    <a:p>
                      <a:r>
                        <a:rPr sz="960" b="0" i="0">
                          <a:solidFill>
                            <a:srgbClr val="1A1A1A"/>
                          </a:solidFill>
                          <a:latin typeface="Helvetica Neue"/>
                        </a:rPr>
                        <a:t>11/27/2024</a:t>
                      </a:r>
                    </a:p>
                  </a:txBody>
                  <a:tcPr marL="45720" marR="45720" marT="18288" marB="18288" anchor="t"/>
                </a:tc>
                <a:tc>
                  <a:txBody>
                    <a:bodyPr wrap="square"/>
                    <a:lstStyle/>
                    <a:p>
                      <a:r>
                        <a:rPr sz="960" b="0" i="0">
                          <a:solidFill>
                            <a:srgbClr val="1A1A1A"/>
                          </a:solidFill>
                          <a:latin typeface="Helvetica Neue"/>
                        </a:rPr>
                        <a:t>Samsung Medison Co., Ltd.</a:t>
                      </a:r>
                    </a:p>
                  </a:txBody>
                  <a:tcPr marL="45720" marR="45720" marT="18288" marB="18288" anchor="t"/>
                </a:tc>
                <a:tc>
                  <a:txBody>
                    <a:bodyPr wrap="square"/>
                    <a:lstStyle/>
                    <a:p>
                      <a:r>
                        <a:rPr sz="960" b="0" i="0">
                          <a:solidFill>
                            <a:srgbClr val="1A1A1A"/>
                          </a:solidFill>
                          <a:latin typeface="Helvetica Neue"/>
                        </a:rPr>
                        <a:t>HERA W10 Diagnostic Ultrasound System; HERA W9 Diagnostic Ultrasound System</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K242488</a:t>
                      </a:r>
                    </a:p>
                  </a:txBody>
                  <a:tcPr marL="45720" marR="45720" marT="18288" marB="18288" anchor="t"/>
                </a:tc>
                <a:tc>
                  <a:txBody>
                    <a:bodyPr wrap="square"/>
                    <a:lstStyle/>
                    <a:p>
                      <a:r>
                        <a:rPr sz="960" b="0" i="0">
                          <a:solidFill>
                            <a:srgbClr val="1A1A1A"/>
                          </a:solidFill>
                          <a:latin typeface="Helvetica Neue"/>
                        </a:rPr>
                        <a:t>01/06/2025</a:t>
                      </a:r>
                    </a:p>
                  </a:txBody>
                  <a:tcPr marL="45720" marR="45720" marT="18288" marB="18288" anchor="t"/>
                </a:tc>
                <a:tc>
                  <a:txBody>
                    <a:bodyPr wrap="square"/>
                    <a:lstStyle/>
                    <a:p>
                      <a:r>
                        <a:rPr sz="960" b="0" i="0">
                          <a:solidFill>
                            <a:srgbClr val="1A1A1A"/>
                          </a:solidFill>
                          <a:latin typeface="Helvetica Neue"/>
                        </a:rPr>
                        <a:t>Omega Medical Imaging, LLC</a:t>
                      </a:r>
                    </a:p>
                  </a:txBody>
                  <a:tcPr marL="45720" marR="45720" marT="18288" marB="18288" anchor="t"/>
                </a:tc>
                <a:tc>
                  <a:txBody>
                    <a:bodyPr wrap="square"/>
                    <a:lstStyle/>
                    <a:p>
                      <a:r>
                        <a:rPr sz="960" b="0" i="0">
                          <a:solidFill>
                            <a:srgbClr val="1A1A1A"/>
                          </a:solidFill>
                          <a:latin typeface="Helvetica Neue"/>
                        </a:rPr>
                        <a:t>Soteria E-View</a:t>
                      </a:r>
                    </a:p>
                  </a:txBody>
                  <a:tcPr marL="45720" marR="45720" marT="18288" marB="18288" anchor="t"/>
                </a:tc>
                <a:tc>
                  <a:txBody>
                    <a:bodyPr wrap="square"/>
                    <a:lstStyle/>
                    <a:p>
                      <a:r>
                        <a:rPr sz="960" b="0" i="0">
                          <a:solidFill>
                            <a:srgbClr val="1A1A1A"/>
                          </a:solidFill>
                          <a:latin typeface="Helvetica Neue"/>
                        </a:rPr>
                        <a:t>JAA</a:t>
                      </a:r>
                    </a:p>
                  </a:txBody>
                  <a:tcPr marL="45720" marR="45720" marT="18288" marB="18288" anchor="t"/>
                </a:tc>
              </a:tr>
              <a:tr h="640080">
                <a:tc>
                  <a:txBody>
                    <a:bodyPr wrap="square"/>
                    <a:lstStyle/>
                    <a:p>
                      <a:r>
                        <a:rPr sz="960" b="0" i="0">
                          <a:solidFill>
                            <a:srgbClr val="1A1A1A"/>
                          </a:solidFill>
                          <a:latin typeface="Helvetica Neue"/>
                        </a:rPr>
                        <a:t>K242511</a:t>
                      </a:r>
                    </a:p>
                  </a:txBody>
                  <a:tcPr marL="45720" marR="45720" marT="18288" marB="18288" anchor="t"/>
                </a:tc>
                <a:tc>
                  <a:txBody>
                    <a:bodyPr wrap="square"/>
                    <a:lstStyle/>
                    <a:p>
                      <a:r>
                        <a:rPr sz="960" b="0" i="0">
                          <a:solidFill>
                            <a:srgbClr val="1A1A1A"/>
                          </a:solidFill>
                          <a:latin typeface="Helvetica Neue"/>
                        </a:rPr>
                        <a:t>12/10/2024</a:t>
                      </a:r>
                    </a:p>
                  </a:txBody>
                  <a:tcPr marL="45720" marR="45720" marT="18288" marB="18288" anchor="t"/>
                </a:tc>
                <a:tc>
                  <a:txBody>
                    <a:bodyPr wrap="square"/>
                    <a:lstStyle/>
                    <a:p>
                      <a:r>
                        <a:rPr sz="960" b="0" i="0">
                          <a:solidFill>
                            <a:srgbClr val="1A1A1A"/>
                          </a:solidFill>
                          <a:latin typeface="Helvetica Neue"/>
                        </a:rPr>
                        <a:t>Samsung Medison Co., Ltd.</a:t>
                      </a:r>
                    </a:p>
                  </a:txBody>
                  <a:tcPr marL="45720" marR="45720" marT="18288" marB="18288" anchor="t"/>
                </a:tc>
                <a:tc>
                  <a:txBody>
                    <a:bodyPr wrap="square"/>
                    <a:lstStyle/>
                    <a:p>
                      <a:r>
                        <a:rPr sz="960" b="0" i="0">
                          <a:solidFill>
                            <a:srgbClr val="1A1A1A"/>
                          </a:solidFill>
                          <a:latin typeface="Helvetica Neue"/>
                        </a:rPr>
                        <a:t>V5 Diagnostic Ultrasound System, H5 Diagnostic Ultrasound System, XV5 Diagnostic Ultrasound System, XH5 Diagnostic Ultrasound System, V4 Diagnostic Ultrasound System, H4 Diagnostic Ultrasound System, XV4 Diagnostic Ultrasound System, XH4 Diagnostic Ultrasound System</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493775">
                <a:tc>
                  <a:txBody>
                    <a:bodyPr wrap="square"/>
                    <a:lstStyle/>
                    <a:p>
                      <a:r>
                        <a:rPr sz="960" b="0" i="0">
                          <a:solidFill>
                            <a:srgbClr val="1A1A1A"/>
                          </a:solidFill>
                          <a:latin typeface="Helvetica Neue"/>
                        </a:rPr>
                        <a:t>K242523</a:t>
                      </a:r>
                    </a:p>
                  </a:txBody>
                  <a:tcPr marL="45720" marR="45720" marT="18288" marB="18288" anchor="t"/>
                </a:tc>
                <a:tc>
                  <a:txBody>
                    <a:bodyPr wrap="square"/>
                    <a:lstStyle/>
                    <a:p>
                      <a:r>
                        <a:rPr sz="960" b="0" i="0">
                          <a:solidFill>
                            <a:srgbClr val="1A1A1A"/>
                          </a:solidFill>
                          <a:latin typeface="Helvetica Neue"/>
                        </a:rPr>
                        <a:t>11/19/2024</a:t>
                      </a:r>
                    </a:p>
                  </a:txBody>
                  <a:tcPr marL="45720" marR="45720" marT="18288" marB="18288" anchor="t"/>
                </a:tc>
                <a:tc>
                  <a:txBody>
                    <a:bodyPr wrap="square"/>
                    <a:lstStyle/>
                    <a:p>
                      <a:r>
                        <a:rPr sz="960" b="0" i="0">
                          <a:solidFill>
                            <a:srgbClr val="1A1A1A"/>
                          </a:solidFill>
                          <a:latin typeface="Helvetica Neue"/>
                        </a:rPr>
                        <a:t>Siemens Medical Solutions USA, Inc.</a:t>
                      </a:r>
                    </a:p>
                  </a:txBody>
                  <a:tcPr marL="45720" marR="45720" marT="18288" marB="18288" anchor="t"/>
                </a:tc>
                <a:tc>
                  <a:txBody>
                    <a:bodyPr wrap="square"/>
                    <a:lstStyle/>
                    <a:p>
                      <a:r>
                        <a:rPr sz="960" b="0" i="0">
                          <a:solidFill>
                            <a:srgbClr val="1A1A1A"/>
                          </a:solidFill>
                          <a:latin typeface="Helvetica Neue"/>
                        </a:rPr>
                        <a:t>ACUSON Sequoia Diagnostic Ultrasound System; ACUSON Sequoia Select Diagnostic Ultrasound System; ACUSON Origin Diagnostic Ultrasound System; ACUSON Origin ICE Diagnostic Ultrasound System</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K242551</a:t>
                      </a:r>
                    </a:p>
                  </a:txBody>
                  <a:tcPr marL="45720" marR="45720" marT="18288" marB="18288" anchor="t"/>
                </a:tc>
                <a:tc>
                  <a:txBody>
                    <a:bodyPr wrap="square"/>
                    <a:lstStyle/>
                    <a:p>
                      <a:r>
                        <a:rPr sz="960" b="0" i="0">
                          <a:solidFill>
                            <a:srgbClr val="1A1A1A"/>
                          </a:solidFill>
                          <a:latin typeface="Helvetica Neue"/>
                        </a:rPr>
                        <a:t>04/03/2025</a:t>
                      </a:r>
                    </a:p>
                  </a:txBody>
                  <a:tcPr marL="45720" marR="45720" marT="18288" marB="18288" anchor="t"/>
                </a:tc>
                <a:tc>
                  <a:txBody>
                    <a:bodyPr wrap="square"/>
                    <a:lstStyle/>
                    <a:p>
                      <a:r>
                        <a:rPr sz="960" b="0" i="0">
                          <a:solidFill>
                            <a:srgbClr val="1A1A1A"/>
                          </a:solidFill>
                          <a:latin typeface="Helvetica Neue"/>
                        </a:rPr>
                        <a:t>Siemens Healthcare GmbH</a:t>
                      </a:r>
                    </a:p>
                  </a:txBody>
                  <a:tcPr marL="45720" marR="45720" marT="18288" marB="18288" anchor="t"/>
                </a:tc>
                <a:tc>
                  <a:txBody>
                    <a:bodyPr wrap="square"/>
                    <a:lstStyle/>
                    <a:p>
                      <a:r>
                        <a:rPr sz="960" b="0" i="0">
                          <a:solidFill>
                            <a:srgbClr val="1A1A1A"/>
                          </a:solidFill>
                          <a:latin typeface="Helvetica Neue"/>
                        </a:rPr>
                        <a:t>syngo Dynamics (Version VA41D)</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r h="201168">
                <a:tc>
                  <a:txBody>
                    <a:bodyPr wrap="square"/>
                    <a:lstStyle/>
                    <a:p>
                      <a:r>
                        <a:rPr sz="960" b="0" i="0">
                          <a:solidFill>
                            <a:srgbClr val="1A1A1A"/>
                          </a:solidFill>
                          <a:latin typeface="Helvetica Neue"/>
                        </a:rPr>
                        <a:t>K242594</a:t>
                      </a:r>
                    </a:p>
                  </a:txBody>
                  <a:tcPr marL="45720" marR="45720" marT="18288" marB="18288" anchor="t"/>
                </a:tc>
                <a:tc>
                  <a:txBody>
                    <a:bodyPr wrap="square"/>
                    <a:lstStyle/>
                    <a:p>
                      <a:r>
                        <a:rPr sz="960" b="0" i="0">
                          <a:solidFill>
                            <a:srgbClr val="1A1A1A"/>
                          </a:solidFill>
                          <a:latin typeface="Helvetica Neue"/>
                        </a:rPr>
                        <a:t>05/23/2025</a:t>
                      </a:r>
                    </a:p>
                  </a:txBody>
                  <a:tcPr marL="45720" marR="45720" marT="18288" marB="18288" anchor="t"/>
                </a:tc>
                <a:tc>
                  <a:txBody>
                    <a:bodyPr wrap="square"/>
                    <a:lstStyle/>
                    <a:p>
                      <a:r>
                        <a:rPr sz="960" b="0" i="0">
                          <a:solidFill>
                            <a:srgbClr val="1A1A1A"/>
                          </a:solidFill>
                          <a:latin typeface="Helvetica Neue"/>
                        </a:rPr>
                        <a:t>DeepEcho</a:t>
                      </a:r>
                    </a:p>
                  </a:txBody>
                  <a:tcPr marL="45720" marR="45720" marT="18288" marB="18288" anchor="t"/>
                </a:tc>
                <a:tc>
                  <a:txBody>
                    <a:bodyPr wrap="square"/>
                    <a:lstStyle/>
                    <a:p>
                      <a:r>
                        <a:rPr sz="960" b="0" i="0">
                          <a:solidFill>
                            <a:srgbClr val="1A1A1A"/>
                          </a:solidFill>
                          <a:latin typeface="Helvetica Neue"/>
                        </a:rPr>
                        <a:t>DEEPECHO</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K242607</a:t>
                      </a:r>
                    </a:p>
                  </a:txBody>
                  <a:tcPr marL="45720" marR="45720" marT="18288" marB="18288" anchor="t"/>
                </a:tc>
                <a:tc>
                  <a:txBody>
                    <a:bodyPr wrap="square"/>
                    <a:lstStyle/>
                    <a:p>
                      <a:r>
                        <a:rPr sz="960" b="0" i="0">
                          <a:solidFill>
                            <a:srgbClr val="1A1A1A"/>
                          </a:solidFill>
                          <a:latin typeface="Helvetica Neue"/>
                        </a:rPr>
                        <a:t>02/21/2025</a:t>
                      </a:r>
                    </a:p>
                  </a:txBody>
                  <a:tcPr marL="45720" marR="45720" marT="18288" marB="18288" anchor="t"/>
                </a:tc>
                <a:tc>
                  <a:txBody>
                    <a:bodyPr wrap="square"/>
                    <a:lstStyle/>
                    <a:p>
                      <a:r>
                        <a:rPr sz="960" b="0" i="0">
                          <a:solidFill>
                            <a:srgbClr val="1A1A1A"/>
                          </a:solidFill>
                          <a:latin typeface="Helvetica Neue"/>
                        </a:rPr>
                        <a:t>ScanDiags AG</a:t>
                      </a:r>
                    </a:p>
                  </a:txBody>
                  <a:tcPr marL="45720" marR="45720" marT="18288" marB="18288" anchor="t"/>
                </a:tc>
                <a:tc>
                  <a:txBody>
                    <a:bodyPr wrap="square"/>
                    <a:lstStyle/>
                    <a:p>
                      <a:r>
                        <a:rPr sz="960" b="0" i="0">
                          <a:solidFill>
                            <a:srgbClr val="1A1A1A"/>
                          </a:solidFill>
                          <a:latin typeface="Helvetica Neue"/>
                        </a:rPr>
                        <a:t>ScanDiags Ortho L-Spine MR-Q</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73 / 83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(141–160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365688"/>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10921">
                <a:tc>
                  <a:txBody>
                    <a:bodyPr wrap="square"/>
                    <a:lstStyle/>
                    <a:p>
                      <a:r>
                        <a:rPr sz="1024" b="1" i="0">
                          <a:solidFill>
                            <a:srgbClr val="FFFFFF"/>
                          </a:solidFill>
                          <a:latin typeface="Helvetica Neue"/>
                        </a:rPr>
                        <a:t>Submission</a:t>
                      </a:r>
                    </a:p>
                  </a:txBody>
                  <a:tcPr marL="45720" marR="45720" marT="18288" marB="18288" anchor="t"/>
                </a:tc>
                <a:tc>
                  <a:txBody>
                    <a:bodyPr wrap="square"/>
                    <a:lstStyle/>
                    <a:p>
                      <a:r>
                        <a:rPr sz="1024" b="1" i="0">
                          <a:solidFill>
                            <a:srgbClr val="FFFFFF"/>
                          </a:solidFill>
                          <a:latin typeface="Helvetica Neue"/>
                        </a:rPr>
                        <a:t>Date</a:t>
                      </a:r>
                    </a:p>
                  </a:txBody>
                  <a:tcPr marL="45720" marR="45720" marT="18288" marB="18288" anchor="t"/>
                </a:tc>
                <a:tc>
                  <a:txBody>
                    <a:bodyPr wrap="square"/>
                    <a:lstStyle/>
                    <a:p>
                      <a:r>
                        <a:rPr sz="1024" b="1" i="0">
                          <a:solidFill>
                            <a:srgbClr val="FFFFFF"/>
                          </a:solidFill>
                          <a:latin typeface="Helvetica Neue"/>
                        </a:rPr>
                        <a:t>Company</a:t>
                      </a:r>
                    </a:p>
                  </a:txBody>
                  <a:tcPr marL="45720" marR="45720" marT="18288" marB="18288" anchor="t"/>
                </a:tc>
                <a:tc>
                  <a:txBody>
                    <a:bodyPr wrap="square"/>
                    <a:lstStyle/>
                    <a:p>
                      <a:r>
                        <a:rPr sz="1024" b="1" i="0">
                          <a:solidFill>
                            <a:srgbClr val="FFFFFF"/>
                          </a:solidFill>
                          <a:latin typeface="Helvetica Neue"/>
                        </a:rPr>
                        <a:t>Device</a:t>
                      </a:r>
                    </a:p>
                  </a:txBody>
                  <a:tcPr marL="45720" marR="45720" marT="18288" marB="18288" anchor="t"/>
                </a:tc>
                <a:tc>
                  <a:txBody>
                    <a:bodyPr wrap="square"/>
                    <a:lstStyle/>
                    <a:p>
                      <a:r>
                        <a:rPr sz="1024" b="1" i="0">
                          <a:solidFill>
                            <a:srgbClr val="FFFFFF"/>
                          </a:solidFill>
                          <a:latin typeface="Helvetica Neue"/>
                        </a:rPr>
                        <a:t>Code</a:t>
                      </a:r>
                    </a:p>
                  </a:txBody>
                  <a:tcPr marL="45720" marR="45720" marT="18288" marB="18288" anchor="t"/>
                </a:tc>
              </a:tr>
              <a:tr h="210921">
                <a:tc>
                  <a:txBody>
                    <a:bodyPr wrap="square"/>
                    <a:lstStyle/>
                    <a:p>
                      <a:r>
                        <a:rPr sz="1024" b="0" i="0">
                          <a:solidFill>
                            <a:srgbClr val="1A1A1A"/>
                          </a:solidFill>
                          <a:latin typeface="Helvetica Neue"/>
                        </a:rPr>
                        <a:t>K242800</a:t>
                      </a:r>
                    </a:p>
                  </a:txBody>
                  <a:tcPr marL="45720" marR="45720" marT="18288" marB="18288" anchor="t"/>
                </a:tc>
                <a:tc>
                  <a:txBody>
                    <a:bodyPr wrap="square"/>
                    <a:lstStyle/>
                    <a:p>
                      <a:r>
                        <a:rPr sz="1024" b="0" i="0">
                          <a:solidFill>
                            <a:srgbClr val="1A1A1A"/>
                          </a:solidFill>
                          <a:latin typeface="Helvetica Neue"/>
                        </a:rPr>
                        <a:t>11/15/2024</a:t>
                      </a:r>
                    </a:p>
                  </a:txBody>
                  <a:tcPr marL="45720" marR="45720" marT="18288" marB="18288" anchor="t"/>
                </a:tc>
                <a:tc>
                  <a:txBody>
                    <a:bodyPr wrap="square"/>
                    <a:lstStyle/>
                    <a:p>
                      <a:r>
                        <a:rPr sz="1024" b="0" i="0">
                          <a:solidFill>
                            <a:srgbClr val="1A1A1A"/>
                          </a:solidFill>
                          <a:latin typeface="Helvetica Neue"/>
                        </a:rPr>
                        <a:t>Philips Ultrasound LLC</a:t>
                      </a:r>
                    </a:p>
                  </a:txBody>
                  <a:tcPr marL="45720" marR="45720" marT="18288" marB="18288" anchor="t"/>
                </a:tc>
                <a:tc>
                  <a:txBody>
                    <a:bodyPr wrap="square"/>
                    <a:lstStyle/>
                    <a:p>
                      <a:r>
                        <a:rPr sz="1024" b="0" i="0">
                          <a:solidFill>
                            <a:srgbClr val="1A1A1A"/>
                          </a:solidFill>
                          <a:latin typeface="Helvetica Neue"/>
                        </a:rPr>
                        <a:t>The 5000 Compact Series Ultrasound Systems</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K242821</a:t>
                      </a:r>
                    </a:p>
                  </a:txBody>
                  <a:tcPr marL="45720" marR="45720" marT="18288" marB="18288" anchor="t"/>
                </a:tc>
                <a:tc>
                  <a:txBody>
                    <a:bodyPr wrap="square"/>
                    <a:lstStyle/>
                    <a:p>
                      <a:r>
                        <a:rPr sz="1024" b="0" i="0">
                          <a:solidFill>
                            <a:srgbClr val="1A1A1A"/>
                          </a:solidFill>
                          <a:latin typeface="Helvetica Neue"/>
                        </a:rPr>
                        <a:t>02/20/2025</a:t>
                      </a:r>
                    </a:p>
                  </a:txBody>
                  <a:tcPr marL="45720" marR="45720" marT="18288" marB="18288" anchor="t"/>
                </a:tc>
                <a:tc>
                  <a:txBody>
                    <a:bodyPr wrap="square"/>
                    <a:lstStyle/>
                    <a:p>
                      <a:r>
                        <a:rPr sz="1024" b="0" i="0">
                          <a:solidFill>
                            <a:srgbClr val="1A1A1A"/>
                          </a:solidFill>
                          <a:latin typeface="Helvetica Neue"/>
                        </a:rPr>
                        <a:t>Ever Fortune.AI, Co., Ltd.</a:t>
                      </a:r>
                    </a:p>
                  </a:txBody>
                  <a:tcPr marL="45720" marR="45720" marT="18288" marB="18288" anchor="t"/>
                </a:tc>
                <a:tc>
                  <a:txBody>
                    <a:bodyPr wrap="square"/>
                    <a:lstStyle/>
                    <a:p>
                      <a:r>
                        <a:rPr sz="1024" b="0" i="0">
                          <a:solidFill>
                            <a:srgbClr val="1A1A1A"/>
                          </a:solidFill>
                          <a:latin typeface="Helvetica Neue"/>
                        </a:rPr>
                        <a:t>EFAI Chestsuite XR Malpositioned ETT Assessment System (ETT-XR-100)</a:t>
                      </a:r>
                    </a:p>
                  </a:txBody>
                  <a:tcPr marL="45720" marR="45720" marT="18288" marB="18288" anchor="t"/>
                </a:tc>
                <a:tc>
                  <a:txBody>
                    <a:bodyPr wrap="square"/>
                    <a:lstStyle/>
                    <a:p>
                      <a:r>
                        <a:rPr sz="1024" b="0" i="0">
                          <a:solidFill>
                            <a:srgbClr val="1A1A1A"/>
                          </a:solidFill>
                          <a:latin typeface="Helvetica Neue"/>
                        </a:rPr>
                        <a:t>QAS</a:t>
                      </a:r>
                    </a:p>
                  </a:txBody>
                  <a:tcPr marL="45720" marR="45720" marT="18288" marB="18288" anchor="t"/>
                </a:tc>
              </a:tr>
              <a:tr h="210921">
                <a:tc>
                  <a:txBody>
                    <a:bodyPr wrap="square"/>
                    <a:lstStyle/>
                    <a:p>
                      <a:r>
                        <a:rPr sz="1024" b="0" i="0">
                          <a:solidFill>
                            <a:srgbClr val="1A1A1A"/>
                          </a:solidFill>
                          <a:latin typeface="Helvetica Neue"/>
                        </a:rPr>
                        <a:t>K242837</a:t>
                      </a:r>
                    </a:p>
                  </a:txBody>
                  <a:tcPr marL="45720" marR="45720" marT="18288" marB="18288" anchor="t"/>
                </a:tc>
                <a:tc>
                  <a:txBody>
                    <a:bodyPr wrap="square"/>
                    <a:lstStyle/>
                    <a:p>
                      <a:r>
                        <a:rPr sz="1024" b="0" i="0">
                          <a:solidFill>
                            <a:srgbClr val="1A1A1A"/>
                          </a:solidFill>
                          <a:latin typeface="Helvetica Neue"/>
                        </a:rPr>
                        <a:t>10/18/2024</a:t>
                      </a:r>
                    </a:p>
                  </a:txBody>
                  <a:tcPr marL="45720" marR="45720" marT="18288" marB="18288" anchor="t"/>
                </a:tc>
                <a:tc>
                  <a:txBody>
                    <a:bodyPr wrap="square"/>
                    <a:lstStyle/>
                    <a:p>
                      <a:r>
                        <a:rPr sz="1024" b="0" i="0">
                          <a:solidFill>
                            <a:srgbClr val="1A1A1A"/>
                          </a:solidFill>
                          <a:latin typeface="Helvetica Neue"/>
                        </a:rPr>
                        <a:t>Aidoc Medical, Ltd.</a:t>
                      </a:r>
                    </a:p>
                  </a:txBody>
                  <a:tcPr marL="45720" marR="45720" marT="18288" marB="18288" anchor="t"/>
                </a:tc>
                <a:tc>
                  <a:txBody>
                    <a:bodyPr wrap="square"/>
                    <a:lstStyle/>
                    <a:p>
                      <a:r>
                        <a:rPr sz="1024" b="0" i="0">
                          <a:solidFill>
                            <a:srgbClr val="1A1A1A"/>
                          </a:solidFill>
                          <a:latin typeface="Helvetica Neue"/>
                        </a:rPr>
                        <a:t>BriefCase-Triage</a:t>
                      </a:r>
                    </a:p>
                  </a:txBody>
                  <a:tcPr marL="45720" marR="45720" marT="18288" marB="18288" anchor="t"/>
                </a:tc>
                <a:tc>
                  <a:txBody>
                    <a:bodyPr wrap="square"/>
                    <a:lstStyle/>
                    <a:p>
                      <a:r>
                        <a:rPr sz="1024" b="0" i="0">
                          <a:solidFill>
                            <a:srgbClr val="1A1A1A"/>
                          </a:solidFill>
                          <a:latin typeface="Helvetica Neue"/>
                        </a:rPr>
                        <a:t>QAS</a:t>
                      </a:r>
                    </a:p>
                  </a:txBody>
                  <a:tcPr marL="45720" marR="45720" marT="18288" marB="18288" anchor="t"/>
                </a:tc>
              </a:tr>
              <a:tr h="210921">
                <a:tc>
                  <a:txBody>
                    <a:bodyPr wrap="square"/>
                    <a:lstStyle/>
                    <a:p>
                      <a:r>
                        <a:rPr sz="1024" b="0" i="0">
                          <a:solidFill>
                            <a:srgbClr val="1A1A1A"/>
                          </a:solidFill>
                          <a:latin typeface="Helvetica Neue"/>
                        </a:rPr>
                        <a:t>K243548</a:t>
                      </a:r>
                    </a:p>
                  </a:txBody>
                  <a:tcPr marL="45720" marR="45720" marT="18288" marB="18288" anchor="t"/>
                </a:tc>
                <a:tc>
                  <a:txBody>
                    <a:bodyPr wrap="square"/>
                    <a:lstStyle/>
                    <a:p>
                      <a:r>
                        <a:rPr sz="1024" b="0" i="0">
                          <a:solidFill>
                            <a:srgbClr val="1A1A1A"/>
                          </a:solidFill>
                          <a:latin typeface="Helvetica Neue"/>
                        </a:rPr>
                        <a:t>12/11/2024</a:t>
                      </a:r>
                    </a:p>
                  </a:txBody>
                  <a:tcPr marL="45720" marR="45720" marT="18288" marB="18288" anchor="t"/>
                </a:tc>
                <a:tc>
                  <a:txBody>
                    <a:bodyPr wrap="square"/>
                    <a:lstStyle/>
                    <a:p>
                      <a:r>
                        <a:rPr sz="1024" b="0" i="0">
                          <a:solidFill>
                            <a:srgbClr val="1A1A1A"/>
                          </a:solidFill>
                          <a:latin typeface="Helvetica Neue"/>
                        </a:rPr>
                        <a:t>Aidoc Medical, Ltd.</a:t>
                      </a:r>
                    </a:p>
                  </a:txBody>
                  <a:tcPr marL="45720" marR="45720" marT="18288" marB="18288" anchor="t"/>
                </a:tc>
                <a:tc>
                  <a:txBody>
                    <a:bodyPr wrap="square"/>
                    <a:lstStyle/>
                    <a:p>
                      <a:r>
                        <a:rPr sz="1024" b="0" i="0">
                          <a:solidFill>
                            <a:srgbClr val="1A1A1A"/>
                          </a:solidFill>
                          <a:latin typeface="Helvetica Neue"/>
                        </a:rPr>
                        <a:t>BriefCase-Triage</a:t>
                      </a:r>
                    </a:p>
                  </a:txBody>
                  <a:tcPr marL="45720" marR="45720" marT="18288" marB="18288" anchor="t"/>
                </a:tc>
                <a:tc>
                  <a:txBody>
                    <a:bodyPr wrap="square"/>
                    <a:lstStyle/>
                    <a:p>
                      <a:r>
                        <a:rPr sz="1024" b="0" i="0">
                          <a:solidFill>
                            <a:srgbClr val="1A1A1A"/>
                          </a:solidFill>
                          <a:latin typeface="Helvetica Neue"/>
                        </a:rPr>
                        <a:t>QFM</a:t>
                      </a:r>
                    </a:p>
                  </a:txBody>
                  <a:tcPr marL="45720" marR="45720" marT="18288" marB="18288" anchor="t"/>
                </a:tc>
              </a:tr>
              <a:tr h="210921">
                <a:tc>
                  <a:txBody>
                    <a:bodyPr wrap="square"/>
                    <a:lstStyle/>
                    <a:p>
                      <a:r>
                        <a:rPr sz="1024" b="0" i="0">
                          <a:solidFill>
                            <a:srgbClr val="1A1A1A"/>
                          </a:solidFill>
                          <a:latin typeface="Helvetica Neue"/>
                        </a:rPr>
                        <a:t>K243614</a:t>
                      </a:r>
                    </a:p>
                  </a:txBody>
                  <a:tcPr marL="45720" marR="45720" marT="18288" marB="18288" anchor="t"/>
                </a:tc>
                <a:tc>
                  <a:txBody>
                    <a:bodyPr wrap="square"/>
                    <a:lstStyle/>
                    <a:p>
                      <a:r>
                        <a:rPr sz="1024" b="0" i="0">
                          <a:solidFill>
                            <a:srgbClr val="1A1A1A"/>
                          </a:solidFill>
                          <a:latin typeface="Helvetica Neue"/>
                        </a:rPr>
                        <a:t>02/21/2025</a:t>
                      </a:r>
                    </a:p>
                  </a:txBody>
                  <a:tcPr marL="45720" marR="45720" marT="18288" marB="18288" anchor="t"/>
                </a:tc>
                <a:tc>
                  <a:txBody>
                    <a:bodyPr wrap="square"/>
                    <a:lstStyle/>
                    <a:p>
                      <a:r>
                        <a:rPr sz="1024" b="0" i="0">
                          <a:solidFill>
                            <a:srgbClr val="1A1A1A"/>
                          </a:solidFill>
                          <a:latin typeface="Helvetica Neue"/>
                        </a:rPr>
                        <a:t>Sonio</a:t>
                      </a:r>
                    </a:p>
                  </a:txBody>
                  <a:tcPr marL="45720" marR="45720" marT="18288" marB="18288" anchor="t"/>
                </a:tc>
                <a:tc>
                  <a:txBody>
                    <a:bodyPr wrap="square"/>
                    <a:lstStyle/>
                    <a:p>
                      <a:r>
                        <a:rPr sz="1024" b="0" i="0">
                          <a:solidFill>
                            <a:srgbClr val="1A1A1A"/>
                          </a:solidFill>
                          <a:latin typeface="Helvetica Neue"/>
                        </a:rPr>
                        <a:t>Sonio Suspect</a:t>
                      </a:r>
                    </a:p>
                  </a:txBody>
                  <a:tcPr marL="45720" marR="45720" marT="18288" marB="18288" anchor="t"/>
                </a:tc>
                <a:tc>
                  <a:txBody>
                    <a:bodyPr wrap="square"/>
                    <a:lstStyle/>
                    <a:p>
                      <a:r>
                        <a:rPr sz="1024" b="0" i="0">
                          <a:solidFill>
                            <a:srgbClr val="1A1A1A"/>
                          </a:solidFill>
                          <a:latin typeface="Helvetica Neue"/>
                        </a:rPr>
                        <a:t>POK</a:t>
                      </a:r>
                    </a:p>
                  </a:txBody>
                  <a:tcPr marL="45720" marR="45720" marT="18288" marB="18288" anchor="t"/>
                </a:tc>
              </a:tr>
              <a:tr h="210921">
                <a:tc>
                  <a:txBody>
                    <a:bodyPr wrap="square"/>
                    <a:lstStyle/>
                    <a:p>
                      <a:r>
                        <a:rPr sz="1024" b="0" i="0">
                          <a:solidFill>
                            <a:srgbClr val="1A1A1A"/>
                          </a:solidFill>
                          <a:latin typeface="Helvetica Neue"/>
                        </a:rPr>
                        <a:t>K243684</a:t>
                      </a:r>
                    </a:p>
                  </a:txBody>
                  <a:tcPr marL="45720" marR="45720" marT="18288" marB="18288" anchor="t"/>
                </a:tc>
                <a:tc>
                  <a:txBody>
                    <a:bodyPr wrap="square"/>
                    <a:lstStyle/>
                    <a:p>
                      <a:r>
                        <a:rPr sz="1024" b="0" i="0">
                          <a:solidFill>
                            <a:srgbClr val="1A1A1A"/>
                          </a:solidFill>
                          <a:latin typeface="Helvetica Neue"/>
                        </a:rPr>
                        <a:t>05/07/2025</a:t>
                      </a:r>
                    </a:p>
                  </a:txBody>
                  <a:tcPr marL="45720" marR="45720" marT="18288" marB="18288" anchor="t"/>
                </a:tc>
                <a:tc>
                  <a:txBody>
                    <a:bodyPr wrap="square"/>
                    <a:lstStyle/>
                    <a:p>
                      <a:r>
                        <a:rPr sz="1024" b="0" i="0">
                          <a:solidFill>
                            <a:srgbClr val="1A1A1A"/>
                          </a:solidFill>
                          <a:latin typeface="Helvetica Neue"/>
                        </a:rPr>
                        <a:t>BrightHeart</a:t>
                      </a:r>
                    </a:p>
                  </a:txBody>
                  <a:tcPr marL="45720" marR="45720" marT="18288" marB="18288" anchor="t"/>
                </a:tc>
                <a:tc>
                  <a:txBody>
                    <a:bodyPr wrap="square"/>
                    <a:lstStyle/>
                    <a:p>
                      <a:r>
                        <a:rPr sz="1024" b="0" i="0">
                          <a:solidFill>
                            <a:srgbClr val="1A1A1A"/>
                          </a:solidFill>
                          <a:latin typeface="Helvetica Neue"/>
                        </a:rPr>
                        <a:t>BrightHeart View Classifier</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523036">
                <a:tc>
                  <a:txBody>
                    <a:bodyPr wrap="square"/>
                    <a:lstStyle/>
                    <a:p>
                      <a:r>
                        <a:rPr sz="1024" b="0" i="0">
                          <a:solidFill>
                            <a:srgbClr val="1A1A1A"/>
                          </a:solidFill>
                          <a:latin typeface="Helvetica Neue"/>
                        </a:rPr>
                        <a:t>K243702</a:t>
                      </a:r>
                    </a:p>
                  </a:txBody>
                  <a:tcPr marL="45720" marR="45720" marT="18288" marB="18288" anchor="t"/>
                </a:tc>
                <a:tc>
                  <a:txBody>
                    <a:bodyPr wrap="square"/>
                    <a:lstStyle/>
                    <a:p>
                      <a:r>
                        <a:rPr sz="1024" b="0" i="0">
                          <a:solidFill>
                            <a:srgbClr val="1A1A1A"/>
                          </a:solidFill>
                          <a:latin typeface="Helvetica Neue"/>
                        </a:rPr>
                        <a:t>02/12/2025</a:t>
                      </a:r>
                    </a:p>
                  </a:txBody>
                  <a:tcPr marL="45720" marR="45720" marT="18288" marB="18288" anchor="t"/>
                </a:tc>
                <a:tc>
                  <a:txBody>
                    <a:bodyPr wrap="square"/>
                    <a:lstStyle/>
                    <a:p>
                      <a:r>
                        <a:rPr sz="1024" b="0" i="0">
                          <a:solidFill>
                            <a:srgbClr val="1A1A1A"/>
                          </a:solidFill>
                          <a:latin typeface="Helvetica Neue"/>
                        </a:rPr>
                        <a:t>Samsung Medison Co., Ltd.</a:t>
                      </a:r>
                    </a:p>
                  </a:txBody>
                  <a:tcPr marL="45720" marR="45720" marT="18288" marB="18288" anchor="t"/>
                </a:tc>
                <a:tc>
                  <a:txBody>
                    <a:bodyPr wrap="square"/>
                    <a:lstStyle/>
                    <a:p>
                      <a:r>
                        <a:rPr sz="1024" b="0" i="0">
                          <a:solidFill>
                            <a:srgbClr val="1A1A1A"/>
                          </a:solidFill>
                          <a:latin typeface="Helvetica Neue"/>
                        </a:rPr>
                        <a:t>V8 Diagnostic Ultrasound System; cV8 Diagnostic Ultrasound System; V7 Diagnostic Ultrasound System; cV7 Diagnostic Ultrasound System; V6 Diagnostic Ultrasound System; cV6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K243779</a:t>
                      </a:r>
                    </a:p>
                  </a:txBody>
                  <a:tcPr marL="45720" marR="45720" marT="18288" marB="18288" anchor="t"/>
                </a:tc>
                <a:tc>
                  <a:txBody>
                    <a:bodyPr wrap="square"/>
                    <a:lstStyle/>
                    <a:p>
                      <a:r>
                        <a:rPr sz="1024" b="0" i="0">
                          <a:solidFill>
                            <a:srgbClr val="1A1A1A"/>
                          </a:solidFill>
                          <a:latin typeface="Helvetica Neue"/>
                        </a:rPr>
                        <a:t>07/01/2025</a:t>
                      </a:r>
                    </a:p>
                  </a:txBody>
                  <a:tcPr marL="45720" marR="45720" marT="18288" marB="18288" anchor="t"/>
                </a:tc>
                <a:tc>
                  <a:txBody>
                    <a:bodyPr wrap="square"/>
                    <a:lstStyle/>
                    <a:p>
                      <a:r>
                        <a:rPr sz="1024" b="0" i="0">
                          <a:solidFill>
                            <a:srgbClr val="1A1A1A"/>
                          </a:solidFill>
                          <a:latin typeface="Helvetica Neue"/>
                        </a:rPr>
                        <a:t>BunkerHill Health</a:t>
                      </a:r>
                    </a:p>
                  </a:txBody>
                  <a:tcPr marL="45720" marR="45720" marT="18288" marB="18288" anchor="t"/>
                </a:tc>
                <a:tc>
                  <a:txBody>
                    <a:bodyPr wrap="square"/>
                    <a:lstStyle/>
                    <a:p>
                      <a:r>
                        <a:rPr sz="1024" b="0" i="0">
                          <a:solidFill>
                            <a:srgbClr val="1A1A1A"/>
                          </a:solidFill>
                          <a:latin typeface="Helvetica Neue"/>
                        </a:rPr>
                        <a:t>Bunkerhill Abdominal Aortic Quantification (AAQ)</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366979">
                <a:tc>
                  <a:txBody>
                    <a:bodyPr wrap="square"/>
                    <a:lstStyle/>
                    <a:p>
                      <a:r>
                        <a:rPr sz="1024" b="0" i="0">
                          <a:solidFill>
                            <a:srgbClr val="1A1A1A"/>
                          </a:solidFill>
                          <a:latin typeface="Helvetica Neue"/>
                        </a:rPr>
                        <a:t>K243793</a:t>
                      </a:r>
                    </a:p>
                  </a:txBody>
                  <a:tcPr marL="45720" marR="45720" marT="18288" marB="18288" anchor="t"/>
                </a:tc>
                <a:tc>
                  <a:txBody>
                    <a:bodyPr wrap="square"/>
                    <a:lstStyle/>
                    <a:p>
                      <a:r>
                        <a:rPr sz="1024" b="0" i="0">
                          <a:solidFill>
                            <a:srgbClr val="1A1A1A"/>
                          </a:solidFill>
                          <a:latin typeface="Helvetica Neue"/>
                        </a:rPr>
                        <a:t>05/21/2025</a:t>
                      </a:r>
                    </a:p>
                  </a:txBody>
                  <a:tcPr marL="45720" marR="45720" marT="18288" marB="18288" anchor="t"/>
                </a:tc>
                <a:tc>
                  <a:txBody>
                    <a:bodyPr wrap="square"/>
                    <a:lstStyle/>
                    <a:p>
                      <a:r>
                        <a:rPr sz="1024" b="0" i="0">
                          <a:solidFill>
                            <a:srgbClr val="1A1A1A"/>
                          </a:solidFill>
                          <a:latin typeface="Helvetica Neue"/>
                        </a:rPr>
                        <a:t>Philips Ultrasound LLC</a:t>
                      </a:r>
                    </a:p>
                  </a:txBody>
                  <a:tcPr marL="45720" marR="45720" marT="18288" marB="18288" anchor="t"/>
                </a:tc>
                <a:tc>
                  <a:txBody>
                    <a:bodyPr wrap="square"/>
                    <a:lstStyle/>
                    <a:p>
                      <a:r>
                        <a:rPr sz="1024" b="0" i="0">
                          <a:solidFill>
                            <a:srgbClr val="1A1A1A"/>
                          </a:solidFill>
                          <a:latin typeface="Helvetica Neue"/>
                        </a:rPr>
                        <a:t>EPIQ Series Diagnostic Ultrasound System; Affiniti Series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366979">
                <a:tc>
                  <a:txBody>
                    <a:bodyPr wrap="square"/>
                    <a:lstStyle/>
                    <a:p>
                      <a:r>
                        <a:rPr sz="1024" b="0" i="0">
                          <a:solidFill>
                            <a:srgbClr val="1A1A1A"/>
                          </a:solidFill>
                          <a:latin typeface="Helvetica Neue"/>
                        </a:rPr>
                        <a:t>K243794</a:t>
                      </a:r>
                    </a:p>
                  </a:txBody>
                  <a:tcPr marL="45720" marR="45720" marT="18288" marB="18288" anchor="t"/>
                </a:tc>
                <a:tc>
                  <a:txBody>
                    <a:bodyPr wrap="square"/>
                    <a:lstStyle/>
                    <a:p>
                      <a:r>
                        <a:rPr sz="1024" b="0" i="0">
                          <a:solidFill>
                            <a:srgbClr val="1A1A1A"/>
                          </a:solidFill>
                          <a:latin typeface="Helvetica Neue"/>
                        </a:rPr>
                        <a:t>02/06/2025</a:t>
                      </a:r>
                    </a:p>
                  </a:txBody>
                  <a:tcPr marL="45720" marR="45720" marT="18288" marB="18288" anchor="t"/>
                </a:tc>
                <a:tc>
                  <a:txBody>
                    <a:bodyPr wrap="square"/>
                    <a:lstStyle/>
                    <a:p>
                      <a:r>
                        <a:rPr sz="1024" b="0" i="0">
                          <a:solidFill>
                            <a:srgbClr val="1A1A1A"/>
                          </a:solidFill>
                          <a:latin typeface="Helvetica Neue"/>
                        </a:rPr>
                        <a:t>Philips Ultrasound LLC</a:t>
                      </a:r>
                    </a:p>
                  </a:txBody>
                  <a:tcPr marL="45720" marR="45720" marT="18288" marB="18288" anchor="t"/>
                </a:tc>
                <a:tc>
                  <a:txBody>
                    <a:bodyPr wrap="square"/>
                    <a:lstStyle/>
                    <a:p>
                      <a:r>
                        <a:rPr sz="1024" b="0" i="0">
                          <a:solidFill>
                            <a:srgbClr val="1A1A1A"/>
                          </a:solidFill>
                          <a:latin typeface="Helvetica Neue"/>
                        </a:rPr>
                        <a:t>EPIQ Series Diagnostic Ultrasound System; Affiniti Series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K243859</a:t>
                      </a:r>
                    </a:p>
                  </a:txBody>
                  <a:tcPr marL="45720" marR="45720" marT="18288" marB="18288" anchor="t"/>
                </a:tc>
                <a:tc>
                  <a:txBody>
                    <a:bodyPr wrap="square"/>
                    <a:lstStyle/>
                    <a:p>
                      <a:r>
                        <a:rPr sz="1024" b="0" i="0">
                          <a:solidFill>
                            <a:srgbClr val="1A1A1A"/>
                          </a:solidFill>
                          <a:latin typeface="Helvetica Neue"/>
                        </a:rPr>
                        <a:t>08/29/2025</a:t>
                      </a:r>
                    </a:p>
                  </a:txBody>
                  <a:tcPr marL="45720" marR="45720" marT="18288" marB="18288" anchor="t"/>
                </a:tc>
                <a:tc>
                  <a:txBody>
                    <a:bodyPr wrap="square"/>
                    <a:lstStyle/>
                    <a:p>
                      <a:r>
                        <a:rPr sz="1024" b="0" i="0">
                          <a:solidFill>
                            <a:srgbClr val="1A1A1A"/>
                          </a:solidFill>
                          <a:latin typeface="Helvetica Neue"/>
                        </a:rPr>
                        <a:t>Nurea</a:t>
                      </a:r>
                    </a:p>
                  </a:txBody>
                  <a:tcPr marL="45720" marR="45720" marT="18288" marB="18288" anchor="t"/>
                </a:tc>
                <a:tc>
                  <a:txBody>
                    <a:bodyPr wrap="square"/>
                    <a:lstStyle/>
                    <a:p>
                      <a:r>
                        <a:rPr sz="1024" b="0" i="0">
                          <a:solidFill>
                            <a:srgbClr val="1A1A1A"/>
                          </a:solidFill>
                          <a:latin typeface="Helvetica Neue"/>
                        </a:rPr>
                        <a:t>PRAEVAorta®2</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K243893</a:t>
                      </a:r>
                    </a:p>
                  </a:txBody>
                  <a:tcPr marL="45720" marR="45720" marT="18288" marB="18288" anchor="t"/>
                </a:tc>
                <a:tc>
                  <a:txBody>
                    <a:bodyPr wrap="square"/>
                    <a:lstStyle/>
                    <a:p>
                      <a:r>
                        <a:rPr sz="1024" b="0" i="0">
                          <a:solidFill>
                            <a:srgbClr val="1A1A1A"/>
                          </a:solidFill>
                          <a:latin typeface="Helvetica Neue"/>
                        </a:rPr>
                        <a:t>05/05/2025</a:t>
                      </a:r>
                    </a:p>
                  </a:txBody>
                  <a:tcPr marL="45720" marR="45720" marT="18288" marB="18288" anchor="t"/>
                </a:tc>
                <a:tc>
                  <a:txBody>
                    <a:bodyPr wrap="square"/>
                    <a:lstStyle/>
                    <a:p>
                      <a:r>
                        <a:rPr sz="1024" b="0" i="0">
                          <a:solidFill>
                            <a:srgbClr val="1A1A1A"/>
                          </a:solidFill>
                          <a:latin typeface="Helvetica Neue"/>
                        </a:rPr>
                        <a:t>Pearl, Inc.</a:t>
                      </a:r>
                    </a:p>
                  </a:txBody>
                  <a:tcPr marL="45720" marR="45720" marT="18288" marB="18288" anchor="t"/>
                </a:tc>
                <a:tc>
                  <a:txBody>
                    <a:bodyPr wrap="square"/>
                    <a:lstStyle/>
                    <a:p>
                      <a:r>
                        <a:rPr sz="1024" b="0" i="0">
                          <a:solidFill>
                            <a:srgbClr val="1A1A1A"/>
                          </a:solidFill>
                          <a:latin typeface="Helvetica Neue"/>
                        </a:rPr>
                        <a:t>Second Opinion® Pediatric</a:t>
                      </a:r>
                    </a:p>
                  </a:txBody>
                  <a:tcPr marL="45720" marR="45720" marT="18288" marB="18288" anchor="t"/>
                </a:tc>
                <a:tc>
                  <a:txBody>
                    <a:bodyPr wrap="square"/>
                    <a:lstStyle/>
                    <a:p>
                      <a:r>
                        <a:rPr sz="1024" b="0" i="0">
                          <a:solidFill>
                            <a:srgbClr val="1A1A1A"/>
                          </a:solidFill>
                          <a:latin typeface="Helvetica Neue"/>
                        </a:rPr>
                        <a:t>MYN</a:t>
                      </a:r>
                    </a:p>
                  </a:txBody>
                  <a:tcPr marL="45720" marR="45720" marT="18288" marB="18288" anchor="t"/>
                </a:tc>
              </a:tr>
              <a:tr h="366979">
                <a:tc>
                  <a:txBody>
                    <a:bodyPr wrap="square"/>
                    <a:lstStyle/>
                    <a:p>
                      <a:r>
                        <a:rPr sz="1024" b="0" i="0">
                          <a:solidFill>
                            <a:srgbClr val="1A1A1A"/>
                          </a:solidFill>
                          <a:latin typeface="Helvetica Neue"/>
                        </a:rPr>
                        <a:t>K250177</a:t>
                      </a:r>
                    </a:p>
                  </a:txBody>
                  <a:tcPr marL="45720" marR="45720" marT="18288" marB="18288" anchor="t"/>
                </a:tc>
                <a:tc>
                  <a:txBody>
                    <a:bodyPr wrap="square"/>
                    <a:lstStyle/>
                    <a:p>
                      <a:r>
                        <a:rPr sz="1024" b="0" i="0">
                          <a:solidFill>
                            <a:srgbClr val="1A1A1A"/>
                          </a:solidFill>
                          <a:latin typeface="Helvetica Neue"/>
                        </a:rPr>
                        <a:t>04/10/2025</a:t>
                      </a:r>
                    </a:p>
                  </a:txBody>
                  <a:tcPr marL="45720" marR="45720" marT="18288" marB="18288" anchor="t"/>
                </a:tc>
                <a:tc>
                  <a:txBody>
                    <a:bodyPr wrap="square"/>
                    <a:lstStyle/>
                    <a:p>
                      <a:r>
                        <a:rPr sz="1024" b="0" i="0">
                          <a:solidFill>
                            <a:srgbClr val="1A1A1A"/>
                          </a:solidFill>
                          <a:latin typeface="Helvetica Neue"/>
                        </a:rPr>
                        <a:t>Philips Ultrasound LLC</a:t>
                      </a:r>
                    </a:p>
                  </a:txBody>
                  <a:tcPr marL="45720" marR="45720" marT="18288" marB="18288" anchor="t"/>
                </a:tc>
                <a:tc>
                  <a:txBody>
                    <a:bodyPr wrap="square"/>
                    <a:lstStyle/>
                    <a:p>
                      <a:r>
                        <a:rPr sz="1024" b="0" i="0">
                          <a:solidFill>
                            <a:srgbClr val="1A1A1A"/>
                          </a:solidFill>
                          <a:latin typeface="Helvetica Neue"/>
                        </a:rPr>
                        <a:t>EPIQ Series Diagnostic Ultrasound System; Affiniti Series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K250236</a:t>
                      </a:r>
                    </a:p>
                  </a:txBody>
                  <a:tcPr marL="45720" marR="45720" marT="18288" marB="18288" anchor="t"/>
                </a:tc>
                <a:tc>
                  <a:txBody>
                    <a:bodyPr wrap="square"/>
                    <a:lstStyle/>
                    <a:p>
                      <a:r>
                        <a:rPr sz="1024" b="0" i="0">
                          <a:solidFill>
                            <a:srgbClr val="1A1A1A"/>
                          </a:solidFill>
                          <a:latin typeface="Helvetica Neue"/>
                        </a:rPr>
                        <a:t>05/30/2025</a:t>
                      </a:r>
                    </a:p>
                  </a:txBody>
                  <a:tcPr marL="45720" marR="45720" marT="18288" marB="18288" anchor="t"/>
                </a:tc>
                <a:tc>
                  <a:txBody>
                    <a:bodyPr wrap="square"/>
                    <a:lstStyle/>
                    <a:p>
                      <a:r>
                        <a:rPr sz="1024" b="0" i="0">
                          <a:solidFill>
                            <a:srgbClr val="1A1A1A"/>
                          </a:solidFill>
                          <a:latin typeface="Helvetica Neue"/>
                        </a:rPr>
                        <a:t>Hyperfine, Inc.</a:t>
                      </a:r>
                    </a:p>
                  </a:txBody>
                  <a:tcPr marL="45720" marR="45720" marT="18288" marB="18288" anchor="t"/>
                </a:tc>
                <a:tc>
                  <a:txBody>
                    <a:bodyPr wrap="square"/>
                    <a:lstStyle/>
                    <a:p>
                      <a:r>
                        <a:rPr sz="1024" b="0" i="0">
                          <a:solidFill>
                            <a:srgbClr val="1A1A1A"/>
                          </a:solidFill>
                          <a:latin typeface="Helvetica Neue"/>
                        </a:rPr>
                        <a:t>Swoop® Portable MR Imaging® System (V2)</a:t>
                      </a:r>
                    </a:p>
                  </a:txBody>
                  <a:tcPr marL="45720" marR="45720" marT="18288" marB="18288" anchor="t"/>
                </a:tc>
                <a:tc>
                  <a:txBody>
                    <a:bodyPr wrap="square"/>
                    <a:lstStyle/>
                    <a:p>
                      <a:r>
                        <a:rPr sz="1024" b="0" i="0">
                          <a:solidFill>
                            <a:srgbClr val="1A1A1A"/>
                          </a:solidFill>
                          <a:latin typeface="Helvetica Neue"/>
                        </a:rPr>
                        <a:t>LNH</a:t>
                      </a:r>
                    </a:p>
                  </a:txBody>
                  <a:tcPr marL="45720" marR="45720" marT="18288" marB="18288" anchor="t"/>
                </a:tc>
              </a:tr>
              <a:tr h="366979">
                <a:tc>
                  <a:txBody>
                    <a:bodyPr wrap="square"/>
                    <a:lstStyle/>
                    <a:p>
                      <a:r>
                        <a:rPr sz="1024" b="0" i="0">
                          <a:solidFill>
                            <a:srgbClr val="1A1A1A"/>
                          </a:solidFill>
                          <a:latin typeface="Helvetica Neue"/>
                        </a:rPr>
                        <a:t>K250237</a:t>
                      </a:r>
                    </a:p>
                  </a:txBody>
                  <a:tcPr marL="45720" marR="45720" marT="18288" marB="18288" anchor="t"/>
                </a:tc>
                <a:tc>
                  <a:txBody>
                    <a:bodyPr wrap="square"/>
                    <a:lstStyle/>
                    <a:p>
                      <a:r>
                        <a:rPr sz="1024" b="0" i="0">
                          <a:solidFill>
                            <a:srgbClr val="1A1A1A"/>
                          </a:solidFill>
                          <a:latin typeface="Helvetica Neue"/>
                        </a:rPr>
                        <a:t>09/15/2025</a:t>
                      </a:r>
                    </a:p>
                  </a:txBody>
                  <a:tcPr marL="45720" marR="45720" marT="18288" marB="18288" anchor="t"/>
                </a:tc>
                <a:tc>
                  <a:txBody>
                    <a:bodyPr wrap="square"/>
                    <a:lstStyle/>
                    <a:p>
                      <a:r>
                        <a:rPr sz="1024" b="0" i="0">
                          <a:solidFill>
                            <a:srgbClr val="1A1A1A"/>
                          </a:solidFill>
                          <a:latin typeface="Helvetica Neue"/>
                        </a:rPr>
                        <a:t>Beijing Infervision Healthcare Medical Technology Co., Ltd.</a:t>
                      </a:r>
                    </a:p>
                  </a:txBody>
                  <a:tcPr marL="45720" marR="45720" marT="18288" marB="18288" anchor="t"/>
                </a:tc>
                <a:tc>
                  <a:txBody>
                    <a:bodyPr wrap="square"/>
                    <a:lstStyle/>
                    <a:p>
                      <a:r>
                        <a:rPr sz="1024" b="0" i="0">
                          <a:solidFill>
                            <a:srgbClr val="1A1A1A"/>
                          </a:solidFill>
                          <a:latin typeface="Helvetica Neue"/>
                        </a:rPr>
                        <a:t>InferOperate Suite</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K250248</a:t>
                      </a:r>
                    </a:p>
                  </a:txBody>
                  <a:tcPr marL="45720" marR="45720" marT="18288" marB="18288" anchor="t"/>
                </a:tc>
                <a:tc>
                  <a:txBody>
                    <a:bodyPr wrap="square"/>
                    <a:lstStyle/>
                    <a:p>
                      <a:r>
                        <a:rPr sz="1024" b="0" i="0">
                          <a:solidFill>
                            <a:srgbClr val="1A1A1A"/>
                          </a:solidFill>
                          <a:latin typeface="Helvetica Neue"/>
                        </a:rPr>
                        <a:t>02/14/2025</a:t>
                      </a:r>
                    </a:p>
                  </a:txBody>
                  <a:tcPr marL="45720" marR="45720" marT="18288" marB="18288" anchor="t"/>
                </a:tc>
                <a:tc>
                  <a:txBody>
                    <a:bodyPr wrap="square"/>
                    <a:lstStyle/>
                    <a:p>
                      <a:r>
                        <a:rPr sz="1024" b="0" i="0">
                          <a:solidFill>
                            <a:srgbClr val="1A1A1A"/>
                          </a:solidFill>
                          <a:latin typeface="Helvetica Neue"/>
                        </a:rPr>
                        <a:t>Aidoc Medical, Ltd.</a:t>
                      </a:r>
                    </a:p>
                  </a:txBody>
                  <a:tcPr marL="45720" marR="45720" marT="18288" marB="18288" anchor="t"/>
                </a:tc>
                <a:tc>
                  <a:txBody>
                    <a:bodyPr wrap="square"/>
                    <a:lstStyle/>
                    <a:p>
                      <a:r>
                        <a:rPr sz="1024" b="0" i="0">
                          <a:solidFill>
                            <a:srgbClr val="1A1A1A"/>
                          </a:solidFill>
                          <a:latin typeface="Helvetica Neue"/>
                        </a:rPr>
                        <a:t>BriefCase-Triage</a:t>
                      </a:r>
                    </a:p>
                  </a:txBody>
                  <a:tcPr marL="45720" marR="45720" marT="18288" marB="18288" anchor="t"/>
                </a:tc>
                <a:tc>
                  <a:txBody>
                    <a:bodyPr wrap="square"/>
                    <a:lstStyle/>
                    <a:p>
                      <a:r>
                        <a:rPr sz="1024" b="0" i="0">
                          <a:solidFill>
                            <a:srgbClr val="1A1A1A"/>
                          </a:solidFill>
                          <a:latin typeface="Helvetica Neue"/>
                        </a:rPr>
                        <a:t>QAS</a:t>
                      </a:r>
                    </a:p>
                  </a:txBody>
                  <a:tcPr marL="45720" marR="45720" marT="18288" marB="18288" anchor="t"/>
                </a:tc>
              </a:tr>
              <a:tr h="210921">
                <a:tc>
                  <a:txBody>
                    <a:bodyPr wrap="square"/>
                    <a:lstStyle/>
                    <a:p>
                      <a:r>
                        <a:rPr sz="1024" b="0" i="0">
                          <a:solidFill>
                            <a:srgbClr val="1A1A1A"/>
                          </a:solidFill>
                          <a:latin typeface="Helvetica Neue"/>
                        </a:rPr>
                        <a:t>K250367</a:t>
                      </a:r>
                    </a:p>
                  </a:txBody>
                  <a:tcPr marL="45720" marR="45720" marT="18288" marB="18288" anchor="t"/>
                </a:tc>
                <a:tc>
                  <a:txBody>
                    <a:bodyPr wrap="square"/>
                    <a:lstStyle/>
                    <a:p>
                      <a:r>
                        <a:rPr sz="1024" b="0" i="0">
                          <a:solidFill>
                            <a:srgbClr val="1A1A1A"/>
                          </a:solidFill>
                          <a:latin typeface="Helvetica Neue"/>
                        </a:rPr>
                        <a:t>05/28/2025</a:t>
                      </a:r>
                    </a:p>
                  </a:txBody>
                  <a:tcPr marL="45720" marR="45720" marT="18288" marB="18288" anchor="t"/>
                </a:tc>
                <a:tc>
                  <a:txBody>
                    <a:bodyPr wrap="square"/>
                    <a:lstStyle/>
                    <a:p>
                      <a:r>
                        <a:rPr sz="1024" b="0" i="0">
                          <a:solidFill>
                            <a:srgbClr val="1A1A1A"/>
                          </a:solidFill>
                          <a:latin typeface="Helvetica Neue"/>
                        </a:rPr>
                        <a:t>Smart Soft Healthcare AD</a:t>
                      </a:r>
                    </a:p>
                  </a:txBody>
                  <a:tcPr marL="45720" marR="45720" marT="18288" marB="18288" anchor="t"/>
                </a:tc>
                <a:tc>
                  <a:txBody>
                    <a:bodyPr wrap="square"/>
                    <a:lstStyle/>
                    <a:p>
                      <a:r>
                        <a:rPr sz="1024" b="0" i="0">
                          <a:solidFill>
                            <a:srgbClr val="1A1A1A"/>
                          </a:solidFill>
                          <a:latin typeface="Helvetica Neue"/>
                        </a:rPr>
                        <a:t>CoLumboX</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K250370</a:t>
                      </a:r>
                    </a:p>
                  </a:txBody>
                  <a:tcPr marL="45720" marR="45720" marT="18288" marB="18288" anchor="t"/>
                </a:tc>
                <a:tc>
                  <a:txBody>
                    <a:bodyPr wrap="square"/>
                    <a:lstStyle/>
                    <a:p>
                      <a:r>
                        <a:rPr sz="1024" b="0" i="0">
                          <a:solidFill>
                            <a:srgbClr val="1A1A1A"/>
                          </a:solidFill>
                          <a:latin typeface="Helvetica Neue"/>
                        </a:rPr>
                        <a:t>05/20/2025</a:t>
                      </a:r>
                    </a:p>
                  </a:txBody>
                  <a:tcPr marL="45720" marR="45720" marT="18288" marB="18288" anchor="t"/>
                </a:tc>
                <a:tc>
                  <a:txBody>
                    <a:bodyPr wrap="square"/>
                    <a:lstStyle/>
                    <a:p>
                      <a:r>
                        <a:rPr sz="1024" b="0" i="0">
                          <a:solidFill>
                            <a:srgbClr val="1A1A1A"/>
                          </a:solidFill>
                          <a:latin typeface="Helvetica Neue"/>
                        </a:rPr>
                        <a:t>FUJIFILM Corporation</a:t>
                      </a:r>
                    </a:p>
                  </a:txBody>
                  <a:tcPr marL="45720" marR="45720" marT="18288" marB="18288" anchor="t"/>
                </a:tc>
                <a:tc>
                  <a:txBody>
                    <a:bodyPr wrap="square"/>
                    <a:lstStyle/>
                    <a:p>
                      <a:r>
                        <a:rPr sz="1024" b="0" i="0">
                          <a:solidFill>
                            <a:srgbClr val="1A1A1A"/>
                          </a:solidFill>
                          <a:latin typeface="Helvetica Neue"/>
                        </a:rPr>
                        <a:t>SCENARIA View Phase 5.0</a:t>
                      </a:r>
                    </a:p>
                  </a:txBody>
                  <a:tcPr marL="45720" marR="45720" marT="18288" marB="18288" anchor="t"/>
                </a:tc>
                <a:tc>
                  <a:txBody>
                    <a:bodyPr wrap="square"/>
                    <a:lstStyle/>
                    <a:p>
                      <a:r>
                        <a:rPr sz="1024" b="0" i="0">
                          <a:solidFill>
                            <a:srgbClr val="1A1A1A"/>
                          </a:solidFill>
                          <a:latin typeface="Helvetica Neue"/>
                        </a:rPr>
                        <a:t>JAK</a:t>
                      </a:r>
                    </a:p>
                  </a:txBody>
                  <a:tcPr marL="45720" marR="45720" marT="18288" marB="18288" anchor="t"/>
                </a:tc>
              </a:tr>
              <a:tr h="210921">
                <a:tc>
                  <a:txBody>
                    <a:bodyPr wrap="square"/>
                    <a:lstStyle/>
                    <a:p>
                      <a:r>
                        <a:rPr sz="1024" b="0" i="0">
                          <a:solidFill>
                            <a:srgbClr val="1A1A1A"/>
                          </a:solidFill>
                          <a:latin typeface="Helvetica Neue"/>
                        </a:rPr>
                        <a:t>K250416</a:t>
                      </a:r>
                    </a:p>
                  </a:txBody>
                  <a:tcPr marL="45720" marR="45720" marT="18288" marB="18288" anchor="t"/>
                </a:tc>
                <a:tc>
                  <a:txBody>
                    <a:bodyPr wrap="square"/>
                    <a:lstStyle/>
                    <a:p>
                      <a:r>
                        <a:rPr sz="1024" b="0" i="0">
                          <a:solidFill>
                            <a:srgbClr val="1A1A1A"/>
                          </a:solidFill>
                          <a:latin typeface="Helvetica Neue"/>
                        </a:rPr>
                        <a:t>04/11/2025</a:t>
                      </a:r>
                    </a:p>
                  </a:txBody>
                  <a:tcPr marL="45720" marR="45720" marT="18288" marB="18288" anchor="t"/>
                </a:tc>
                <a:tc>
                  <a:txBody>
                    <a:bodyPr wrap="square"/>
                    <a:lstStyle/>
                    <a:p>
                      <a:r>
                        <a:rPr sz="1024" b="0" i="0">
                          <a:solidFill>
                            <a:srgbClr val="1A1A1A"/>
                          </a:solidFill>
                          <a:latin typeface="Helvetica Neue"/>
                        </a:rPr>
                        <a:t>Galileo CDS, Inc</a:t>
                      </a:r>
                    </a:p>
                  </a:txBody>
                  <a:tcPr marL="45720" marR="45720" marT="18288" marB="18288" anchor="t"/>
                </a:tc>
                <a:tc>
                  <a:txBody>
                    <a:bodyPr wrap="square"/>
                    <a:lstStyle/>
                    <a:p>
                      <a:r>
                        <a:rPr sz="1024" b="0" i="0">
                          <a:solidFill>
                            <a:srgbClr val="1A1A1A"/>
                          </a:solidFill>
                          <a:latin typeface="Helvetica Neue"/>
                        </a:rPr>
                        <a:t>GBrain MRI</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K250660</a:t>
                      </a:r>
                    </a:p>
                  </a:txBody>
                  <a:tcPr marL="45720" marR="45720" marT="18288" marB="18288" anchor="t"/>
                </a:tc>
                <a:tc>
                  <a:txBody>
                    <a:bodyPr wrap="square"/>
                    <a:lstStyle/>
                    <a:p>
                      <a:r>
                        <a:rPr sz="1024" b="0" i="0">
                          <a:solidFill>
                            <a:srgbClr val="1A1A1A"/>
                          </a:solidFill>
                          <a:latin typeface="Helvetica Neue"/>
                        </a:rPr>
                        <a:t>07/14/2025</a:t>
                      </a:r>
                    </a:p>
                  </a:txBody>
                  <a:tcPr marL="45720" marR="45720" marT="18288" marB="18288" anchor="t"/>
                </a:tc>
                <a:tc>
                  <a:txBody>
                    <a:bodyPr wrap="square"/>
                    <a:lstStyle/>
                    <a:p>
                      <a:r>
                        <a:rPr sz="1024" b="0" i="0">
                          <a:solidFill>
                            <a:srgbClr val="1A1A1A"/>
                          </a:solidFill>
                          <a:latin typeface="Helvetica Neue"/>
                        </a:rPr>
                        <a:t>Siemens Medical Solutions</a:t>
                      </a:r>
                    </a:p>
                  </a:txBody>
                  <a:tcPr marL="45720" marR="45720" marT="18288" marB="18288" anchor="t"/>
                </a:tc>
                <a:tc>
                  <a:txBody>
                    <a:bodyPr wrap="square"/>
                    <a:lstStyle/>
                    <a:p>
                      <a:r>
                        <a:rPr sz="1024" b="0" i="0">
                          <a:solidFill>
                            <a:srgbClr val="1A1A1A"/>
                          </a:solidFill>
                          <a:latin typeface="Helvetica Neue"/>
                        </a:rPr>
                        <a:t>LUMINOS Q.namix T; LUMINOS Q.namix R</a:t>
                      </a:r>
                    </a:p>
                  </a:txBody>
                  <a:tcPr marL="45720" marR="45720" marT="18288" marB="18288" anchor="t"/>
                </a:tc>
                <a:tc>
                  <a:txBody>
                    <a:bodyPr wrap="square"/>
                    <a:lstStyle/>
                    <a:p>
                      <a:r>
                        <a:rPr sz="1024" b="0" i="0">
                          <a:solidFill>
                            <a:srgbClr val="1A1A1A"/>
                          </a:solidFill>
                          <a:latin typeface="Helvetica Neue"/>
                        </a:rPr>
                        <a:t>OWB</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74 / 83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(161–180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521747"/>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191414">
                <a:tc>
                  <a:txBody>
                    <a:bodyPr wrap="square"/>
                    <a:lstStyle/>
                    <a:p>
                      <a:r>
                        <a:rPr sz="896" b="1" i="0">
                          <a:solidFill>
                            <a:srgbClr val="FFFFFF"/>
                          </a:solidFill>
                          <a:latin typeface="Helvetica Neue"/>
                        </a:rPr>
                        <a:t>Submission</a:t>
                      </a:r>
                    </a:p>
                  </a:txBody>
                  <a:tcPr marL="45720" marR="45720" marT="18288" marB="18288" anchor="t"/>
                </a:tc>
                <a:tc>
                  <a:txBody>
                    <a:bodyPr wrap="square"/>
                    <a:lstStyle/>
                    <a:p>
                      <a:r>
                        <a:rPr sz="896" b="1" i="0">
                          <a:solidFill>
                            <a:srgbClr val="FFFFFF"/>
                          </a:solidFill>
                          <a:latin typeface="Helvetica Neue"/>
                        </a:rPr>
                        <a:t>Date</a:t>
                      </a:r>
                    </a:p>
                  </a:txBody>
                  <a:tcPr marL="45720" marR="45720" marT="18288" marB="18288" anchor="t"/>
                </a:tc>
                <a:tc>
                  <a:txBody>
                    <a:bodyPr wrap="square"/>
                    <a:lstStyle/>
                    <a:p>
                      <a:r>
                        <a:rPr sz="896" b="1" i="0">
                          <a:solidFill>
                            <a:srgbClr val="FFFFFF"/>
                          </a:solidFill>
                          <a:latin typeface="Helvetica Neue"/>
                        </a:rPr>
                        <a:t>Company</a:t>
                      </a:r>
                    </a:p>
                  </a:txBody>
                  <a:tcPr marL="45720" marR="45720" marT="18288" marB="18288" anchor="t"/>
                </a:tc>
                <a:tc>
                  <a:txBody>
                    <a:bodyPr wrap="square"/>
                    <a:lstStyle/>
                    <a:p>
                      <a:r>
                        <a:rPr sz="896" b="1" i="0">
                          <a:solidFill>
                            <a:srgbClr val="FFFFFF"/>
                          </a:solidFill>
                          <a:latin typeface="Helvetica Neue"/>
                        </a:rPr>
                        <a:t>Device</a:t>
                      </a:r>
                    </a:p>
                  </a:txBody>
                  <a:tcPr marL="45720" marR="45720" marT="18288" marB="18288" anchor="t"/>
                </a:tc>
                <a:tc>
                  <a:txBody>
                    <a:bodyPr wrap="square"/>
                    <a:lstStyle/>
                    <a:p>
                      <a:r>
                        <a:rPr sz="896" b="1" i="0">
                          <a:solidFill>
                            <a:srgbClr val="FFFFFF"/>
                          </a:solidFill>
                          <a:latin typeface="Helvetica Neue"/>
                        </a:rPr>
                        <a:t>Code</a:t>
                      </a:r>
                    </a:p>
                  </a:txBody>
                  <a:tcPr marL="45720" marR="45720" marT="18288" marB="18288" anchor="t"/>
                </a:tc>
              </a:tr>
              <a:tr h="191414">
                <a:tc>
                  <a:txBody>
                    <a:bodyPr wrap="square"/>
                    <a:lstStyle/>
                    <a:p>
                      <a:r>
                        <a:rPr sz="896" b="0" i="0">
                          <a:solidFill>
                            <a:srgbClr val="1A1A1A"/>
                          </a:solidFill>
                          <a:latin typeface="Helvetica Neue"/>
                        </a:rPr>
                        <a:t>K250670</a:t>
                      </a:r>
                    </a:p>
                  </a:txBody>
                  <a:tcPr marL="45720" marR="45720" marT="18288" marB="18288" anchor="t"/>
                </a:tc>
                <a:tc>
                  <a:txBody>
                    <a:bodyPr wrap="square"/>
                    <a:lstStyle/>
                    <a:p>
                      <a:r>
                        <a:rPr sz="896" b="0" i="0">
                          <a:solidFill>
                            <a:srgbClr val="1A1A1A"/>
                          </a:solidFill>
                          <a:latin typeface="Helvetica Neue"/>
                        </a:rPr>
                        <a:t>06/30/2025</a:t>
                      </a:r>
                    </a:p>
                  </a:txBody>
                  <a:tcPr marL="45720" marR="45720" marT="18288" marB="18288" anchor="t"/>
                </a:tc>
                <a:tc>
                  <a:txBody>
                    <a:bodyPr wrap="square"/>
                    <a:lstStyle/>
                    <a:p>
                      <a:r>
                        <a:rPr sz="896" b="0" i="0">
                          <a:solidFill>
                            <a:srgbClr val="1A1A1A"/>
                          </a:solidFill>
                          <a:latin typeface="Helvetica Neue"/>
                        </a:rPr>
                        <a:t>Mycardium AI Limited</a:t>
                      </a:r>
                    </a:p>
                  </a:txBody>
                  <a:tcPr marL="45720" marR="45720" marT="18288" marB="18288" anchor="t"/>
                </a:tc>
                <a:tc>
                  <a:txBody>
                    <a:bodyPr wrap="square"/>
                    <a:lstStyle/>
                    <a:p>
                      <a:r>
                        <a:rPr sz="896" b="0" i="0">
                          <a:solidFill>
                            <a:srgbClr val="1A1A1A"/>
                          </a:solidFill>
                          <a:latin typeface="Helvetica Neue"/>
                        </a:rPr>
                        <a:t>EchoConfidence (USA)</a:t>
                      </a:r>
                    </a:p>
                  </a:txBody>
                  <a:tcPr marL="45720" marR="45720" marT="18288" marB="18288" anchor="t"/>
                </a:tc>
                <a:tc>
                  <a:txBody>
                    <a:bodyPr wrap="square"/>
                    <a:lstStyle/>
                    <a:p>
                      <a:r>
                        <a:rPr sz="896" b="0" i="0">
                          <a:solidFill>
                            <a:srgbClr val="1A1A1A"/>
                          </a:solidFill>
                          <a:latin typeface="Helvetica Neue"/>
                        </a:rPr>
                        <a:t>QIH</a:t>
                      </a:r>
                    </a:p>
                  </a:txBody>
                  <a:tcPr marL="45720" marR="45720" marT="18288" marB="18288" anchor="t"/>
                </a:tc>
              </a:tr>
              <a:tr h="191414">
                <a:tc>
                  <a:txBody>
                    <a:bodyPr wrap="square"/>
                    <a:lstStyle/>
                    <a:p>
                      <a:r>
                        <a:rPr sz="896" b="0" i="0">
                          <a:solidFill>
                            <a:srgbClr val="1A1A1A"/>
                          </a:solidFill>
                          <a:latin typeface="Helvetica Neue"/>
                        </a:rPr>
                        <a:t>K250686</a:t>
                      </a:r>
                    </a:p>
                  </a:txBody>
                  <a:tcPr marL="45720" marR="45720" marT="18288" marB="18288" anchor="t"/>
                </a:tc>
                <a:tc>
                  <a:txBody>
                    <a:bodyPr wrap="square"/>
                    <a:lstStyle/>
                    <a:p>
                      <a:r>
                        <a:rPr sz="896" b="0" i="0">
                          <a:solidFill>
                            <a:srgbClr val="1A1A1A"/>
                          </a:solidFill>
                          <a:latin typeface="Helvetica Neue"/>
                        </a:rPr>
                        <a:t>07/22/2025</a:t>
                      </a:r>
                    </a:p>
                  </a:txBody>
                  <a:tcPr marL="45720" marR="45720" marT="18288" marB="18288" anchor="t"/>
                </a:tc>
                <a:tc>
                  <a:txBody>
                    <a:bodyPr wrap="square"/>
                    <a:lstStyle/>
                    <a:p>
                      <a:r>
                        <a:rPr sz="896" b="0" i="0">
                          <a:solidFill>
                            <a:srgbClr val="1A1A1A"/>
                          </a:solidFill>
                          <a:latin typeface="Helvetica Neue"/>
                        </a:rPr>
                        <a:t>NeuroSpectrum Insights Corp.</a:t>
                      </a:r>
                    </a:p>
                  </a:txBody>
                  <a:tcPr marL="45720" marR="45720" marT="18288" marB="18288" anchor="t"/>
                </a:tc>
                <a:tc>
                  <a:txBody>
                    <a:bodyPr wrap="square"/>
                    <a:lstStyle/>
                    <a:p>
                      <a:r>
                        <a:rPr sz="896" b="0" i="0">
                          <a:solidFill>
                            <a:srgbClr val="1A1A1A"/>
                          </a:solidFill>
                          <a:latin typeface="Helvetica Neue"/>
                        </a:rPr>
                        <a:t>GyriCalc (Version 1.0.0)</a:t>
                      </a:r>
                    </a:p>
                  </a:txBody>
                  <a:tcPr marL="45720" marR="45720" marT="18288" marB="18288" anchor="t"/>
                </a:tc>
                <a:tc>
                  <a:txBody>
                    <a:bodyPr wrap="square"/>
                    <a:lstStyle/>
                    <a:p>
                      <a:r>
                        <a:rPr sz="896" b="0" i="0">
                          <a:solidFill>
                            <a:srgbClr val="1A1A1A"/>
                          </a:solidFill>
                          <a:latin typeface="Helvetica Neue"/>
                        </a:rPr>
                        <a:t>LLZ</a:t>
                      </a:r>
                    </a:p>
                  </a:txBody>
                  <a:tcPr marL="45720" marR="45720" marT="18288" marB="18288" anchor="t"/>
                </a:tc>
              </a:tr>
              <a:tr h="327964">
                <a:tc>
                  <a:txBody>
                    <a:bodyPr wrap="square"/>
                    <a:lstStyle/>
                    <a:p>
                      <a:r>
                        <a:rPr sz="896" b="0" i="0">
                          <a:solidFill>
                            <a:srgbClr val="1A1A1A"/>
                          </a:solidFill>
                          <a:latin typeface="Helvetica Neue"/>
                        </a:rPr>
                        <a:t>K250886</a:t>
                      </a:r>
                    </a:p>
                  </a:txBody>
                  <a:tcPr marL="45720" marR="45720" marT="18288" marB="18288" anchor="t"/>
                </a:tc>
                <a:tc>
                  <a:txBody>
                    <a:bodyPr wrap="square"/>
                    <a:lstStyle/>
                    <a:p>
                      <a:r>
                        <a:rPr sz="896" b="0" i="0">
                          <a:solidFill>
                            <a:srgbClr val="1A1A1A"/>
                          </a:solidFill>
                          <a:latin typeface="Helvetica Neue"/>
                        </a:rPr>
                        <a:t>06/18/2025</a:t>
                      </a:r>
                    </a:p>
                  </a:txBody>
                  <a:tcPr marL="45720" marR="45720" marT="18288" marB="18288" anchor="t"/>
                </a:tc>
                <a:tc>
                  <a:txBody>
                    <a:bodyPr wrap="square"/>
                    <a:lstStyle/>
                    <a:p>
                      <a:r>
                        <a:rPr sz="896" b="0" i="0">
                          <a:solidFill>
                            <a:srgbClr val="1A1A1A"/>
                          </a:solidFill>
                          <a:latin typeface="Helvetica Neue"/>
                        </a:rPr>
                        <a:t>Philips Ultrasound LLC</a:t>
                      </a:r>
                    </a:p>
                  </a:txBody>
                  <a:tcPr marL="45720" marR="45720" marT="18288" marB="18288" anchor="t"/>
                </a:tc>
                <a:tc>
                  <a:txBody>
                    <a:bodyPr wrap="square"/>
                    <a:lstStyle/>
                    <a:p>
                      <a:r>
                        <a:rPr sz="896" b="0" i="0">
                          <a:solidFill>
                            <a:srgbClr val="1A1A1A"/>
                          </a:solidFill>
                          <a:latin typeface="Helvetica Neue"/>
                        </a:rPr>
                        <a:t>EPIQ Series Diagnostic Ultrasound Systems; Affiniti Series Diagnostic Ultrasound Systems</a:t>
                      </a:r>
                    </a:p>
                  </a:txBody>
                  <a:tcPr marL="45720" marR="45720" marT="18288" marB="18288" anchor="t"/>
                </a:tc>
                <a:tc>
                  <a:txBody>
                    <a:bodyPr wrap="square"/>
                    <a:lstStyle/>
                    <a:p>
                      <a:r>
                        <a:rPr sz="896" b="0" i="0">
                          <a:solidFill>
                            <a:srgbClr val="1A1A1A"/>
                          </a:solidFill>
                          <a:latin typeface="Helvetica Neue"/>
                        </a:rPr>
                        <a:t>IYN</a:t>
                      </a:r>
                    </a:p>
                  </a:txBody>
                  <a:tcPr marL="45720" marR="45720" marT="18288" marB="18288" anchor="t"/>
                </a:tc>
              </a:tr>
              <a:tr h="191414">
                <a:tc>
                  <a:txBody>
                    <a:bodyPr wrap="square"/>
                    <a:lstStyle/>
                    <a:p>
                      <a:r>
                        <a:rPr sz="896" b="0" i="0">
                          <a:solidFill>
                            <a:srgbClr val="1A1A1A"/>
                          </a:solidFill>
                          <a:latin typeface="Helvetica Neue"/>
                        </a:rPr>
                        <a:t>K250914</a:t>
                      </a:r>
                    </a:p>
                  </a:txBody>
                  <a:tcPr marL="45720" marR="45720" marT="18288" marB="18288" anchor="t"/>
                </a:tc>
                <a:tc>
                  <a:txBody>
                    <a:bodyPr wrap="square"/>
                    <a:lstStyle/>
                    <a:p>
                      <a:r>
                        <a:rPr sz="896" b="0" i="0">
                          <a:solidFill>
                            <a:srgbClr val="1A1A1A"/>
                          </a:solidFill>
                          <a:latin typeface="Helvetica Neue"/>
                        </a:rPr>
                        <a:t>12/18/2025</a:t>
                      </a:r>
                    </a:p>
                  </a:txBody>
                  <a:tcPr marL="45720" marR="45720" marT="18288" marB="18288" anchor="t"/>
                </a:tc>
                <a:tc>
                  <a:txBody>
                    <a:bodyPr wrap="square"/>
                    <a:lstStyle/>
                    <a:p>
                      <a:r>
                        <a:rPr sz="896" b="0" i="0">
                          <a:solidFill>
                            <a:srgbClr val="1A1A1A"/>
                          </a:solidFill>
                          <a:latin typeface="Helvetica Neue"/>
                        </a:rPr>
                        <a:t>Crescom Co., Ltd.</a:t>
                      </a:r>
                    </a:p>
                  </a:txBody>
                  <a:tcPr marL="45720" marR="45720" marT="18288" marB="18288" anchor="t"/>
                </a:tc>
                <a:tc>
                  <a:txBody>
                    <a:bodyPr wrap="square"/>
                    <a:lstStyle/>
                    <a:p>
                      <a:r>
                        <a:rPr sz="896" b="0" i="0">
                          <a:solidFill>
                            <a:srgbClr val="1A1A1A"/>
                          </a:solidFill>
                          <a:latin typeface="Helvetica Neue"/>
                        </a:rPr>
                        <a:t>MediAI-BA</a:t>
                      </a:r>
                    </a:p>
                  </a:txBody>
                  <a:tcPr marL="45720" marR="45720" marT="18288" marB="18288" anchor="t"/>
                </a:tc>
                <a:tc>
                  <a:txBody>
                    <a:bodyPr wrap="square"/>
                    <a:lstStyle/>
                    <a:p>
                      <a:r>
                        <a:rPr sz="896" b="0" i="0">
                          <a:solidFill>
                            <a:srgbClr val="1A1A1A"/>
                          </a:solidFill>
                          <a:latin typeface="Helvetica Neue"/>
                        </a:rPr>
                        <a:t>QIH</a:t>
                      </a:r>
                    </a:p>
                  </a:txBody>
                  <a:tcPr marL="45720" marR="45720" marT="18288" marB="18288" anchor="t"/>
                </a:tc>
              </a:tr>
              <a:tr h="191414">
                <a:tc>
                  <a:txBody>
                    <a:bodyPr wrap="square"/>
                    <a:lstStyle/>
                    <a:p>
                      <a:r>
                        <a:rPr sz="896" b="0" i="0">
                          <a:solidFill>
                            <a:srgbClr val="1A1A1A"/>
                          </a:solidFill>
                          <a:latin typeface="Helvetica Neue"/>
                        </a:rPr>
                        <a:t>K250959</a:t>
                      </a:r>
                    </a:p>
                  </a:txBody>
                  <a:tcPr marL="45720" marR="45720" marT="18288" marB="18288" anchor="t"/>
                </a:tc>
                <a:tc>
                  <a:txBody>
                    <a:bodyPr wrap="square"/>
                    <a:lstStyle/>
                    <a:p>
                      <a:r>
                        <a:rPr sz="896" b="0" i="0">
                          <a:solidFill>
                            <a:srgbClr val="1A1A1A"/>
                          </a:solidFill>
                          <a:latin typeface="Helvetica Neue"/>
                        </a:rPr>
                        <a:t>12/22/2025</a:t>
                      </a:r>
                    </a:p>
                  </a:txBody>
                  <a:tcPr marL="45720" marR="45720" marT="18288" marB="18288" anchor="t"/>
                </a:tc>
                <a:tc>
                  <a:txBody>
                    <a:bodyPr wrap="square"/>
                    <a:lstStyle/>
                    <a:p>
                      <a:r>
                        <a:rPr sz="896" b="0" i="0">
                          <a:solidFill>
                            <a:srgbClr val="1A1A1A"/>
                          </a:solidFill>
                          <a:latin typeface="Helvetica Neue"/>
                        </a:rPr>
                        <a:t>Bioticsai, Inc.</a:t>
                      </a:r>
                    </a:p>
                  </a:txBody>
                  <a:tcPr marL="45720" marR="45720" marT="18288" marB="18288" anchor="t"/>
                </a:tc>
                <a:tc>
                  <a:txBody>
                    <a:bodyPr wrap="square"/>
                    <a:lstStyle/>
                    <a:p>
                      <a:r>
                        <a:rPr sz="896" b="0" i="0">
                          <a:solidFill>
                            <a:srgbClr val="1A1A1A"/>
                          </a:solidFill>
                          <a:latin typeface="Helvetica Neue"/>
                        </a:rPr>
                        <a:t>BioticsAI</a:t>
                      </a:r>
                    </a:p>
                  </a:txBody>
                  <a:tcPr marL="45720" marR="45720" marT="18288" marB="18288" anchor="t"/>
                </a:tc>
                <a:tc>
                  <a:txBody>
                    <a:bodyPr wrap="square"/>
                    <a:lstStyle/>
                    <a:p>
                      <a:r>
                        <a:rPr sz="896" b="0" i="0">
                          <a:solidFill>
                            <a:srgbClr val="1A1A1A"/>
                          </a:solidFill>
                          <a:latin typeface="Helvetica Neue"/>
                        </a:rPr>
                        <a:t>IYN</a:t>
                      </a:r>
                    </a:p>
                  </a:txBody>
                  <a:tcPr marL="45720" marR="45720" marT="18288" marB="18288" anchor="t"/>
                </a:tc>
              </a:tr>
              <a:tr h="737616">
                <a:tc>
                  <a:txBody>
                    <a:bodyPr wrap="square"/>
                    <a:lstStyle/>
                    <a:p>
                      <a:r>
                        <a:rPr sz="896" b="0" i="0">
                          <a:solidFill>
                            <a:srgbClr val="1A1A1A"/>
                          </a:solidFill>
                          <a:latin typeface="Helvetica Neue"/>
                        </a:rPr>
                        <a:t>K250999</a:t>
                      </a:r>
                    </a:p>
                  </a:txBody>
                  <a:tcPr marL="45720" marR="45720" marT="18288" marB="18288" anchor="t"/>
                </a:tc>
                <a:tc>
                  <a:txBody>
                    <a:bodyPr wrap="square"/>
                    <a:lstStyle/>
                    <a:p>
                      <a:r>
                        <a:rPr sz="896" b="0" i="0">
                          <a:solidFill>
                            <a:srgbClr val="1A1A1A"/>
                          </a:solidFill>
                          <a:latin typeface="Helvetica Neue"/>
                        </a:rPr>
                        <a:t>07/18/2025</a:t>
                      </a:r>
                    </a:p>
                  </a:txBody>
                  <a:tcPr marL="45720" marR="45720" marT="18288" marB="18288" anchor="t"/>
                </a:tc>
                <a:tc>
                  <a:txBody>
                    <a:bodyPr wrap="square"/>
                    <a:lstStyle/>
                    <a:p>
                      <a:r>
                        <a:rPr sz="896" b="0" i="0">
                          <a:solidFill>
                            <a:srgbClr val="1A1A1A"/>
                          </a:solidFill>
                          <a:latin typeface="Helvetica Neue"/>
                        </a:rPr>
                        <a:t>Samsung Medison Co., Ltd.</a:t>
                      </a:r>
                    </a:p>
                  </a:txBody>
                  <a:tcPr marL="45720" marR="45720" marT="18288" marB="18288" anchor="t"/>
                </a:tc>
                <a:tc>
                  <a:txBody>
                    <a:bodyPr wrap="square"/>
                    <a:lstStyle/>
                    <a:p>
                      <a:r>
                        <a:rPr sz="896" b="0" i="0">
                          <a:solidFill>
                            <a:srgbClr val="1A1A1A"/>
                          </a:solidFill>
                          <a:latin typeface="Helvetica Neue"/>
                        </a:rPr>
                        <a:t>V8 Diagnostic Ultrasound System; cV8 Diagnostic Ultrasound System; V7 Diagnostic Ultrasound System; cV7 Diagnostic Ultrasound System; V6 Diagnostic Ultrasound System; cV6 Diagnostic Ultrasound System; V5 Diagnostic Ultrasound System; cV5 Diagnostic Ultrasound System; V4 Diagnostic Ultrasound System; cV4 Diagnostic Ultrasound System</a:t>
                      </a:r>
                    </a:p>
                  </a:txBody>
                  <a:tcPr marL="45720" marR="45720" marT="18288" marB="18288" anchor="t"/>
                </a:tc>
                <a:tc>
                  <a:txBody>
                    <a:bodyPr wrap="square"/>
                    <a:lstStyle/>
                    <a:p>
                      <a:r>
                        <a:rPr sz="896" b="0" i="0">
                          <a:solidFill>
                            <a:srgbClr val="1A1A1A"/>
                          </a:solidFill>
                          <a:latin typeface="Helvetica Neue"/>
                        </a:rPr>
                        <a:t>IYN</a:t>
                      </a:r>
                    </a:p>
                  </a:txBody>
                  <a:tcPr marL="45720" marR="45720" marT="18288" marB="18288" anchor="t"/>
                </a:tc>
              </a:tr>
              <a:tr h="191414">
                <a:tc>
                  <a:txBody>
                    <a:bodyPr wrap="square"/>
                    <a:lstStyle/>
                    <a:p>
                      <a:r>
                        <a:rPr sz="896" b="0" i="0">
                          <a:solidFill>
                            <a:srgbClr val="1A1A1A"/>
                          </a:solidFill>
                          <a:latin typeface="Helvetica Neue"/>
                        </a:rPr>
                        <a:t>K251002</a:t>
                      </a:r>
                    </a:p>
                  </a:txBody>
                  <a:tcPr marL="45720" marR="45720" marT="18288" marB="18288" anchor="t"/>
                </a:tc>
                <a:tc>
                  <a:txBody>
                    <a:bodyPr wrap="square"/>
                    <a:lstStyle/>
                    <a:p>
                      <a:r>
                        <a:rPr sz="896" b="0" i="0">
                          <a:solidFill>
                            <a:srgbClr val="1A1A1A"/>
                          </a:solidFill>
                          <a:latin typeface="Helvetica Neue"/>
                        </a:rPr>
                        <a:t>09/19/2025</a:t>
                      </a:r>
                    </a:p>
                  </a:txBody>
                  <a:tcPr marL="45720" marR="45720" marT="18288" marB="18288" anchor="t"/>
                </a:tc>
                <a:tc>
                  <a:txBody>
                    <a:bodyPr wrap="square"/>
                    <a:lstStyle/>
                    <a:p>
                      <a:r>
                        <a:rPr sz="896" b="0" i="0">
                          <a:solidFill>
                            <a:srgbClr val="1A1A1A"/>
                          </a:solidFill>
                          <a:latin typeface="Helvetica Neue"/>
                        </a:rPr>
                        <a:t>VideaHealth Inc.</a:t>
                      </a:r>
                    </a:p>
                  </a:txBody>
                  <a:tcPr marL="45720" marR="45720" marT="18288" marB="18288" anchor="t"/>
                </a:tc>
                <a:tc>
                  <a:txBody>
                    <a:bodyPr wrap="square"/>
                    <a:lstStyle/>
                    <a:p>
                      <a:r>
                        <a:rPr sz="896" b="0" i="0">
                          <a:solidFill>
                            <a:srgbClr val="1A1A1A"/>
                          </a:solidFill>
                          <a:latin typeface="Helvetica Neue"/>
                        </a:rPr>
                        <a:t>Videa Dental AI</a:t>
                      </a:r>
                    </a:p>
                  </a:txBody>
                  <a:tcPr marL="45720" marR="45720" marT="18288" marB="18288" anchor="t"/>
                </a:tc>
                <a:tc>
                  <a:txBody>
                    <a:bodyPr wrap="square"/>
                    <a:lstStyle/>
                    <a:p>
                      <a:r>
                        <a:rPr sz="896" b="0" i="0">
                          <a:solidFill>
                            <a:srgbClr val="1A1A1A"/>
                          </a:solidFill>
                          <a:latin typeface="Helvetica Neue"/>
                        </a:rPr>
                        <a:t>MYN</a:t>
                      </a:r>
                    </a:p>
                  </a:txBody>
                  <a:tcPr marL="45720" marR="45720" marT="18288" marB="18288" anchor="t"/>
                </a:tc>
              </a:tr>
              <a:tr h="191414">
                <a:tc>
                  <a:txBody>
                    <a:bodyPr wrap="square"/>
                    <a:lstStyle/>
                    <a:p>
                      <a:r>
                        <a:rPr sz="896" b="0" i="0">
                          <a:solidFill>
                            <a:srgbClr val="1A1A1A"/>
                          </a:solidFill>
                          <a:latin typeface="Helvetica Neue"/>
                        </a:rPr>
                        <a:t>K251071</a:t>
                      </a:r>
                    </a:p>
                  </a:txBody>
                  <a:tcPr marL="45720" marR="45720" marT="18288" marB="18288" anchor="t"/>
                </a:tc>
                <a:tc>
                  <a:txBody>
                    <a:bodyPr wrap="square"/>
                    <a:lstStyle/>
                    <a:p>
                      <a:r>
                        <a:rPr sz="896" b="0" i="0">
                          <a:solidFill>
                            <a:srgbClr val="1A1A1A"/>
                          </a:solidFill>
                          <a:latin typeface="Helvetica Neue"/>
                        </a:rPr>
                        <a:t>05/02/2025</a:t>
                      </a:r>
                    </a:p>
                  </a:txBody>
                  <a:tcPr marL="45720" marR="45720" marT="18288" marB="18288" anchor="t"/>
                </a:tc>
                <a:tc>
                  <a:txBody>
                    <a:bodyPr wrap="square"/>
                    <a:lstStyle/>
                    <a:p>
                      <a:r>
                        <a:rPr sz="896" b="0" i="0">
                          <a:solidFill>
                            <a:srgbClr val="1A1A1A"/>
                          </a:solidFill>
                          <a:latin typeface="Helvetica Neue"/>
                        </a:rPr>
                        <a:t>BrightHeart</a:t>
                      </a:r>
                    </a:p>
                  </a:txBody>
                  <a:tcPr marL="45720" marR="45720" marT="18288" marB="18288" anchor="t"/>
                </a:tc>
                <a:tc>
                  <a:txBody>
                    <a:bodyPr wrap="square"/>
                    <a:lstStyle/>
                    <a:p>
                      <a:r>
                        <a:rPr sz="896" b="0" i="0">
                          <a:solidFill>
                            <a:srgbClr val="1A1A1A"/>
                          </a:solidFill>
                          <a:latin typeface="Helvetica Neue"/>
                        </a:rPr>
                        <a:t>Fetal EchoScan (v1.1)</a:t>
                      </a:r>
                    </a:p>
                  </a:txBody>
                  <a:tcPr marL="45720" marR="45720" marT="18288" marB="18288" anchor="t"/>
                </a:tc>
                <a:tc>
                  <a:txBody>
                    <a:bodyPr wrap="square"/>
                    <a:lstStyle/>
                    <a:p>
                      <a:r>
                        <a:rPr sz="896" b="0" i="0">
                          <a:solidFill>
                            <a:srgbClr val="1A1A1A"/>
                          </a:solidFill>
                          <a:latin typeface="Helvetica Neue"/>
                        </a:rPr>
                        <a:t>POK</a:t>
                      </a:r>
                    </a:p>
                  </a:txBody>
                  <a:tcPr marL="45720" marR="45720" marT="18288" marB="18288" anchor="t"/>
                </a:tc>
              </a:tr>
              <a:tr h="191414">
                <a:tc>
                  <a:txBody>
                    <a:bodyPr wrap="square"/>
                    <a:lstStyle/>
                    <a:p>
                      <a:r>
                        <a:rPr sz="896" b="0" i="0">
                          <a:solidFill>
                            <a:srgbClr val="1A1A1A"/>
                          </a:solidFill>
                          <a:latin typeface="Helvetica Neue"/>
                        </a:rPr>
                        <a:t>K251078</a:t>
                      </a:r>
                    </a:p>
                  </a:txBody>
                  <a:tcPr marL="45720" marR="45720" marT="18288" marB="18288" anchor="t"/>
                </a:tc>
                <a:tc>
                  <a:txBody>
                    <a:bodyPr wrap="square"/>
                    <a:lstStyle/>
                    <a:p>
                      <a:r>
                        <a:rPr sz="896" b="0" i="0">
                          <a:solidFill>
                            <a:srgbClr val="1A1A1A"/>
                          </a:solidFill>
                          <a:latin typeface="Helvetica Neue"/>
                        </a:rPr>
                        <a:t>11/14/2025</a:t>
                      </a:r>
                    </a:p>
                  </a:txBody>
                  <a:tcPr marL="45720" marR="45720" marT="18288" marB="18288" anchor="t"/>
                </a:tc>
                <a:tc>
                  <a:txBody>
                    <a:bodyPr wrap="square"/>
                    <a:lstStyle/>
                    <a:p>
                      <a:r>
                        <a:rPr sz="896" b="0" i="0">
                          <a:solidFill>
                            <a:srgbClr val="1A1A1A"/>
                          </a:solidFill>
                          <a:latin typeface="Helvetica Neue"/>
                        </a:rPr>
                        <a:t>Eos Imaging</a:t>
                      </a:r>
                    </a:p>
                  </a:txBody>
                  <a:tcPr marL="45720" marR="45720" marT="18288" marB="18288" anchor="t"/>
                </a:tc>
                <a:tc>
                  <a:txBody>
                    <a:bodyPr wrap="square"/>
                    <a:lstStyle/>
                    <a:p>
                      <a:r>
                        <a:rPr sz="896" b="0" i="0">
                          <a:solidFill>
                            <a:srgbClr val="1A1A1A"/>
                          </a:solidFill>
                          <a:latin typeface="Helvetica Neue"/>
                        </a:rPr>
                        <a:t>AutoDensity</a:t>
                      </a:r>
                    </a:p>
                  </a:txBody>
                  <a:tcPr marL="45720" marR="45720" marT="18288" marB="18288" anchor="t"/>
                </a:tc>
                <a:tc>
                  <a:txBody>
                    <a:bodyPr wrap="square"/>
                    <a:lstStyle/>
                    <a:p>
                      <a:r>
                        <a:rPr sz="896" b="0" i="0">
                          <a:solidFill>
                            <a:srgbClr val="1A1A1A"/>
                          </a:solidFill>
                          <a:latin typeface="Helvetica Neue"/>
                        </a:rPr>
                        <a:t>QIH</a:t>
                      </a:r>
                    </a:p>
                  </a:txBody>
                  <a:tcPr marL="45720" marR="45720" marT="18288" marB="18288" anchor="t"/>
                </a:tc>
              </a:tr>
              <a:tr h="327964">
                <a:tc>
                  <a:txBody>
                    <a:bodyPr wrap="square"/>
                    <a:lstStyle/>
                    <a:p>
                      <a:r>
                        <a:rPr sz="896" b="0" i="0">
                          <a:solidFill>
                            <a:srgbClr val="1A1A1A"/>
                          </a:solidFill>
                          <a:latin typeface="Helvetica Neue"/>
                        </a:rPr>
                        <a:t>K251110</a:t>
                      </a:r>
                    </a:p>
                  </a:txBody>
                  <a:tcPr marL="45720" marR="45720" marT="18288" marB="18288" anchor="t"/>
                </a:tc>
                <a:tc>
                  <a:txBody>
                    <a:bodyPr wrap="square"/>
                    <a:lstStyle/>
                    <a:p>
                      <a:r>
                        <a:rPr sz="896" b="0" i="0">
                          <a:solidFill>
                            <a:srgbClr val="1A1A1A"/>
                          </a:solidFill>
                          <a:latin typeface="Helvetica Neue"/>
                        </a:rPr>
                        <a:t>05/09/2025</a:t>
                      </a:r>
                    </a:p>
                  </a:txBody>
                  <a:tcPr marL="45720" marR="45720" marT="18288" marB="18288" anchor="t"/>
                </a:tc>
                <a:tc>
                  <a:txBody>
                    <a:bodyPr wrap="square"/>
                    <a:lstStyle/>
                    <a:p>
                      <a:r>
                        <a:rPr sz="896" b="0" i="0">
                          <a:solidFill>
                            <a:srgbClr val="1A1A1A"/>
                          </a:solidFill>
                          <a:latin typeface="Helvetica Neue"/>
                        </a:rPr>
                        <a:t>Philips Ultrasound LLC</a:t>
                      </a:r>
                    </a:p>
                  </a:txBody>
                  <a:tcPr marL="45720" marR="45720" marT="18288" marB="18288" anchor="t"/>
                </a:tc>
                <a:tc>
                  <a:txBody>
                    <a:bodyPr wrap="square"/>
                    <a:lstStyle/>
                    <a:p>
                      <a:r>
                        <a:rPr sz="896" b="0" i="0">
                          <a:solidFill>
                            <a:srgbClr val="1A1A1A"/>
                          </a:solidFill>
                          <a:latin typeface="Helvetica Neue"/>
                        </a:rPr>
                        <a:t>EPIQ Series Diagnostic Ultrasound Systems; Affiniti Series Diagnostic Ultrasound Systems</a:t>
                      </a:r>
                    </a:p>
                  </a:txBody>
                  <a:tcPr marL="45720" marR="45720" marT="18288" marB="18288" anchor="t"/>
                </a:tc>
                <a:tc>
                  <a:txBody>
                    <a:bodyPr wrap="square"/>
                    <a:lstStyle/>
                    <a:p>
                      <a:r>
                        <a:rPr sz="896" b="0" i="0">
                          <a:solidFill>
                            <a:srgbClr val="1A1A1A"/>
                          </a:solidFill>
                          <a:latin typeface="Helvetica Neue"/>
                        </a:rPr>
                        <a:t>IYN</a:t>
                      </a:r>
                    </a:p>
                  </a:txBody>
                  <a:tcPr marL="45720" marR="45720" marT="18288" marB="18288" anchor="t"/>
                </a:tc>
              </a:tr>
              <a:tr h="327964">
                <a:tc>
                  <a:txBody>
                    <a:bodyPr wrap="square"/>
                    <a:lstStyle/>
                    <a:p>
                      <a:r>
                        <a:rPr sz="896" b="0" i="0">
                          <a:solidFill>
                            <a:srgbClr val="1A1A1A"/>
                          </a:solidFill>
                          <a:latin typeface="Helvetica Neue"/>
                        </a:rPr>
                        <a:t>K251167</a:t>
                      </a:r>
                    </a:p>
                  </a:txBody>
                  <a:tcPr marL="45720" marR="45720" marT="18288" marB="18288" anchor="t"/>
                </a:tc>
                <a:tc>
                  <a:txBody>
                    <a:bodyPr wrap="square"/>
                    <a:lstStyle/>
                    <a:p>
                      <a:r>
                        <a:rPr sz="896" b="0" i="0">
                          <a:solidFill>
                            <a:srgbClr val="1A1A1A"/>
                          </a:solidFill>
                          <a:latin typeface="Helvetica Neue"/>
                        </a:rPr>
                        <a:t>09/19/2025</a:t>
                      </a:r>
                    </a:p>
                  </a:txBody>
                  <a:tcPr marL="45720" marR="45720" marT="18288" marB="18288" anchor="t"/>
                </a:tc>
                <a:tc>
                  <a:txBody>
                    <a:bodyPr wrap="square"/>
                    <a:lstStyle/>
                    <a:p>
                      <a:r>
                        <a:rPr sz="896" b="0" i="0">
                          <a:solidFill>
                            <a:srgbClr val="1A1A1A"/>
                          </a:solidFill>
                          <a:latin typeface="Helvetica Neue"/>
                        </a:rPr>
                        <a:t>Shanghai United Imaging Healthcare Co., Ltd.</a:t>
                      </a:r>
                    </a:p>
                  </a:txBody>
                  <a:tcPr marL="45720" marR="45720" marT="18288" marB="18288" anchor="t"/>
                </a:tc>
                <a:tc>
                  <a:txBody>
                    <a:bodyPr wrap="square"/>
                    <a:lstStyle/>
                    <a:p>
                      <a:r>
                        <a:rPr sz="896" b="0" i="0">
                          <a:solidFill>
                            <a:srgbClr val="1A1A1A"/>
                          </a:solidFill>
                          <a:latin typeface="Helvetica Neue"/>
                        </a:rPr>
                        <a:t>uDR Aurora CX</a:t>
                      </a:r>
                    </a:p>
                  </a:txBody>
                  <a:tcPr marL="45720" marR="45720" marT="18288" marB="18288" anchor="t"/>
                </a:tc>
                <a:tc>
                  <a:txBody>
                    <a:bodyPr wrap="square"/>
                    <a:lstStyle/>
                    <a:p>
                      <a:r>
                        <a:rPr sz="896" b="0" i="0">
                          <a:solidFill>
                            <a:srgbClr val="1A1A1A"/>
                          </a:solidFill>
                          <a:latin typeface="Helvetica Neue"/>
                        </a:rPr>
                        <a:t>KPR</a:t>
                      </a:r>
                    </a:p>
                  </a:txBody>
                  <a:tcPr marL="45720" marR="45720" marT="18288" marB="18288" anchor="t"/>
                </a:tc>
              </a:tr>
              <a:tr h="191414">
                <a:tc>
                  <a:txBody>
                    <a:bodyPr wrap="square"/>
                    <a:lstStyle/>
                    <a:p>
                      <a:r>
                        <a:rPr sz="896" b="0" i="0">
                          <a:solidFill>
                            <a:srgbClr val="1A1A1A"/>
                          </a:solidFill>
                          <a:latin typeface="Helvetica Neue"/>
                        </a:rPr>
                        <a:t>K251195</a:t>
                      </a:r>
                    </a:p>
                  </a:txBody>
                  <a:tcPr marL="45720" marR="45720" marT="18288" marB="18288" anchor="t"/>
                </a:tc>
                <a:tc>
                  <a:txBody>
                    <a:bodyPr wrap="square"/>
                    <a:lstStyle/>
                    <a:p>
                      <a:r>
                        <a:rPr sz="896" b="0" i="0">
                          <a:solidFill>
                            <a:srgbClr val="1A1A1A"/>
                          </a:solidFill>
                          <a:latin typeface="Helvetica Neue"/>
                        </a:rPr>
                        <a:t>01/27/2026</a:t>
                      </a:r>
                    </a:p>
                  </a:txBody>
                  <a:tcPr marL="45720" marR="45720" marT="18288" marB="18288" anchor="t"/>
                </a:tc>
                <a:tc>
                  <a:txBody>
                    <a:bodyPr wrap="square"/>
                    <a:lstStyle/>
                    <a:p>
                      <a:r>
                        <a:rPr sz="896" b="0" i="0">
                          <a:solidFill>
                            <a:srgbClr val="1A1A1A"/>
                          </a:solidFill>
                          <a:latin typeface="Helvetica Neue"/>
                        </a:rPr>
                        <a:t>Aidoc Medical , Ltd.</a:t>
                      </a:r>
                    </a:p>
                  </a:txBody>
                  <a:tcPr marL="45720" marR="45720" marT="18288" marB="18288" anchor="t"/>
                </a:tc>
                <a:tc>
                  <a:txBody>
                    <a:bodyPr wrap="square"/>
                    <a:lstStyle/>
                    <a:p>
                      <a:r>
                        <a:rPr sz="896" b="0" i="0">
                          <a:solidFill>
                            <a:srgbClr val="1A1A1A"/>
                          </a:solidFill>
                          <a:latin typeface="Helvetica Neue"/>
                        </a:rPr>
                        <a:t>BriefCase-Triage</a:t>
                      </a:r>
                    </a:p>
                  </a:txBody>
                  <a:tcPr marL="45720" marR="45720" marT="18288" marB="18288" anchor="t"/>
                </a:tc>
                <a:tc>
                  <a:txBody>
                    <a:bodyPr wrap="square"/>
                    <a:lstStyle/>
                    <a:p>
                      <a:r>
                        <a:rPr sz="896" b="0" i="0">
                          <a:solidFill>
                            <a:srgbClr val="1A1A1A"/>
                          </a:solidFill>
                          <a:latin typeface="Helvetica Neue"/>
                        </a:rPr>
                        <a:t>QAS</a:t>
                      </a:r>
                    </a:p>
                  </a:txBody>
                  <a:tcPr marL="45720" marR="45720" marT="18288" marB="18288" anchor="t"/>
                </a:tc>
              </a:tr>
              <a:tr h="191414">
                <a:tc>
                  <a:txBody>
                    <a:bodyPr wrap="square"/>
                    <a:lstStyle/>
                    <a:p>
                      <a:r>
                        <a:rPr sz="896" b="0" i="0">
                          <a:solidFill>
                            <a:srgbClr val="1A1A1A"/>
                          </a:solidFill>
                          <a:latin typeface="Helvetica Neue"/>
                        </a:rPr>
                        <a:t>K251276</a:t>
                      </a:r>
                    </a:p>
                  </a:txBody>
                  <a:tcPr marL="45720" marR="45720" marT="18288" marB="18288" anchor="t"/>
                </a:tc>
                <a:tc>
                  <a:txBody>
                    <a:bodyPr wrap="square"/>
                    <a:lstStyle/>
                    <a:p>
                      <a:r>
                        <a:rPr sz="896" b="0" i="0">
                          <a:solidFill>
                            <a:srgbClr val="1A1A1A"/>
                          </a:solidFill>
                          <a:latin typeface="Helvetica Neue"/>
                        </a:rPr>
                        <a:t>05/21/2025</a:t>
                      </a:r>
                    </a:p>
                  </a:txBody>
                  <a:tcPr marL="45720" marR="45720" marT="18288" marB="18288" anchor="t"/>
                </a:tc>
                <a:tc>
                  <a:txBody>
                    <a:bodyPr wrap="square"/>
                    <a:lstStyle/>
                    <a:p>
                      <a:r>
                        <a:rPr sz="896" b="0" i="0">
                          <a:solidFill>
                            <a:srgbClr val="1A1A1A"/>
                          </a:solidFill>
                          <a:latin typeface="Helvetica Neue"/>
                        </a:rPr>
                        <a:t>Hyperfine, Inc.</a:t>
                      </a:r>
                    </a:p>
                  </a:txBody>
                  <a:tcPr marL="45720" marR="45720" marT="18288" marB="18288" anchor="t"/>
                </a:tc>
                <a:tc>
                  <a:txBody>
                    <a:bodyPr wrap="square"/>
                    <a:lstStyle/>
                    <a:p>
                      <a:r>
                        <a:rPr sz="896" b="0" i="0">
                          <a:solidFill>
                            <a:srgbClr val="1A1A1A"/>
                          </a:solidFill>
                          <a:latin typeface="Helvetica Neue"/>
                        </a:rPr>
                        <a:t>Swoop® Portable MR Imaging® System</a:t>
                      </a:r>
                    </a:p>
                  </a:txBody>
                  <a:tcPr marL="45720" marR="45720" marT="18288" marB="18288" anchor="t"/>
                </a:tc>
                <a:tc>
                  <a:txBody>
                    <a:bodyPr wrap="square"/>
                    <a:lstStyle/>
                    <a:p>
                      <a:r>
                        <a:rPr sz="896" b="0" i="0">
                          <a:solidFill>
                            <a:srgbClr val="1A1A1A"/>
                          </a:solidFill>
                          <a:latin typeface="Helvetica Neue"/>
                        </a:rPr>
                        <a:t>LNH</a:t>
                      </a:r>
                    </a:p>
                  </a:txBody>
                  <a:tcPr marL="45720" marR="45720" marT="18288" marB="18288" anchor="t"/>
                </a:tc>
              </a:tr>
              <a:tr h="327964">
                <a:tc>
                  <a:txBody>
                    <a:bodyPr wrap="square"/>
                    <a:lstStyle/>
                    <a:p>
                      <a:r>
                        <a:rPr sz="896" b="0" i="0">
                          <a:solidFill>
                            <a:srgbClr val="1A1A1A"/>
                          </a:solidFill>
                          <a:latin typeface="Helvetica Neue"/>
                        </a:rPr>
                        <a:t>K251322</a:t>
                      </a:r>
                    </a:p>
                  </a:txBody>
                  <a:tcPr marL="45720" marR="45720" marT="18288" marB="18288" anchor="t"/>
                </a:tc>
                <a:tc>
                  <a:txBody>
                    <a:bodyPr wrap="square"/>
                    <a:lstStyle/>
                    <a:p>
                      <a:r>
                        <a:rPr sz="896" b="0" i="0">
                          <a:solidFill>
                            <a:srgbClr val="1A1A1A"/>
                          </a:solidFill>
                          <a:latin typeface="Helvetica Neue"/>
                        </a:rPr>
                        <a:t>07/25/2025</a:t>
                      </a:r>
                    </a:p>
                  </a:txBody>
                  <a:tcPr marL="45720" marR="45720" marT="18288" marB="18288" anchor="t"/>
                </a:tc>
                <a:tc>
                  <a:txBody>
                    <a:bodyPr wrap="square"/>
                    <a:lstStyle/>
                    <a:p>
                      <a:r>
                        <a:rPr sz="896" b="0" i="0">
                          <a:solidFill>
                            <a:srgbClr val="1A1A1A"/>
                          </a:solidFill>
                          <a:latin typeface="Helvetica Neue"/>
                        </a:rPr>
                        <a:t>GE Medical Systems Ultrasound and Primary care Diagnostics,</a:t>
                      </a:r>
                    </a:p>
                  </a:txBody>
                  <a:tcPr marL="45720" marR="45720" marT="18288" marB="18288" anchor="t"/>
                </a:tc>
                <a:tc>
                  <a:txBody>
                    <a:bodyPr wrap="square"/>
                    <a:lstStyle/>
                    <a:p>
                      <a:r>
                        <a:rPr sz="896" b="0" i="0">
                          <a:solidFill>
                            <a:srgbClr val="1A1A1A"/>
                          </a:solidFill>
                          <a:latin typeface="Helvetica Neue"/>
                        </a:rPr>
                        <a:t>Venue; Venue Go; Venue Fit; Venue Sprint</a:t>
                      </a:r>
                    </a:p>
                  </a:txBody>
                  <a:tcPr marL="45720" marR="45720" marT="18288" marB="18288" anchor="t"/>
                </a:tc>
                <a:tc>
                  <a:txBody>
                    <a:bodyPr wrap="square"/>
                    <a:lstStyle/>
                    <a:p>
                      <a:r>
                        <a:rPr sz="896" b="0" i="0">
                          <a:solidFill>
                            <a:srgbClr val="1A1A1A"/>
                          </a:solidFill>
                          <a:latin typeface="Helvetica Neue"/>
                        </a:rPr>
                        <a:t>IYN</a:t>
                      </a:r>
                    </a:p>
                  </a:txBody>
                  <a:tcPr marL="45720" marR="45720" marT="18288" marB="18288" anchor="t"/>
                </a:tc>
              </a:tr>
              <a:tr h="191414">
                <a:tc>
                  <a:txBody>
                    <a:bodyPr wrap="square"/>
                    <a:lstStyle/>
                    <a:p>
                      <a:r>
                        <a:rPr sz="896" b="0" i="0">
                          <a:solidFill>
                            <a:srgbClr val="1A1A1A"/>
                          </a:solidFill>
                          <a:latin typeface="Helvetica Neue"/>
                        </a:rPr>
                        <a:t>K251368</a:t>
                      </a:r>
                    </a:p>
                  </a:txBody>
                  <a:tcPr marL="45720" marR="45720" marT="18288" marB="18288" anchor="t"/>
                </a:tc>
                <a:tc>
                  <a:txBody>
                    <a:bodyPr wrap="square"/>
                    <a:lstStyle/>
                    <a:p>
                      <a:r>
                        <a:rPr sz="896" b="0" i="0">
                          <a:solidFill>
                            <a:srgbClr val="1A1A1A"/>
                          </a:solidFill>
                          <a:latin typeface="Helvetica Neue"/>
                        </a:rPr>
                        <a:t>09/12/2025</a:t>
                      </a:r>
                    </a:p>
                  </a:txBody>
                  <a:tcPr marL="45720" marR="45720" marT="18288" marB="18288" anchor="t"/>
                </a:tc>
                <a:tc>
                  <a:txBody>
                    <a:bodyPr wrap="square"/>
                    <a:lstStyle/>
                    <a:p>
                      <a:r>
                        <a:rPr sz="896" b="0" i="0">
                          <a:solidFill>
                            <a:srgbClr val="1A1A1A"/>
                          </a:solidFill>
                          <a:latin typeface="Helvetica Neue"/>
                        </a:rPr>
                        <a:t>Diagnoly</a:t>
                      </a:r>
                    </a:p>
                  </a:txBody>
                  <a:tcPr marL="45720" marR="45720" marT="18288" marB="18288" anchor="t"/>
                </a:tc>
                <a:tc>
                  <a:txBody>
                    <a:bodyPr wrap="square"/>
                    <a:lstStyle/>
                    <a:p>
                      <a:r>
                        <a:rPr sz="896" b="0" i="0">
                          <a:solidFill>
                            <a:srgbClr val="1A1A1A"/>
                          </a:solidFill>
                          <a:latin typeface="Helvetica Neue"/>
                        </a:rPr>
                        <a:t>FETOLY</a:t>
                      </a:r>
                    </a:p>
                  </a:txBody>
                  <a:tcPr marL="45720" marR="45720" marT="18288" marB="18288" anchor="t"/>
                </a:tc>
                <a:tc>
                  <a:txBody>
                    <a:bodyPr wrap="square"/>
                    <a:lstStyle/>
                    <a:p>
                      <a:r>
                        <a:rPr sz="896" b="0" i="0">
                          <a:solidFill>
                            <a:srgbClr val="1A1A1A"/>
                          </a:solidFill>
                          <a:latin typeface="Helvetica Neue"/>
                        </a:rPr>
                        <a:t>IYN</a:t>
                      </a:r>
                    </a:p>
                  </a:txBody>
                  <a:tcPr marL="45720" marR="45720" marT="18288" marB="18288" anchor="t"/>
                </a:tc>
              </a:tr>
              <a:tr h="191414">
                <a:tc>
                  <a:txBody>
                    <a:bodyPr wrap="square"/>
                    <a:lstStyle/>
                    <a:p>
                      <a:r>
                        <a:rPr sz="896" b="0" i="0">
                          <a:solidFill>
                            <a:srgbClr val="1A1A1A"/>
                          </a:solidFill>
                          <a:latin typeface="Helvetica Neue"/>
                        </a:rPr>
                        <a:t>K251370</a:t>
                      </a:r>
                    </a:p>
                  </a:txBody>
                  <a:tcPr marL="45720" marR="45720" marT="18288" marB="18288" anchor="t"/>
                </a:tc>
                <a:tc>
                  <a:txBody>
                    <a:bodyPr wrap="square"/>
                    <a:lstStyle/>
                    <a:p>
                      <a:r>
                        <a:rPr sz="896" b="0" i="0">
                          <a:solidFill>
                            <a:srgbClr val="1A1A1A"/>
                          </a:solidFill>
                          <a:latin typeface="Helvetica Neue"/>
                        </a:rPr>
                        <a:t>12/01/2025</a:t>
                      </a:r>
                    </a:p>
                  </a:txBody>
                  <a:tcPr marL="45720" marR="45720" marT="18288" marB="18288" anchor="t"/>
                </a:tc>
                <a:tc>
                  <a:txBody>
                    <a:bodyPr wrap="square"/>
                    <a:lstStyle/>
                    <a:p>
                      <a:r>
                        <a:rPr sz="896" b="0" i="0">
                          <a:solidFill>
                            <a:srgbClr val="1A1A1A"/>
                          </a:solidFill>
                          <a:latin typeface="Helvetica Neue"/>
                        </a:rPr>
                        <a:t>Canon Medical Systems Corporation</a:t>
                      </a:r>
                    </a:p>
                  </a:txBody>
                  <a:tcPr marL="45720" marR="45720" marT="18288" marB="18288" anchor="t"/>
                </a:tc>
                <a:tc>
                  <a:txBody>
                    <a:bodyPr wrap="square"/>
                    <a:lstStyle/>
                    <a:p>
                      <a:r>
                        <a:rPr sz="896" b="0" i="0">
                          <a:solidFill>
                            <a:srgbClr val="1A1A1A"/>
                          </a:solidFill>
                          <a:latin typeface="Helvetica Neue"/>
                        </a:rPr>
                        <a:t>Cartesion Prime (PCD-1000A/3) V10.21</a:t>
                      </a:r>
                    </a:p>
                  </a:txBody>
                  <a:tcPr marL="45720" marR="45720" marT="18288" marB="18288" anchor="t"/>
                </a:tc>
                <a:tc>
                  <a:txBody>
                    <a:bodyPr wrap="square"/>
                    <a:lstStyle/>
                    <a:p>
                      <a:r>
                        <a:rPr sz="896" b="0" i="0">
                          <a:solidFill>
                            <a:srgbClr val="1A1A1A"/>
                          </a:solidFill>
                          <a:latin typeface="Helvetica Neue"/>
                        </a:rPr>
                        <a:t>KPS</a:t>
                      </a:r>
                    </a:p>
                  </a:txBody>
                  <a:tcPr marL="45720" marR="45720" marT="18288" marB="18288" anchor="t"/>
                </a:tc>
              </a:tr>
              <a:tr h="191414">
                <a:tc>
                  <a:txBody>
                    <a:bodyPr wrap="square"/>
                    <a:lstStyle/>
                    <a:p>
                      <a:r>
                        <a:rPr sz="896" b="0" i="0">
                          <a:solidFill>
                            <a:srgbClr val="1A1A1A"/>
                          </a:solidFill>
                          <a:latin typeface="Helvetica Neue"/>
                        </a:rPr>
                        <a:t>K251406</a:t>
                      </a:r>
                    </a:p>
                  </a:txBody>
                  <a:tcPr marL="45720" marR="45720" marT="18288" marB="18288" anchor="t"/>
                </a:tc>
                <a:tc>
                  <a:txBody>
                    <a:bodyPr wrap="square"/>
                    <a:lstStyle/>
                    <a:p>
                      <a:r>
                        <a:rPr sz="896" b="0" i="0">
                          <a:solidFill>
                            <a:srgbClr val="1A1A1A"/>
                          </a:solidFill>
                          <a:latin typeface="Helvetica Neue"/>
                        </a:rPr>
                        <a:t>05/30/2025</a:t>
                      </a:r>
                    </a:p>
                  </a:txBody>
                  <a:tcPr marL="45720" marR="45720" marT="18288" marB="18288" anchor="t"/>
                </a:tc>
                <a:tc>
                  <a:txBody>
                    <a:bodyPr wrap="square"/>
                    <a:lstStyle/>
                    <a:p>
                      <a:r>
                        <a:rPr sz="896" b="0" i="0">
                          <a:solidFill>
                            <a:srgbClr val="1A1A1A"/>
                          </a:solidFill>
                          <a:latin typeface="Helvetica Neue"/>
                        </a:rPr>
                        <a:t>Aidoc Medical, Ltd.</a:t>
                      </a:r>
                    </a:p>
                  </a:txBody>
                  <a:tcPr marL="45720" marR="45720" marT="18288" marB="18288" anchor="t"/>
                </a:tc>
                <a:tc>
                  <a:txBody>
                    <a:bodyPr wrap="square"/>
                    <a:lstStyle/>
                    <a:p>
                      <a:r>
                        <a:rPr sz="896" b="0" i="0">
                          <a:solidFill>
                            <a:srgbClr val="1A1A1A"/>
                          </a:solidFill>
                          <a:latin typeface="Helvetica Neue"/>
                        </a:rPr>
                        <a:t>BriefCase-Triage</a:t>
                      </a:r>
                    </a:p>
                  </a:txBody>
                  <a:tcPr marL="45720" marR="45720" marT="18288" marB="18288" anchor="t"/>
                </a:tc>
                <a:tc>
                  <a:txBody>
                    <a:bodyPr wrap="square"/>
                    <a:lstStyle/>
                    <a:p>
                      <a:r>
                        <a:rPr sz="896" b="0" i="0">
                          <a:solidFill>
                            <a:srgbClr val="1A1A1A"/>
                          </a:solidFill>
                          <a:latin typeface="Helvetica Neue"/>
                        </a:rPr>
                        <a:t>QAS</a:t>
                      </a:r>
                    </a:p>
                  </a:txBody>
                  <a:tcPr marL="45720" marR="45720" marT="18288" marB="18288" anchor="t"/>
                </a:tc>
              </a:tr>
              <a:tr h="327964">
                <a:tc>
                  <a:txBody>
                    <a:bodyPr wrap="square"/>
                    <a:lstStyle/>
                    <a:p>
                      <a:r>
                        <a:rPr sz="896" b="0" i="0">
                          <a:solidFill>
                            <a:srgbClr val="1A1A1A"/>
                          </a:solidFill>
                          <a:latin typeface="Helvetica Neue"/>
                        </a:rPr>
                        <a:t>K251455</a:t>
                      </a:r>
                    </a:p>
                  </a:txBody>
                  <a:tcPr marL="45720" marR="45720" marT="18288" marB="18288" anchor="t"/>
                </a:tc>
                <a:tc>
                  <a:txBody>
                    <a:bodyPr wrap="square"/>
                    <a:lstStyle/>
                    <a:p>
                      <a:r>
                        <a:rPr sz="896" b="0" i="0">
                          <a:solidFill>
                            <a:srgbClr val="1A1A1A"/>
                          </a:solidFill>
                          <a:latin typeface="Helvetica Neue"/>
                        </a:rPr>
                        <a:t>07/24/2025</a:t>
                      </a:r>
                    </a:p>
                  </a:txBody>
                  <a:tcPr marL="45720" marR="45720" marT="18288" marB="18288" anchor="t"/>
                </a:tc>
                <a:tc>
                  <a:txBody>
                    <a:bodyPr wrap="square"/>
                    <a:lstStyle/>
                    <a:p>
                      <a:r>
                        <a:rPr sz="896" b="0" i="0">
                          <a:solidFill>
                            <a:srgbClr val="1A1A1A"/>
                          </a:solidFill>
                          <a:latin typeface="Helvetica Neue"/>
                        </a:rPr>
                        <a:t>Philips Ultrasound LLC</a:t>
                      </a:r>
                    </a:p>
                  </a:txBody>
                  <a:tcPr marL="45720" marR="45720" marT="18288" marB="18288" anchor="t"/>
                </a:tc>
                <a:tc>
                  <a:txBody>
                    <a:bodyPr wrap="square"/>
                    <a:lstStyle/>
                    <a:p>
                      <a:r>
                        <a:rPr sz="896" b="0" i="0">
                          <a:solidFill>
                            <a:srgbClr val="1A1A1A"/>
                          </a:solidFill>
                          <a:latin typeface="Helvetica Neue"/>
                        </a:rPr>
                        <a:t>EPIQ Series Diagnostic Ultrasound System; Affiniti Series Diagnostic Ultrasound System</a:t>
                      </a:r>
                    </a:p>
                  </a:txBody>
                  <a:tcPr marL="45720" marR="45720" marT="18288" marB="18288" anchor="t"/>
                </a:tc>
                <a:tc>
                  <a:txBody>
                    <a:bodyPr wrap="square"/>
                    <a:lstStyle/>
                    <a:p>
                      <a:r>
                        <a:rPr sz="896" b="0" i="0">
                          <a:solidFill>
                            <a:srgbClr val="1A1A1A"/>
                          </a:solidFill>
                          <a:latin typeface="Helvetica Neue"/>
                        </a:rPr>
                        <a:t>IYN</a:t>
                      </a:r>
                    </a:p>
                  </a:txBody>
                  <a:tcPr marL="45720" marR="45720" marT="18288" marB="18288" anchor="t"/>
                </a:tc>
              </a:tr>
              <a:tr h="191414">
                <a:tc>
                  <a:txBody>
                    <a:bodyPr wrap="square"/>
                    <a:lstStyle/>
                    <a:p>
                      <a:r>
                        <a:rPr sz="896" b="0" i="0">
                          <a:solidFill>
                            <a:srgbClr val="1A1A1A"/>
                          </a:solidFill>
                          <a:latin typeface="Helvetica Neue"/>
                        </a:rPr>
                        <a:t>K251456</a:t>
                      </a:r>
                    </a:p>
                  </a:txBody>
                  <a:tcPr marL="45720" marR="45720" marT="18288" marB="18288" anchor="t"/>
                </a:tc>
                <a:tc>
                  <a:txBody>
                    <a:bodyPr wrap="square"/>
                    <a:lstStyle/>
                    <a:p>
                      <a:r>
                        <a:rPr sz="896" b="0" i="0">
                          <a:solidFill>
                            <a:srgbClr val="1A1A1A"/>
                          </a:solidFill>
                          <a:latin typeface="Helvetica Neue"/>
                        </a:rPr>
                        <a:t>06/05/2025</a:t>
                      </a:r>
                    </a:p>
                  </a:txBody>
                  <a:tcPr marL="45720" marR="45720" marT="18288" marB="18288" anchor="t"/>
                </a:tc>
                <a:tc>
                  <a:txBody>
                    <a:bodyPr wrap="square"/>
                    <a:lstStyle/>
                    <a:p>
                      <a:r>
                        <a:rPr sz="896" b="0" i="0">
                          <a:solidFill>
                            <a:srgbClr val="1A1A1A"/>
                          </a:solidFill>
                          <a:latin typeface="Helvetica Neue"/>
                        </a:rPr>
                        <a:t>BrightHeart</a:t>
                      </a:r>
                    </a:p>
                  </a:txBody>
                  <a:tcPr marL="45720" marR="45720" marT="18288" marB="18288" anchor="t"/>
                </a:tc>
                <a:tc>
                  <a:txBody>
                    <a:bodyPr wrap="square"/>
                    <a:lstStyle/>
                    <a:p>
                      <a:r>
                        <a:rPr sz="896" b="0" i="0">
                          <a:solidFill>
                            <a:srgbClr val="1A1A1A"/>
                          </a:solidFill>
                          <a:latin typeface="Helvetica Neue"/>
                        </a:rPr>
                        <a:t>BrightHeart View Classifier</a:t>
                      </a:r>
                    </a:p>
                  </a:txBody>
                  <a:tcPr marL="45720" marR="45720" marT="18288" marB="18288" anchor="t"/>
                </a:tc>
                <a:tc>
                  <a:txBody>
                    <a:bodyPr wrap="square"/>
                    <a:lstStyle/>
                    <a:p>
                      <a:r>
                        <a:rPr sz="896" b="0" i="0">
                          <a:solidFill>
                            <a:srgbClr val="1A1A1A"/>
                          </a:solidFill>
                          <a:latin typeface="Helvetica Neue"/>
                        </a:rPr>
                        <a:t>QIH</a:t>
                      </a:r>
                    </a:p>
                  </a:txBody>
                  <a:tcPr marL="45720" marR="45720" marT="18288" marB="18288" anchor="t"/>
                </a:tc>
              </a:tr>
              <a:tr h="464515">
                <a:tc>
                  <a:txBody>
                    <a:bodyPr wrap="square"/>
                    <a:lstStyle/>
                    <a:p>
                      <a:r>
                        <a:rPr sz="896" b="0" i="0">
                          <a:solidFill>
                            <a:srgbClr val="1A1A1A"/>
                          </a:solidFill>
                          <a:latin typeface="Helvetica Neue"/>
                        </a:rPr>
                        <a:t>K251481</a:t>
                      </a:r>
                    </a:p>
                  </a:txBody>
                  <a:tcPr marL="45720" marR="45720" marT="18288" marB="18288" anchor="t"/>
                </a:tc>
                <a:tc>
                  <a:txBody>
                    <a:bodyPr wrap="square"/>
                    <a:lstStyle/>
                    <a:p>
                      <a:r>
                        <a:rPr sz="896" b="0" i="0">
                          <a:solidFill>
                            <a:srgbClr val="1A1A1A"/>
                          </a:solidFill>
                          <a:latin typeface="Helvetica Neue"/>
                        </a:rPr>
                        <a:t>08/20/2025</a:t>
                      </a:r>
                    </a:p>
                  </a:txBody>
                  <a:tcPr marL="45720" marR="45720" marT="18288" marB="18288" anchor="t"/>
                </a:tc>
                <a:tc>
                  <a:txBody>
                    <a:bodyPr wrap="square"/>
                    <a:lstStyle/>
                    <a:p>
                      <a:r>
                        <a:rPr sz="896" b="0" i="0">
                          <a:solidFill>
                            <a:srgbClr val="1A1A1A"/>
                          </a:solidFill>
                          <a:latin typeface="Helvetica Neue"/>
                        </a:rPr>
                        <a:t>Siemens Medical Solutions USA, Inc.</a:t>
                      </a:r>
                    </a:p>
                  </a:txBody>
                  <a:tcPr marL="45720" marR="45720" marT="18288" marB="18288" anchor="t"/>
                </a:tc>
                <a:tc>
                  <a:txBody>
                    <a:bodyPr wrap="square"/>
                    <a:lstStyle/>
                    <a:p>
                      <a:r>
                        <a:rPr sz="896" b="0" i="0">
                          <a:solidFill>
                            <a:srgbClr val="1A1A1A"/>
                          </a:solidFill>
                          <a:latin typeface="Helvetica Neue"/>
                        </a:rPr>
                        <a:t>ACUSON Sequoia Diagnostic Ultrasound System; ACUSON Sequoia Select Diagnostic Ultrasound System; ACUSON Origin Diagnostic Ultrasound System; ACUSON Origin ICE Diagnostic Ultrasound System</a:t>
                      </a:r>
                    </a:p>
                  </a:txBody>
                  <a:tcPr marL="45720" marR="45720" marT="18288" marB="18288" anchor="t"/>
                </a:tc>
                <a:tc>
                  <a:txBody>
                    <a:bodyPr wrap="square"/>
                    <a:lstStyle/>
                    <a:p>
                      <a:r>
                        <a:rPr sz="896" b="0" i="0">
                          <a:solidFill>
                            <a:srgbClr val="1A1A1A"/>
                          </a:solidFill>
                          <a:latin typeface="Helvetica Neue"/>
                        </a:rPr>
                        <a:t>IYN</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75 / 83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(181–200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365689"/>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10921">
                <a:tc>
                  <a:txBody>
                    <a:bodyPr wrap="square"/>
                    <a:lstStyle/>
                    <a:p>
                      <a:r>
                        <a:rPr sz="1024" b="1" i="0">
                          <a:solidFill>
                            <a:srgbClr val="FFFFFF"/>
                          </a:solidFill>
                          <a:latin typeface="Helvetica Neue"/>
                        </a:rPr>
                        <a:t>Submission</a:t>
                      </a:r>
                    </a:p>
                  </a:txBody>
                  <a:tcPr marL="45720" marR="45720" marT="18288" marB="18288" anchor="t"/>
                </a:tc>
                <a:tc>
                  <a:txBody>
                    <a:bodyPr wrap="square"/>
                    <a:lstStyle/>
                    <a:p>
                      <a:r>
                        <a:rPr sz="1024" b="1" i="0">
                          <a:solidFill>
                            <a:srgbClr val="FFFFFF"/>
                          </a:solidFill>
                          <a:latin typeface="Helvetica Neue"/>
                        </a:rPr>
                        <a:t>Date</a:t>
                      </a:r>
                    </a:p>
                  </a:txBody>
                  <a:tcPr marL="45720" marR="45720" marT="18288" marB="18288" anchor="t"/>
                </a:tc>
                <a:tc>
                  <a:txBody>
                    <a:bodyPr wrap="square"/>
                    <a:lstStyle/>
                    <a:p>
                      <a:r>
                        <a:rPr sz="1024" b="1" i="0">
                          <a:solidFill>
                            <a:srgbClr val="FFFFFF"/>
                          </a:solidFill>
                          <a:latin typeface="Helvetica Neue"/>
                        </a:rPr>
                        <a:t>Company</a:t>
                      </a:r>
                    </a:p>
                  </a:txBody>
                  <a:tcPr marL="45720" marR="45720" marT="18288" marB="18288" anchor="t"/>
                </a:tc>
                <a:tc>
                  <a:txBody>
                    <a:bodyPr wrap="square"/>
                    <a:lstStyle/>
                    <a:p>
                      <a:r>
                        <a:rPr sz="1024" b="1" i="0">
                          <a:solidFill>
                            <a:srgbClr val="FFFFFF"/>
                          </a:solidFill>
                          <a:latin typeface="Helvetica Neue"/>
                        </a:rPr>
                        <a:t>Device</a:t>
                      </a:r>
                    </a:p>
                  </a:txBody>
                  <a:tcPr marL="45720" marR="45720" marT="18288" marB="18288" anchor="t"/>
                </a:tc>
                <a:tc>
                  <a:txBody>
                    <a:bodyPr wrap="square"/>
                    <a:lstStyle/>
                    <a:p>
                      <a:r>
                        <a:rPr sz="1024" b="1" i="0">
                          <a:solidFill>
                            <a:srgbClr val="FFFFFF"/>
                          </a:solidFill>
                          <a:latin typeface="Helvetica Neue"/>
                        </a:rPr>
                        <a:t>Code</a:t>
                      </a:r>
                    </a:p>
                  </a:txBody>
                  <a:tcPr marL="45720" marR="45720" marT="18288" marB="18288" anchor="t"/>
                </a:tc>
              </a:tr>
              <a:tr h="210921">
                <a:tc>
                  <a:txBody>
                    <a:bodyPr wrap="square"/>
                    <a:lstStyle/>
                    <a:p>
                      <a:r>
                        <a:rPr sz="1024" b="0" i="0">
                          <a:solidFill>
                            <a:srgbClr val="1A1A1A"/>
                          </a:solidFill>
                          <a:latin typeface="Helvetica Neue"/>
                        </a:rPr>
                        <a:t>K251514</a:t>
                      </a:r>
                    </a:p>
                  </a:txBody>
                  <a:tcPr marL="45720" marR="45720" marT="18288" marB="18288" anchor="t"/>
                </a:tc>
                <a:tc>
                  <a:txBody>
                    <a:bodyPr wrap="square"/>
                    <a:lstStyle/>
                    <a:p>
                      <a:r>
                        <a:rPr sz="1024" b="0" i="0">
                          <a:solidFill>
                            <a:srgbClr val="1A1A1A"/>
                          </a:solidFill>
                          <a:latin typeface="Helvetica Neue"/>
                        </a:rPr>
                        <a:t>12/05/2025</a:t>
                      </a:r>
                    </a:p>
                  </a:txBody>
                  <a:tcPr marL="45720" marR="45720" marT="18288" marB="18288" anchor="t"/>
                </a:tc>
                <a:tc>
                  <a:txBody>
                    <a:bodyPr wrap="square"/>
                    <a:lstStyle/>
                    <a:p>
                      <a:r>
                        <a:rPr sz="1024" b="0" i="0">
                          <a:solidFill>
                            <a:srgbClr val="1A1A1A"/>
                          </a:solidFill>
                          <a:latin typeface="Helvetica Neue"/>
                        </a:rPr>
                        <a:t>Overjet, Inc.</a:t>
                      </a:r>
                    </a:p>
                  </a:txBody>
                  <a:tcPr marL="45720" marR="45720" marT="18288" marB="18288" anchor="t"/>
                </a:tc>
                <a:tc>
                  <a:txBody>
                    <a:bodyPr wrap="square"/>
                    <a:lstStyle/>
                    <a:p>
                      <a:r>
                        <a:rPr sz="1024" b="0" i="0">
                          <a:solidFill>
                            <a:srgbClr val="1A1A1A"/>
                          </a:solidFill>
                          <a:latin typeface="Helvetica Neue"/>
                        </a:rPr>
                        <a:t>Overjet CBCT Assist</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K251532</a:t>
                      </a:r>
                    </a:p>
                  </a:txBody>
                  <a:tcPr marL="45720" marR="45720" marT="18288" marB="18288" anchor="t"/>
                </a:tc>
                <a:tc>
                  <a:txBody>
                    <a:bodyPr wrap="square"/>
                    <a:lstStyle/>
                    <a:p>
                      <a:r>
                        <a:rPr sz="1024" b="0" i="0">
                          <a:solidFill>
                            <a:srgbClr val="1A1A1A"/>
                          </a:solidFill>
                          <a:latin typeface="Helvetica Neue"/>
                        </a:rPr>
                        <a:t>11/03/2025</a:t>
                      </a:r>
                    </a:p>
                  </a:txBody>
                  <a:tcPr marL="45720" marR="45720" marT="18288" marB="18288" anchor="t"/>
                </a:tc>
                <a:tc>
                  <a:txBody>
                    <a:bodyPr wrap="square"/>
                    <a:lstStyle/>
                    <a:p>
                      <a:r>
                        <a:rPr sz="1024" b="0" i="0">
                          <a:solidFill>
                            <a:srgbClr val="1A1A1A"/>
                          </a:solidFill>
                          <a:latin typeface="Helvetica Neue"/>
                        </a:rPr>
                        <a:t>Mighty Oak Medical</a:t>
                      </a:r>
                    </a:p>
                  </a:txBody>
                  <a:tcPr marL="45720" marR="45720" marT="18288" marB="18288" anchor="t"/>
                </a:tc>
                <a:tc>
                  <a:txBody>
                    <a:bodyPr wrap="square"/>
                    <a:lstStyle/>
                    <a:p>
                      <a:r>
                        <a:rPr sz="1024" b="0" i="0">
                          <a:solidFill>
                            <a:srgbClr val="1A1A1A"/>
                          </a:solidFill>
                          <a:latin typeface="Helvetica Neue"/>
                        </a:rPr>
                        <a:t>Acorn 3D Software (AC-SEG-4009); Acorn 3DP Model (AC-101-XX)</a:t>
                      </a:r>
                    </a:p>
                  </a:txBody>
                  <a:tcPr marL="45720" marR="45720" marT="18288" marB="18288" anchor="t"/>
                </a:tc>
                <a:tc>
                  <a:txBody>
                    <a:bodyPr wrap="square"/>
                    <a:lstStyle/>
                    <a:p>
                      <a:r>
                        <a:rPr sz="1024" b="0" i="0">
                          <a:solidFill>
                            <a:srgbClr val="1A1A1A"/>
                          </a:solidFill>
                          <a:latin typeface="Helvetica Neue"/>
                        </a:rPr>
                        <a:t>LLZ</a:t>
                      </a:r>
                    </a:p>
                  </a:txBody>
                  <a:tcPr marL="45720" marR="45720" marT="18288" marB="18288" anchor="t"/>
                </a:tc>
              </a:tr>
              <a:tr h="366979">
                <a:tc>
                  <a:txBody>
                    <a:bodyPr wrap="square"/>
                    <a:lstStyle/>
                    <a:p>
                      <a:r>
                        <a:rPr sz="1024" b="0" i="0">
                          <a:solidFill>
                            <a:srgbClr val="1A1A1A"/>
                          </a:solidFill>
                          <a:latin typeface="Helvetica Neue"/>
                        </a:rPr>
                        <a:t>K251651</a:t>
                      </a:r>
                    </a:p>
                  </a:txBody>
                  <a:tcPr marL="45720" marR="45720" marT="18288" marB="18288" anchor="t"/>
                </a:tc>
                <a:tc>
                  <a:txBody>
                    <a:bodyPr wrap="square"/>
                    <a:lstStyle/>
                    <a:p>
                      <a:r>
                        <a:rPr sz="1024" b="0" i="0">
                          <a:solidFill>
                            <a:srgbClr val="1A1A1A"/>
                          </a:solidFill>
                          <a:latin typeface="Helvetica Neue"/>
                        </a:rPr>
                        <a:t>10/09/2025</a:t>
                      </a:r>
                    </a:p>
                  </a:txBody>
                  <a:tcPr marL="45720" marR="45720" marT="18288" marB="18288" anchor="t"/>
                </a:tc>
                <a:tc>
                  <a:txBody>
                    <a:bodyPr wrap="square"/>
                    <a:lstStyle/>
                    <a:p>
                      <a:r>
                        <a:rPr sz="1024" b="0" i="0">
                          <a:solidFill>
                            <a:srgbClr val="1A1A1A"/>
                          </a:solidFill>
                          <a:latin typeface="Helvetica Neue"/>
                        </a:rPr>
                        <a:t>Philips Ultrasound, LLC</a:t>
                      </a:r>
                    </a:p>
                  </a:txBody>
                  <a:tcPr marL="45720" marR="45720" marT="18288" marB="18288" anchor="t"/>
                </a:tc>
                <a:tc>
                  <a:txBody>
                    <a:bodyPr wrap="square"/>
                    <a:lstStyle/>
                    <a:p>
                      <a:r>
                        <a:rPr sz="1024" b="0" i="0">
                          <a:solidFill>
                            <a:srgbClr val="1A1A1A"/>
                          </a:solidFill>
                          <a:latin typeface="Helvetica Neue"/>
                        </a:rPr>
                        <a:t>EPIQ Series Diagnostic Ultrasound System; Affiniti Series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K251673</a:t>
                      </a:r>
                    </a:p>
                  </a:txBody>
                  <a:tcPr marL="45720" marR="45720" marT="18288" marB="18288" anchor="t"/>
                </a:tc>
                <a:tc>
                  <a:txBody>
                    <a:bodyPr wrap="square"/>
                    <a:lstStyle/>
                    <a:p>
                      <a:r>
                        <a:rPr sz="1024" b="0" i="0">
                          <a:solidFill>
                            <a:srgbClr val="1A1A1A"/>
                          </a:solidFill>
                          <a:latin typeface="Helvetica Neue"/>
                        </a:rPr>
                        <a:t>10/17/2025</a:t>
                      </a:r>
                    </a:p>
                  </a:txBody>
                  <a:tcPr marL="45720" marR="45720" marT="18288" marB="18288" anchor="t"/>
                </a:tc>
                <a:tc>
                  <a:txBody>
                    <a:bodyPr wrap="square"/>
                    <a:lstStyle/>
                    <a:p>
                      <a:r>
                        <a:rPr sz="1024" b="0" i="0">
                          <a:solidFill>
                            <a:srgbClr val="1A1A1A"/>
                          </a:solidFill>
                          <a:latin typeface="Helvetica Neue"/>
                        </a:rPr>
                        <a:t>X9, Inc.</a:t>
                      </a:r>
                    </a:p>
                  </a:txBody>
                  <a:tcPr marL="45720" marR="45720" marT="18288" marB="18288" anchor="t"/>
                </a:tc>
                <a:tc>
                  <a:txBody>
                    <a:bodyPr wrap="square"/>
                    <a:lstStyle/>
                    <a:p>
                      <a:r>
                        <a:rPr sz="1024" b="0" i="0">
                          <a:solidFill>
                            <a:srgbClr val="1A1A1A"/>
                          </a:solidFill>
                          <a:latin typeface="Helvetica Neue"/>
                        </a:rPr>
                        <a:t>X9 Ultrasound System</a:t>
                      </a:r>
                    </a:p>
                  </a:txBody>
                  <a:tcPr marL="45720" marR="45720" marT="18288" marB="18288" anchor="t"/>
                </a:tc>
                <a:tc>
                  <a:txBody>
                    <a:bodyPr wrap="square"/>
                    <a:lstStyle/>
                    <a:p>
                      <a:r>
                        <a:rPr sz="1024" b="0" i="0">
                          <a:solidFill>
                            <a:srgbClr val="1A1A1A"/>
                          </a:solidFill>
                          <a:latin typeface="Helvetica Neue"/>
                        </a:rPr>
                        <a:t>SGH</a:t>
                      </a:r>
                    </a:p>
                  </a:txBody>
                  <a:tcPr marL="45720" marR="45720" marT="18288" marB="18288" anchor="t"/>
                </a:tc>
              </a:tr>
              <a:tr h="366979">
                <a:tc>
                  <a:txBody>
                    <a:bodyPr wrap="square"/>
                    <a:lstStyle/>
                    <a:p>
                      <a:r>
                        <a:rPr sz="1024" b="0" i="0">
                          <a:solidFill>
                            <a:srgbClr val="1A1A1A"/>
                          </a:solidFill>
                          <a:latin typeface="Helvetica Neue"/>
                        </a:rPr>
                        <a:t>K251682</a:t>
                      </a:r>
                    </a:p>
                  </a:txBody>
                  <a:tcPr marL="45720" marR="45720" marT="18288" marB="18288" anchor="t"/>
                </a:tc>
                <a:tc>
                  <a:txBody>
                    <a:bodyPr wrap="square"/>
                    <a:lstStyle/>
                    <a:p>
                      <a:r>
                        <a:rPr sz="1024" b="0" i="0">
                          <a:solidFill>
                            <a:srgbClr val="1A1A1A"/>
                          </a:solidFill>
                          <a:latin typeface="Helvetica Neue"/>
                        </a:rPr>
                        <a:t>09/09/2025</a:t>
                      </a:r>
                    </a:p>
                  </a:txBody>
                  <a:tcPr marL="45720" marR="45720" marT="18288" marB="18288" anchor="t"/>
                </a:tc>
                <a:tc>
                  <a:txBody>
                    <a:bodyPr wrap="square"/>
                    <a:lstStyle/>
                    <a:p>
                      <a:r>
                        <a:rPr sz="1024" b="0" i="0">
                          <a:solidFill>
                            <a:srgbClr val="1A1A1A"/>
                          </a:solidFill>
                          <a:latin typeface="Helvetica Neue"/>
                        </a:rPr>
                        <a:t>Springbok, Inc. (dba Springbok Analytics)</a:t>
                      </a:r>
                    </a:p>
                  </a:txBody>
                  <a:tcPr marL="45720" marR="45720" marT="18288" marB="18288" anchor="t"/>
                </a:tc>
                <a:tc>
                  <a:txBody>
                    <a:bodyPr wrap="square"/>
                    <a:lstStyle/>
                    <a:p>
                      <a:r>
                        <a:rPr sz="1024" b="0" i="0">
                          <a:solidFill>
                            <a:srgbClr val="1A1A1A"/>
                          </a:solidFill>
                          <a:latin typeface="Helvetica Neue"/>
                        </a:rPr>
                        <a:t>MuscleView 2.0</a:t>
                      </a:r>
                    </a:p>
                  </a:txBody>
                  <a:tcPr marL="45720" marR="45720" marT="18288" marB="18288" anchor="t"/>
                </a:tc>
                <a:tc>
                  <a:txBody>
                    <a:bodyPr wrap="square"/>
                    <a:lstStyle/>
                    <a:p>
                      <a:r>
                        <a:rPr sz="1024" b="0" i="0">
                          <a:solidFill>
                            <a:srgbClr val="1A1A1A"/>
                          </a:solidFill>
                          <a:latin typeface="Helvetica Neue"/>
                        </a:rPr>
                        <a:t>LNH</a:t>
                      </a:r>
                    </a:p>
                  </a:txBody>
                  <a:tcPr marL="45720" marR="45720" marT="18288" marB="18288" anchor="t"/>
                </a:tc>
              </a:tr>
              <a:tr h="210921">
                <a:tc>
                  <a:txBody>
                    <a:bodyPr wrap="square"/>
                    <a:lstStyle/>
                    <a:p>
                      <a:r>
                        <a:rPr sz="1024" b="0" i="0">
                          <a:solidFill>
                            <a:srgbClr val="1A1A1A"/>
                          </a:solidFill>
                          <a:latin typeface="Helvetica Neue"/>
                        </a:rPr>
                        <a:t>K251747</a:t>
                      </a:r>
                    </a:p>
                  </a:txBody>
                  <a:tcPr marL="45720" marR="45720" marT="18288" marB="18288" anchor="t"/>
                </a:tc>
                <a:tc>
                  <a:txBody>
                    <a:bodyPr wrap="square"/>
                    <a:lstStyle/>
                    <a:p>
                      <a:r>
                        <a:rPr sz="1024" b="0" i="0">
                          <a:solidFill>
                            <a:srgbClr val="1A1A1A"/>
                          </a:solidFill>
                          <a:latin typeface="Helvetica Neue"/>
                        </a:rPr>
                        <a:t>08/15/2025</a:t>
                      </a:r>
                    </a:p>
                  </a:txBody>
                  <a:tcPr marL="45720" marR="45720" marT="18288" marB="18288" anchor="t"/>
                </a:tc>
                <a:tc>
                  <a:txBody>
                    <a:bodyPr wrap="square"/>
                    <a:lstStyle/>
                    <a:p>
                      <a:r>
                        <a:rPr sz="1024" b="0" i="0">
                          <a:solidFill>
                            <a:srgbClr val="1A1A1A"/>
                          </a:solidFill>
                          <a:latin typeface="Helvetica Neue"/>
                        </a:rPr>
                        <a:t>EOS imaging</a:t>
                      </a:r>
                    </a:p>
                  </a:txBody>
                  <a:tcPr marL="45720" marR="45720" marT="18288" marB="18288" anchor="t"/>
                </a:tc>
                <a:tc>
                  <a:txBody>
                    <a:bodyPr wrap="square"/>
                    <a:lstStyle/>
                    <a:p>
                      <a:r>
                        <a:rPr sz="1024" b="0" i="0">
                          <a:solidFill>
                            <a:srgbClr val="1A1A1A"/>
                          </a:solidFill>
                          <a:latin typeface="Helvetica Neue"/>
                        </a:rPr>
                        <a:t>VEA Align; spineEOS</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366979">
                <a:tc>
                  <a:txBody>
                    <a:bodyPr wrap="square"/>
                    <a:lstStyle/>
                    <a:p>
                      <a:r>
                        <a:rPr sz="1024" b="0" i="0">
                          <a:solidFill>
                            <a:srgbClr val="1A1A1A"/>
                          </a:solidFill>
                          <a:latin typeface="Helvetica Neue"/>
                        </a:rPr>
                        <a:t>K251963</a:t>
                      </a:r>
                    </a:p>
                  </a:txBody>
                  <a:tcPr marL="45720" marR="45720" marT="18288" marB="18288" anchor="t"/>
                </a:tc>
                <a:tc>
                  <a:txBody>
                    <a:bodyPr wrap="square"/>
                    <a:lstStyle/>
                    <a:p>
                      <a:r>
                        <a:rPr sz="1024" b="0" i="0">
                          <a:solidFill>
                            <a:srgbClr val="1A1A1A"/>
                          </a:solidFill>
                          <a:latin typeface="Helvetica Neue"/>
                        </a:rPr>
                        <a:t>10/29/2025</a:t>
                      </a:r>
                    </a:p>
                  </a:txBody>
                  <a:tcPr marL="45720" marR="45720" marT="18288" marB="18288" anchor="t"/>
                </a:tc>
                <a:tc>
                  <a:txBody>
                    <a:bodyPr wrap="square"/>
                    <a:lstStyle/>
                    <a:p>
                      <a:r>
                        <a:rPr sz="1024" b="0" i="0">
                          <a:solidFill>
                            <a:srgbClr val="1A1A1A"/>
                          </a:solidFill>
                          <a:latin typeface="Helvetica Neue"/>
                        </a:rPr>
                        <a:t>Ge Medical Systems Ultrasound and Primary Care Diagnostics</a:t>
                      </a:r>
                    </a:p>
                  </a:txBody>
                  <a:tcPr marL="45720" marR="45720" marT="18288" marB="18288" anchor="t"/>
                </a:tc>
                <a:tc>
                  <a:txBody>
                    <a:bodyPr wrap="square"/>
                    <a:lstStyle/>
                    <a:p>
                      <a:r>
                        <a:rPr sz="1024" b="0" i="0">
                          <a:solidFill>
                            <a:srgbClr val="1A1A1A"/>
                          </a:solidFill>
                          <a:latin typeface="Helvetica Neue"/>
                        </a:rPr>
                        <a:t>LOGIQ E10s</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366979">
                <a:tc>
                  <a:txBody>
                    <a:bodyPr wrap="square"/>
                    <a:lstStyle/>
                    <a:p>
                      <a:r>
                        <a:rPr sz="1024" b="0" i="0">
                          <a:solidFill>
                            <a:srgbClr val="1A1A1A"/>
                          </a:solidFill>
                          <a:latin typeface="Helvetica Neue"/>
                        </a:rPr>
                        <a:t>K251985</a:t>
                      </a:r>
                    </a:p>
                  </a:txBody>
                  <a:tcPr marL="45720" marR="45720" marT="18288" marB="18288" anchor="t"/>
                </a:tc>
                <a:tc>
                  <a:txBody>
                    <a:bodyPr wrap="square"/>
                    <a:lstStyle/>
                    <a:p>
                      <a:r>
                        <a:rPr sz="1024" b="0" i="0">
                          <a:solidFill>
                            <a:srgbClr val="1A1A1A"/>
                          </a:solidFill>
                          <a:latin typeface="Helvetica Neue"/>
                        </a:rPr>
                        <a:t>10/29/2025</a:t>
                      </a:r>
                    </a:p>
                  </a:txBody>
                  <a:tcPr marL="45720" marR="45720" marT="18288" marB="18288" anchor="t"/>
                </a:tc>
                <a:tc>
                  <a:txBody>
                    <a:bodyPr wrap="square"/>
                    <a:lstStyle/>
                    <a:p>
                      <a:r>
                        <a:rPr sz="1024" b="0" i="0">
                          <a:solidFill>
                            <a:srgbClr val="1A1A1A"/>
                          </a:solidFill>
                          <a:latin typeface="Helvetica Neue"/>
                        </a:rPr>
                        <a:t>Ge Medical Systems Ultrasound and Primary Care Diagnostics</a:t>
                      </a:r>
                    </a:p>
                  </a:txBody>
                  <a:tcPr marL="45720" marR="45720" marT="18288" marB="18288" anchor="t"/>
                </a:tc>
                <a:tc>
                  <a:txBody>
                    <a:bodyPr wrap="square"/>
                    <a:lstStyle/>
                    <a:p>
                      <a:r>
                        <a:rPr sz="1024" b="0" i="0">
                          <a:solidFill>
                            <a:srgbClr val="1A1A1A"/>
                          </a:solidFill>
                          <a:latin typeface="Helvetica Neue"/>
                        </a:rPr>
                        <a:t>LOGIQ E10</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K252103</a:t>
                      </a:r>
                    </a:p>
                  </a:txBody>
                  <a:tcPr marL="45720" marR="45720" marT="18288" marB="18288" anchor="t"/>
                </a:tc>
                <a:tc>
                  <a:txBody>
                    <a:bodyPr wrap="square"/>
                    <a:lstStyle/>
                    <a:p>
                      <a:r>
                        <a:rPr sz="1024" b="0" i="0">
                          <a:solidFill>
                            <a:srgbClr val="1A1A1A"/>
                          </a:solidFill>
                          <a:latin typeface="Helvetica Neue"/>
                        </a:rPr>
                        <a:t>12/02/2025</a:t>
                      </a:r>
                    </a:p>
                  </a:txBody>
                  <a:tcPr marL="45720" marR="45720" marT="18288" marB="18288" anchor="t"/>
                </a:tc>
                <a:tc>
                  <a:txBody>
                    <a:bodyPr wrap="square"/>
                    <a:lstStyle/>
                    <a:p>
                      <a:r>
                        <a:rPr sz="1024" b="0" i="0">
                          <a:solidFill>
                            <a:srgbClr val="1A1A1A"/>
                          </a:solidFill>
                          <a:latin typeface="Helvetica Neue"/>
                        </a:rPr>
                        <a:t>Mighty Oak Medical</a:t>
                      </a:r>
                    </a:p>
                  </a:txBody>
                  <a:tcPr marL="45720" marR="45720" marT="18288" marB="18288" anchor="t"/>
                </a:tc>
                <a:tc>
                  <a:txBody>
                    <a:bodyPr wrap="square"/>
                    <a:lstStyle/>
                    <a:p>
                      <a:r>
                        <a:rPr sz="1024" b="0" i="0">
                          <a:solidFill>
                            <a:srgbClr val="1A1A1A"/>
                          </a:solidFill>
                          <a:latin typeface="Helvetica Neue"/>
                        </a:rPr>
                        <a:t>Acorn 3D Software (AC-SEG-4009); Acorn 3DP Model (AC-101-XX)</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K252148</a:t>
                      </a:r>
                    </a:p>
                  </a:txBody>
                  <a:tcPr marL="45720" marR="45720" marT="18288" marB="18288" anchor="t"/>
                </a:tc>
                <a:tc>
                  <a:txBody>
                    <a:bodyPr wrap="square"/>
                    <a:lstStyle/>
                    <a:p>
                      <a:r>
                        <a:rPr sz="1024" b="0" i="0">
                          <a:solidFill>
                            <a:srgbClr val="1A1A1A"/>
                          </a:solidFill>
                          <a:latin typeface="Helvetica Neue"/>
                        </a:rPr>
                        <a:t>03/27/2026</a:t>
                      </a:r>
                    </a:p>
                  </a:txBody>
                  <a:tcPr marL="45720" marR="45720" marT="18288" marB="18288" anchor="t"/>
                </a:tc>
                <a:tc>
                  <a:txBody>
                    <a:bodyPr wrap="square"/>
                    <a:lstStyle/>
                    <a:p>
                      <a:r>
                        <a:rPr sz="1024" b="0" i="0">
                          <a:solidFill>
                            <a:srgbClr val="1A1A1A"/>
                          </a:solidFill>
                          <a:latin typeface="Helvetica Neue"/>
                        </a:rPr>
                        <a:t>Butterfly Network, Inc.</a:t>
                      </a:r>
                    </a:p>
                  </a:txBody>
                  <a:tcPr marL="45720" marR="45720" marT="18288" marB="18288" anchor="t"/>
                </a:tc>
                <a:tc>
                  <a:txBody>
                    <a:bodyPr wrap="square"/>
                    <a:lstStyle/>
                    <a:p>
                      <a:r>
                        <a:rPr sz="1024" b="0" i="0">
                          <a:solidFill>
                            <a:srgbClr val="1A1A1A"/>
                          </a:solidFill>
                          <a:latin typeface="Helvetica Neue"/>
                        </a:rPr>
                        <a:t>Butterfly Gestational Age Tool</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366979">
                <a:tc>
                  <a:txBody>
                    <a:bodyPr wrap="square"/>
                    <a:lstStyle/>
                    <a:p>
                      <a:r>
                        <a:rPr sz="1024" b="0" i="0">
                          <a:solidFill>
                            <a:srgbClr val="1A1A1A"/>
                          </a:solidFill>
                          <a:latin typeface="Helvetica Neue"/>
                        </a:rPr>
                        <a:t>K252188</a:t>
                      </a:r>
                    </a:p>
                  </a:txBody>
                  <a:tcPr marL="45720" marR="45720" marT="18288" marB="18288" anchor="t"/>
                </a:tc>
                <a:tc>
                  <a:txBody>
                    <a:bodyPr wrap="square"/>
                    <a:lstStyle/>
                    <a:p>
                      <a:r>
                        <a:rPr sz="1024" b="0" i="0">
                          <a:solidFill>
                            <a:srgbClr val="1A1A1A"/>
                          </a:solidFill>
                          <a:latin typeface="Helvetica Neue"/>
                        </a:rPr>
                        <a:t>01/15/2026</a:t>
                      </a:r>
                    </a:p>
                  </a:txBody>
                  <a:tcPr marL="45720" marR="45720" marT="18288" marB="18288" anchor="t"/>
                </a:tc>
                <a:tc>
                  <a:txBody>
                    <a:bodyPr wrap="square"/>
                    <a:lstStyle/>
                    <a:p>
                      <a:r>
                        <a:rPr sz="1024" b="0" i="0">
                          <a:solidFill>
                            <a:srgbClr val="1A1A1A"/>
                          </a:solidFill>
                          <a:latin typeface="Helvetica Neue"/>
                        </a:rPr>
                        <a:t>Elekta Solutions AB</a:t>
                      </a:r>
                    </a:p>
                  </a:txBody>
                  <a:tcPr marL="45720" marR="45720" marT="18288" marB="18288" anchor="t"/>
                </a:tc>
                <a:tc>
                  <a:txBody>
                    <a:bodyPr wrap="square"/>
                    <a:lstStyle/>
                    <a:p>
                      <a:r>
                        <a:rPr sz="1024" b="0" i="0">
                          <a:solidFill>
                            <a:srgbClr val="1A1A1A"/>
                          </a:solidFill>
                          <a:latin typeface="Helvetica Neue"/>
                        </a:rPr>
                        <a:t>EMLA (Elekta Evo); EMLA (VersaHD); EMLA (Elekta Harmony Pro); EMLA (Elekta Infintiy); EMLA (Elekta Harmony); EMLA (Elekta Synergy)</a:t>
                      </a:r>
                    </a:p>
                  </a:txBody>
                  <a:tcPr marL="45720" marR="45720" marT="18288" marB="18288" anchor="t"/>
                </a:tc>
                <a:tc>
                  <a:txBody>
                    <a:bodyPr wrap="square"/>
                    <a:lstStyle/>
                    <a:p>
                      <a:r>
                        <a:rPr sz="1024" b="0" i="0">
                          <a:solidFill>
                            <a:srgbClr val="1A1A1A"/>
                          </a:solidFill>
                          <a:latin typeface="Helvetica Neue"/>
                        </a:rPr>
                        <a:t>IYE</a:t>
                      </a:r>
                    </a:p>
                  </a:txBody>
                  <a:tcPr marL="45720" marR="45720" marT="18288" marB="18288" anchor="t"/>
                </a:tc>
              </a:tr>
              <a:tr h="210921">
                <a:tc>
                  <a:txBody>
                    <a:bodyPr wrap="square"/>
                    <a:lstStyle/>
                    <a:p>
                      <a:r>
                        <a:rPr sz="1024" b="0" i="0">
                          <a:solidFill>
                            <a:srgbClr val="1A1A1A"/>
                          </a:solidFill>
                          <a:latin typeface="Helvetica Neue"/>
                        </a:rPr>
                        <a:t>K252237</a:t>
                      </a:r>
                    </a:p>
                  </a:txBody>
                  <a:tcPr marL="45720" marR="45720" marT="18288" marB="18288" anchor="t"/>
                </a:tc>
                <a:tc>
                  <a:txBody>
                    <a:bodyPr wrap="square"/>
                    <a:lstStyle/>
                    <a:p>
                      <a:r>
                        <a:rPr sz="1024" b="0" i="0">
                          <a:solidFill>
                            <a:srgbClr val="1A1A1A"/>
                          </a:solidFill>
                          <a:latin typeface="Helvetica Neue"/>
                        </a:rPr>
                        <a:t>04/17/2026</a:t>
                      </a:r>
                    </a:p>
                  </a:txBody>
                  <a:tcPr marL="45720" marR="45720" marT="18288" marB="18288" anchor="t"/>
                </a:tc>
                <a:tc>
                  <a:txBody>
                    <a:bodyPr wrap="square"/>
                    <a:lstStyle/>
                    <a:p>
                      <a:r>
                        <a:rPr sz="1024" b="0" i="0">
                          <a:solidFill>
                            <a:srgbClr val="1A1A1A"/>
                          </a:solidFill>
                          <a:latin typeface="Helvetica Neue"/>
                        </a:rPr>
                        <a:t>Edgecare, Inc.</a:t>
                      </a:r>
                    </a:p>
                  </a:txBody>
                  <a:tcPr marL="45720" marR="45720" marT="18288" marB="18288" anchor="t"/>
                </a:tc>
                <a:tc>
                  <a:txBody>
                    <a:bodyPr wrap="square"/>
                    <a:lstStyle/>
                    <a:p>
                      <a:r>
                        <a:rPr sz="1024" b="0" i="0">
                          <a:solidFill>
                            <a:srgbClr val="1A1A1A"/>
                          </a:solidFill>
                          <a:latin typeface="Helvetica Neue"/>
                        </a:rPr>
                        <a:t>EdgeFlow UW20</a:t>
                      </a:r>
                    </a:p>
                  </a:txBody>
                  <a:tcPr marL="45720" marR="45720" marT="18288" marB="18288" anchor="t"/>
                </a:tc>
                <a:tc>
                  <a:txBody>
                    <a:bodyPr wrap="square"/>
                    <a:lstStyle/>
                    <a:p>
                      <a:r>
                        <a:rPr sz="1024" b="0" i="0">
                          <a:solidFill>
                            <a:srgbClr val="1A1A1A"/>
                          </a:solidFill>
                          <a:latin typeface="Helvetica Neue"/>
                        </a:rPr>
                        <a:t>IYO</a:t>
                      </a:r>
                    </a:p>
                  </a:txBody>
                  <a:tcPr marL="45720" marR="45720" marT="18288" marB="18288" anchor="t"/>
                </a:tc>
              </a:tr>
              <a:tr h="210921">
                <a:tc>
                  <a:txBody>
                    <a:bodyPr wrap="square"/>
                    <a:lstStyle/>
                    <a:p>
                      <a:r>
                        <a:rPr sz="1024" b="0" i="0">
                          <a:solidFill>
                            <a:srgbClr val="1A1A1A"/>
                          </a:solidFill>
                          <a:latin typeface="Helvetica Neue"/>
                        </a:rPr>
                        <a:t>K252294</a:t>
                      </a:r>
                    </a:p>
                  </a:txBody>
                  <a:tcPr marL="45720" marR="45720" marT="18288" marB="18288" anchor="t"/>
                </a:tc>
                <a:tc>
                  <a:txBody>
                    <a:bodyPr wrap="square"/>
                    <a:lstStyle/>
                    <a:p>
                      <a:r>
                        <a:rPr sz="1024" b="0" i="0">
                          <a:solidFill>
                            <a:srgbClr val="1A1A1A"/>
                          </a:solidFill>
                          <a:latin typeface="Helvetica Neue"/>
                        </a:rPr>
                        <a:t>12/08/2025</a:t>
                      </a:r>
                    </a:p>
                  </a:txBody>
                  <a:tcPr marL="45720" marR="45720" marT="18288" marB="18288" anchor="t"/>
                </a:tc>
                <a:tc>
                  <a:txBody>
                    <a:bodyPr wrap="square"/>
                    <a:lstStyle/>
                    <a:p>
                      <a:r>
                        <a:rPr sz="1024" b="0" i="0">
                          <a:solidFill>
                            <a:srgbClr val="1A1A1A"/>
                          </a:solidFill>
                          <a:latin typeface="Helvetica Neue"/>
                        </a:rPr>
                        <a:t>Brightheart</a:t>
                      </a:r>
                    </a:p>
                  </a:txBody>
                  <a:tcPr marL="45720" marR="45720" marT="18288" marB="18288" anchor="t"/>
                </a:tc>
                <a:tc>
                  <a:txBody>
                    <a:bodyPr wrap="square"/>
                    <a:lstStyle/>
                    <a:p>
                      <a:r>
                        <a:rPr sz="1024" b="0" i="0">
                          <a:solidFill>
                            <a:srgbClr val="1A1A1A"/>
                          </a:solidFill>
                          <a:latin typeface="Helvetica Neue"/>
                        </a:rPr>
                        <a:t>Fetal EchoScan (v1.2)</a:t>
                      </a:r>
                    </a:p>
                  </a:txBody>
                  <a:tcPr marL="45720" marR="45720" marT="18288" marB="18288" anchor="t"/>
                </a:tc>
                <a:tc>
                  <a:txBody>
                    <a:bodyPr wrap="square"/>
                    <a:lstStyle/>
                    <a:p>
                      <a:r>
                        <a:rPr sz="1024" b="0" i="0">
                          <a:solidFill>
                            <a:srgbClr val="1A1A1A"/>
                          </a:solidFill>
                          <a:latin typeface="Helvetica Neue"/>
                        </a:rPr>
                        <a:t>POK</a:t>
                      </a:r>
                    </a:p>
                  </a:txBody>
                  <a:tcPr marL="45720" marR="45720" marT="18288" marB="18288" anchor="t"/>
                </a:tc>
              </a:tr>
              <a:tr h="366979">
                <a:tc>
                  <a:txBody>
                    <a:bodyPr wrap="square"/>
                    <a:lstStyle/>
                    <a:p>
                      <a:r>
                        <a:rPr sz="1024" b="0" i="0">
                          <a:solidFill>
                            <a:srgbClr val="1A1A1A"/>
                          </a:solidFill>
                          <a:latin typeface="Helvetica Neue"/>
                        </a:rPr>
                        <a:t>K252328</a:t>
                      </a:r>
                    </a:p>
                  </a:txBody>
                  <a:tcPr marL="45720" marR="45720" marT="18288" marB="18288" anchor="t"/>
                </a:tc>
                <a:tc>
                  <a:txBody>
                    <a:bodyPr wrap="square"/>
                    <a:lstStyle/>
                    <a:p>
                      <a:r>
                        <a:rPr sz="1024" b="0" i="0">
                          <a:solidFill>
                            <a:srgbClr val="1A1A1A"/>
                          </a:solidFill>
                          <a:latin typeface="Helvetica Neue"/>
                        </a:rPr>
                        <a:t>11/24/2025</a:t>
                      </a:r>
                    </a:p>
                  </a:txBody>
                  <a:tcPr marL="45720" marR="45720" marT="18288" marB="18288" anchor="t"/>
                </a:tc>
                <a:tc>
                  <a:txBody>
                    <a:bodyPr wrap="square"/>
                    <a:lstStyle/>
                    <a:p>
                      <a:r>
                        <a:rPr sz="1024" b="0" i="0">
                          <a:solidFill>
                            <a:srgbClr val="1A1A1A"/>
                          </a:solidFill>
                          <a:latin typeface="Helvetica Neue"/>
                        </a:rPr>
                        <a:t>Ge Medical Systems Ultrasound and Primary Care Diagnostics</a:t>
                      </a:r>
                    </a:p>
                  </a:txBody>
                  <a:tcPr marL="45720" marR="45720" marT="18288" marB="18288" anchor="t"/>
                </a:tc>
                <a:tc>
                  <a:txBody>
                    <a:bodyPr wrap="square"/>
                    <a:lstStyle/>
                    <a:p>
                      <a:r>
                        <a:rPr sz="1024" b="0" i="0">
                          <a:solidFill>
                            <a:srgbClr val="1A1A1A"/>
                          </a:solidFill>
                          <a:latin typeface="Helvetica Neue"/>
                        </a:rPr>
                        <a:t>Voluson Expert 18; Voluson Expert 20; Voluson Expert 22</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K252362</a:t>
                      </a:r>
                    </a:p>
                  </a:txBody>
                  <a:tcPr marL="45720" marR="45720" marT="18288" marB="18288" anchor="t"/>
                </a:tc>
                <a:tc>
                  <a:txBody>
                    <a:bodyPr wrap="square"/>
                    <a:lstStyle/>
                    <a:p>
                      <a:r>
                        <a:rPr sz="1024" b="0" i="0">
                          <a:solidFill>
                            <a:srgbClr val="1A1A1A"/>
                          </a:solidFill>
                          <a:latin typeface="Helvetica Neue"/>
                        </a:rPr>
                        <a:t>08/22/2025</a:t>
                      </a:r>
                    </a:p>
                  </a:txBody>
                  <a:tcPr marL="45720" marR="45720" marT="18288" marB="18288" anchor="t"/>
                </a:tc>
                <a:tc>
                  <a:txBody>
                    <a:bodyPr wrap="square"/>
                    <a:lstStyle/>
                    <a:p>
                      <a:r>
                        <a:rPr sz="1024" b="0" i="0">
                          <a:solidFill>
                            <a:srgbClr val="1A1A1A"/>
                          </a:solidFill>
                          <a:latin typeface="Helvetica Neue"/>
                        </a:rPr>
                        <a:t>Galileo CDS, Inc</a:t>
                      </a:r>
                    </a:p>
                  </a:txBody>
                  <a:tcPr marL="45720" marR="45720" marT="18288" marB="18288" anchor="t"/>
                </a:tc>
                <a:tc>
                  <a:txBody>
                    <a:bodyPr wrap="square"/>
                    <a:lstStyle/>
                    <a:p>
                      <a:r>
                        <a:rPr sz="1024" b="0" i="0">
                          <a:solidFill>
                            <a:srgbClr val="1A1A1A"/>
                          </a:solidFill>
                          <a:latin typeface="Helvetica Neue"/>
                        </a:rPr>
                        <a:t>GBrain MRI</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K252433</a:t>
                      </a:r>
                    </a:p>
                  </a:txBody>
                  <a:tcPr marL="45720" marR="45720" marT="18288" marB="18288" anchor="t"/>
                </a:tc>
                <a:tc>
                  <a:txBody>
                    <a:bodyPr wrap="square"/>
                    <a:lstStyle/>
                    <a:p>
                      <a:r>
                        <a:rPr sz="1024" b="0" i="0">
                          <a:solidFill>
                            <a:srgbClr val="1A1A1A"/>
                          </a:solidFill>
                          <a:latin typeface="Helvetica Neue"/>
                        </a:rPr>
                        <a:t>03/16/2026</a:t>
                      </a:r>
                    </a:p>
                  </a:txBody>
                  <a:tcPr marL="45720" marR="45720" marT="18288" marB="18288" anchor="t"/>
                </a:tc>
                <a:tc>
                  <a:txBody>
                    <a:bodyPr wrap="square"/>
                    <a:lstStyle/>
                    <a:p>
                      <a:r>
                        <a:rPr sz="1024" b="0" i="0">
                          <a:solidFill>
                            <a:srgbClr val="1A1A1A"/>
                          </a:solidFill>
                          <a:latin typeface="Helvetica Neue"/>
                        </a:rPr>
                        <a:t>Sonio</a:t>
                      </a:r>
                    </a:p>
                  </a:txBody>
                  <a:tcPr marL="45720" marR="45720" marT="18288" marB="18288" anchor="t"/>
                </a:tc>
                <a:tc>
                  <a:txBody>
                    <a:bodyPr wrap="square"/>
                    <a:lstStyle/>
                    <a:p>
                      <a:r>
                        <a:rPr sz="1024" b="0" i="0">
                          <a:solidFill>
                            <a:srgbClr val="1A1A1A"/>
                          </a:solidFill>
                          <a:latin typeface="Helvetica Neue"/>
                        </a:rPr>
                        <a:t>Sonio Detect (v3)</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r h="210921">
                <a:tc>
                  <a:txBody>
                    <a:bodyPr wrap="square"/>
                    <a:lstStyle/>
                    <a:p>
                      <a:r>
                        <a:rPr sz="1024" b="0" i="0">
                          <a:solidFill>
                            <a:srgbClr val="1A1A1A"/>
                          </a:solidFill>
                          <a:latin typeface="Helvetica Neue"/>
                        </a:rPr>
                        <a:t>K252503</a:t>
                      </a:r>
                    </a:p>
                  </a:txBody>
                  <a:tcPr marL="45720" marR="45720" marT="18288" marB="18288" anchor="t"/>
                </a:tc>
                <a:tc>
                  <a:txBody>
                    <a:bodyPr wrap="square"/>
                    <a:lstStyle/>
                    <a:p>
                      <a:r>
                        <a:rPr sz="1024" b="0" i="0">
                          <a:solidFill>
                            <a:srgbClr val="1A1A1A"/>
                          </a:solidFill>
                          <a:latin typeface="Helvetica Neue"/>
                        </a:rPr>
                        <a:t>04/30/2026</a:t>
                      </a:r>
                    </a:p>
                  </a:txBody>
                  <a:tcPr marL="45720" marR="45720" marT="18288" marB="18288" anchor="t"/>
                </a:tc>
                <a:tc>
                  <a:txBody>
                    <a:bodyPr wrap="square"/>
                    <a:lstStyle/>
                    <a:p>
                      <a:r>
                        <a:rPr sz="1024" b="0" i="0">
                          <a:solidFill>
                            <a:srgbClr val="1A1A1A"/>
                          </a:solidFill>
                          <a:latin typeface="Helvetica Neue"/>
                        </a:rPr>
                        <a:t>Canon, Inc.</a:t>
                      </a:r>
                    </a:p>
                  </a:txBody>
                  <a:tcPr marL="45720" marR="45720" marT="18288" marB="18288" anchor="t"/>
                </a:tc>
                <a:tc>
                  <a:txBody>
                    <a:bodyPr wrap="square"/>
                    <a:lstStyle/>
                    <a:p>
                      <a:r>
                        <a:rPr sz="1024" b="0" i="0">
                          <a:solidFill>
                            <a:srgbClr val="1A1A1A"/>
                          </a:solidFill>
                          <a:latin typeface="Helvetica Neue"/>
                        </a:rPr>
                        <a:t>Intelligent NR</a:t>
                      </a:r>
                    </a:p>
                  </a:txBody>
                  <a:tcPr marL="45720" marR="45720" marT="18288" marB="18288" anchor="t"/>
                </a:tc>
                <a:tc>
                  <a:txBody>
                    <a:bodyPr wrap="square"/>
                    <a:lstStyle/>
                    <a:p>
                      <a:r>
                        <a:rPr sz="1024" b="0" i="0">
                          <a:solidFill>
                            <a:srgbClr val="1A1A1A"/>
                          </a:solidFill>
                          <a:latin typeface="Helvetica Neue"/>
                        </a:rPr>
                        <a:t>OWB</a:t>
                      </a:r>
                    </a:p>
                  </a:txBody>
                  <a:tcPr marL="45720" marR="45720" marT="18288" marB="18288" anchor="t"/>
                </a:tc>
              </a:tr>
              <a:tr h="210921">
                <a:tc>
                  <a:txBody>
                    <a:bodyPr wrap="square"/>
                    <a:lstStyle/>
                    <a:p>
                      <a:r>
                        <a:rPr sz="1024" b="0" i="0">
                          <a:solidFill>
                            <a:srgbClr val="1A1A1A"/>
                          </a:solidFill>
                          <a:latin typeface="Helvetica Neue"/>
                        </a:rPr>
                        <a:t>K252538</a:t>
                      </a:r>
                    </a:p>
                  </a:txBody>
                  <a:tcPr marL="45720" marR="45720" marT="18288" marB="18288" anchor="t"/>
                </a:tc>
                <a:tc>
                  <a:txBody>
                    <a:bodyPr wrap="square"/>
                    <a:lstStyle/>
                    <a:p>
                      <a:r>
                        <a:rPr sz="1024" b="0" i="0">
                          <a:solidFill>
                            <a:srgbClr val="1A1A1A"/>
                          </a:solidFill>
                          <a:latin typeface="Helvetica Neue"/>
                        </a:rPr>
                        <a:t>03/05/2026</a:t>
                      </a:r>
                    </a:p>
                  </a:txBody>
                  <a:tcPr marL="45720" marR="45720" marT="18288" marB="18288" anchor="t"/>
                </a:tc>
                <a:tc>
                  <a:txBody>
                    <a:bodyPr wrap="square"/>
                    <a:lstStyle/>
                    <a:p>
                      <a:r>
                        <a:rPr sz="1024" b="0" i="0">
                          <a:solidFill>
                            <a:srgbClr val="1A1A1A"/>
                          </a:solidFill>
                          <a:latin typeface="Helvetica Neue"/>
                        </a:rPr>
                        <a:t>Orca Dental AI , Ltd.</a:t>
                      </a:r>
                    </a:p>
                  </a:txBody>
                  <a:tcPr marL="45720" marR="45720" marT="18288" marB="18288" anchor="t"/>
                </a:tc>
                <a:tc>
                  <a:txBody>
                    <a:bodyPr wrap="square"/>
                    <a:lstStyle/>
                    <a:p>
                      <a:r>
                        <a:rPr sz="1024" b="0" i="0">
                          <a:solidFill>
                            <a:srgbClr val="1A1A1A"/>
                          </a:solidFill>
                          <a:latin typeface="Helvetica Neue"/>
                        </a:rPr>
                        <a:t>CEPHX3D</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K252539</a:t>
                      </a:r>
                    </a:p>
                  </a:txBody>
                  <a:tcPr marL="45720" marR="45720" marT="18288" marB="18288" anchor="t"/>
                </a:tc>
                <a:tc>
                  <a:txBody>
                    <a:bodyPr wrap="square"/>
                    <a:lstStyle/>
                    <a:p>
                      <a:r>
                        <a:rPr sz="1024" b="0" i="0">
                          <a:solidFill>
                            <a:srgbClr val="1A1A1A"/>
                          </a:solidFill>
                          <a:latin typeface="Helvetica Neue"/>
                        </a:rPr>
                        <a:t>09/03/2025</a:t>
                      </a:r>
                    </a:p>
                  </a:txBody>
                  <a:tcPr marL="45720" marR="45720" marT="18288" marB="18288" anchor="t"/>
                </a:tc>
                <a:tc>
                  <a:txBody>
                    <a:bodyPr wrap="square"/>
                    <a:lstStyle/>
                    <a:p>
                      <a:r>
                        <a:rPr sz="1024" b="0" i="0">
                          <a:solidFill>
                            <a:srgbClr val="1A1A1A"/>
                          </a:solidFill>
                          <a:latin typeface="Helvetica Neue"/>
                        </a:rPr>
                        <a:t>Arterys, Inc.</a:t>
                      </a:r>
                    </a:p>
                  </a:txBody>
                  <a:tcPr marL="45720" marR="45720" marT="18288" marB="18288" anchor="t"/>
                </a:tc>
                <a:tc>
                  <a:txBody>
                    <a:bodyPr wrap="square"/>
                    <a:lstStyle/>
                    <a:p>
                      <a:r>
                        <a:rPr sz="1024" b="0" i="0">
                          <a:solidFill>
                            <a:srgbClr val="1A1A1A"/>
                          </a:solidFill>
                          <a:latin typeface="Helvetica Neue"/>
                        </a:rPr>
                        <a:t>Tempus Pixel</a:t>
                      </a:r>
                    </a:p>
                  </a:txBody>
                  <a:tcPr marL="45720" marR="45720" marT="18288" marB="18288" anchor="t"/>
                </a:tc>
                <a:tc>
                  <a:txBody>
                    <a:bodyPr wrap="square"/>
                    <a:lstStyle/>
                    <a:p>
                      <a:r>
                        <a:rPr sz="1024" b="0" i="0">
                          <a:solidFill>
                            <a:srgbClr val="1A1A1A"/>
                          </a:solidFill>
                          <a:latin typeface="Helvetica Neue"/>
                        </a:rPr>
                        <a:t>QIH</a:t>
                      </a:r>
                    </a:p>
                  </a:txBody>
                  <a:tcPr marL="45720" marR="45720" marT="18288" marB="18288" anchor="t"/>
                </a:tc>
              </a:tr>
              <a:tr h="210921">
                <a:tc>
                  <a:txBody>
                    <a:bodyPr wrap="square"/>
                    <a:lstStyle/>
                    <a:p>
                      <a:r>
                        <a:rPr sz="1024" b="0" i="0">
                          <a:solidFill>
                            <a:srgbClr val="1A1A1A"/>
                          </a:solidFill>
                          <a:latin typeface="Helvetica Neue"/>
                        </a:rPr>
                        <a:t>K252557</a:t>
                      </a:r>
                    </a:p>
                  </a:txBody>
                  <a:tcPr marL="45720" marR="45720" marT="18288" marB="18288" anchor="t"/>
                </a:tc>
                <a:tc>
                  <a:txBody>
                    <a:bodyPr wrap="square"/>
                    <a:lstStyle/>
                    <a:p>
                      <a:r>
                        <a:rPr sz="1024" b="0" i="0">
                          <a:solidFill>
                            <a:srgbClr val="1A1A1A"/>
                          </a:solidFill>
                          <a:latin typeface="Helvetica Neue"/>
                        </a:rPr>
                        <a:t>12/22/2025</a:t>
                      </a:r>
                    </a:p>
                  </a:txBody>
                  <a:tcPr marL="45720" marR="45720" marT="18288" marB="18288" anchor="t"/>
                </a:tc>
                <a:tc>
                  <a:txBody>
                    <a:bodyPr wrap="square"/>
                    <a:lstStyle/>
                    <a:p>
                      <a:r>
                        <a:rPr sz="1024" b="0" i="0">
                          <a:solidFill>
                            <a:srgbClr val="1A1A1A"/>
                          </a:solidFill>
                          <a:latin typeface="Helvetica Neue"/>
                        </a:rPr>
                        <a:t>Philips Ultrasound, LLC</a:t>
                      </a:r>
                    </a:p>
                  </a:txBody>
                  <a:tcPr marL="45720" marR="45720" marT="18288" marB="18288" anchor="t"/>
                </a:tc>
                <a:tc>
                  <a:txBody>
                    <a:bodyPr wrap="square"/>
                    <a:lstStyle/>
                    <a:p>
                      <a:r>
                        <a:rPr sz="1024" b="0" i="0">
                          <a:solidFill>
                            <a:srgbClr val="1A1A1A"/>
                          </a:solidFill>
                          <a:latin typeface="Helvetica Neue"/>
                        </a:rPr>
                        <a:t>Lumify Diagnostic Ultrasound System</a:t>
                      </a:r>
                    </a:p>
                  </a:txBody>
                  <a:tcPr marL="45720" marR="45720" marT="18288" marB="18288" anchor="t"/>
                </a:tc>
                <a:tc>
                  <a:txBody>
                    <a:bodyPr wrap="square"/>
                    <a:lstStyle/>
                    <a:p>
                      <a:r>
                        <a:rPr sz="1024" b="0" i="0">
                          <a:solidFill>
                            <a:srgbClr val="1A1A1A"/>
                          </a:solidFill>
                          <a:latin typeface="Helvetica Neue"/>
                        </a:rPr>
                        <a:t>IYN</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76 / 83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(201–220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248656"/>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01168">
                <a:tc>
                  <a:txBody>
                    <a:bodyPr wrap="square"/>
                    <a:lstStyle/>
                    <a:p>
                      <a:r>
                        <a:rPr sz="960" b="1" i="0">
                          <a:solidFill>
                            <a:srgbClr val="FFFFFF"/>
                          </a:solidFill>
                          <a:latin typeface="Helvetica Neue"/>
                        </a:rPr>
                        <a:t>Submission</a:t>
                      </a:r>
                    </a:p>
                  </a:txBody>
                  <a:tcPr marL="45720" marR="45720" marT="18288" marB="18288" anchor="t"/>
                </a:tc>
                <a:tc>
                  <a:txBody>
                    <a:bodyPr wrap="square"/>
                    <a:lstStyle/>
                    <a:p>
                      <a:r>
                        <a:rPr sz="960" b="1" i="0">
                          <a:solidFill>
                            <a:srgbClr val="FFFFFF"/>
                          </a:solidFill>
                          <a:latin typeface="Helvetica Neue"/>
                        </a:rPr>
                        <a:t>Date</a:t>
                      </a:r>
                    </a:p>
                  </a:txBody>
                  <a:tcPr marL="45720" marR="45720" marT="18288" marB="18288" anchor="t"/>
                </a:tc>
                <a:tc>
                  <a:txBody>
                    <a:bodyPr wrap="square"/>
                    <a:lstStyle/>
                    <a:p>
                      <a:r>
                        <a:rPr sz="960" b="1" i="0">
                          <a:solidFill>
                            <a:srgbClr val="FFFFFF"/>
                          </a:solidFill>
                          <a:latin typeface="Helvetica Neue"/>
                        </a:rPr>
                        <a:t>Company</a:t>
                      </a:r>
                    </a:p>
                  </a:txBody>
                  <a:tcPr marL="45720" marR="45720" marT="18288" marB="18288" anchor="t"/>
                </a:tc>
                <a:tc>
                  <a:txBody>
                    <a:bodyPr wrap="square"/>
                    <a:lstStyle/>
                    <a:p>
                      <a:r>
                        <a:rPr sz="960" b="1" i="0">
                          <a:solidFill>
                            <a:srgbClr val="FFFFFF"/>
                          </a:solidFill>
                          <a:latin typeface="Helvetica Neue"/>
                        </a:rPr>
                        <a:t>Device</a:t>
                      </a:r>
                    </a:p>
                  </a:txBody>
                  <a:tcPr marL="45720" marR="45720" marT="18288" marB="18288" anchor="t"/>
                </a:tc>
                <a:tc>
                  <a:txBody>
                    <a:bodyPr wrap="square"/>
                    <a:lstStyle/>
                    <a:p>
                      <a:r>
                        <a:rPr sz="960" b="1" i="0">
                          <a:solidFill>
                            <a:srgbClr val="FFFFFF"/>
                          </a:solidFill>
                          <a:latin typeface="Helvetica Neue"/>
                        </a:rPr>
                        <a:t>Code</a:t>
                      </a:r>
                    </a:p>
                  </a:txBody>
                  <a:tcPr marL="45720" marR="45720" marT="18288" marB="18288" anchor="t"/>
                </a:tc>
              </a:tr>
              <a:tr h="201168">
                <a:tc>
                  <a:txBody>
                    <a:bodyPr wrap="square"/>
                    <a:lstStyle/>
                    <a:p>
                      <a:r>
                        <a:rPr sz="960" b="0" i="0">
                          <a:solidFill>
                            <a:srgbClr val="1A1A1A"/>
                          </a:solidFill>
                          <a:latin typeface="Helvetica Neue"/>
                        </a:rPr>
                        <a:t>K252558</a:t>
                      </a:r>
                    </a:p>
                  </a:txBody>
                  <a:tcPr marL="45720" marR="45720" marT="18288" marB="18288" anchor="t"/>
                </a:tc>
                <a:tc>
                  <a:txBody>
                    <a:bodyPr wrap="square"/>
                    <a:lstStyle/>
                    <a:p>
                      <a:r>
                        <a:rPr sz="960" b="0" i="0">
                          <a:solidFill>
                            <a:srgbClr val="1A1A1A"/>
                          </a:solidFill>
                          <a:latin typeface="Helvetica Neue"/>
                        </a:rPr>
                        <a:t>05/05/2026</a:t>
                      </a:r>
                    </a:p>
                  </a:txBody>
                  <a:tcPr marL="45720" marR="45720" marT="18288" marB="18288" anchor="t"/>
                </a:tc>
                <a:tc>
                  <a:txBody>
                    <a:bodyPr wrap="square"/>
                    <a:lstStyle/>
                    <a:p>
                      <a:r>
                        <a:rPr sz="960" b="0" i="0">
                          <a:solidFill>
                            <a:srgbClr val="1A1A1A"/>
                          </a:solidFill>
                          <a:latin typeface="Helvetica Neue"/>
                        </a:rPr>
                        <a:t>Philips Ultrasound, LLC</a:t>
                      </a:r>
                    </a:p>
                  </a:txBody>
                  <a:tcPr marL="45720" marR="45720" marT="18288" marB="18288" anchor="t"/>
                </a:tc>
                <a:tc>
                  <a:txBody>
                    <a:bodyPr wrap="square"/>
                    <a:lstStyle/>
                    <a:p>
                      <a:r>
                        <a:rPr sz="960" b="0" i="0">
                          <a:solidFill>
                            <a:srgbClr val="1A1A1A"/>
                          </a:solidFill>
                          <a:latin typeface="Helvetica Neue"/>
                        </a:rPr>
                        <a:t>Lumify Diagnostic Ultrasound System</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347472">
                <a:tc>
                  <a:txBody>
                    <a:bodyPr wrap="square"/>
                    <a:lstStyle/>
                    <a:p>
                      <a:r>
                        <a:rPr sz="960" b="0" i="0">
                          <a:solidFill>
                            <a:srgbClr val="1A1A1A"/>
                          </a:solidFill>
                          <a:latin typeface="Helvetica Neue"/>
                        </a:rPr>
                        <a:t>K252954</a:t>
                      </a:r>
                    </a:p>
                  </a:txBody>
                  <a:tcPr marL="45720" marR="45720" marT="18288" marB="18288" anchor="t"/>
                </a:tc>
                <a:tc>
                  <a:txBody>
                    <a:bodyPr wrap="square"/>
                    <a:lstStyle/>
                    <a:p>
                      <a:r>
                        <a:rPr sz="960" b="0" i="0">
                          <a:solidFill>
                            <a:srgbClr val="1A1A1A"/>
                          </a:solidFill>
                          <a:latin typeface="Helvetica Neue"/>
                        </a:rPr>
                        <a:t>05/04/2026</a:t>
                      </a:r>
                    </a:p>
                  </a:txBody>
                  <a:tcPr marL="45720" marR="45720" marT="18288" marB="18288" anchor="t"/>
                </a:tc>
                <a:tc>
                  <a:txBody>
                    <a:bodyPr wrap="square"/>
                    <a:lstStyle/>
                    <a:p>
                      <a:r>
                        <a:rPr sz="960" b="0" i="0">
                          <a:solidFill>
                            <a:srgbClr val="1A1A1A"/>
                          </a:solidFill>
                          <a:latin typeface="Helvetica Neue"/>
                        </a:rPr>
                        <a:t>Neurocareai, Inc. (Dba Savelife.Ai)</a:t>
                      </a:r>
                    </a:p>
                  </a:txBody>
                  <a:tcPr marL="45720" marR="45720" marT="18288" marB="18288" anchor="t"/>
                </a:tc>
                <a:tc>
                  <a:txBody>
                    <a:bodyPr wrap="square"/>
                    <a:lstStyle/>
                    <a:p>
                      <a:r>
                        <a:rPr sz="960" b="0" i="0">
                          <a:solidFill>
                            <a:srgbClr val="1A1A1A"/>
                          </a:solidFill>
                          <a:latin typeface="Helvetica Neue"/>
                        </a:rPr>
                        <a:t>MammoSightAI</a:t>
                      </a:r>
                    </a:p>
                  </a:txBody>
                  <a:tcPr marL="45720" marR="45720" marT="18288" marB="18288" anchor="t"/>
                </a:tc>
                <a:tc>
                  <a:txBody>
                    <a:bodyPr wrap="square"/>
                    <a:lstStyle/>
                    <a:p>
                      <a:r>
                        <a:rPr sz="960" b="0" i="0">
                          <a:solidFill>
                            <a:srgbClr val="1A1A1A"/>
                          </a:solidFill>
                          <a:latin typeface="Helvetica Neue"/>
                        </a:rPr>
                        <a:t>QFM</a:t>
                      </a:r>
                    </a:p>
                  </a:txBody>
                  <a:tcPr marL="45720" marR="45720" marT="18288" marB="18288" anchor="t"/>
                </a:tc>
              </a:tr>
              <a:tr h="201168">
                <a:tc>
                  <a:txBody>
                    <a:bodyPr wrap="square"/>
                    <a:lstStyle/>
                    <a:p>
                      <a:r>
                        <a:rPr sz="960" b="0" i="0">
                          <a:solidFill>
                            <a:srgbClr val="1A1A1A"/>
                          </a:solidFill>
                          <a:latin typeface="Helvetica Neue"/>
                        </a:rPr>
                        <a:t>K252970</a:t>
                      </a:r>
                    </a:p>
                  </a:txBody>
                  <a:tcPr marL="45720" marR="45720" marT="18288" marB="18288" anchor="t"/>
                </a:tc>
                <a:tc>
                  <a:txBody>
                    <a:bodyPr wrap="square"/>
                    <a:lstStyle/>
                    <a:p>
                      <a:r>
                        <a:rPr sz="960" b="0" i="0">
                          <a:solidFill>
                            <a:srgbClr val="1A1A1A"/>
                          </a:solidFill>
                          <a:latin typeface="Helvetica Neue"/>
                        </a:rPr>
                        <a:t>01/07/2026</a:t>
                      </a:r>
                    </a:p>
                  </a:txBody>
                  <a:tcPr marL="45720" marR="45720" marT="18288" marB="18288" anchor="t"/>
                </a:tc>
                <a:tc>
                  <a:txBody>
                    <a:bodyPr wrap="square"/>
                    <a:lstStyle/>
                    <a:p>
                      <a:r>
                        <a:rPr sz="960" b="0" i="0">
                          <a:solidFill>
                            <a:srgbClr val="1A1A1A"/>
                          </a:solidFill>
                          <a:latin typeface="Helvetica Neue"/>
                        </a:rPr>
                        <a:t>Aidoc Medical , Ltd.</a:t>
                      </a:r>
                    </a:p>
                  </a:txBody>
                  <a:tcPr marL="45720" marR="45720" marT="18288" marB="18288" anchor="t"/>
                </a:tc>
                <a:tc>
                  <a:txBody>
                    <a:bodyPr wrap="square"/>
                    <a:lstStyle/>
                    <a:p>
                      <a:r>
                        <a:rPr sz="960" b="0" i="0">
                          <a:solidFill>
                            <a:srgbClr val="1A1A1A"/>
                          </a:solidFill>
                          <a:latin typeface="Helvetica Neue"/>
                        </a:rPr>
                        <a:t>BriefCase-Triage: CARE Multi-triage CT Body</a:t>
                      </a:r>
                    </a:p>
                  </a:txBody>
                  <a:tcPr marL="45720" marR="45720" marT="18288" marB="18288" anchor="t"/>
                </a:tc>
                <a:tc>
                  <a:txBody>
                    <a:bodyPr wrap="square"/>
                    <a:lstStyle/>
                    <a:p>
                      <a:r>
                        <a:rPr sz="960" b="0" i="0">
                          <a:solidFill>
                            <a:srgbClr val="1A1A1A"/>
                          </a:solidFill>
                          <a:latin typeface="Helvetica Neue"/>
                        </a:rPr>
                        <a:t>QAS</a:t>
                      </a:r>
                    </a:p>
                  </a:txBody>
                  <a:tcPr marL="45720" marR="45720" marT="18288" marB="18288" anchor="t"/>
                </a:tc>
              </a:tr>
              <a:tr h="201168">
                <a:tc>
                  <a:txBody>
                    <a:bodyPr wrap="square"/>
                    <a:lstStyle/>
                    <a:p>
                      <a:r>
                        <a:rPr sz="960" b="0" i="0">
                          <a:solidFill>
                            <a:srgbClr val="1A1A1A"/>
                          </a:solidFill>
                          <a:latin typeface="Helvetica Neue"/>
                        </a:rPr>
                        <a:t>K253265</a:t>
                      </a:r>
                    </a:p>
                  </a:txBody>
                  <a:tcPr marL="45720" marR="45720" marT="18288" marB="18288" anchor="t"/>
                </a:tc>
                <a:tc>
                  <a:txBody>
                    <a:bodyPr wrap="square"/>
                    <a:lstStyle/>
                    <a:p>
                      <a:r>
                        <a:rPr sz="960" b="0" i="0">
                          <a:solidFill>
                            <a:srgbClr val="1A1A1A"/>
                          </a:solidFill>
                          <a:latin typeface="Helvetica Neue"/>
                        </a:rPr>
                        <a:t>11/06/2025</a:t>
                      </a:r>
                    </a:p>
                  </a:txBody>
                  <a:tcPr marL="45720" marR="45720" marT="18288" marB="18288" anchor="t"/>
                </a:tc>
                <a:tc>
                  <a:txBody>
                    <a:bodyPr wrap="square"/>
                    <a:lstStyle/>
                    <a:p>
                      <a:r>
                        <a:rPr sz="960" b="0" i="0">
                          <a:solidFill>
                            <a:srgbClr val="1A1A1A"/>
                          </a:solidFill>
                          <a:latin typeface="Helvetica Neue"/>
                        </a:rPr>
                        <a:t>Aidoc Medical , Ltd.</a:t>
                      </a:r>
                    </a:p>
                  </a:txBody>
                  <a:tcPr marL="45720" marR="45720" marT="18288" marB="18288" anchor="t"/>
                </a:tc>
                <a:tc>
                  <a:txBody>
                    <a:bodyPr wrap="square"/>
                    <a:lstStyle/>
                    <a:p>
                      <a:r>
                        <a:rPr sz="960" b="0" i="0">
                          <a:solidFill>
                            <a:srgbClr val="1A1A1A"/>
                          </a:solidFill>
                          <a:latin typeface="Helvetica Neue"/>
                        </a:rPr>
                        <a:t>BriefCase-Triage</a:t>
                      </a:r>
                    </a:p>
                  </a:txBody>
                  <a:tcPr marL="45720" marR="45720" marT="18288" marB="18288" anchor="t"/>
                </a:tc>
                <a:tc>
                  <a:txBody>
                    <a:bodyPr wrap="square"/>
                    <a:lstStyle/>
                    <a:p>
                      <a:r>
                        <a:rPr sz="960" b="0" i="0">
                          <a:solidFill>
                            <a:srgbClr val="1A1A1A"/>
                          </a:solidFill>
                          <a:latin typeface="Helvetica Neue"/>
                        </a:rPr>
                        <a:t>QAS</a:t>
                      </a:r>
                    </a:p>
                  </a:txBody>
                  <a:tcPr marL="45720" marR="45720" marT="18288" marB="18288" anchor="t"/>
                </a:tc>
              </a:tr>
              <a:tr h="347472">
                <a:tc>
                  <a:txBody>
                    <a:bodyPr wrap="square"/>
                    <a:lstStyle/>
                    <a:p>
                      <a:r>
                        <a:rPr sz="960" b="0" i="0">
                          <a:solidFill>
                            <a:srgbClr val="1A1A1A"/>
                          </a:solidFill>
                          <a:latin typeface="Helvetica Neue"/>
                        </a:rPr>
                        <a:t>K253269</a:t>
                      </a:r>
                    </a:p>
                  </a:txBody>
                  <a:tcPr marL="45720" marR="45720" marT="18288" marB="18288" anchor="t"/>
                </a:tc>
                <a:tc>
                  <a:txBody>
                    <a:bodyPr wrap="square"/>
                    <a:lstStyle/>
                    <a:p>
                      <a:r>
                        <a:rPr sz="960" b="0" i="0">
                          <a:solidFill>
                            <a:srgbClr val="1A1A1A"/>
                          </a:solidFill>
                          <a:latin typeface="Helvetica Neue"/>
                        </a:rPr>
                        <a:t>11/26/2025</a:t>
                      </a:r>
                    </a:p>
                  </a:txBody>
                  <a:tcPr marL="45720" marR="45720" marT="18288" marB="18288" anchor="t"/>
                </a:tc>
                <a:tc>
                  <a:txBody>
                    <a:bodyPr wrap="square"/>
                    <a:lstStyle/>
                    <a:p>
                      <a:r>
                        <a:rPr sz="960" b="0" i="0">
                          <a:solidFill>
                            <a:srgbClr val="1A1A1A"/>
                          </a:solidFill>
                          <a:latin typeface="Helvetica Neue"/>
                        </a:rPr>
                        <a:t>Ge Hualun Medical Systems Co. , Ltd.</a:t>
                      </a:r>
                    </a:p>
                  </a:txBody>
                  <a:tcPr marL="45720" marR="45720" marT="18288" marB="18288" anchor="t"/>
                </a:tc>
                <a:tc>
                  <a:txBody>
                    <a:bodyPr wrap="square"/>
                    <a:lstStyle/>
                    <a:p>
                      <a:r>
                        <a:rPr sz="960" b="0" i="0">
                          <a:solidFill>
                            <a:srgbClr val="1A1A1A"/>
                          </a:solidFill>
                          <a:latin typeface="Helvetica Neue"/>
                        </a:rPr>
                        <a:t>OEC One CFD</a:t>
                      </a:r>
                    </a:p>
                  </a:txBody>
                  <a:tcPr marL="45720" marR="45720" marT="18288" marB="18288" anchor="t"/>
                </a:tc>
                <a:tc>
                  <a:txBody>
                    <a:bodyPr wrap="square"/>
                    <a:lstStyle/>
                    <a:p>
                      <a:r>
                        <a:rPr sz="960" b="0" i="0">
                          <a:solidFill>
                            <a:srgbClr val="1A1A1A"/>
                          </a:solidFill>
                          <a:latin typeface="Helvetica Neue"/>
                        </a:rPr>
                        <a:t>OXO</a:t>
                      </a:r>
                    </a:p>
                  </a:txBody>
                  <a:tcPr marL="45720" marR="45720" marT="18288" marB="18288" anchor="t"/>
                </a:tc>
              </a:tr>
              <a:tr h="347472">
                <a:tc>
                  <a:txBody>
                    <a:bodyPr wrap="square"/>
                    <a:lstStyle/>
                    <a:p>
                      <a:r>
                        <a:rPr sz="960" b="0" i="0">
                          <a:solidFill>
                            <a:srgbClr val="1A1A1A"/>
                          </a:solidFill>
                          <a:latin typeface="Helvetica Neue"/>
                        </a:rPr>
                        <a:t>K253366</a:t>
                      </a:r>
                    </a:p>
                  </a:txBody>
                  <a:tcPr marL="45720" marR="45720" marT="18288" marB="18288" anchor="t"/>
                </a:tc>
                <a:tc>
                  <a:txBody>
                    <a:bodyPr wrap="square"/>
                    <a:lstStyle/>
                    <a:p>
                      <a:r>
                        <a:rPr sz="960" b="0" i="0">
                          <a:solidFill>
                            <a:srgbClr val="1A1A1A"/>
                          </a:solidFill>
                          <a:latin typeface="Helvetica Neue"/>
                        </a:rPr>
                        <a:t>01/07/2026</a:t>
                      </a:r>
                    </a:p>
                  </a:txBody>
                  <a:tcPr marL="45720" marR="45720" marT="18288" marB="18288" anchor="t"/>
                </a:tc>
                <a:tc>
                  <a:txBody>
                    <a:bodyPr wrap="square"/>
                    <a:lstStyle/>
                    <a:p>
                      <a:r>
                        <a:rPr sz="960" b="0" i="0">
                          <a:solidFill>
                            <a:srgbClr val="1A1A1A"/>
                          </a:solidFill>
                          <a:latin typeface="Helvetica Neue"/>
                        </a:rPr>
                        <a:t>GE Medical Systems Ultrasound and Primary Care Diagnostics</a:t>
                      </a:r>
                    </a:p>
                  </a:txBody>
                  <a:tcPr marL="45720" marR="45720" marT="18288" marB="18288" anchor="t"/>
                </a:tc>
                <a:tc>
                  <a:txBody>
                    <a:bodyPr wrap="square"/>
                    <a:lstStyle/>
                    <a:p>
                      <a:r>
                        <a:rPr sz="960" b="0" i="0">
                          <a:solidFill>
                            <a:srgbClr val="1A1A1A"/>
                          </a:solidFill>
                          <a:latin typeface="Helvetica Neue"/>
                        </a:rPr>
                        <a:t>LOGIQ Fortis</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347472">
                <a:tc>
                  <a:txBody>
                    <a:bodyPr wrap="square"/>
                    <a:lstStyle/>
                    <a:p>
                      <a:r>
                        <a:rPr sz="960" b="0" i="0">
                          <a:solidFill>
                            <a:srgbClr val="1A1A1A"/>
                          </a:solidFill>
                          <a:latin typeface="Helvetica Neue"/>
                        </a:rPr>
                        <a:t>K253370</a:t>
                      </a:r>
                    </a:p>
                  </a:txBody>
                  <a:tcPr marL="45720" marR="45720" marT="18288" marB="18288" anchor="t"/>
                </a:tc>
                <a:tc>
                  <a:txBody>
                    <a:bodyPr wrap="square"/>
                    <a:lstStyle/>
                    <a:p>
                      <a:r>
                        <a:rPr sz="960" b="0" i="0">
                          <a:solidFill>
                            <a:srgbClr val="1A1A1A"/>
                          </a:solidFill>
                          <a:latin typeface="Helvetica Neue"/>
                        </a:rPr>
                        <a:t>01/08/2026</a:t>
                      </a:r>
                    </a:p>
                  </a:txBody>
                  <a:tcPr marL="45720" marR="45720" marT="18288" marB="18288" anchor="t"/>
                </a:tc>
                <a:tc>
                  <a:txBody>
                    <a:bodyPr wrap="square"/>
                    <a:lstStyle/>
                    <a:p>
                      <a:r>
                        <a:rPr sz="960" b="0" i="0">
                          <a:solidFill>
                            <a:srgbClr val="1A1A1A"/>
                          </a:solidFill>
                          <a:latin typeface="Helvetica Neue"/>
                        </a:rPr>
                        <a:t>GE Medical Systems Ultrasound and Primary Care Diagnostics</a:t>
                      </a:r>
                    </a:p>
                  </a:txBody>
                  <a:tcPr marL="45720" marR="45720" marT="18288" marB="18288" anchor="t"/>
                </a:tc>
                <a:tc>
                  <a:txBody>
                    <a:bodyPr wrap="square"/>
                    <a:lstStyle/>
                    <a:p>
                      <a:r>
                        <a:rPr sz="960" b="0" i="0">
                          <a:solidFill>
                            <a:srgbClr val="1A1A1A"/>
                          </a:solidFill>
                          <a:latin typeface="Helvetica Neue"/>
                        </a:rPr>
                        <a:t>LOGIQ Totus</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K253489</a:t>
                      </a:r>
                    </a:p>
                  </a:txBody>
                  <a:tcPr marL="45720" marR="45720" marT="18288" marB="18288" anchor="t"/>
                </a:tc>
                <a:tc>
                  <a:txBody>
                    <a:bodyPr wrap="square"/>
                    <a:lstStyle/>
                    <a:p>
                      <a:r>
                        <a:rPr sz="960" b="0" i="0">
                          <a:solidFill>
                            <a:srgbClr val="1A1A1A"/>
                          </a:solidFill>
                          <a:latin typeface="Helvetica Neue"/>
                        </a:rPr>
                        <a:t>12/12/2025</a:t>
                      </a:r>
                    </a:p>
                  </a:txBody>
                  <a:tcPr marL="45720" marR="45720" marT="18288" marB="18288" anchor="t"/>
                </a:tc>
                <a:tc>
                  <a:txBody>
                    <a:bodyPr wrap="square"/>
                    <a:lstStyle/>
                    <a:p>
                      <a:r>
                        <a:rPr sz="960" b="0" i="0">
                          <a:solidFill>
                            <a:srgbClr val="1A1A1A"/>
                          </a:solidFill>
                          <a:latin typeface="Helvetica Neue"/>
                        </a:rPr>
                        <a:t>Hyperfine, Inc.</a:t>
                      </a:r>
                    </a:p>
                  </a:txBody>
                  <a:tcPr marL="45720" marR="45720" marT="18288" marB="18288" anchor="t"/>
                </a:tc>
                <a:tc>
                  <a:txBody>
                    <a:bodyPr wrap="square"/>
                    <a:lstStyle/>
                    <a:p>
                      <a:r>
                        <a:rPr sz="960" b="0" i="0">
                          <a:solidFill>
                            <a:srgbClr val="1A1A1A"/>
                          </a:solidFill>
                          <a:latin typeface="Helvetica Neue"/>
                        </a:rPr>
                        <a:t>Swoop® Portable MR Imaging® System</a:t>
                      </a:r>
                    </a:p>
                  </a:txBody>
                  <a:tcPr marL="45720" marR="45720" marT="18288" marB="18288" anchor="t"/>
                </a:tc>
                <a:tc>
                  <a:txBody>
                    <a:bodyPr wrap="square"/>
                    <a:lstStyle/>
                    <a:p>
                      <a:r>
                        <a:rPr sz="960" b="0" i="0">
                          <a:solidFill>
                            <a:srgbClr val="1A1A1A"/>
                          </a:solidFill>
                          <a:latin typeface="Helvetica Neue"/>
                        </a:rPr>
                        <a:t>LNH</a:t>
                      </a:r>
                    </a:p>
                  </a:txBody>
                  <a:tcPr marL="45720" marR="45720" marT="18288" marB="18288" anchor="t"/>
                </a:tc>
              </a:tr>
              <a:tr h="201168">
                <a:tc>
                  <a:txBody>
                    <a:bodyPr wrap="square"/>
                    <a:lstStyle/>
                    <a:p>
                      <a:r>
                        <a:rPr sz="960" b="0" i="0">
                          <a:solidFill>
                            <a:srgbClr val="1A1A1A"/>
                          </a:solidFill>
                          <a:latin typeface="Helvetica Neue"/>
                        </a:rPr>
                        <a:t>K253502</a:t>
                      </a:r>
                    </a:p>
                  </a:txBody>
                  <a:tcPr marL="45720" marR="45720" marT="18288" marB="18288" anchor="t"/>
                </a:tc>
                <a:tc>
                  <a:txBody>
                    <a:bodyPr wrap="square"/>
                    <a:lstStyle/>
                    <a:p>
                      <a:r>
                        <a:rPr sz="960" b="0" i="0">
                          <a:solidFill>
                            <a:srgbClr val="1A1A1A"/>
                          </a:solidFill>
                          <a:latin typeface="Helvetica Neue"/>
                        </a:rPr>
                        <a:t>04/14/2026</a:t>
                      </a:r>
                    </a:p>
                  </a:txBody>
                  <a:tcPr marL="45720" marR="45720" marT="18288" marB="18288" anchor="t"/>
                </a:tc>
                <a:tc>
                  <a:txBody>
                    <a:bodyPr wrap="square"/>
                    <a:lstStyle/>
                    <a:p>
                      <a:r>
                        <a:rPr sz="960" b="0" i="0">
                          <a:solidFill>
                            <a:srgbClr val="1A1A1A"/>
                          </a:solidFill>
                          <a:latin typeface="Helvetica Neue"/>
                        </a:rPr>
                        <a:t>Ge Medical Systems, LLC</a:t>
                      </a:r>
                    </a:p>
                  </a:txBody>
                  <a:tcPr marL="45720" marR="45720" marT="18288" marB="18288" anchor="t"/>
                </a:tc>
                <a:tc>
                  <a:txBody>
                    <a:bodyPr wrap="square"/>
                    <a:lstStyle/>
                    <a:p>
                      <a:r>
                        <a:rPr sz="960" b="0" i="0">
                          <a:solidFill>
                            <a:srgbClr val="1A1A1A"/>
                          </a:solidFill>
                          <a:latin typeface="Helvetica Neue"/>
                        </a:rPr>
                        <a:t>Critical Care Suite with Enteric Tube Positioning AI Algorithm</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r h="347472">
                <a:tc>
                  <a:txBody>
                    <a:bodyPr wrap="square"/>
                    <a:lstStyle/>
                    <a:p>
                      <a:r>
                        <a:rPr sz="960" b="0" i="0">
                          <a:solidFill>
                            <a:srgbClr val="1A1A1A"/>
                          </a:solidFill>
                          <a:latin typeface="Helvetica Neue"/>
                        </a:rPr>
                        <a:t>K253578</a:t>
                      </a:r>
                    </a:p>
                  </a:txBody>
                  <a:tcPr marL="45720" marR="45720" marT="18288" marB="18288" anchor="t"/>
                </a:tc>
                <a:tc>
                  <a:txBody>
                    <a:bodyPr wrap="square"/>
                    <a:lstStyle/>
                    <a:p>
                      <a:r>
                        <a:rPr sz="960" b="0" i="0">
                          <a:solidFill>
                            <a:srgbClr val="1A1A1A"/>
                          </a:solidFill>
                          <a:latin typeface="Helvetica Neue"/>
                        </a:rPr>
                        <a:t>02/26/2026</a:t>
                      </a:r>
                    </a:p>
                  </a:txBody>
                  <a:tcPr marL="45720" marR="45720" marT="18288" marB="18288" anchor="t"/>
                </a:tc>
                <a:tc>
                  <a:txBody>
                    <a:bodyPr wrap="square"/>
                    <a:lstStyle/>
                    <a:p>
                      <a:r>
                        <a:rPr sz="960" b="0" i="0">
                          <a:solidFill>
                            <a:srgbClr val="1A1A1A"/>
                          </a:solidFill>
                          <a:latin typeface="Helvetica Neue"/>
                        </a:rPr>
                        <a:t>Aidoc Medical , Ltd.</a:t>
                      </a:r>
                    </a:p>
                  </a:txBody>
                  <a:tcPr marL="45720" marR="45720" marT="18288" marB="18288" anchor="t"/>
                </a:tc>
                <a:tc>
                  <a:txBody>
                    <a:bodyPr wrap="square"/>
                    <a:lstStyle/>
                    <a:p>
                      <a:r>
                        <a:rPr sz="960" b="0" i="0">
                          <a:solidFill>
                            <a:srgbClr val="1A1A1A"/>
                          </a:solidFill>
                          <a:latin typeface="Helvetica Neue"/>
                        </a:rPr>
                        <a:t>BriefCase-Triage: CARE Multi-Triage CT for Pneumothorax; Pericardial effusion; Large aortic aneurysm; Shoulder fracture or dislocation device</a:t>
                      </a:r>
                    </a:p>
                  </a:txBody>
                  <a:tcPr marL="45720" marR="45720" marT="18288" marB="18288" anchor="t"/>
                </a:tc>
                <a:tc>
                  <a:txBody>
                    <a:bodyPr wrap="square"/>
                    <a:lstStyle/>
                    <a:p>
                      <a:r>
                        <a:rPr sz="960" b="0" i="0">
                          <a:solidFill>
                            <a:srgbClr val="1A1A1A"/>
                          </a:solidFill>
                          <a:latin typeface="Helvetica Neue"/>
                        </a:rPr>
                        <a:t>QAS</a:t>
                      </a:r>
                    </a:p>
                  </a:txBody>
                  <a:tcPr marL="45720" marR="45720" marT="18288" marB="18288" anchor="t"/>
                </a:tc>
              </a:tr>
              <a:tr h="347472">
                <a:tc>
                  <a:txBody>
                    <a:bodyPr wrap="square"/>
                    <a:lstStyle/>
                    <a:p>
                      <a:r>
                        <a:rPr sz="960" b="0" i="0">
                          <a:solidFill>
                            <a:srgbClr val="1A1A1A"/>
                          </a:solidFill>
                          <a:latin typeface="Helvetica Neue"/>
                        </a:rPr>
                        <a:t>K253595</a:t>
                      </a:r>
                    </a:p>
                  </a:txBody>
                  <a:tcPr marL="45720" marR="45720" marT="18288" marB="18288" anchor="t"/>
                </a:tc>
                <a:tc>
                  <a:txBody>
                    <a:bodyPr wrap="square"/>
                    <a:lstStyle/>
                    <a:p>
                      <a:r>
                        <a:rPr sz="960" b="0" i="0">
                          <a:solidFill>
                            <a:srgbClr val="1A1A1A"/>
                          </a:solidFill>
                          <a:latin typeface="Helvetica Neue"/>
                        </a:rPr>
                        <a:t>03/27/2026</a:t>
                      </a:r>
                    </a:p>
                  </a:txBody>
                  <a:tcPr marL="45720" marR="45720" marT="18288" marB="18288" anchor="t"/>
                </a:tc>
                <a:tc>
                  <a:txBody>
                    <a:bodyPr wrap="square"/>
                    <a:lstStyle/>
                    <a:p>
                      <a:r>
                        <a:rPr sz="960" b="0" i="0">
                          <a:solidFill>
                            <a:srgbClr val="1A1A1A"/>
                          </a:solidFill>
                          <a:latin typeface="Helvetica Neue"/>
                        </a:rPr>
                        <a:t>Philips Ultrasound, LLC</a:t>
                      </a:r>
                    </a:p>
                  </a:txBody>
                  <a:tcPr marL="45720" marR="45720" marT="18288" marB="18288" anchor="t"/>
                </a:tc>
                <a:tc>
                  <a:txBody>
                    <a:bodyPr wrap="square"/>
                    <a:lstStyle/>
                    <a:p>
                      <a:r>
                        <a:rPr sz="960" b="0" i="0">
                          <a:solidFill>
                            <a:srgbClr val="1A1A1A"/>
                          </a:solidFill>
                          <a:latin typeface="Helvetica Neue"/>
                        </a:rPr>
                        <a:t>EPIQ Series Diagnostic Ultrasound System, Affiniti Series Diagnostic Ultrasound System</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347472">
                <a:tc>
                  <a:txBody>
                    <a:bodyPr wrap="square"/>
                    <a:lstStyle/>
                    <a:p>
                      <a:r>
                        <a:rPr sz="960" b="0" i="0">
                          <a:solidFill>
                            <a:srgbClr val="1A1A1A"/>
                          </a:solidFill>
                          <a:latin typeface="Helvetica Neue"/>
                        </a:rPr>
                        <a:t>K253649</a:t>
                      </a:r>
                    </a:p>
                  </a:txBody>
                  <a:tcPr marL="45720" marR="45720" marT="18288" marB="18288" anchor="t"/>
                </a:tc>
                <a:tc>
                  <a:txBody>
                    <a:bodyPr wrap="square"/>
                    <a:lstStyle/>
                    <a:p>
                      <a:r>
                        <a:rPr sz="960" b="0" i="0">
                          <a:solidFill>
                            <a:srgbClr val="1A1A1A"/>
                          </a:solidFill>
                          <a:latin typeface="Helvetica Neue"/>
                        </a:rPr>
                        <a:t>03/27/2026</a:t>
                      </a:r>
                    </a:p>
                  </a:txBody>
                  <a:tcPr marL="45720" marR="45720" marT="18288" marB="18288" anchor="t"/>
                </a:tc>
                <a:tc>
                  <a:txBody>
                    <a:bodyPr wrap="square"/>
                    <a:lstStyle/>
                    <a:p>
                      <a:r>
                        <a:rPr sz="960" b="0" i="0">
                          <a:solidFill>
                            <a:srgbClr val="1A1A1A"/>
                          </a:solidFill>
                          <a:latin typeface="Helvetica Neue"/>
                        </a:rPr>
                        <a:t>Philips Medical Systems Technologies , Ltd.</a:t>
                      </a:r>
                    </a:p>
                  </a:txBody>
                  <a:tcPr marL="45720" marR="45720" marT="18288" marB="18288" anchor="t"/>
                </a:tc>
                <a:tc>
                  <a:txBody>
                    <a:bodyPr wrap="square"/>
                    <a:lstStyle/>
                    <a:p>
                      <a:r>
                        <a:rPr sz="960" b="0" i="0">
                          <a:solidFill>
                            <a:srgbClr val="1A1A1A"/>
                          </a:solidFill>
                          <a:latin typeface="Helvetica Neue"/>
                        </a:rPr>
                        <a:t>Spectral CT Verida Family</a:t>
                      </a:r>
                    </a:p>
                  </a:txBody>
                  <a:tcPr marL="45720" marR="45720" marT="18288" marB="18288" anchor="t"/>
                </a:tc>
                <a:tc>
                  <a:txBody>
                    <a:bodyPr wrap="square"/>
                    <a:lstStyle/>
                    <a:p>
                      <a:r>
                        <a:rPr sz="960" b="0" i="0">
                          <a:solidFill>
                            <a:srgbClr val="1A1A1A"/>
                          </a:solidFill>
                          <a:latin typeface="Helvetica Neue"/>
                        </a:rPr>
                        <a:t>JAK</a:t>
                      </a:r>
                    </a:p>
                  </a:txBody>
                  <a:tcPr marL="45720" marR="45720" marT="18288" marB="18288" anchor="t"/>
                </a:tc>
              </a:tr>
              <a:tr h="201168">
                <a:tc>
                  <a:txBody>
                    <a:bodyPr wrap="square"/>
                    <a:lstStyle/>
                    <a:p>
                      <a:r>
                        <a:rPr sz="960" b="0" i="0">
                          <a:solidFill>
                            <a:srgbClr val="1A1A1A"/>
                          </a:solidFill>
                          <a:latin typeface="Helvetica Neue"/>
                        </a:rPr>
                        <a:t>K253689</a:t>
                      </a:r>
                    </a:p>
                  </a:txBody>
                  <a:tcPr marL="45720" marR="45720" marT="18288" marB="18288" anchor="t"/>
                </a:tc>
                <a:tc>
                  <a:txBody>
                    <a:bodyPr wrap="square"/>
                    <a:lstStyle/>
                    <a:p>
                      <a:r>
                        <a:rPr sz="960" b="0" i="0">
                          <a:solidFill>
                            <a:srgbClr val="1A1A1A"/>
                          </a:solidFill>
                          <a:latin typeface="Helvetica Neue"/>
                        </a:rPr>
                        <a:t>04/10/2026</a:t>
                      </a:r>
                    </a:p>
                  </a:txBody>
                  <a:tcPr marL="45720" marR="45720" marT="18288" marB="18288" anchor="t"/>
                </a:tc>
                <a:tc>
                  <a:txBody>
                    <a:bodyPr wrap="square"/>
                    <a:lstStyle/>
                    <a:p>
                      <a:r>
                        <a:rPr sz="960" b="0" i="0">
                          <a:solidFill>
                            <a:srgbClr val="1A1A1A"/>
                          </a:solidFill>
                          <a:latin typeface="Helvetica Neue"/>
                        </a:rPr>
                        <a:t>Siemens Healthcare GmbH</a:t>
                      </a:r>
                    </a:p>
                  </a:txBody>
                  <a:tcPr marL="45720" marR="45720" marT="18288" marB="18288" anchor="t"/>
                </a:tc>
                <a:tc>
                  <a:txBody>
                    <a:bodyPr wrap="square"/>
                    <a:lstStyle/>
                    <a:p>
                      <a:r>
                        <a:rPr sz="960" b="0" i="0">
                          <a:solidFill>
                            <a:srgbClr val="1A1A1A"/>
                          </a:solidFill>
                          <a:latin typeface="Helvetica Neue"/>
                        </a:rPr>
                        <a:t>syngo Dynamics (VA41F)</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r h="201168">
                <a:tc>
                  <a:txBody>
                    <a:bodyPr wrap="square"/>
                    <a:lstStyle/>
                    <a:p>
                      <a:r>
                        <a:rPr sz="960" b="0" i="0">
                          <a:solidFill>
                            <a:srgbClr val="1A1A1A"/>
                          </a:solidFill>
                          <a:latin typeface="Helvetica Neue"/>
                        </a:rPr>
                        <a:t>K253818</a:t>
                      </a:r>
                    </a:p>
                  </a:txBody>
                  <a:tcPr marL="45720" marR="45720" marT="18288" marB="18288" anchor="t"/>
                </a:tc>
                <a:tc>
                  <a:txBody>
                    <a:bodyPr wrap="square"/>
                    <a:lstStyle/>
                    <a:p>
                      <a:r>
                        <a:rPr sz="960" b="0" i="0">
                          <a:solidFill>
                            <a:srgbClr val="1A1A1A"/>
                          </a:solidFill>
                          <a:latin typeface="Helvetica Neue"/>
                        </a:rPr>
                        <a:t>03/03/2026</a:t>
                      </a:r>
                    </a:p>
                  </a:txBody>
                  <a:tcPr marL="45720" marR="45720" marT="18288" marB="18288" anchor="t"/>
                </a:tc>
                <a:tc>
                  <a:txBody>
                    <a:bodyPr wrap="square"/>
                    <a:lstStyle/>
                    <a:p>
                      <a:r>
                        <a:rPr sz="960" b="0" i="0">
                          <a:solidFill>
                            <a:srgbClr val="1A1A1A"/>
                          </a:solidFill>
                          <a:latin typeface="Helvetica Neue"/>
                        </a:rPr>
                        <a:t>Harrison-AI Medical Pty, Ltd.</a:t>
                      </a:r>
                    </a:p>
                  </a:txBody>
                  <a:tcPr marL="45720" marR="45720" marT="18288" marB="18288" anchor="t"/>
                </a:tc>
                <a:tc>
                  <a:txBody>
                    <a:bodyPr wrap="square"/>
                    <a:lstStyle/>
                    <a:p>
                      <a:r>
                        <a:rPr sz="960" b="0" i="0">
                          <a:solidFill>
                            <a:srgbClr val="1A1A1A"/>
                          </a:solidFill>
                          <a:latin typeface="Helvetica Neue"/>
                        </a:rPr>
                        <a:t>Annalise Enterprise</a:t>
                      </a:r>
                    </a:p>
                  </a:txBody>
                  <a:tcPr marL="45720" marR="45720" marT="18288" marB="18288" anchor="t"/>
                </a:tc>
                <a:tc>
                  <a:txBody>
                    <a:bodyPr wrap="square"/>
                    <a:lstStyle/>
                    <a:p>
                      <a:r>
                        <a:rPr sz="960" b="0" i="0">
                          <a:solidFill>
                            <a:srgbClr val="1A1A1A"/>
                          </a:solidFill>
                          <a:latin typeface="Helvetica Neue"/>
                        </a:rPr>
                        <a:t>QAS</a:t>
                      </a:r>
                    </a:p>
                  </a:txBody>
                  <a:tcPr marL="45720" marR="45720" marT="18288" marB="18288" anchor="t"/>
                </a:tc>
              </a:tr>
              <a:tr h="201168">
                <a:tc>
                  <a:txBody>
                    <a:bodyPr wrap="square"/>
                    <a:lstStyle/>
                    <a:p>
                      <a:r>
                        <a:rPr sz="960" b="0" i="0">
                          <a:solidFill>
                            <a:srgbClr val="1A1A1A"/>
                          </a:solidFill>
                          <a:latin typeface="Helvetica Neue"/>
                        </a:rPr>
                        <a:t>K254015</a:t>
                      </a:r>
                    </a:p>
                  </a:txBody>
                  <a:tcPr marL="45720" marR="45720" marT="18288" marB="18288" anchor="t"/>
                </a:tc>
                <a:tc>
                  <a:txBody>
                    <a:bodyPr wrap="square"/>
                    <a:lstStyle/>
                    <a:p>
                      <a:r>
                        <a:rPr sz="960" b="0" i="0">
                          <a:solidFill>
                            <a:srgbClr val="1A1A1A"/>
                          </a:solidFill>
                          <a:latin typeface="Helvetica Neue"/>
                        </a:rPr>
                        <a:t>04/01/2026</a:t>
                      </a:r>
                    </a:p>
                  </a:txBody>
                  <a:tcPr marL="45720" marR="45720" marT="18288" marB="18288" anchor="t"/>
                </a:tc>
                <a:tc>
                  <a:txBody>
                    <a:bodyPr wrap="square"/>
                    <a:lstStyle/>
                    <a:p>
                      <a:r>
                        <a:rPr sz="960" b="0" i="0">
                          <a:solidFill>
                            <a:srgbClr val="1A1A1A"/>
                          </a:solidFill>
                          <a:latin typeface="Helvetica Neue"/>
                        </a:rPr>
                        <a:t>Smart Soft Healthcare AD</a:t>
                      </a:r>
                    </a:p>
                  </a:txBody>
                  <a:tcPr marL="45720" marR="45720" marT="18288" marB="18288" anchor="t"/>
                </a:tc>
                <a:tc>
                  <a:txBody>
                    <a:bodyPr wrap="square"/>
                    <a:lstStyle/>
                    <a:p>
                      <a:r>
                        <a:rPr sz="960" b="0" i="0">
                          <a:solidFill>
                            <a:srgbClr val="1A1A1A"/>
                          </a:solidFill>
                          <a:latin typeface="Helvetica Neue"/>
                        </a:rPr>
                        <a:t>CoLumbo C-Spine</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r h="201168">
                <a:tc>
                  <a:txBody>
                    <a:bodyPr wrap="square"/>
                    <a:lstStyle/>
                    <a:p>
                      <a:r>
                        <a:rPr sz="960" b="0" i="0">
                          <a:solidFill>
                            <a:srgbClr val="1A1A1A"/>
                          </a:solidFill>
                          <a:latin typeface="Helvetica Neue"/>
                        </a:rPr>
                        <a:t>K260123</a:t>
                      </a:r>
                    </a:p>
                  </a:txBody>
                  <a:tcPr marL="45720" marR="45720" marT="18288" marB="18288" anchor="t"/>
                </a:tc>
                <a:tc>
                  <a:txBody>
                    <a:bodyPr wrap="square"/>
                    <a:lstStyle/>
                    <a:p>
                      <a:r>
                        <a:rPr sz="960" b="0" i="0">
                          <a:solidFill>
                            <a:srgbClr val="1A1A1A"/>
                          </a:solidFill>
                          <a:latin typeface="Helvetica Neue"/>
                        </a:rPr>
                        <a:t>05/27/2026</a:t>
                      </a:r>
                    </a:p>
                  </a:txBody>
                  <a:tcPr marL="45720" marR="45720" marT="18288" marB="18288" anchor="t"/>
                </a:tc>
                <a:tc>
                  <a:txBody>
                    <a:bodyPr wrap="square"/>
                    <a:lstStyle/>
                    <a:p>
                      <a:r>
                        <a:rPr sz="960" b="0" i="0">
                          <a:solidFill>
                            <a:srgbClr val="1A1A1A"/>
                          </a:solidFill>
                          <a:latin typeface="Helvetica Neue"/>
                        </a:rPr>
                        <a:t>Philips Ultrasound, LLC</a:t>
                      </a:r>
                    </a:p>
                  </a:txBody>
                  <a:tcPr marL="45720" marR="45720" marT="18288" marB="18288" anchor="t"/>
                </a:tc>
                <a:tc>
                  <a:txBody>
                    <a:bodyPr wrap="square"/>
                    <a:lstStyle/>
                    <a:p>
                      <a:r>
                        <a:rPr sz="960" b="0" i="0">
                          <a:solidFill>
                            <a:srgbClr val="1A1A1A"/>
                          </a:solidFill>
                          <a:latin typeface="Helvetica Neue"/>
                        </a:rPr>
                        <a:t>EPIQ Series Diagnostic Ultrasound System</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K260300</a:t>
                      </a:r>
                    </a:p>
                  </a:txBody>
                  <a:tcPr marL="45720" marR="45720" marT="18288" marB="18288" anchor="t"/>
                </a:tc>
                <a:tc>
                  <a:txBody>
                    <a:bodyPr wrap="square"/>
                    <a:lstStyle/>
                    <a:p>
                      <a:r>
                        <a:rPr sz="960" b="0" i="0">
                          <a:solidFill>
                            <a:srgbClr val="1A1A1A"/>
                          </a:solidFill>
                          <a:latin typeface="Helvetica Neue"/>
                        </a:rPr>
                        <a:t>06/15/2026</a:t>
                      </a:r>
                    </a:p>
                  </a:txBody>
                  <a:tcPr marL="45720" marR="45720" marT="18288" marB="18288" anchor="t"/>
                </a:tc>
                <a:tc>
                  <a:txBody>
                    <a:bodyPr wrap="square"/>
                    <a:lstStyle/>
                    <a:p>
                      <a:r>
                        <a:rPr sz="960" b="0" i="0">
                          <a:solidFill>
                            <a:srgbClr val="1A1A1A"/>
                          </a:solidFill>
                          <a:latin typeface="Helvetica Neue"/>
                        </a:rPr>
                        <a:t>Anumana, Inc.</a:t>
                      </a:r>
                    </a:p>
                  </a:txBody>
                  <a:tcPr marL="45720" marR="45720" marT="18288" marB="18288" anchor="t"/>
                </a:tc>
                <a:tc>
                  <a:txBody>
                    <a:bodyPr wrap="square"/>
                    <a:lstStyle/>
                    <a:p>
                      <a:r>
                        <a:rPr sz="960" b="0" i="0">
                          <a:solidFill>
                            <a:srgbClr val="1A1A1A"/>
                          </a:solidFill>
                          <a:latin typeface="Helvetica Neue"/>
                        </a:rPr>
                        <a:t>WatchMate Software</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r h="201168">
                <a:tc>
                  <a:txBody>
                    <a:bodyPr wrap="square"/>
                    <a:lstStyle/>
                    <a:p>
                      <a:r>
                        <a:rPr sz="960" b="0" i="0">
                          <a:solidFill>
                            <a:srgbClr val="1A1A1A"/>
                          </a:solidFill>
                          <a:latin typeface="Helvetica Neue"/>
                        </a:rPr>
                        <a:t>K260322</a:t>
                      </a:r>
                    </a:p>
                  </a:txBody>
                  <a:tcPr marL="45720" marR="45720" marT="18288" marB="18288" anchor="t"/>
                </a:tc>
                <a:tc>
                  <a:txBody>
                    <a:bodyPr wrap="square"/>
                    <a:lstStyle/>
                    <a:p>
                      <a:r>
                        <a:rPr sz="960" b="0" i="0">
                          <a:solidFill>
                            <a:srgbClr val="1A1A1A"/>
                          </a:solidFill>
                          <a:latin typeface="Helvetica Neue"/>
                        </a:rPr>
                        <a:t>06/11/2026</a:t>
                      </a:r>
                    </a:p>
                  </a:txBody>
                  <a:tcPr marL="45720" marR="45720" marT="18288" marB="18288" anchor="t"/>
                </a:tc>
                <a:tc>
                  <a:txBody>
                    <a:bodyPr wrap="square"/>
                    <a:lstStyle/>
                    <a:p>
                      <a:r>
                        <a:rPr sz="960" b="0" i="0">
                          <a:solidFill>
                            <a:srgbClr val="1A1A1A"/>
                          </a:solidFill>
                          <a:latin typeface="Helvetica Neue"/>
                        </a:rPr>
                        <a:t>Mighty Oak Medical</a:t>
                      </a:r>
                    </a:p>
                  </a:txBody>
                  <a:tcPr marL="45720" marR="45720" marT="18288" marB="18288" anchor="t"/>
                </a:tc>
                <a:tc>
                  <a:txBody>
                    <a:bodyPr wrap="square"/>
                    <a:lstStyle/>
                    <a:p>
                      <a:r>
                        <a:rPr sz="960" b="0" i="0">
                          <a:solidFill>
                            <a:srgbClr val="1A1A1A"/>
                          </a:solidFill>
                          <a:latin typeface="Helvetica Neue"/>
                        </a:rPr>
                        <a:t>Acorn 3D Software (AC-SEG-4009); Acorn 3DP Model (AC-101-XX)</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r h="201168">
                <a:tc>
                  <a:txBody>
                    <a:bodyPr wrap="square"/>
                    <a:lstStyle/>
                    <a:p>
                      <a:r>
                        <a:rPr sz="960" b="0" i="0">
                          <a:solidFill>
                            <a:srgbClr val="1A1A1A"/>
                          </a:solidFill>
                          <a:latin typeface="Helvetica Neue"/>
                        </a:rPr>
                        <a:t>K260378</a:t>
                      </a:r>
                    </a:p>
                  </a:txBody>
                  <a:tcPr marL="45720" marR="45720" marT="18288" marB="18288" anchor="t"/>
                </a:tc>
                <a:tc>
                  <a:txBody>
                    <a:bodyPr wrap="square"/>
                    <a:lstStyle/>
                    <a:p>
                      <a:r>
                        <a:rPr sz="960" b="0" i="0">
                          <a:solidFill>
                            <a:srgbClr val="1A1A1A"/>
                          </a:solidFill>
                          <a:latin typeface="Helvetica Neue"/>
                        </a:rPr>
                        <a:t>05/12/2026</a:t>
                      </a:r>
                    </a:p>
                  </a:txBody>
                  <a:tcPr marL="45720" marR="45720" marT="18288" marB="18288" anchor="t"/>
                </a:tc>
                <a:tc>
                  <a:txBody>
                    <a:bodyPr wrap="square"/>
                    <a:lstStyle/>
                    <a:p>
                      <a:r>
                        <a:rPr sz="960" b="0" i="0">
                          <a:solidFill>
                            <a:srgbClr val="1A1A1A"/>
                          </a:solidFill>
                          <a:latin typeface="Helvetica Neue"/>
                        </a:rPr>
                        <a:t>AZmed</a:t>
                      </a:r>
                    </a:p>
                  </a:txBody>
                  <a:tcPr marL="45720" marR="45720" marT="18288" marB="18288" anchor="t"/>
                </a:tc>
                <a:tc>
                  <a:txBody>
                    <a:bodyPr wrap="square"/>
                    <a:lstStyle/>
                    <a:p>
                      <a:r>
                        <a:rPr sz="960" b="0" i="0">
                          <a:solidFill>
                            <a:srgbClr val="1A1A1A"/>
                          </a:solidFill>
                          <a:latin typeface="Helvetica Neue"/>
                        </a:rPr>
                        <a:t>Rayvolve</a:t>
                      </a:r>
                    </a:p>
                  </a:txBody>
                  <a:tcPr marL="45720" marR="45720" marT="18288" marB="18288" anchor="t"/>
                </a:tc>
                <a:tc>
                  <a:txBody>
                    <a:bodyPr wrap="square"/>
                    <a:lstStyle/>
                    <a:p>
                      <a:r>
                        <a:rPr sz="960" b="0" i="0">
                          <a:solidFill>
                            <a:srgbClr val="1A1A1A"/>
                          </a:solidFill>
                          <a:latin typeface="Helvetica Neue"/>
                        </a:rPr>
                        <a:t>QBS</a:t>
                      </a:r>
                    </a:p>
                  </a:txBody>
                  <a:tcPr marL="45720" marR="45720" marT="18288" marB="18288" anchor="t"/>
                </a:tc>
              </a:tr>
              <a:tr h="201168">
                <a:tc>
                  <a:txBody>
                    <a:bodyPr wrap="square"/>
                    <a:lstStyle/>
                    <a:p>
                      <a:r>
                        <a:rPr sz="960" b="0" i="0">
                          <a:solidFill>
                            <a:srgbClr val="1A1A1A"/>
                          </a:solidFill>
                          <a:latin typeface="Helvetica Neue"/>
                        </a:rPr>
                        <a:t>K260497</a:t>
                      </a:r>
                    </a:p>
                  </a:txBody>
                  <a:tcPr marL="45720" marR="45720" marT="18288" marB="18288" anchor="t"/>
                </a:tc>
                <a:tc>
                  <a:txBody>
                    <a:bodyPr wrap="square"/>
                    <a:lstStyle/>
                    <a:p>
                      <a:r>
                        <a:rPr sz="960" b="0" i="0">
                          <a:solidFill>
                            <a:srgbClr val="1A1A1A"/>
                          </a:solidFill>
                          <a:latin typeface="Helvetica Neue"/>
                        </a:rPr>
                        <a:t>06/04/2026</a:t>
                      </a:r>
                    </a:p>
                  </a:txBody>
                  <a:tcPr marL="45720" marR="45720" marT="18288" marB="18288" anchor="t"/>
                </a:tc>
                <a:tc>
                  <a:txBody>
                    <a:bodyPr wrap="square"/>
                    <a:lstStyle/>
                    <a:p>
                      <a:r>
                        <a:rPr sz="960" b="0" i="0">
                          <a:solidFill>
                            <a:srgbClr val="1A1A1A"/>
                          </a:solidFill>
                          <a:latin typeface="Helvetica Neue"/>
                        </a:rPr>
                        <a:t>Keya Medical Technology Co., Ltd.</a:t>
                      </a:r>
                    </a:p>
                  </a:txBody>
                  <a:tcPr marL="45720" marR="45720" marT="18288" marB="18288" anchor="t"/>
                </a:tc>
                <a:tc>
                  <a:txBody>
                    <a:bodyPr wrap="square"/>
                    <a:lstStyle/>
                    <a:p>
                      <a:r>
                        <a:rPr sz="960" b="0" i="0">
                          <a:solidFill>
                            <a:srgbClr val="1A1A1A"/>
                          </a:solidFill>
                          <a:latin typeface="Helvetica Neue"/>
                        </a:rPr>
                        <a:t>DEEPVESSEL Plaque</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77 / 83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label-positive candidates (221–230 of 230)</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285227"/>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88950">
                <a:tc>
                  <a:txBody>
                    <a:bodyPr wrap="square"/>
                    <a:lstStyle/>
                    <a:p>
                      <a:r>
                        <a:rPr sz="1536" b="1" i="0">
                          <a:solidFill>
                            <a:srgbClr val="FFFFFF"/>
                          </a:solidFill>
                          <a:latin typeface="Helvetica Neue"/>
                        </a:rPr>
                        <a:t>Submission</a:t>
                      </a:r>
                    </a:p>
                  </a:txBody>
                  <a:tcPr marL="45720" marR="45720" marT="18288" marB="18288" anchor="t"/>
                </a:tc>
                <a:tc>
                  <a:txBody>
                    <a:bodyPr wrap="square"/>
                    <a:lstStyle/>
                    <a:p>
                      <a:r>
                        <a:rPr sz="1536" b="1" i="0">
                          <a:solidFill>
                            <a:srgbClr val="FFFFFF"/>
                          </a:solidFill>
                          <a:latin typeface="Helvetica Neue"/>
                        </a:rPr>
                        <a:t>Date</a:t>
                      </a:r>
                    </a:p>
                  </a:txBody>
                  <a:tcPr marL="45720" marR="45720" marT="18288" marB="18288" anchor="t"/>
                </a:tc>
                <a:tc>
                  <a:txBody>
                    <a:bodyPr wrap="square"/>
                    <a:lstStyle/>
                    <a:p>
                      <a:r>
                        <a:rPr sz="1536" b="1" i="0">
                          <a:solidFill>
                            <a:srgbClr val="FFFFFF"/>
                          </a:solidFill>
                          <a:latin typeface="Helvetica Neue"/>
                        </a:rPr>
                        <a:t>Company</a:t>
                      </a:r>
                    </a:p>
                  </a:txBody>
                  <a:tcPr marL="45720" marR="45720" marT="18288" marB="18288" anchor="t"/>
                </a:tc>
                <a:tc>
                  <a:txBody>
                    <a:bodyPr wrap="square"/>
                    <a:lstStyle/>
                    <a:p>
                      <a:r>
                        <a:rPr sz="1536" b="1" i="0">
                          <a:solidFill>
                            <a:srgbClr val="FFFFFF"/>
                          </a:solidFill>
                          <a:latin typeface="Helvetica Neue"/>
                        </a:rPr>
                        <a:t>Device</a:t>
                      </a:r>
                    </a:p>
                  </a:txBody>
                  <a:tcPr marL="45720" marR="45720" marT="18288" marB="18288" anchor="t"/>
                </a:tc>
                <a:tc>
                  <a:txBody>
                    <a:bodyPr wrap="square"/>
                    <a:lstStyle/>
                    <a:p>
                      <a:r>
                        <a:rPr sz="1536" b="1" i="0">
                          <a:solidFill>
                            <a:srgbClr val="FFFFFF"/>
                          </a:solidFill>
                          <a:latin typeface="Helvetica Neue"/>
                        </a:rPr>
                        <a:t>Code</a:t>
                      </a:r>
                    </a:p>
                  </a:txBody>
                  <a:tcPr marL="45720" marR="45720" marT="18288" marB="18288" anchor="t"/>
                </a:tc>
              </a:tr>
              <a:tr h="288950">
                <a:tc>
                  <a:txBody>
                    <a:bodyPr wrap="square"/>
                    <a:lstStyle/>
                    <a:p>
                      <a:r>
                        <a:rPr sz="1536" b="0" i="0">
                          <a:solidFill>
                            <a:srgbClr val="1A1A1A"/>
                          </a:solidFill>
                          <a:latin typeface="Helvetica Neue"/>
                        </a:rPr>
                        <a:t>K260509</a:t>
                      </a:r>
                    </a:p>
                  </a:txBody>
                  <a:tcPr marL="45720" marR="45720" marT="18288" marB="18288" anchor="t"/>
                </a:tc>
                <a:tc>
                  <a:txBody>
                    <a:bodyPr wrap="square"/>
                    <a:lstStyle/>
                    <a:p>
                      <a:r>
                        <a:rPr sz="1536" b="0" i="0">
                          <a:solidFill>
                            <a:srgbClr val="1A1A1A"/>
                          </a:solidFill>
                          <a:latin typeface="Helvetica Neue"/>
                        </a:rPr>
                        <a:t>03/19/2026</a:t>
                      </a:r>
                    </a:p>
                  </a:txBody>
                  <a:tcPr marL="45720" marR="45720" marT="18288" marB="18288" anchor="t"/>
                </a:tc>
                <a:tc>
                  <a:txBody>
                    <a:bodyPr wrap="square"/>
                    <a:lstStyle/>
                    <a:p>
                      <a:r>
                        <a:rPr sz="1536" b="0" i="0">
                          <a:solidFill>
                            <a:srgbClr val="1A1A1A"/>
                          </a:solidFill>
                          <a:latin typeface="Helvetica Neue"/>
                        </a:rPr>
                        <a:t>Radformation, Inc.</a:t>
                      </a:r>
                    </a:p>
                  </a:txBody>
                  <a:tcPr marL="45720" marR="45720" marT="18288" marB="18288" anchor="t"/>
                </a:tc>
                <a:tc>
                  <a:txBody>
                    <a:bodyPr wrap="square"/>
                    <a:lstStyle/>
                    <a:p>
                      <a:r>
                        <a:rPr sz="1536" b="0" i="0">
                          <a:solidFill>
                            <a:srgbClr val="1A1A1A"/>
                          </a:solidFill>
                          <a:latin typeface="Helvetica Neue"/>
                        </a:rPr>
                        <a:t>AutoContour (RADAC V5)</a:t>
                      </a:r>
                    </a:p>
                  </a:txBody>
                  <a:tcPr marL="45720" marR="45720" marT="18288" marB="18288" anchor="t"/>
                </a:tc>
                <a:tc>
                  <a:txBody>
                    <a:bodyPr wrap="square"/>
                    <a:lstStyle/>
                    <a:p>
                      <a:r>
                        <a:rPr sz="1536" b="0" i="0">
                          <a:solidFill>
                            <a:srgbClr val="1A1A1A"/>
                          </a:solidFill>
                          <a:latin typeface="Helvetica Neue"/>
                        </a:rPr>
                        <a:t>QKB</a:t>
                      </a:r>
                    </a:p>
                  </a:txBody>
                  <a:tcPr marL="45720" marR="45720" marT="18288" marB="18288" anchor="t"/>
                </a:tc>
              </a:tr>
              <a:tr h="523036">
                <a:tc>
                  <a:txBody>
                    <a:bodyPr wrap="square"/>
                    <a:lstStyle/>
                    <a:p>
                      <a:r>
                        <a:rPr sz="1536" b="0" i="0">
                          <a:solidFill>
                            <a:srgbClr val="1A1A1A"/>
                          </a:solidFill>
                          <a:latin typeface="Helvetica Neue"/>
                        </a:rPr>
                        <a:t>K260667</a:t>
                      </a:r>
                    </a:p>
                  </a:txBody>
                  <a:tcPr marL="45720" marR="45720" marT="18288" marB="18288" anchor="t"/>
                </a:tc>
                <a:tc>
                  <a:txBody>
                    <a:bodyPr wrap="square"/>
                    <a:lstStyle/>
                    <a:p>
                      <a:r>
                        <a:rPr sz="1536" b="0" i="0">
                          <a:solidFill>
                            <a:srgbClr val="1A1A1A"/>
                          </a:solidFill>
                          <a:latin typeface="Helvetica Neue"/>
                        </a:rPr>
                        <a:t>06/29/2026</a:t>
                      </a:r>
                    </a:p>
                  </a:txBody>
                  <a:tcPr marL="45720" marR="45720" marT="18288" marB="18288" anchor="t"/>
                </a:tc>
                <a:tc>
                  <a:txBody>
                    <a:bodyPr wrap="square"/>
                    <a:lstStyle/>
                    <a:p>
                      <a:r>
                        <a:rPr sz="1536" b="0" i="0">
                          <a:solidFill>
                            <a:srgbClr val="1A1A1A"/>
                          </a:solidFill>
                          <a:latin typeface="Helvetica Neue"/>
                        </a:rPr>
                        <a:t>Philips Ultrasound, LLC</a:t>
                      </a:r>
                    </a:p>
                  </a:txBody>
                  <a:tcPr marL="45720" marR="45720" marT="18288" marB="18288" anchor="t"/>
                </a:tc>
                <a:tc>
                  <a:txBody>
                    <a:bodyPr wrap="square"/>
                    <a:lstStyle/>
                    <a:p>
                      <a:r>
                        <a:rPr sz="1536" b="0" i="0">
                          <a:solidFill>
                            <a:srgbClr val="1A1A1A"/>
                          </a:solidFill>
                          <a:latin typeface="Helvetica Neue"/>
                        </a:rPr>
                        <a:t>Alturion Series Diagnostic Ultrasound System</a:t>
                      </a:r>
                    </a:p>
                  </a:txBody>
                  <a:tcPr marL="45720" marR="45720" marT="18288" marB="18288" anchor="t"/>
                </a:tc>
                <a:tc>
                  <a:txBody>
                    <a:bodyPr wrap="square"/>
                    <a:lstStyle/>
                    <a:p>
                      <a:r>
                        <a:rPr sz="1536" b="0" i="0">
                          <a:solidFill>
                            <a:srgbClr val="1A1A1A"/>
                          </a:solidFill>
                          <a:latin typeface="Helvetica Neue"/>
                        </a:rPr>
                        <a:t>IYN</a:t>
                      </a:r>
                    </a:p>
                  </a:txBody>
                  <a:tcPr marL="45720" marR="45720" marT="18288" marB="18288" anchor="t"/>
                </a:tc>
              </a:tr>
              <a:tr h="991209">
                <a:tc>
                  <a:txBody>
                    <a:bodyPr wrap="square"/>
                    <a:lstStyle/>
                    <a:p>
                      <a:r>
                        <a:rPr sz="1536" b="0" i="0">
                          <a:solidFill>
                            <a:srgbClr val="1A1A1A"/>
                          </a:solidFill>
                          <a:latin typeface="Helvetica Neue"/>
                        </a:rPr>
                        <a:t>K260673</a:t>
                      </a:r>
                    </a:p>
                  </a:txBody>
                  <a:tcPr marL="45720" marR="45720" marT="18288" marB="18288" anchor="t"/>
                </a:tc>
                <a:tc>
                  <a:txBody>
                    <a:bodyPr wrap="square"/>
                    <a:lstStyle/>
                    <a:p>
                      <a:r>
                        <a:rPr sz="1536" b="0" i="0">
                          <a:solidFill>
                            <a:srgbClr val="1A1A1A"/>
                          </a:solidFill>
                          <a:latin typeface="Helvetica Neue"/>
                        </a:rPr>
                        <a:t>03/24/2026</a:t>
                      </a:r>
                    </a:p>
                  </a:txBody>
                  <a:tcPr marL="45720" marR="45720" marT="18288" marB="18288" anchor="t"/>
                </a:tc>
                <a:tc>
                  <a:txBody>
                    <a:bodyPr wrap="square"/>
                    <a:lstStyle/>
                    <a:p>
                      <a:r>
                        <a:rPr sz="1536" b="0" i="0">
                          <a:solidFill>
                            <a:srgbClr val="1A1A1A"/>
                          </a:solidFill>
                          <a:latin typeface="Helvetica Neue"/>
                        </a:rPr>
                        <a:t>GE Medical Systems Ultrasound and Primary Care Diagnostics</a:t>
                      </a:r>
                    </a:p>
                  </a:txBody>
                  <a:tcPr marL="45720" marR="45720" marT="18288" marB="18288" anchor="t"/>
                </a:tc>
                <a:tc>
                  <a:txBody>
                    <a:bodyPr wrap="square"/>
                    <a:lstStyle/>
                    <a:p>
                      <a:r>
                        <a:rPr sz="1536" b="0" i="0">
                          <a:solidFill>
                            <a:srgbClr val="1A1A1A"/>
                          </a:solidFill>
                          <a:latin typeface="Helvetica Neue"/>
                        </a:rPr>
                        <a:t>LOGIQ Vita; LOGIQ Vita Pro; LOGIQ Vita Express; LOGIQ Vita Plus; LOGIQ Vita Power; LOGIQ S20; LOGIQ S20 Pro; LOGIQ S20 Express; LOGIQ S20 Plus; LOGIQ S20 Power</a:t>
                      </a:r>
                    </a:p>
                  </a:txBody>
                  <a:tcPr marL="45720" marR="45720" marT="18288" marB="18288" anchor="t"/>
                </a:tc>
                <a:tc>
                  <a:txBody>
                    <a:bodyPr wrap="square"/>
                    <a:lstStyle/>
                    <a:p>
                      <a:r>
                        <a:rPr sz="1536" b="0" i="0">
                          <a:solidFill>
                            <a:srgbClr val="1A1A1A"/>
                          </a:solidFill>
                          <a:latin typeface="Helvetica Neue"/>
                        </a:rPr>
                        <a:t>IYN</a:t>
                      </a:r>
                    </a:p>
                  </a:txBody>
                  <a:tcPr marL="45720" marR="45720" marT="18288" marB="18288" anchor="t"/>
                </a:tc>
              </a:tr>
              <a:tr h="523036">
                <a:tc>
                  <a:txBody>
                    <a:bodyPr wrap="square"/>
                    <a:lstStyle/>
                    <a:p>
                      <a:r>
                        <a:rPr sz="1536" b="0" i="0">
                          <a:solidFill>
                            <a:srgbClr val="1A1A1A"/>
                          </a:solidFill>
                          <a:latin typeface="Helvetica Neue"/>
                        </a:rPr>
                        <a:t>K260680</a:t>
                      </a:r>
                    </a:p>
                  </a:txBody>
                  <a:tcPr marL="45720" marR="45720" marT="18288" marB="18288" anchor="t"/>
                </a:tc>
                <a:tc>
                  <a:txBody>
                    <a:bodyPr wrap="square"/>
                    <a:lstStyle/>
                    <a:p>
                      <a:r>
                        <a:rPr sz="1536" b="0" i="0">
                          <a:solidFill>
                            <a:srgbClr val="1A1A1A"/>
                          </a:solidFill>
                          <a:latin typeface="Helvetica Neue"/>
                        </a:rPr>
                        <a:t>05/27/2026</a:t>
                      </a:r>
                    </a:p>
                  </a:txBody>
                  <a:tcPr marL="45720" marR="45720" marT="18288" marB="18288" anchor="t"/>
                </a:tc>
                <a:tc>
                  <a:txBody>
                    <a:bodyPr wrap="square"/>
                    <a:lstStyle/>
                    <a:p>
                      <a:r>
                        <a:rPr sz="1536" b="0" i="0">
                          <a:solidFill>
                            <a:srgbClr val="1A1A1A"/>
                          </a:solidFill>
                          <a:latin typeface="Helvetica Neue"/>
                        </a:rPr>
                        <a:t>Philips Ultrasound, LLC</a:t>
                      </a:r>
                    </a:p>
                  </a:txBody>
                  <a:tcPr marL="45720" marR="45720" marT="18288" marB="18288" anchor="t"/>
                </a:tc>
                <a:tc>
                  <a:txBody>
                    <a:bodyPr wrap="square"/>
                    <a:lstStyle/>
                    <a:p>
                      <a:r>
                        <a:rPr sz="1536" b="0" i="0">
                          <a:solidFill>
                            <a:srgbClr val="1A1A1A"/>
                          </a:solidFill>
                          <a:latin typeface="Helvetica Neue"/>
                        </a:rPr>
                        <a:t>EPIQ Series Diagnostic Ultrasound Systems; Affiniti Series Diagnostic Ultrasound Systems</a:t>
                      </a:r>
                    </a:p>
                  </a:txBody>
                  <a:tcPr marL="45720" marR="45720" marT="18288" marB="18288" anchor="t"/>
                </a:tc>
                <a:tc>
                  <a:txBody>
                    <a:bodyPr wrap="square"/>
                    <a:lstStyle/>
                    <a:p>
                      <a:r>
                        <a:rPr sz="1536" b="0" i="0">
                          <a:solidFill>
                            <a:srgbClr val="1A1A1A"/>
                          </a:solidFill>
                          <a:latin typeface="Helvetica Neue"/>
                        </a:rPr>
                        <a:t>IYN</a:t>
                      </a:r>
                    </a:p>
                  </a:txBody>
                  <a:tcPr marL="45720" marR="45720" marT="18288" marB="18288" anchor="t"/>
                </a:tc>
              </a:tr>
              <a:tr h="288950">
                <a:tc>
                  <a:txBody>
                    <a:bodyPr wrap="square"/>
                    <a:lstStyle/>
                    <a:p>
                      <a:r>
                        <a:rPr sz="1536" b="0" i="0">
                          <a:solidFill>
                            <a:srgbClr val="1A1A1A"/>
                          </a:solidFill>
                          <a:latin typeface="Helvetica Neue"/>
                        </a:rPr>
                        <a:t>K260729</a:t>
                      </a:r>
                    </a:p>
                  </a:txBody>
                  <a:tcPr marL="45720" marR="45720" marT="18288" marB="18288" anchor="t"/>
                </a:tc>
                <a:tc>
                  <a:txBody>
                    <a:bodyPr wrap="square"/>
                    <a:lstStyle/>
                    <a:p>
                      <a:r>
                        <a:rPr sz="1536" b="0" i="0">
                          <a:solidFill>
                            <a:srgbClr val="1A1A1A"/>
                          </a:solidFill>
                          <a:latin typeface="Helvetica Neue"/>
                        </a:rPr>
                        <a:t>06/18/2026</a:t>
                      </a:r>
                    </a:p>
                  </a:txBody>
                  <a:tcPr marL="45720" marR="45720" marT="18288" marB="18288" anchor="t"/>
                </a:tc>
                <a:tc>
                  <a:txBody>
                    <a:bodyPr wrap="square"/>
                    <a:lstStyle/>
                    <a:p>
                      <a:r>
                        <a:rPr sz="1536" b="0" i="0">
                          <a:solidFill>
                            <a:srgbClr val="1A1A1A"/>
                          </a:solidFill>
                          <a:latin typeface="Helvetica Neue"/>
                        </a:rPr>
                        <a:t>GuideAI Health</a:t>
                      </a:r>
                    </a:p>
                  </a:txBody>
                  <a:tcPr marL="45720" marR="45720" marT="18288" marB="18288" anchor="t"/>
                </a:tc>
                <a:tc>
                  <a:txBody>
                    <a:bodyPr wrap="square"/>
                    <a:lstStyle/>
                    <a:p>
                      <a:r>
                        <a:rPr sz="1536" b="0" i="0">
                          <a:solidFill>
                            <a:srgbClr val="1A1A1A"/>
                          </a:solidFill>
                          <a:latin typeface="Helvetica Neue"/>
                        </a:rPr>
                        <a:t>Vascular Assist Occlusion Triage (VAOT) (v1.0)</a:t>
                      </a:r>
                    </a:p>
                  </a:txBody>
                  <a:tcPr marL="45720" marR="45720" marT="18288" marB="18288" anchor="t"/>
                </a:tc>
                <a:tc>
                  <a:txBody>
                    <a:bodyPr wrap="square"/>
                    <a:lstStyle/>
                    <a:p>
                      <a:r>
                        <a:rPr sz="1536" b="0" i="0">
                          <a:solidFill>
                            <a:srgbClr val="1A1A1A"/>
                          </a:solidFill>
                          <a:latin typeface="Helvetica Neue"/>
                        </a:rPr>
                        <a:t>QAS</a:t>
                      </a:r>
                    </a:p>
                  </a:txBody>
                  <a:tcPr marL="45720" marR="45720" marT="18288" marB="18288" anchor="t"/>
                </a:tc>
              </a:tr>
              <a:tr h="1225296">
                <a:tc>
                  <a:txBody>
                    <a:bodyPr wrap="square"/>
                    <a:lstStyle/>
                    <a:p>
                      <a:r>
                        <a:rPr sz="1536" b="0" i="0">
                          <a:solidFill>
                            <a:srgbClr val="1A1A1A"/>
                          </a:solidFill>
                          <a:latin typeface="Helvetica Neue"/>
                        </a:rPr>
                        <a:t>K260844</a:t>
                      </a:r>
                    </a:p>
                  </a:txBody>
                  <a:tcPr marL="45720" marR="45720" marT="18288" marB="18288" anchor="t"/>
                </a:tc>
                <a:tc>
                  <a:txBody>
                    <a:bodyPr wrap="square"/>
                    <a:lstStyle/>
                    <a:p>
                      <a:r>
                        <a:rPr sz="1536" b="0" i="0">
                          <a:solidFill>
                            <a:srgbClr val="1A1A1A"/>
                          </a:solidFill>
                          <a:latin typeface="Helvetica Neue"/>
                        </a:rPr>
                        <a:t>06/16/2026</a:t>
                      </a:r>
                    </a:p>
                  </a:txBody>
                  <a:tcPr marL="45720" marR="45720" marT="18288" marB="18288" anchor="t"/>
                </a:tc>
                <a:tc>
                  <a:txBody>
                    <a:bodyPr wrap="square"/>
                    <a:lstStyle/>
                    <a:p>
                      <a:r>
                        <a:rPr sz="1536" b="0" i="0">
                          <a:solidFill>
                            <a:srgbClr val="1A1A1A"/>
                          </a:solidFill>
                          <a:latin typeface="Helvetica Neue"/>
                        </a:rPr>
                        <a:t>Siemens Medical Solutions USA, Inc.</a:t>
                      </a:r>
                    </a:p>
                  </a:txBody>
                  <a:tcPr marL="45720" marR="45720" marT="18288" marB="18288" anchor="t"/>
                </a:tc>
                <a:tc>
                  <a:txBody>
                    <a:bodyPr wrap="square"/>
                    <a:lstStyle/>
                    <a:p>
                      <a:r>
                        <a:rPr sz="1536" b="0" i="0">
                          <a:solidFill>
                            <a:srgbClr val="1A1A1A"/>
                          </a:solidFill>
                          <a:latin typeface="Helvetica Neue"/>
                        </a:rPr>
                        <a:t>ACUSON Sequoia Diagnostic Ultrasound System;ACUSON Sequoia Select Diagnostic Ultrasound System;ACUSON Origin Diagnostic Ultrasound System;ACUSON Origin ICE Diagnostic Ultrasound System</a:t>
                      </a:r>
                    </a:p>
                  </a:txBody>
                  <a:tcPr marL="45720" marR="45720" marT="18288" marB="18288" anchor="t"/>
                </a:tc>
                <a:tc>
                  <a:txBody>
                    <a:bodyPr wrap="square"/>
                    <a:lstStyle/>
                    <a:p>
                      <a:r>
                        <a:rPr sz="1536" b="0" i="0">
                          <a:solidFill>
                            <a:srgbClr val="1A1A1A"/>
                          </a:solidFill>
                          <a:latin typeface="Helvetica Neue"/>
                        </a:rPr>
                        <a:t>IYN</a:t>
                      </a:r>
                    </a:p>
                  </a:txBody>
                  <a:tcPr marL="45720" marR="45720" marT="18288" marB="18288" anchor="t"/>
                </a:tc>
              </a:tr>
              <a:tr h="288950">
                <a:tc>
                  <a:txBody>
                    <a:bodyPr wrap="square"/>
                    <a:lstStyle/>
                    <a:p>
                      <a:r>
                        <a:rPr sz="1536" b="0" i="0">
                          <a:solidFill>
                            <a:srgbClr val="1A1A1A"/>
                          </a:solidFill>
                          <a:latin typeface="Helvetica Neue"/>
                        </a:rPr>
                        <a:t>K261273</a:t>
                      </a:r>
                    </a:p>
                  </a:txBody>
                  <a:tcPr marL="45720" marR="45720" marT="18288" marB="18288" anchor="t"/>
                </a:tc>
                <a:tc>
                  <a:txBody>
                    <a:bodyPr wrap="square"/>
                    <a:lstStyle/>
                    <a:p>
                      <a:r>
                        <a:rPr sz="1536" b="0" i="0">
                          <a:solidFill>
                            <a:srgbClr val="1A1A1A"/>
                          </a:solidFill>
                          <a:latin typeface="Helvetica Neue"/>
                        </a:rPr>
                        <a:t>05/15/2026</a:t>
                      </a:r>
                    </a:p>
                  </a:txBody>
                  <a:tcPr marL="45720" marR="45720" marT="18288" marB="18288" anchor="t"/>
                </a:tc>
                <a:tc>
                  <a:txBody>
                    <a:bodyPr wrap="square"/>
                    <a:lstStyle/>
                    <a:p>
                      <a:r>
                        <a:rPr sz="1536" b="0" i="0">
                          <a:solidFill>
                            <a:srgbClr val="1A1A1A"/>
                          </a:solidFill>
                          <a:latin typeface="Helvetica Neue"/>
                        </a:rPr>
                        <a:t>Neurophet., Inc.</a:t>
                      </a:r>
                    </a:p>
                  </a:txBody>
                  <a:tcPr marL="45720" marR="45720" marT="18288" marB="18288" anchor="t"/>
                </a:tc>
                <a:tc>
                  <a:txBody>
                    <a:bodyPr wrap="square"/>
                    <a:lstStyle/>
                    <a:p>
                      <a:r>
                        <a:rPr sz="1536" b="0" i="0">
                          <a:solidFill>
                            <a:srgbClr val="1A1A1A"/>
                          </a:solidFill>
                          <a:latin typeface="Helvetica Neue"/>
                        </a:rPr>
                        <a:t>Neurophet AQUA</a:t>
                      </a:r>
                    </a:p>
                  </a:txBody>
                  <a:tcPr marL="45720" marR="45720" marT="18288" marB="18288" anchor="t"/>
                </a:tc>
                <a:tc>
                  <a:txBody>
                    <a:bodyPr wrap="square"/>
                    <a:lstStyle/>
                    <a:p>
                      <a:r>
                        <a:rPr sz="1536" b="0" i="0">
                          <a:solidFill>
                            <a:srgbClr val="1A1A1A"/>
                          </a:solidFill>
                          <a:latin typeface="Helvetica Neue"/>
                        </a:rPr>
                        <a:t>QIH</a:t>
                      </a:r>
                    </a:p>
                  </a:txBody>
                  <a:tcPr marL="45720" marR="45720" marT="18288" marB="18288" anchor="t"/>
                </a:tc>
              </a:tr>
              <a:tr h="288950">
                <a:tc>
                  <a:txBody>
                    <a:bodyPr wrap="square"/>
                    <a:lstStyle/>
                    <a:p>
                      <a:r>
                        <a:rPr sz="1536" b="0" i="0">
                          <a:solidFill>
                            <a:srgbClr val="1A1A1A"/>
                          </a:solidFill>
                          <a:latin typeface="Helvetica Neue"/>
                        </a:rPr>
                        <a:t>K261317</a:t>
                      </a:r>
                    </a:p>
                  </a:txBody>
                  <a:tcPr marL="45720" marR="45720" marT="18288" marB="18288" anchor="t"/>
                </a:tc>
                <a:tc>
                  <a:txBody>
                    <a:bodyPr wrap="square"/>
                    <a:lstStyle/>
                    <a:p>
                      <a:r>
                        <a:rPr sz="1536" b="0" i="0">
                          <a:solidFill>
                            <a:srgbClr val="1A1A1A"/>
                          </a:solidFill>
                          <a:latin typeface="Helvetica Neue"/>
                        </a:rPr>
                        <a:t>05/14/2026</a:t>
                      </a:r>
                    </a:p>
                  </a:txBody>
                  <a:tcPr marL="45720" marR="45720" marT="18288" marB="18288" anchor="t"/>
                </a:tc>
                <a:tc>
                  <a:txBody>
                    <a:bodyPr wrap="square"/>
                    <a:lstStyle/>
                    <a:p>
                      <a:r>
                        <a:rPr sz="1536" b="0" i="0">
                          <a:solidFill>
                            <a:srgbClr val="1A1A1A"/>
                          </a:solidFill>
                          <a:latin typeface="Helvetica Neue"/>
                        </a:rPr>
                        <a:t>Aidoc Medical , Ltd.</a:t>
                      </a:r>
                    </a:p>
                  </a:txBody>
                  <a:tcPr marL="45720" marR="45720" marT="18288" marB="18288" anchor="t"/>
                </a:tc>
                <a:tc>
                  <a:txBody>
                    <a:bodyPr wrap="square"/>
                    <a:lstStyle/>
                    <a:p>
                      <a:r>
                        <a:rPr sz="1536" b="0" i="0">
                          <a:solidFill>
                            <a:srgbClr val="1A1A1A"/>
                          </a:solidFill>
                          <a:latin typeface="Helvetica Neue"/>
                        </a:rPr>
                        <a:t>BriefCase-Triage</a:t>
                      </a:r>
                    </a:p>
                  </a:txBody>
                  <a:tcPr marL="45720" marR="45720" marT="18288" marB="18288" anchor="t"/>
                </a:tc>
                <a:tc>
                  <a:txBody>
                    <a:bodyPr wrap="square"/>
                    <a:lstStyle/>
                    <a:p>
                      <a:r>
                        <a:rPr sz="1536" b="0" i="0">
                          <a:solidFill>
                            <a:srgbClr val="1A1A1A"/>
                          </a:solidFill>
                          <a:latin typeface="Helvetica Neue"/>
                        </a:rPr>
                        <a:t>QAS</a:t>
                      </a:r>
                    </a:p>
                  </a:txBody>
                  <a:tcPr marL="45720" marR="45720" marT="18288" marB="18288" anchor="t"/>
                </a:tc>
              </a:tr>
              <a:tr h="288950">
                <a:tc>
                  <a:txBody>
                    <a:bodyPr wrap="square"/>
                    <a:lstStyle/>
                    <a:p>
                      <a:r>
                        <a:rPr sz="1536" b="0" i="0">
                          <a:solidFill>
                            <a:srgbClr val="1A1A1A"/>
                          </a:solidFill>
                          <a:latin typeface="Helvetica Neue"/>
                        </a:rPr>
                        <a:t>K261519</a:t>
                      </a:r>
                    </a:p>
                  </a:txBody>
                  <a:tcPr marL="45720" marR="45720" marT="18288" marB="18288" anchor="t"/>
                </a:tc>
                <a:tc>
                  <a:txBody>
                    <a:bodyPr wrap="square"/>
                    <a:lstStyle/>
                    <a:p>
                      <a:r>
                        <a:rPr sz="1536" b="0" i="0">
                          <a:solidFill>
                            <a:srgbClr val="1A1A1A"/>
                          </a:solidFill>
                          <a:latin typeface="Helvetica Neue"/>
                        </a:rPr>
                        <a:t>06/04/2026</a:t>
                      </a:r>
                    </a:p>
                  </a:txBody>
                  <a:tcPr marL="45720" marR="45720" marT="18288" marB="18288" anchor="t"/>
                </a:tc>
                <a:tc>
                  <a:txBody>
                    <a:bodyPr wrap="square"/>
                    <a:lstStyle/>
                    <a:p>
                      <a:r>
                        <a:rPr sz="1536" b="0" i="0">
                          <a:solidFill>
                            <a:srgbClr val="1A1A1A"/>
                          </a:solidFill>
                          <a:latin typeface="Helvetica Neue"/>
                        </a:rPr>
                        <a:t>Sonio</a:t>
                      </a:r>
                    </a:p>
                  </a:txBody>
                  <a:tcPr marL="45720" marR="45720" marT="18288" marB="18288" anchor="t"/>
                </a:tc>
                <a:tc>
                  <a:txBody>
                    <a:bodyPr wrap="square"/>
                    <a:lstStyle/>
                    <a:p>
                      <a:r>
                        <a:rPr sz="1536" b="0" i="0">
                          <a:solidFill>
                            <a:srgbClr val="1A1A1A"/>
                          </a:solidFill>
                          <a:latin typeface="Helvetica Neue"/>
                        </a:rPr>
                        <a:t>Sonio Suspect</a:t>
                      </a:r>
                    </a:p>
                  </a:txBody>
                  <a:tcPr marL="45720" marR="45720" marT="18288" marB="18288" anchor="t"/>
                </a:tc>
                <a:tc>
                  <a:txBody>
                    <a:bodyPr wrap="square"/>
                    <a:lstStyle/>
                    <a:p>
                      <a:r>
                        <a:rPr sz="1536" b="0" i="0">
                          <a:solidFill>
                            <a:srgbClr val="1A1A1A"/>
                          </a:solidFill>
                          <a:latin typeface="Helvetica Neue"/>
                        </a:rPr>
                        <a:t>POK</a:t>
                      </a:r>
                    </a:p>
                  </a:txBody>
                  <a:tcPr marL="45720" marR="45720" marT="18288" marB="18288" anchor="t"/>
                </a:tc>
              </a:tr>
              <a:tr h="288950">
                <a:tc>
                  <a:txBody>
                    <a:bodyPr wrap="square"/>
                    <a:lstStyle/>
                    <a:p>
                      <a:r>
                        <a:rPr sz="1536" b="0" i="0">
                          <a:solidFill>
                            <a:srgbClr val="1A1A1A"/>
                          </a:solidFill>
                          <a:latin typeface="Helvetica Neue"/>
                        </a:rPr>
                        <a:t>P150043</a:t>
                      </a:r>
                    </a:p>
                  </a:txBody>
                  <a:tcPr marL="45720" marR="45720" marT="18288" marB="18288" anchor="t"/>
                </a:tc>
                <a:tc>
                  <a:txBody>
                    <a:bodyPr wrap="square"/>
                    <a:lstStyle/>
                    <a:p>
                      <a:r>
                        <a:rPr sz="1536" b="0" i="0">
                          <a:solidFill>
                            <a:srgbClr val="1A1A1A"/>
                          </a:solidFill>
                          <a:latin typeface="Helvetica Neue"/>
                        </a:rPr>
                        <a:t>11/09/2016</a:t>
                      </a:r>
                    </a:p>
                  </a:txBody>
                  <a:tcPr marL="45720" marR="45720" marT="18288" marB="18288" anchor="t"/>
                </a:tc>
                <a:tc>
                  <a:txBody>
                    <a:bodyPr wrap="square"/>
                    <a:lstStyle/>
                    <a:p>
                      <a:r>
                        <a:rPr sz="1536" b="0" i="0">
                          <a:solidFill>
                            <a:srgbClr val="1A1A1A"/>
                          </a:solidFill>
                          <a:latin typeface="Helvetica Neue"/>
                        </a:rPr>
                        <a:t>QView Medical, Inc.</a:t>
                      </a:r>
                    </a:p>
                  </a:txBody>
                  <a:tcPr marL="45720" marR="45720" marT="18288" marB="18288" anchor="t"/>
                </a:tc>
                <a:tc>
                  <a:txBody>
                    <a:bodyPr wrap="square"/>
                    <a:lstStyle/>
                    <a:p>
                      <a:r>
                        <a:rPr sz="1536" b="0" i="0">
                          <a:solidFill>
                            <a:srgbClr val="1A1A1A"/>
                          </a:solidFill>
                          <a:latin typeface="Helvetica Neue"/>
                        </a:rPr>
                        <a:t>QVCAD System</a:t>
                      </a:r>
                    </a:p>
                  </a:txBody>
                  <a:tcPr marL="45720" marR="45720" marT="18288" marB="18288" anchor="t"/>
                </a:tc>
                <a:tc>
                  <a:txBody>
                    <a:bodyPr wrap="square"/>
                    <a:lstStyle/>
                    <a:p>
                      <a:r>
                        <a:rPr sz="1536" b="0" i="0">
                          <a:solidFill>
                            <a:srgbClr val="1A1A1A"/>
                          </a:solidFill>
                          <a:latin typeface="Helvetica Neue"/>
                        </a:rPr>
                        <a:t>MYN</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78 / 83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needs label review (1–20 of 53)</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4956048"/>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01168">
                <a:tc>
                  <a:txBody>
                    <a:bodyPr wrap="square"/>
                    <a:lstStyle/>
                    <a:p>
                      <a:r>
                        <a:rPr sz="960" b="1" i="0">
                          <a:solidFill>
                            <a:srgbClr val="FFFFFF"/>
                          </a:solidFill>
                          <a:latin typeface="Helvetica Neue"/>
                        </a:rPr>
                        <a:t>Submission</a:t>
                      </a:r>
                    </a:p>
                  </a:txBody>
                  <a:tcPr marL="45720" marR="45720" marT="18288" marB="18288" anchor="t"/>
                </a:tc>
                <a:tc>
                  <a:txBody>
                    <a:bodyPr wrap="square"/>
                    <a:lstStyle/>
                    <a:p>
                      <a:r>
                        <a:rPr sz="960" b="1" i="0">
                          <a:solidFill>
                            <a:srgbClr val="FFFFFF"/>
                          </a:solidFill>
                          <a:latin typeface="Helvetica Neue"/>
                        </a:rPr>
                        <a:t>Date</a:t>
                      </a:r>
                    </a:p>
                  </a:txBody>
                  <a:tcPr marL="45720" marR="45720" marT="18288" marB="18288" anchor="t"/>
                </a:tc>
                <a:tc>
                  <a:txBody>
                    <a:bodyPr wrap="square"/>
                    <a:lstStyle/>
                    <a:p>
                      <a:r>
                        <a:rPr sz="960" b="1" i="0">
                          <a:solidFill>
                            <a:srgbClr val="FFFFFF"/>
                          </a:solidFill>
                          <a:latin typeface="Helvetica Neue"/>
                        </a:rPr>
                        <a:t>Company</a:t>
                      </a:r>
                    </a:p>
                  </a:txBody>
                  <a:tcPr marL="45720" marR="45720" marT="18288" marB="18288" anchor="t"/>
                </a:tc>
                <a:tc>
                  <a:txBody>
                    <a:bodyPr wrap="square"/>
                    <a:lstStyle/>
                    <a:p>
                      <a:r>
                        <a:rPr sz="960" b="1" i="0">
                          <a:solidFill>
                            <a:srgbClr val="FFFFFF"/>
                          </a:solidFill>
                          <a:latin typeface="Helvetica Neue"/>
                        </a:rPr>
                        <a:t>Device</a:t>
                      </a:r>
                    </a:p>
                  </a:txBody>
                  <a:tcPr marL="45720" marR="45720" marT="18288" marB="18288" anchor="t"/>
                </a:tc>
                <a:tc>
                  <a:txBody>
                    <a:bodyPr wrap="square"/>
                    <a:lstStyle/>
                    <a:p>
                      <a:r>
                        <a:rPr sz="960" b="1" i="0">
                          <a:solidFill>
                            <a:srgbClr val="FFFFFF"/>
                          </a:solidFill>
                          <a:latin typeface="Helvetica Neue"/>
                        </a:rPr>
                        <a:t>Code</a:t>
                      </a:r>
                    </a:p>
                  </a:txBody>
                  <a:tcPr marL="45720" marR="45720" marT="18288" marB="18288" anchor="t"/>
                </a:tc>
              </a:tr>
              <a:tr h="201168">
                <a:tc>
                  <a:txBody>
                    <a:bodyPr wrap="square"/>
                    <a:lstStyle/>
                    <a:p>
                      <a:r>
                        <a:rPr sz="960" b="0" i="0">
                          <a:solidFill>
                            <a:srgbClr val="1A1A1A"/>
                          </a:solidFill>
                          <a:latin typeface="Helvetica Neue"/>
                        </a:rPr>
                        <a:t>DEN170022</a:t>
                      </a:r>
                    </a:p>
                  </a:txBody>
                  <a:tcPr marL="45720" marR="45720" marT="18288" marB="18288" anchor="t"/>
                </a:tc>
                <a:tc>
                  <a:txBody>
                    <a:bodyPr wrap="square"/>
                    <a:lstStyle/>
                    <a:p>
                      <a:r>
                        <a:rPr sz="960" b="0" i="0">
                          <a:solidFill>
                            <a:srgbClr val="1A1A1A"/>
                          </a:solidFill>
                          <a:latin typeface="Helvetica Neue"/>
                        </a:rPr>
                        <a:t>07/19/2017</a:t>
                      </a:r>
                    </a:p>
                  </a:txBody>
                  <a:tcPr marL="45720" marR="45720" marT="18288" marB="18288" anchor="t"/>
                </a:tc>
                <a:tc>
                  <a:txBody>
                    <a:bodyPr wrap="square"/>
                    <a:lstStyle/>
                    <a:p>
                      <a:r>
                        <a:rPr sz="960" b="0" i="0">
                          <a:solidFill>
                            <a:srgbClr val="1A1A1A"/>
                          </a:solidFill>
                          <a:latin typeface="Helvetica Neue"/>
                        </a:rPr>
                        <a:t>Quantitative Insights, Inc</a:t>
                      </a:r>
                    </a:p>
                  </a:txBody>
                  <a:tcPr marL="45720" marR="45720" marT="18288" marB="18288" anchor="t"/>
                </a:tc>
                <a:tc>
                  <a:txBody>
                    <a:bodyPr wrap="square"/>
                    <a:lstStyle/>
                    <a:p>
                      <a:r>
                        <a:rPr sz="960" b="0" i="0">
                          <a:solidFill>
                            <a:srgbClr val="1A1A1A"/>
                          </a:solidFill>
                          <a:latin typeface="Helvetica Neue"/>
                        </a:rPr>
                        <a:t>QuantX</a:t>
                      </a:r>
                    </a:p>
                  </a:txBody>
                  <a:tcPr marL="45720" marR="45720" marT="18288" marB="18288" anchor="t"/>
                </a:tc>
                <a:tc>
                  <a:txBody>
                    <a:bodyPr wrap="square"/>
                    <a:lstStyle/>
                    <a:p>
                      <a:r>
                        <a:rPr sz="960" b="0" i="0">
                          <a:solidFill>
                            <a:srgbClr val="1A1A1A"/>
                          </a:solidFill>
                          <a:latin typeface="Helvetica Neue"/>
                        </a:rPr>
                        <a:t>POK</a:t>
                      </a:r>
                    </a:p>
                  </a:txBody>
                  <a:tcPr marL="45720" marR="45720" marT="18288" marB="18288" anchor="t"/>
                </a:tc>
              </a:tr>
              <a:tr h="201168">
                <a:tc>
                  <a:txBody>
                    <a:bodyPr wrap="square"/>
                    <a:lstStyle/>
                    <a:p>
                      <a:r>
                        <a:rPr sz="960" b="0" i="0">
                          <a:solidFill>
                            <a:srgbClr val="1A1A1A"/>
                          </a:solidFill>
                          <a:latin typeface="Helvetica Neue"/>
                        </a:rPr>
                        <a:t>DEN190040</a:t>
                      </a:r>
                    </a:p>
                  </a:txBody>
                  <a:tcPr marL="45720" marR="45720" marT="18288" marB="18288" anchor="t"/>
                </a:tc>
                <a:tc>
                  <a:txBody>
                    <a:bodyPr wrap="square"/>
                    <a:lstStyle/>
                    <a:p>
                      <a:r>
                        <a:rPr sz="960" b="0" i="0">
                          <a:solidFill>
                            <a:srgbClr val="1A1A1A"/>
                          </a:solidFill>
                          <a:latin typeface="Helvetica Neue"/>
                        </a:rPr>
                        <a:t>02/07/2020</a:t>
                      </a:r>
                    </a:p>
                  </a:txBody>
                  <a:tcPr marL="45720" marR="45720" marT="18288" marB="18288" anchor="t"/>
                </a:tc>
                <a:tc>
                  <a:txBody>
                    <a:bodyPr wrap="square"/>
                    <a:lstStyle/>
                    <a:p>
                      <a:r>
                        <a:rPr sz="960" b="0" i="0">
                          <a:solidFill>
                            <a:srgbClr val="1A1A1A"/>
                          </a:solidFill>
                          <a:latin typeface="Helvetica Neue"/>
                        </a:rPr>
                        <a:t>Bay Labs, Inc.</a:t>
                      </a:r>
                    </a:p>
                  </a:txBody>
                  <a:tcPr marL="45720" marR="45720" marT="18288" marB="18288" anchor="t"/>
                </a:tc>
                <a:tc>
                  <a:txBody>
                    <a:bodyPr wrap="square"/>
                    <a:lstStyle/>
                    <a:p>
                      <a:r>
                        <a:rPr sz="960" b="0" i="0">
                          <a:solidFill>
                            <a:srgbClr val="1A1A1A"/>
                          </a:solidFill>
                          <a:latin typeface="Helvetica Neue"/>
                        </a:rPr>
                        <a:t>Caption Guidance</a:t>
                      </a:r>
                    </a:p>
                  </a:txBody>
                  <a:tcPr marL="45720" marR="45720" marT="18288" marB="18288" anchor="t"/>
                </a:tc>
                <a:tc>
                  <a:txBody>
                    <a:bodyPr wrap="square"/>
                    <a:lstStyle/>
                    <a:p>
                      <a:r>
                        <a:rPr sz="960" b="0" i="0">
                          <a:solidFill>
                            <a:srgbClr val="1A1A1A"/>
                          </a:solidFill>
                          <a:latin typeface="Helvetica Neue"/>
                        </a:rPr>
                        <a:t>QJU</a:t>
                      </a:r>
                    </a:p>
                  </a:txBody>
                  <a:tcPr marL="45720" marR="45720" marT="18288" marB="18288" anchor="t"/>
                </a:tc>
              </a:tr>
              <a:tr h="201168">
                <a:tc>
                  <a:txBody>
                    <a:bodyPr wrap="square"/>
                    <a:lstStyle/>
                    <a:p>
                      <a:r>
                        <a:rPr sz="960" b="0" i="0">
                          <a:solidFill>
                            <a:srgbClr val="1A1A1A"/>
                          </a:solidFill>
                          <a:latin typeface="Helvetica Neue"/>
                        </a:rPr>
                        <a:t>DEN220040</a:t>
                      </a:r>
                    </a:p>
                  </a:txBody>
                  <a:tcPr marL="45720" marR="45720" marT="18288" marB="18288" anchor="t"/>
                </a:tc>
                <a:tc>
                  <a:txBody>
                    <a:bodyPr wrap="square"/>
                    <a:lstStyle/>
                    <a:p>
                      <a:r>
                        <a:rPr sz="960" b="0" i="0">
                          <a:solidFill>
                            <a:srgbClr val="1A1A1A"/>
                          </a:solidFill>
                          <a:latin typeface="Helvetica Neue"/>
                        </a:rPr>
                        <a:t>01/12/2024</a:t>
                      </a:r>
                    </a:p>
                  </a:txBody>
                  <a:tcPr marL="45720" marR="45720" marT="18288" marB="18288" anchor="t"/>
                </a:tc>
                <a:tc>
                  <a:txBody>
                    <a:bodyPr wrap="square"/>
                    <a:lstStyle/>
                    <a:p>
                      <a:r>
                        <a:rPr sz="960" b="0" i="0">
                          <a:solidFill>
                            <a:srgbClr val="1A1A1A"/>
                          </a:solidFill>
                          <a:latin typeface="Helvetica Neue"/>
                        </a:rPr>
                        <a:t>Imvaria, Inc</a:t>
                      </a:r>
                    </a:p>
                  </a:txBody>
                  <a:tcPr marL="45720" marR="45720" marT="18288" marB="18288" anchor="t"/>
                </a:tc>
                <a:tc>
                  <a:txBody>
                    <a:bodyPr wrap="square"/>
                    <a:lstStyle/>
                    <a:p>
                      <a:r>
                        <a:rPr sz="960" b="0" i="0">
                          <a:solidFill>
                            <a:srgbClr val="1A1A1A"/>
                          </a:solidFill>
                          <a:latin typeface="Helvetica Neue"/>
                        </a:rPr>
                        <a:t>Fibresolve</a:t>
                      </a:r>
                    </a:p>
                  </a:txBody>
                  <a:tcPr marL="45720" marR="45720" marT="18288" marB="18288" anchor="t"/>
                </a:tc>
                <a:tc>
                  <a:txBody>
                    <a:bodyPr wrap="square"/>
                    <a:lstStyle/>
                    <a:p>
                      <a:r>
                        <a:rPr sz="960" b="0" i="0">
                          <a:solidFill>
                            <a:srgbClr val="1A1A1A"/>
                          </a:solidFill>
                          <a:latin typeface="Helvetica Neue"/>
                        </a:rPr>
                        <a:t>QWO</a:t>
                      </a:r>
                    </a:p>
                  </a:txBody>
                  <a:tcPr marL="45720" marR="45720" marT="18288" marB="18288" anchor="t"/>
                </a:tc>
              </a:tr>
              <a:tr h="201168">
                <a:tc>
                  <a:txBody>
                    <a:bodyPr wrap="square"/>
                    <a:lstStyle/>
                    <a:p>
                      <a:r>
                        <a:rPr sz="960" b="0" i="0">
                          <a:solidFill>
                            <a:srgbClr val="1A1A1A"/>
                          </a:solidFill>
                          <a:latin typeface="Helvetica Neue"/>
                        </a:rPr>
                        <a:t>DEN230023</a:t>
                      </a:r>
                    </a:p>
                  </a:txBody>
                  <a:tcPr marL="45720" marR="45720" marT="18288" marB="18288" anchor="t"/>
                </a:tc>
                <a:tc>
                  <a:txBody>
                    <a:bodyPr wrap="square"/>
                    <a:lstStyle/>
                    <a:p>
                      <a:r>
                        <a:rPr sz="960" b="0" i="0">
                          <a:solidFill>
                            <a:srgbClr val="1A1A1A"/>
                          </a:solidFill>
                          <a:latin typeface="Helvetica Neue"/>
                        </a:rPr>
                        <a:t>04/09/2024</a:t>
                      </a:r>
                    </a:p>
                  </a:txBody>
                  <a:tcPr marL="45720" marR="45720" marT="18288" marB="18288" anchor="t"/>
                </a:tc>
                <a:tc>
                  <a:txBody>
                    <a:bodyPr wrap="square"/>
                    <a:lstStyle/>
                    <a:p>
                      <a:r>
                        <a:rPr sz="960" b="0" i="0">
                          <a:solidFill>
                            <a:srgbClr val="1A1A1A"/>
                          </a:solidFill>
                          <a:latin typeface="Helvetica Neue"/>
                        </a:rPr>
                        <a:t>16 Bit Inc</a:t>
                      </a:r>
                    </a:p>
                  </a:txBody>
                  <a:tcPr marL="45720" marR="45720" marT="18288" marB="18288" anchor="t"/>
                </a:tc>
                <a:tc>
                  <a:txBody>
                    <a:bodyPr wrap="square"/>
                    <a:lstStyle/>
                    <a:p>
                      <a:r>
                        <a:rPr sz="960" b="0" i="0">
                          <a:solidFill>
                            <a:srgbClr val="1A1A1A"/>
                          </a:solidFill>
                          <a:latin typeface="Helvetica Neue"/>
                        </a:rPr>
                        <a:t>Rho</a:t>
                      </a:r>
                    </a:p>
                  </a:txBody>
                  <a:tcPr marL="45720" marR="45720" marT="18288" marB="18288" anchor="t"/>
                </a:tc>
                <a:tc>
                  <a:txBody>
                    <a:bodyPr wrap="square"/>
                    <a:lstStyle/>
                    <a:p>
                      <a:r>
                        <a:rPr sz="960" b="0" i="0">
                          <a:solidFill>
                            <a:srgbClr val="1A1A1A"/>
                          </a:solidFill>
                          <a:latin typeface="Helvetica Neue"/>
                        </a:rPr>
                        <a:t>SAO</a:t>
                      </a:r>
                    </a:p>
                  </a:txBody>
                  <a:tcPr marL="45720" marR="45720" marT="18288" marB="18288" anchor="t"/>
                </a:tc>
              </a:tr>
              <a:tr h="201168">
                <a:tc>
                  <a:txBody>
                    <a:bodyPr wrap="square"/>
                    <a:lstStyle/>
                    <a:p>
                      <a:r>
                        <a:rPr sz="960" b="0" i="0">
                          <a:solidFill>
                            <a:srgbClr val="1A1A1A"/>
                          </a:solidFill>
                          <a:latin typeface="Helvetica Neue"/>
                        </a:rPr>
                        <a:t>DEN240047</a:t>
                      </a:r>
                    </a:p>
                  </a:txBody>
                  <a:tcPr marL="45720" marR="45720" marT="18288" marB="18288" anchor="t"/>
                </a:tc>
                <a:tc>
                  <a:txBody>
                    <a:bodyPr wrap="square"/>
                    <a:lstStyle/>
                    <a:p>
                      <a:r>
                        <a:rPr sz="960" b="0" i="0">
                          <a:solidFill>
                            <a:srgbClr val="1A1A1A"/>
                          </a:solidFill>
                          <a:latin typeface="Helvetica Neue"/>
                        </a:rPr>
                        <a:t>05/30/2025</a:t>
                      </a:r>
                    </a:p>
                  </a:txBody>
                  <a:tcPr marL="45720" marR="45720" marT="18288" marB="18288" anchor="t"/>
                </a:tc>
                <a:tc>
                  <a:txBody>
                    <a:bodyPr wrap="square"/>
                    <a:lstStyle/>
                    <a:p>
                      <a:r>
                        <a:rPr sz="960" b="0" i="0">
                          <a:solidFill>
                            <a:srgbClr val="1A1A1A"/>
                          </a:solidFill>
                          <a:latin typeface="Helvetica Neue"/>
                        </a:rPr>
                        <a:t>Clairity, Inc.</a:t>
                      </a:r>
                    </a:p>
                  </a:txBody>
                  <a:tcPr marL="45720" marR="45720" marT="18288" marB="18288" anchor="t"/>
                </a:tc>
                <a:tc>
                  <a:txBody>
                    <a:bodyPr wrap="square"/>
                    <a:lstStyle/>
                    <a:p>
                      <a:r>
                        <a:rPr sz="960" b="0" i="0">
                          <a:solidFill>
                            <a:srgbClr val="1A1A1A"/>
                          </a:solidFill>
                          <a:latin typeface="Helvetica Neue"/>
                        </a:rPr>
                        <a:t>Allix5</a:t>
                      </a:r>
                    </a:p>
                  </a:txBody>
                  <a:tcPr marL="45720" marR="45720" marT="18288" marB="18288" anchor="t"/>
                </a:tc>
                <a:tc>
                  <a:txBody>
                    <a:bodyPr wrap="square"/>
                    <a:lstStyle/>
                    <a:p>
                      <a:r>
                        <a:rPr sz="960" b="0" i="0">
                          <a:solidFill>
                            <a:srgbClr val="1A1A1A"/>
                          </a:solidFill>
                          <a:latin typeface="Helvetica Neue"/>
                        </a:rPr>
                        <a:t>SEZ</a:t>
                      </a:r>
                    </a:p>
                  </a:txBody>
                  <a:tcPr marL="45720" marR="45720" marT="18288" marB="18288" anchor="t"/>
                </a:tc>
              </a:tr>
              <a:tr h="201168">
                <a:tc>
                  <a:txBody>
                    <a:bodyPr wrap="square"/>
                    <a:lstStyle/>
                    <a:p>
                      <a:r>
                        <a:rPr sz="960" b="0" i="0">
                          <a:solidFill>
                            <a:srgbClr val="1A1A1A"/>
                          </a:solidFill>
                          <a:latin typeface="Helvetica Neue"/>
                        </a:rPr>
                        <a:t>K111776</a:t>
                      </a:r>
                    </a:p>
                  </a:txBody>
                  <a:tcPr marL="45720" marR="45720" marT="18288" marB="18288" anchor="t"/>
                </a:tc>
                <a:tc>
                  <a:txBody>
                    <a:bodyPr wrap="square"/>
                    <a:lstStyle/>
                    <a:p>
                      <a:r>
                        <a:rPr sz="960" b="0" i="0">
                          <a:solidFill>
                            <a:srgbClr val="1A1A1A"/>
                          </a:solidFill>
                          <a:latin typeface="Helvetica Neue"/>
                        </a:rPr>
                        <a:t>12/28/2011</a:t>
                      </a:r>
                    </a:p>
                  </a:txBody>
                  <a:tcPr marL="45720" marR="45720" marT="18288" marB="18288" anchor="t"/>
                </a:tc>
                <a:tc>
                  <a:txBody>
                    <a:bodyPr wrap="square"/>
                    <a:lstStyle/>
                    <a:p>
                      <a:r>
                        <a:rPr sz="960" b="0" i="0">
                          <a:solidFill>
                            <a:srgbClr val="1A1A1A"/>
                          </a:solidFill>
                          <a:latin typeface="Helvetica Neue"/>
                        </a:rPr>
                        <a:t>RIVERAIN MEDICAL GROUP,LLC</a:t>
                      </a:r>
                    </a:p>
                  </a:txBody>
                  <a:tcPr marL="45720" marR="45720" marT="18288" marB="18288" anchor="t"/>
                </a:tc>
                <a:tc>
                  <a:txBody>
                    <a:bodyPr wrap="square"/>
                    <a:lstStyle/>
                    <a:p>
                      <a:r>
                        <a:rPr sz="960" b="0" i="0">
                          <a:solidFill>
                            <a:srgbClr val="1A1A1A"/>
                          </a:solidFill>
                          <a:latin typeface="Helvetica Neue"/>
                        </a:rPr>
                        <a:t>DELTAVIEW MODEL 2.1</a:t>
                      </a:r>
                    </a:p>
                  </a:txBody>
                  <a:tcPr marL="45720" marR="45720" marT="18288" marB="18288" anchor="t"/>
                </a:tc>
                <a:tc>
                  <a:txBody>
                    <a:bodyPr wrap="square"/>
                    <a:lstStyle/>
                    <a:p>
                      <a:r>
                        <a:rPr sz="960" b="0" i="0">
                          <a:solidFill>
                            <a:srgbClr val="1A1A1A"/>
                          </a:solidFill>
                          <a:latin typeface="Helvetica Neue"/>
                        </a:rPr>
                        <a:t>LLZ</a:t>
                      </a:r>
                    </a:p>
                  </a:txBody>
                  <a:tcPr marL="45720" marR="45720" marT="18288" marB="18288" anchor="t"/>
                </a:tc>
              </a:tr>
              <a:tr h="201168">
                <a:tc>
                  <a:txBody>
                    <a:bodyPr wrap="square"/>
                    <a:lstStyle/>
                    <a:p>
                      <a:r>
                        <a:rPr sz="960" b="0" i="0">
                          <a:solidFill>
                            <a:srgbClr val="1A1A1A"/>
                          </a:solidFill>
                          <a:latin typeface="Helvetica Neue"/>
                        </a:rPr>
                        <a:t>K123526</a:t>
                      </a:r>
                    </a:p>
                  </a:txBody>
                  <a:tcPr marL="45720" marR="45720" marT="18288" marB="18288" anchor="t"/>
                </a:tc>
                <a:tc>
                  <a:txBody>
                    <a:bodyPr wrap="square"/>
                    <a:lstStyle/>
                    <a:p>
                      <a:r>
                        <a:rPr sz="960" b="0" i="0">
                          <a:solidFill>
                            <a:srgbClr val="1A1A1A"/>
                          </a:solidFill>
                          <a:latin typeface="Helvetica Neue"/>
                        </a:rPr>
                        <a:t>12/27/2012</a:t>
                      </a:r>
                    </a:p>
                  </a:txBody>
                  <a:tcPr marL="45720" marR="45720" marT="18288" marB="18288" anchor="t"/>
                </a:tc>
                <a:tc>
                  <a:txBody>
                    <a:bodyPr wrap="square"/>
                    <a:lstStyle/>
                    <a:p>
                      <a:r>
                        <a:rPr sz="960" b="0" i="0">
                          <a:solidFill>
                            <a:srgbClr val="1A1A1A"/>
                          </a:solidFill>
                          <a:latin typeface="Helvetica Neue"/>
                        </a:rPr>
                        <a:t>RIVERAIN TECHNOLOGIES</a:t>
                      </a:r>
                    </a:p>
                  </a:txBody>
                  <a:tcPr marL="45720" marR="45720" marT="18288" marB="18288" anchor="t"/>
                </a:tc>
                <a:tc>
                  <a:txBody>
                    <a:bodyPr wrap="square"/>
                    <a:lstStyle/>
                    <a:p>
                      <a:r>
                        <a:rPr sz="960" b="0" i="0">
                          <a:solidFill>
                            <a:srgbClr val="1A1A1A"/>
                          </a:solidFill>
                          <a:latin typeface="Helvetica Neue"/>
                        </a:rPr>
                        <a:t>CLEARREAD +CONFIRM</a:t>
                      </a:r>
                    </a:p>
                  </a:txBody>
                  <a:tcPr marL="45720" marR="45720" marT="18288" marB="18288" anchor="t"/>
                </a:tc>
                <a:tc>
                  <a:txBody>
                    <a:bodyPr wrap="square"/>
                    <a:lstStyle/>
                    <a:p>
                      <a:r>
                        <a:rPr sz="960" b="0" i="0">
                          <a:solidFill>
                            <a:srgbClr val="1A1A1A"/>
                          </a:solidFill>
                          <a:latin typeface="Helvetica Neue"/>
                        </a:rPr>
                        <a:t>LLZ</a:t>
                      </a:r>
                    </a:p>
                  </a:txBody>
                  <a:tcPr marL="45720" marR="45720" marT="18288" marB="18288" anchor="t"/>
                </a:tc>
              </a:tr>
              <a:tr h="201168">
                <a:tc>
                  <a:txBody>
                    <a:bodyPr wrap="square"/>
                    <a:lstStyle/>
                    <a:p>
                      <a:r>
                        <a:rPr sz="960" b="0" i="0">
                          <a:solidFill>
                            <a:srgbClr val="1A1A1A"/>
                          </a:solidFill>
                          <a:latin typeface="Helvetica Neue"/>
                        </a:rPr>
                        <a:t>K163138</a:t>
                      </a:r>
                    </a:p>
                  </a:txBody>
                  <a:tcPr marL="45720" marR="45720" marT="18288" marB="18288" anchor="t"/>
                </a:tc>
                <a:tc>
                  <a:txBody>
                    <a:bodyPr wrap="square"/>
                    <a:lstStyle/>
                    <a:p>
                      <a:r>
                        <a:rPr sz="960" b="0" i="0">
                          <a:solidFill>
                            <a:srgbClr val="1A1A1A"/>
                          </a:solidFill>
                          <a:latin typeface="Helvetica Neue"/>
                        </a:rPr>
                        <a:t>11/30/2016</a:t>
                      </a:r>
                    </a:p>
                  </a:txBody>
                  <a:tcPr marL="45720" marR="45720" marT="18288" marB="18288" anchor="t"/>
                </a:tc>
                <a:tc>
                  <a:txBody>
                    <a:bodyPr wrap="square"/>
                    <a:lstStyle/>
                    <a:p>
                      <a:r>
                        <a:rPr sz="960" b="0" i="0">
                          <a:solidFill>
                            <a:srgbClr val="1A1A1A"/>
                          </a:solidFill>
                          <a:latin typeface="Helvetica Neue"/>
                        </a:rPr>
                        <a:t>Clarius Mobile Health Corp.</a:t>
                      </a:r>
                    </a:p>
                  </a:txBody>
                  <a:tcPr marL="45720" marR="45720" marT="18288" marB="18288" anchor="t"/>
                </a:tc>
                <a:tc>
                  <a:txBody>
                    <a:bodyPr wrap="square"/>
                    <a:lstStyle/>
                    <a:p>
                      <a:r>
                        <a:rPr sz="960" b="0" i="0">
                          <a:solidFill>
                            <a:srgbClr val="1A1A1A"/>
                          </a:solidFill>
                          <a:latin typeface="Helvetica Neue"/>
                        </a:rPr>
                        <a:t>Clarius Ultrasound System</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K180589</a:t>
                      </a:r>
                    </a:p>
                  </a:txBody>
                  <a:tcPr marL="45720" marR="45720" marT="18288" marB="18288" anchor="t"/>
                </a:tc>
                <a:tc>
                  <a:txBody>
                    <a:bodyPr wrap="square"/>
                    <a:lstStyle/>
                    <a:p>
                      <a:r>
                        <a:rPr sz="960" b="0" i="0">
                          <a:solidFill>
                            <a:srgbClr val="1A1A1A"/>
                          </a:solidFill>
                          <a:latin typeface="Helvetica Neue"/>
                        </a:rPr>
                        <a:t>04/05/2018</a:t>
                      </a:r>
                    </a:p>
                  </a:txBody>
                  <a:tcPr marL="45720" marR="45720" marT="18288" marB="18288" anchor="t"/>
                </a:tc>
                <a:tc>
                  <a:txBody>
                    <a:bodyPr wrap="square"/>
                    <a:lstStyle/>
                    <a:p>
                      <a:r>
                        <a:rPr sz="960" b="0" i="0">
                          <a:solidFill>
                            <a:srgbClr val="1A1A1A"/>
                          </a:solidFill>
                          <a:latin typeface="Helvetica Neue"/>
                        </a:rPr>
                        <a:t>Agfa HealthCare N.V.</a:t>
                      </a:r>
                    </a:p>
                  </a:txBody>
                  <a:tcPr marL="45720" marR="45720" marT="18288" marB="18288" anchor="t"/>
                </a:tc>
                <a:tc>
                  <a:txBody>
                    <a:bodyPr wrap="square"/>
                    <a:lstStyle/>
                    <a:p>
                      <a:r>
                        <a:rPr sz="960" b="0" i="0">
                          <a:solidFill>
                            <a:srgbClr val="1A1A1A"/>
                          </a:solidFill>
                          <a:latin typeface="Helvetica Neue"/>
                        </a:rPr>
                        <a:t>DR 800 with MUSICA Dynamic</a:t>
                      </a:r>
                    </a:p>
                  </a:txBody>
                  <a:tcPr marL="45720" marR="45720" marT="18288" marB="18288" anchor="t"/>
                </a:tc>
                <a:tc>
                  <a:txBody>
                    <a:bodyPr wrap="square"/>
                    <a:lstStyle/>
                    <a:p>
                      <a:r>
                        <a:rPr sz="960" b="0" i="0">
                          <a:solidFill>
                            <a:srgbClr val="1A1A1A"/>
                          </a:solidFill>
                          <a:latin typeface="Helvetica Neue"/>
                        </a:rPr>
                        <a:t>JAA</a:t>
                      </a:r>
                    </a:p>
                  </a:txBody>
                  <a:tcPr marL="45720" marR="45720" marT="18288" marB="18288" anchor="t"/>
                </a:tc>
              </a:tr>
              <a:tr h="347472">
                <a:tc>
                  <a:txBody>
                    <a:bodyPr wrap="square"/>
                    <a:lstStyle/>
                    <a:p>
                      <a:r>
                        <a:rPr sz="960" b="0" i="0">
                          <a:solidFill>
                            <a:srgbClr val="1A1A1A"/>
                          </a:solidFill>
                          <a:latin typeface="Helvetica Neue"/>
                        </a:rPr>
                        <a:t>K180599</a:t>
                      </a:r>
                    </a:p>
                  </a:txBody>
                  <a:tcPr marL="45720" marR="45720" marT="18288" marB="18288" anchor="t"/>
                </a:tc>
                <a:tc>
                  <a:txBody>
                    <a:bodyPr wrap="square"/>
                    <a:lstStyle/>
                    <a:p>
                      <a:r>
                        <a:rPr sz="960" b="0" i="0">
                          <a:solidFill>
                            <a:srgbClr val="1A1A1A"/>
                          </a:solidFill>
                          <a:latin typeface="Helvetica Neue"/>
                        </a:rPr>
                        <a:t>05/02/2018</a:t>
                      </a:r>
                    </a:p>
                  </a:txBody>
                  <a:tcPr marL="45720" marR="45720" marT="18288" marB="18288" anchor="t"/>
                </a:tc>
                <a:tc>
                  <a:txBody>
                    <a:bodyPr wrap="square"/>
                    <a:lstStyle/>
                    <a:p>
                      <a:r>
                        <a:rPr sz="960" b="0" i="0">
                          <a:solidFill>
                            <a:srgbClr val="1A1A1A"/>
                          </a:solidFill>
                          <a:latin typeface="Helvetica Neue"/>
                        </a:rPr>
                        <a:t>GE Medical Systems Ultrasound and Primary Care Diagnostics,</a:t>
                      </a:r>
                    </a:p>
                  </a:txBody>
                  <a:tcPr marL="45720" marR="45720" marT="18288" marB="18288" anchor="t"/>
                </a:tc>
                <a:tc>
                  <a:txBody>
                    <a:bodyPr wrap="square"/>
                    <a:lstStyle/>
                    <a:p>
                      <a:r>
                        <a:rPr sz="960" b="0" i="0">
                          <a:solidFill>
                            <a:srgbClr val="1A1A1A"/>
                          </a:solidFill>
                          <a:latin typeface="Helvetica Neue"/>
                        </a:rPr>
                        <a:t>Venue</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K193170</a:t>
                      </a:r>
                    </a:p>
                  </a:txBody>
                  <a:tcPr marL="45720" marR="45720" marT="18288" marB="18288" anchor="t"/>
                </a:tc>
                <a:tc>
                  <a:txBody>
                    <a:bodyPr wrap="square"/>
                    <a:lstStyle/>
                    <a:p>
                      <a:r>
                        <a:rPr sz="960" b="0" i="0">
                          <a:solidFill>
                            <a:srgbClr val="1A1A1A"/>
                          </a:solidFill>
                          <a:latin typeface="Helvetica Neue"/>
                        </a:rPr>
                        <a:t>12/13/2019</a:t>
                      </a:r>
                    </a:p>
                  </a:txBody>
                  <a:tcPr marL="45720" marR="45720" marT="18288" marB="18288" anchor="t"/>
                </a:tc>
                <a:tc>
                  <a:txBody>
                    <a:bodyPr wrap="square"/>
                    <a:lstStyle/>
                    <a:p>
                      <a:r>
                        <a:rPr sz="960" b="0" i="0">
                          <a:solidFill>
                            <a:srgbClr val="1A1A1A"/>
                          </a:solidFill>
                          <a:latin typeface="Helvetica Neue"/>
                        </a:rPr>
                        <a:t>GE Healthcare Japan Corporation</a:t>
                      </a:r>
                    </a:p>
                  </a:txBody>
                  <a:tcPr marL="45720" marR="45720" marT="18288" marB="18288" anchor="t"/>
                </a:tc>
                <a:tc>
                  <a:txBody>
                    <a:bodyPr wrap="square"/>
                    <a:lstStyle/>
                    <a:p>
                      <a:r>
                        <a:rPr sz="960" b="0" i="0">
                          <a:solidFill>
                            <a:srgbClr val="1A1A1A"/>
                          </a:solidFill>
                          <a:latin typeface="Helvetica Neue"/>
                        </a:rPr>
                        <a:t>Deep Learning Image Reconstruction</a:t>
                      </a:r>
                    </a:p>
                  </a:txBody>
                  <a:tcPr marL="45720" marR="45720" marT="18288" marB="18288" anchor="t"/>
                </a:tc>
                <a:tc>
                  <a:txBody>
                    <a:bodyPr wrap="square"/>
                    <a:lstStyle/>
                    <a:p>
                      <a:r>
                        <a:rPr sz="960" b="0" i="0">
                          <a:solidFill>
                            <a:srgbClr val="1A1A1A"/>
                          </a:solidFill>
                          <a:latin typeface="Helvetica Neue"/>
                        </a:rPr>
                        <a:t>JAK</a:t>
                      </a:r>
                    </a:p>
                  </a:txBody>
                  <a:tcPr marL="45720" marR="45720" marT="18288" marB="18288" anchor="t"/>
                </a:tc>
              </a:tr>
              <a:tr h="347472">
                <a:tc>
                  <a:txBody>
                    <a:bodyPr wrap="square"/>
                    <a:lstStyle/>
                    <a:p>
                      <a:r>
                        <a:rPr sz="960" b="0" i="0">
                          <a:solidFill>
                            <a:srgbClr val="1A1A1A"/>
                          </a:solidFill>
                          <a:latin typeface="Helvetica Neue"/>
                        </a:rPr>
                        <a:t>K200497</a:t>
                      </a:r>
                    </a:p>
                  </a:txBody>
                  <a:tcPr marL="45720" marR="45720" marT="18288" marB="18288" anchor="t"/>
                </a:tc>
                <a:tc>
                  <a:txBody>
                    <a:bodyPr wrap="square"/>
                    <a:lstStyle/>
                    <a:p>
                      <a:r>
                        <a:rPr sz="960" b="0" i="0">
                          <a:solidFill>
                            <a:srgbClr val="1A1A1A"/>
                          </a:solidFill>
                          <a:latin typeface="Helvetica Neue"/>
                        </a:rPr>
                        <a:t>07/16/2020</a:t>
                      </a:r>
                    </a:p>
                  </a:txBody>
                  <a:tcPr marL="45720" marR="45720" marT="18288" marB="18288" anchor="t"/>
                </a:tc>
                <a:tc>
                  <a:txBody>
                    <a:bodyPr wrap="square"/>
                    <a:lstStyle/>
                    <a:p>
                      <a:r>
                        <a:rPr sz="960" b="0" i="0">
                          <a:solidFill>
                            <a:srgbClr val="1A1A1A"/>
                          </a:solidFill>
                          <a:latin typeface="Helvetica Neue"/>
                        </a:rPr>
                        <a:t>GE Medical Systems Ultrasound and Primary Care Diagnostics</a:t>
                      </a:r>
                    </a:p>
                  </a:txBody>
                  <a:tcPr marL="45720" marR="45720" marT="18288" marB="18288" anchor="t"/>
                </a:tc>
                <a:tc>
                  <a:txBody>
                    <a:bodyPr wrap="square"/>
                    <a:lstStyle/>
                    <a:p>
                      <a:r>
                        <a:rPr sz="960" b="0" i="0">
                          <a:solidFill>
                            <a:srgbClr val="1A1A1A"/>
                          </a:solidFill>
                          <a:latin typeface="Helvetica Neue"/>
                        </a:rPr>
                        <a:t>Vivid S60N, Vivid S70N</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K200708</a:t>
                      </a:r>
                    </a:p>
                  </a:txBody>
                  <a:tcPr marL="45720" marR="45720" marT="18288" marB="18288" anchor="t"/>
                </a:tc>
                <a:tc>
                  <a:txBody>
                    <a:bodyPr wrap="square"/>
                    <a:lstStyle/>
                    <a:p>
                      <a:r>
                        <a:rPr sz="960" b="0" i="0">
                          <a:solidFill>
                            <a:srgbClr val="1A1A1A"/>
                          </a:solidFill>
                          <a:latin typeface="Helvetica Neue"/>
                        </a:rPr>
                        <a:t>09/09/2020</a:t>
                      </a:r>
                    </a:p>
                  </a:txBody>
                  <a:tcPr marL="45720" marR="45720" marT="18288" marB="18288" anchor="t"/>
                </a:tc>
                <a:tc>
                  <a:txBody>
                    <a:bodyPr wrap="square"/>
                    <a:lstStyle/>
                    <a:p>
                      <a:r>
                        <a:rPr sz="960" b="0" i="0">
                          <a:solidFill>
                            <a:srgbClr val="1A1A1A"/>
                          </a:solidFill>
                          <a:latin typeface="Helvetica Neue"/>
                        </a:rPr>
                        <a:t>GE Medical Systems Ultrasound and</a:t>
                      </a:r>
                    </a:p>
                  </a:txBody>
                  <a:tcPr marL="45720" marR="45720" marT="18288" marB="18288" anchor="t"/>
                </a:tc>
                <a:tc>
                  <a:txBody>
                    <a:bodyPr wrap="square"/>
                    <a:lstStyle/>
                    <a:p>
                      <a:r>
                        <a:rPr sz="960" b="0" i="0">
                          <a:solidFill>
                            <a:srgbClr val="1A1A1A"/>
                          </a:solidFill>
                          <a:latin typeface="Helvetica Neue"/>
                        </a:rPr>
                        <a:t>Vivid iq</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K200743</a:t>
                      </a:r>
                    </a:p>
                  </a:txBody>
                  <a:tcPr marL="45720" marR="45720" marT="18288" marB="18288" anchor="t"/>
                </a:tc>
                <a:tc>
                  <a:txBody>
                    <a:bodyPr wrap="square"/>
                    <a:lstStyle/>
                    <a:p>
                      <a:r>
                        <a:rPr sz="960" b="0" i="0">
                          <a:solidFill>
                            <a:srgbClr val="1A1A1A"/>
                          </a:solidFill>
                          <a:latin typeface="Helvetica Neue"/>
                        </a:rPr>
                        <a:t>07/23/2020</a:t>
                      </a:r>
                    </a:p>
                  </a:txBody>
                  <a:tcPr marL="45720" marR="45720" marT="18288" marB="18288" anchor="t"/>
                </a:tc>
                <a:tc>
                  <a:txBody>
                    <a:bodyPr wrap="square"/>
                    <a:lstStyle/>
                    <a:p>
                      <a:r>
                        <a:rPr sz="960" b="0" i="0">
                          <a:solidFill>
                            <a:srgbClr val="1A1A1A"/>
                          </a:solidFill>
                          <a:latin typeface="Helvetica Neue"/>
                        </a:rPr>
                        <a:t>GE Medical Systems Ultrasound and</a:t>
                      </a:r>
                    </a:p>
                  </a:txBody>
                  <a:tcPr marL="45720" marR="45720" marT="18288" marB="18288" anchor="t"/>
                </a:tc>
                <a:tc>
                  <a:txBody>
                    <a:bodyPr wrap="square"/>
                    <a:lstStyle/>
                    <a:p>
                      <a:r>
                        <a:rPr sz="960" b="0" i="0">
                          <a:solidFill>
                            <a:srgbClr val="1A1A1A"/>
                          </a:solidFill>
                          <a:latin typeface="Helvetica Neue"/>
                        </a:rPr>
                        <a:t>Vivid E80/ Vivid E90/ Vivid E95</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347472">
                <a:tc>
                  <a:txBody>
                    <a:bodyPr wrap="square"/>
                    <a:lstStyle/>
                    <a:p>
                      <a:r>
                        <a:rPr sz="960" b="0" i="0">
                          <a:solidFill>
                            <a:srgbClr val="1A1A1A"/>
                          </a:solidFill>
                          <a:latin typeface="Helvetica Neue"/>
                        </a:rPr>
                        <a:t>K200851</a:t>
                      </a:r>
                    </a:p>
                  </a:txBody>
                  <a:tcPr marL="45720" marR="45720" marT="18288" marB="18288" anchor="t"/>
                </a:tc>
                <a:tc>
                  <a:txBody>
                    <a:bodyPr wrap="square"/>
                    <a:lstStyle/>
                    <a:p>
                      <a:r>
                        <a:rPr sz="960" b="0" i="0">
                          <a:solidFill>
                            <a:srgbClr val="1A1A1A"/>
                          </a:solidFill>
                          <a:latin typeface="Helvetica Neue"/>
                        </a:rPr>
                        <a:t>09/09/2020</a:t>
                      </a:r>
                    </a:p>
                  </a:txBody>
                  <a:tcPr marL="45720" marR="45720" marT="18288" marB="18288" anchor="t"/>
                </a:tc>
                <a:tc>
                  <a:txBody>
                    <a:bodyPr wrap="square"/>
                    <a:lstStyle/>
                    <a:p>
                      <a:r>
                        <a:rPr sz="960" b="0" i="0">
                          <a:solidFill>
                            <a:srgbClr val="1A1A1A"/>
                          </a:solidFill>
                          <a:latin typeface="Helvetica Neue"/>
                        </a:rPr>
                        <a:t>GE Medical Systems Ultrasound and Primary Care Diagnostics</a:t>
                      </a:r>
                    </a:p>
                  </a:txBody>
                  <a:tcPr marL="45720" marR="45720" marT="18288" marB="18288" anchor="t"/>
                </a:tc>
                <a:tc>
                  <a:txBody>
                    <a:bodyPr wrap="square"/>
                    <a:lstStyle/>
                    <a:p>
                      <a:r>
                        <a:rPr sz="960" b="0" i="0">
                          <a:solidFill>
                            <a:srgbClr val="1A1A1A"/>
                          </a:solidFill>
                          <a:latin typeface="Helvetica Neue"/>
                        </a:rPr>
                        <a:t>Vivid T8, Vivid T9</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347472">
                <a:tc>
                  <a:txBody>
                    <a:bodyPr wrap="square"/>
                    <a:lstStyle/>
                    <a:p>
                      <a:r>
                        <a:rPr sz="960" b="0" i="0">
                          <a:solidFill>
                            <a:srgbClr val="1A1A1A"/>
                          </a:solidFill>
                          <a:latin typeface="Helvetica Neue"/>
                        </a:rPr>
                        <a:t>K200852</a:t>
                      </a:r>
                    </a:p>
                  </a:txBody>
                  <a:tcPr marL="45720" marR="45720" marT="18288" marB="18288" anchor="t"/>
                </a:tc>
                <a:tc>
                  <a:txBody>
                    <a:bodyPr wrap="square"/>
                    <a:lstStyle/>
                    <a:p>
                      <a:r>
                        <a:rPr sz="960" b="0" i="0">
                          <a:solidFill>
                            <a:srgbClr val="1A1A1A"/>
                          </a:solidFill>
                          <a:latin typeface="Helvetica Neue"/>
                        </a:rPr>
                        <a:t>09/18/2020</a:t>
                      </a:r>
                    </a:p>
                  </a:txBody>
                  <a:tcPr marL="45720" marR="45720" marT="18288" marB="18288" anchor="t"/>
                </a:tc>
                <a:tc>
                  <a:txBody>
                    <a:bodyPr wrap="square"/>
                    <a:lstStyle/>
                    <a:p>
                      <a:r>
                        <a:rPr sz="960" b="0" i="0">
                          <a:solidFill>
                            <a:srgbClr val="1A1A1A"/>
                          </a:solidFill>
                          <a:latin typeface="Helvetica Neue"/>
                        </a:rPr>
                        <a:t>GE Medical Systems Ultrasound and Primary Care Diagnostics</a:t>
                      </a:r>
                    </a:p>
                  </a:txBody>
                  <a:tcPr marL="45720" marR="45720" marT="18288" marB="18288" anchor="t"/>
                </a:tc>
                <a:tc>
                  <a:txBody>
                    <a:bodyPr wrap="square"/>
                    <a:lstStyle/>
                    <a:p>
                      <a:r>
                        <a:rPr sz="960" b="0" i="0">
                          <a:solidFill>
                            <a:srgbClr val="1A1A1A"/>
                          </a:solidFill>
                          <a:latin typeface="Helvetica Neue"/>
                        </a:rPr>
                        <a:t>EchoPAC Software Only, EchoPAC Plug-In</a:t>
                      </a:r>
                    </a:p>
                  </a:txBody>
                  <a:tcPr marL="45720" marR="45720" marT="18288" marB="18288" anchor="t"/>
                </a:tc>
                <a:tc>
                  <a:txBody>
                    <a:bodyPr wrap="square"/>
                    <a:lstStyle/>
                    <a:p>
                      <a:r>
                        <a:rPr sz="960" b="0" i="0">
                          <a:solidFill>
                            <a:srgbClr val="1A1A1A"/>
                          </a:solidFill>
                          <a:latin typeface="Helvetica Neue"/>
                        </a:rPr>
                        <a:t>LLZ</a:t>
                      </a:r>
                    </a:p>
                  </a:txBody>
                  <a:tcPr marL="45720" marR="45720" marT="18288" marB="18288" anchor="t"/>
                </a:tc>
              </a:tr>
              <a:tr h="347472">
                <a:tc>
                  <a:txBody>
                    <a:bodyPr wrap="square"/>
                    <a:lstStyle/>
                    <a:p>
                      <a:r>
                        <a:rPr sz="960" b="0" i="0">
                          <a:solidFill>
                            <a:srgbClr val="1A1A1A"/>
                          </a:solidFill>
                          <a:latin typeface="Helvetica Neue"/>
                        </a:rPr>
                        <a:t>K210438</a:t>
                      </a:r>
                    </a:p>
                  </a:txBody>
                  <a:tcPr marL="45720" marR="45720" marT="18288" marB="18288" anchor="t"/>
                </a:tc>
                <a:tc>
                  <a:txBody>
                    <a:bodyPr wrap="square"/>
                    <a:lstStyle/>
                    <a:p>
                      <a:r>
                        <a:rPr sz="960" b="0" i="0">
                          <a:solidFill>
                            <a:srgbClr val="1A1A1A"/>
                          </a:solidFill>
                          <a:latin typeface="Helvetica Neue"/>
                        </a:rPr>
                        <a:t>09/10/2021</a:t>
                      </a:r>
                    </a:p>
                  </a:txBody>
                  <a:tcPr marL="45720" marR="45720" marT="18288" marB="18288" anchor="t"/>
                </a:tc>
                <a:tc>
                  <a:txBody>
                    <a:bodyPr wrap="square"/>
                    <a:lstStyle/>
                    <a:p>
                      <a:r>
                        <a:rPr sz="960" b="0" i="0">
                          <a:solidFill>
                            <a:srgbClr val="1A1A1A"/>
                          </a:solidFill>
                          <a:latin typeface="Helvetica Neue"/>
                        </a:rPr>
                        <a:t>GE Medical Systems Ultrasound and Primary Care Diagnostics,</a:t>
                      </a:r>
                    </a:p>
                  </a:txBody>
                  <a:tcPr marL="45720" marR="45720" marT="18288" marB="18288" anchor="t"/>
                </a:tc>
                <a:tc>
                  <a:txBody>
                    <a:bodyPr wrap="square"/>
                    <a:lstStyle/>
                    <a:p>
                      <a:r>
                        <a:rPr sz="960" b="0" i="0">
                          <a:solidFill>
                            <a:srgbClr val="1A1A1A"/>
                          </a:solidFill>
                          <a:latin typeface="Helvetica Neue"/>
                        </a:rPr>
                        <a:t>Versana Premier</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K212067</a:t>
                      </a:r>
                    </a:p>
                  </a:txBody>
                  <a:tcPr marL="45720" marR="45720" marT="18288" marB="18288" anchor="t"/>
                </a:tc>
                <a:tc>
                  <a:txBody>
                    <a:bodyPr wrap="square"/>
                    <a:lstStyle/>
                    <a:p>
                      <a:r>
                        <a:rPr sz="960" b="0" i="0">
                          <a:solidFill>
                            <a:srgbClr val="1A1A1A"/>
                          </a:solidFill>
                          <a:latin typeface="Helvetica Neue"/>
                        </a:rPr>
                        <a:t>09/17/2021</a:t>
                      </a:r>
                    </a:p>
                  </a:txBody>
                  <a:tcPr marL="45720" marR="45720" marT="18288" marB="18288" anchor="t"/>
                </a:tc>
                <a:tc>
                  <a:txBody>
                    <a:bodyPr wrap="square"/>
                    <a:lstStyle/>
                    <a:p>
                      <a:r>
                        <a:rPr sz="960" b="0" i="0">
                          <a:solidFill>
                            <a:srgbClr val="1A1A1A"/>
                          </a:solidFill>
                          <a:latin typeface="Helvetica Neue"/>
                        </a:rPr>
                        <a:t>GE Healthcare Japan Corporation</a:t>
                      </a:r>
                    </a:p>
                  </a:txBody>
                  <a:tcPr marL="45720" marR="45720" marT="18288" marB="18288" anchor="t"/>
                </a:tc>
                <a:tc>
                  <a:txBody>
                    <a:bodyPr wrap="square"/>
                    <a:lstStyle/>
                    <a:p>
                      <a:r>
                        <a:rPr sz="960" b="0" i="0">
                          <a:solidFill>
                            <a:srgbClr val="1A1A1A"/>
                          </a:solidFill>
                          <a:latin typeface="Helvetica Neue"/>
                        </a:rPr>
                        <a:t>Deep Learning Image Reconstruction</a:t>
                      </a:r>
                    </a:p>
                  </a:txBody>
                  <a:tcPr marL="45720" marR="45720" marT="18288" marB="18288" anchor="t"/>
                </a:tc>
                <a:tc>
                  <a:txBody>
                    <a:bodyPr wrap="square"/>
                    <a:lstStyle/>
                    <a:p>
                      <a:r>
                        <a:rPr sz="960" b="0" i="0">
                          <a:solidFill>
                            <a:srgbClr val="1A1A1A"/>
                          </a:solidFill>
                          <a:latin typeface="Helvetica Neue"/>
                        </a:rPr>
                        <a:t>JAK</a:t>
                      </a:r>
                    </a:p>
                  </a:txBody>
                  <a:tcPr marL="45720" marR="45720" marT="18288" marB="18288" anchor="t"/>
                </a:tc>
              </a:tr>
              <a:tr h="201168">
                <a:tc>
                  <a:txBody>
                    <a:bodyPr wrap="square"/>
                    <a:lstStyle/>
                    <a:p>
                      <a:r>
                        <a:rPr sz="960" b="0" i="0">
                          <a:solidFill>
                            <a:srgbClr val="1A1A1A"/>
                          </a:solidFill>
                          <a:latin typeface="Helvetica Neue"/>
                        </a:rPr>
                        <a:t>K212333</a:t>
                      </a:r>
                    </a:p>
                  </a:txBody>
                  <a:tcPr marL="45720" marR="45720" marT="18288" marB="18288" anchor="t"/>
                </a:tc>
                <a:tc>
                  <a:txBody>
                    <a:bodyPr wrap="square"/>
                    <a:lstStyle/>
                    <a:p>
                      <a:r>
                        <a:rPr sz="960" b="0" i="0">
                          <a:solidFill>
                            <a:srgbClr val="1A1A1A"/>
                          </a:solidFill>
                          <a:latin typeface="Helvetica Neue"/>
                        </a:rPr>
                        <a:t>01/24/2022</a:t>
                      </a:r>
                    </a:p>
                  </a:txBody>
                  <a:tcPr marL="45720" marR="45720" marT="18288" marB="18288" anchor="t"/>
                </a:tc>
                <a:tc>
                  <a:txBody>
                    <a:bodyPr wrap="square"/>
                    <a:lstStyle/>
                    <a:p>
                      <a:r>
                        <a:rPr sz="960" b="0" i="0">
                          <a:solidFill>
                            <a:srgbClr val="1A1A1A"/>
                          </a:solidFill>
                          <a:latin typeface="Helvetica Neue"/>
                        </a:rPr>
                        <a:t>Canon Medical Systems Corporation</a:t>
                      </a:r>
                    </a:p>
                  </a:txBody>
                  <a:tcPr marL="45720" marR="45720" marT="18288" marB="18288" anchor="t"/>
                </a:tc>
                <a:tc>
                  <a:txBody>
                    <a:bodyPr wrap="square"/>
                    <a:lstStyle/>
                    <a:p>
                      <a:r>
                        <a:rPr sz="960" b="0" i="0">
                          <a:solidFill>
                            <a:srgbClr val="1A1A1A"/>
                          </a:solidFill>
                          <a:latin typeface="Helvetica Neue"/>
                        </a:rPr>
                        <a:t>Aplio i900/i800/i700 Diagnostic Ultrasound System, Software V6.5</a:t>
                      </a:r>
                    </a:p>
                  </a:txBody>
                  <a:tcPr marL="45720" marR="45720" marT="18288" marB="18288" anchor="t"/>
                </a:tc>
                <a:tc>
                  <a:txBody>
                    <a:bodyPr wrap="square"/>
                    <a:lstStyle/>
                    <a:p>
                      <a:r>
                        <a:rPr sz="960" b="0" i="0">
                          <a:solidFill>
                            <a:srgbClr val="1A1A1A"/>
                          </a:solidFill>
                          <a:latin typeface="Helvetica Neue"/>
                        </a:rPr>
                        <a:t>IYN</a:t>
                      </a:r>
                    </a:p>
                  </a:txBody>
                  <a:tcPr marL="45720" marR="45720" marT="18288" marB="18288" anchor="t"/>
                </a:tc>
              </a:tr>
              <a:tr h="201168">
                <a:tc>
                  <a:txBody>
                    <a:bodyPr wrap="square"/>
                    <a:lstStyle/>
                    <a:p>
                      <a:r>
                        <a:rPr sz="960" b="0" i="0">
                          <a:solidFill>
                            <a:srgbClr val="1A1A1A"/>
                          </a:solidFill>
                          <a:latin typeface="Helvetica Neue"/>
                        </a:rPr>
                        <a:t>K212690</a:t>
                      </a:r>
                    </a:p>
                  </a:txBody>
                  <a:tcPr marL="45720" marR="45720" marT="18288" marB="18288" anchor="t"/>
                </a:tc>
                <a:tc>
                  <a:txBody>
                    <a:bodyPr wrap="square"/>
                    <a:lstStyle/>
                    <a:p>
                      <a:r>
                        <a:rPr sz="960" b="0" i="0">
                          <a:solidFill>
                            <a:srgbClr val="1A1A1A"/>
                          </a:solidFill>
                          <a:latin typeface="Helvetica Neue"/>
                        </a:rPr>
                        <a:t>12/21/2021</a:t>
                      </a:r>
                    </a:p>
                  </a:txBody>
                  <a:tcPr marL="45720" marR="45720" marT="18288" marB="18288" anchor="t"/>
                </a:tc>
                <a:tc>
                  <a:txBody>
                    <a:bodyPr wrap="square"/>
                    <a:lstStyle/>
                    <a:p>
                      <a:r>
                        <a:rPr sz="960" b="0" i="0">
                          <a:solidFill>
                            <a:srgbClr val="1A1A1A"/>
                          </a:solidFill>
                          <a:latin typeface="Helvetica Neue"/>
                        </a:rPr>
                        <a:t>Qure.ai Technologies</a:t>
                      </a:r>
                    </a:p>
                  </a:txBody>
                  <a:tcPr marL="45720" marR="45720" marT="18288" marB="18288" anchor="t"/>
                </a:tc>
                <a:tc>
                  <a:txBody>
                    <a:bodyPr wrap="square"/>
                    <a:lstStyle/>
                    <a:p>
                      <a:r>
                        <a:rPr sz="960" b="0" i="0">
                          <a:solidFill>
                            <a:srgbClr val="1A1A1A"/>
                          </a:solidFill>
                          <a:latin typeface="Helvetica Neue"/>
                        </a:rPr>
                        <a:t>qXR-BT</a:t>
                      </a:r>
                    </a:p>
                  </a:txBody>
                  <a:tcPr marL="45720" marR="45720" marT="18288" marB="18288" anchor="t"/>
                </a:tc>
                <a:tc>
                  <a:txBody>
                    <a:bodyPr wrap="square"/>
                    <a:lstStyle/>
                    <a:p>
                      <a:r>
                        <a:rPr sz="960" b="0" i="0">
                          <a:solidFill>
                            <a:srgbClr val="1A1A1A"/>
                          </a:solidFill>
                          <a:latin typeface="Helvetica Neue"/>
                        </a:rPr>
                        <a:t>QIH</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79 / 83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needs label review (21–40 of 53)</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336424"/>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181660">
                <a:tc>
                  <a:txBody>
                    <a:bodyPr wrap="square"/>
                    <a:lstStyle/>
                    <a:p>
                      <a:r>
                        <a:rPr sz="832" b="1" i="0">
                          <a:solidFill>
                            <a:srgbClr val="FFFFFF"/>
                          </a:solidFill>
                          <a:latin typeface="Helvetica Neue"/>
                        </a:rPr>
                        <a:t>Submission</a:t>
                      </a:r>
                    </a:p>
                  </a:txBody>
                  <a:tcPr marL="45720" marR="45720" marT="18288" marB="18288" anchor="t"/>
                </a:tc>
                <a:tc>
                  <a:txBody>
                    <a:bodyPr wrap="square"/>
                    <a:lstStyle/>
                    <a:p>
                      <a:r>
                        <a:rPr sz="832" b="1" i="0">
                          <a:solidFill>
                            <a:srgbClr val="FFFFFF"/>
                          </a:solidFill>
                          <a:latin typeface="Helvetica Neue"/>
                        </a:rPr>
                        <a:t>Date</a:t>
                      </a:r>
                    </a:p>
                  </a:txBody>
                  <a:tcPr marL="45720" marR="45720" marT="18288" marB="18288" anchor="t"/>
                </a:tc>
                <a:tc>
                  <a:txBody>
                    <a:bodyPr wrap="square"/>
                    <a:lstStyle/>
                    <a:p>
                      <a:r>
                        <a:rPr sz="832" b="1" i="0">
                          <a:solidFill>
                            <a:srgbClr val="FFFFFF"/>
                          </a:solidFill>
                          <a:latin typeface="Helvetica Neue"/>
                        </a:rPr>
                        <a:t>Company</a:t>
                      </a:r>
                    </a:p>
                  </a:txBody>
                  <a:tcPr marL="45720" marR="45720" marT="18288" marB="18288" anchor="t"/>
                </a:tc>
                <a:tc>
                  <a:txBody>
                    <a:bodyPr wrap="square"/>
                    <a:lstStyle/>
                    <a:p>
                      <a:r>
                        <a:rPr sz="832" b="1" i="0">
                          <a:solidFill>
                            <a:srgbClr val="FFFFFF"/>
                          </a:solidFill>
                          <a:latin typeface="Helvetica Neue"/>
                        </a:rPr>
                        <a:t>Device</a:t>
                      </a:r>
                    </a:p>
                  </a:txBody>
                  <a:tcPr marL="45720" marR="45720" marT="18288" marB="18288" anchor="t"/>
                </a:tc>
                <a:tc>
                  <a:txBody>
                    <a:bodyPr wrap="square"/>
                    <a:lstStyle/>
                    <a:p>
                      <a:r>
                        <a:rPr sz="832" b="1" i="0">
                          <a:solidFill>
                            <a:srgbClr val="FFFFFF"/>
                          </a:solidFill>
                          <a:latin typeface="Helvetica Neue"/>
                        </a:rPr>
                        <a:t>Code</a:t>
                      </a:r>
                    </a:p>
                  </a:txBody>
                  <a:tcPr marL="45720" marR="45720" marT="18288" marB="18288" anchor="t"/>
                </a:tc>
              </a:tr>
              <a:tr h="181660">
                <a:tc>
                  <a:txBody>
                    <a:bodyPr wrap="square"/>
                    <a:lstStyle/>
                    <a:p>
                      <a:r>
                        <a:rPr sz="832" b="0" i="0">
                          <a:solidFill>
                            <a:srgbClr val="1A1A1A"/>
                          </a:solidFill>
                          <a:latin typeface="Helvetica Neue"/>
                        </a:rPr>
                        <a:t>K212960</a:t>
                      </a:r>
                    </a:p>
                  </a:txBody>
                  <a:tcPr marL="45720" marR="45720" marT="18288" marB="18288" anchor="t"/>
                </a:tc>
                <a:tc>
                  <a:txBody>
                    <a:bodyPr wrap="square"/>
                    <a:lstStyle/>
                    <a:p>
                      <a:r>
                        <a:rPr sz="832" b="0" i="0">
                          <a:solidFill>
                            <a:srgbClr val="1A1A1A"/>
                          </a:solidFill>
                          <a:latin typeface="Helvetica Neue"/>
                        </a:rPr>
                        <a:t>03/22/2022</a:t>
                      </a:r>
                    </a:p>
                  </a:txBody>
                  <a:tcPr marL="45720" marR="45720" marT="18288" marB="18288" anchor="t"/>
                </a:tc>
                <a:tc>
                  <a:txBody>
                    <a:bodyPr wrap="square"/>
                    <a:lstStyle/>
                    <a:p>
                      <a:r>
                        <a:rPr sz="832" b="0" i="0">
                          <a:solidFill>
                            <a:srgbClr val="1A1A1A"/>
                          </a:solidFill>
                          <a:latin typeface="Helvetica Neue"/>
                        </a:rPr>
                        <a:t>Canon Medical Systems Corporation</a:t>
                      </a:r>
                    </a:p>
                  </a:txBody>
                  <a:tcPr marL="45720" marR="45720" marT="18288" marB="18288" anchor="t"/>
                </a:tc>
                <a:tc>
                  <a:txBody>
                    <a:bodyPr wrap="square"/>
                    <a:lstStyle/>
                    <a:p>
                      <a:r>
                        <a:rPr sz="832" b="0" i="0">
                          <a:solidFill>
                            <a:srgbClr val="1A1A1A"/>
                          </a:solidFill>
                          <a:latin typeface="Helvetica Neue"/>
                        </a:rPr>
                        <a:t>Aplio a550, Aplio a450, and Aplio a, Diagnostic Ultrasound System, Software V6.5</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181660">
                <a:tc>
                  <a:txBody>
                    <a:bodyPr wrap="square"/>
                    <a:lstStyle/>
                    <a:p>
                      <a:r>
                        <a:rPr sz="832" b="0" i="0">
                          <a:solidFill>
                            <a:srgbClr val="1A1A1A"/>
                          </a:solidFill>
                          <a:latin typeface="Helvetica Neue"/>
                        </a:rPr>
                        <a:t>K213642</a:t>
                      </a:r>
                    </a:p>
                  </a:txBody>
                  <a:tcPr marL="45720" marR="45720" marT="18288" marB="18288" anchor="t"/>
                </a:tc>
                <a:tc>
                  <a:txBody>
                    <a:bodyPr wrap="square"/>
                    <a:lstStyle/>
                    <a:p>
                      <a:r>
                        <a:rPr sz="832" b="0" i="0">
                          <a:solidFill>
                            <a:srgbClr val="1A1A1A"/>
                          </a:solidFill>
                          <a:latin typeface="Helvetica Neue"/>
                        </a:rPr>
                        <a:t>01/13/2022</a:t>
                      </a:r>
                    </a:p>
                  </a:txBody>
                  <a:tcPr marL="45720" marR="45720" marT="18288" marB="18288" anchor="t"/>
                </a:tc>
                <a:tc>
                  <a:txBody>
                    <a:bodyPr wrap="square"/>
                    <a:lstStyle/>
                    <a:p>
                      <a:r>
                        <a:rPr sz="832" b="0" i="0">
                          <a:solidFill>
                            <a:srgbClr val="1A1A1A"/>
                          </a:solidFill>
                          <a:latin typeface="Helvetica Neue"/>
                        </a:rPr>
                        <a:t>GE Healthcare</a:t>
                      </a:r>
                    </a:p>
                  </a:txBody>
                  <a:tcPr marL="45720" marR="45720" marT="18288" marB="18288" anchor="t"/>
                </a:tc>
                <a:tc>
                  <a:txBody>
                    <a:bodyPr wrap="square"/>
                    <a:lstStyle/>
                    <a:p>
                      <a:r>
                        <a:rPr sz="832" b="0" i="0">
                          <a:solidFill>
                            <a:srgbClr val="1A1A1A"/>
                          </a:solidFill>
                          <a:latin typeface="Helvetica Neue"/>
                        </a:rPr>
                        <a:t>Voluson S6, Voluson S8, Voluson S8t, Voluson S10, Voluson S10 Expert</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181660">
                <a:tc>
                  <a:txBody>
                    <a:bodyPr wrap="square"/>
                    <a:lstStyle/>
                    <a:p>
                      <a:r>
                        <a:rPr sz="832" b="0" i="0">
                          <a:solidFill>
                            <a:srgbClr val="1A1A1A"/>
                          </a:solidFill>
                          <a:latin typeface="Helvetica Neue"/>
                        </a:rPr>
                        <a:t>K213999</a:t>
                      </a:r>
                    </a:p>
                  </a:txBody>
                  <a:tcPr marL="45720" marR="45720" marT="18288" marB="18288" anchor="t"/>
                </a:tc>
                <a:tc>
                  <a:txBody>
                    <a:bodyPr wrap="square"/>
                    <a:lstStyle/>
                    <a:p>
                      <a:r>
                        <a:rPr sz="832" b="0" i="0">
                          <a:solidFill>
                            <a:srgbClr val="1A1A1A"/>
                          </a:solidFill>
                          <a:latin typeface="Helvetica Neue"/>
                        </a:rPr>
                        <a:t>02/18/2022</a:t>
                      </a:r>
                    </a:p>
                  </a:txBody>
                  <a:tcPr marL="45720" marR="45720" marT="18288" marB="18288" anchor="t"/>
                </a:tc>
                <a:tc>
                  <a:txBody>
                    <a:bodyPr wrap="square"/>
                    <a:lstStyle/>
                    <a:p>
                      <a:r>
                        <a:rPr sz="832" b="0" i="0">
                          <a:solidFill>
                            <a:srgbClr val="1A1A1A"/>
                          </a:solidFill>
                          <a:latin typeface="Helvetica Neue"/>
                        </a:rPr>
                        <a:t>GE Medical Systems, LLC.</a:t>
                      </a:r>
                    </a:p>
                  </a:txBody>
                  <a:tcPr marL="45720" marR="45720" marT="18288" marB="18288" anchor="t"/>
                </a:tc>
                <a:tc>
                  <a:txBody>
                    <a:bodyPr wrap="square"/>
                    <a:lstStyle/>
                    <a:p>
                      <a:r>
                        <a:rPr sz="832" b="0" i="0">
                          <a:solidFill>
                            <a:srgbClr val="1A1A1A"/>
                          </a:solidFill>
                          <a:latin typeface="Helvetica Neue"/>
                        </a:rPr>
                        <a:t>Deep Learning Image Reconstruction</a:t>
                      </a:r>
                    </a:p>
                  </a:txBody>
                  <a:tcPr marL="45720" marR="45720" marT="18288" marB="18288" anchor="t"/>
                </a:tc>
                <a:tc>
                  <a:txBody>
                    <a:bodyPr wrap="square"/>
                    <a:lstStyle/>
                    <a:p>
                      <a:r>
                        <a:rPr sz="832" b="0" i="0">
                          <a:solidFill>
                            <a:srgbClr val="1A1A1A"/>
                          </a:solidFill>
                          <a:latin typeface="Helvetica Neue"/>
                        </a:rPr>
                        <a:t>JAK</a:t>
                      </a:r>
                    </a:p>
                  </a:txBody>
                  <a:tcPr marL="45720" marR="45720" marT="18288" marB="18288" anchor="t"/>
                </a:tc>
              </a:tr>
              <a:tr h="308457">
                <a:tc>
                  <a:txBody>
                    <a:bodyPr wrap="square"/>
                    <a:lstStyle/>
                    <a:p>
                      <a:r>
                        <a:rPr sz="832" b="0" i="0">
                          <a:solidFill>
                            <a:srgbClr val="1A1A1A"/>
                          </a:solidFill>
                          <a:latin typeface="Helvetica Neue"/>
                        </a:rPr>
                        <a:t>K220446</a:t>
                      </a:r>
                    </a:p>
                  </a:txBody>
                  <a:tcPr marL="45720" marR="45720" marT="18288" marB="18288" anchor="t"/>
                </a:tc>
                <a:tc>
                  <a:txBody>
                    <a:bodyPr wrap="square"/>
                    <a:lstStyle/>
                    <a:p>
                      <a:r>
                        <a:rPr sz="832" b="0" i="0">
                          <a:solidFill>
                            <a:srgbClr val="1A1A1A"/>
                          </a:solidFill>
                          <a:latin typeface="Helvetica Neue"/>
                        </a:rPr>
                        <a:t>05/11/2022</a:t>
                      </a:r>
                    </a:p>
                  </a:txBody>
                  <a:tcPr marL="45720" marR="45720" marT="18288" marB="18288" anchor="t"/>
                </a:tc>
                <a:tc>
                  <a:txBody>
                    <a:bodyPr wrap="square"/>
                    <a:lstStyle/>
                    <a:p>
                      <a:r>
                        <a:rPr sz="832" b="0" i="0">
                          <a:solidFill>
                            <a:srgbClr val="1A1A1A"/>
                          </a:solidFill>
                          <a:latin typeface="Helvetica Neue"/>
                        </a:rPr>
                        <a:t>GE Medical Systems Ultrasound and Primary Care Diagnostics,</a:t>
                      </a:r>
                    </a:p>
                  </a:txBody>
                  <a:tcPr marL="45720" marR="45720" marT="18288" marB="18288" anchor="t"/>
                </a:tc>
                <a:tc>
                  <a:txBody>
                    <a:bodyPr wrap="square"/>
                    <a:lstStyle/>
                    <a:p>
                      <a:r>
                        <a:rPr sz="832" b="0" i="0">
                          <a:solidFill>
                            <a:srgbClr val="1A1A1A"/>
                          </a:solidFill>
                          <a:latin typeface="Helvetica Neue"/>
                        </a:rPr>
                        <a:t>Versana Balance</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308457">
                <a:tc>
                  <a:txBody>
                    <a:bodyPr wrap="square"/>
                    <a:lstStyle/>
                    <a:p>
                      <a:r>
                        <a:rPr sz="832" b="0" i="0">
                          <a:solidFill>
                            <a:srgbClr val="1A1A1A"/>
                          </a:solidFill>
                          <a:latin typeface="Helvetica Neue"/>
                        </a:rPr>
                        <a:t>K220619</a:t>
                      </a:r>
                    </a:p>
                  </a:txBody>
                  <a:tcPr marL="45720" marR="45720" marT="18288" marB="18288" anchor="t"/>
                </a:tc>
                <a:tc>
                  <a:txBody>
                    <a:bodyPr wrap="square"/>
                    <a:lstStyle/>
                    <a:p>
                      <a:r>
                        <a:rPr sz="832" b="0" i="0">
                          <a:solidFill>
                            <a:srgbClr val="1A1A1A"/>
                          </a:solidFill>
                          <a:latin typeface="Helvetica Neue"/>
                        </a:rPr>
                        <a:t>07/15/2022</a:t>
                      </a:r>
                    </a:p>
                  </a:txBody>
                  <a:tcPr marL="45720" marR="45720" marT="18288" marB="18288" anchor="t"/>
                </a:tc>
                <a:tc>
                  <a:txBody>
                    <a:bodyPr wrap="square"/>
                    <a:lstStyle/>
                    <a:p>
                      <a:r>
                        <a:rPr sz="832" b="0" i="0">
                          <a:solidFill>
                            <a:srgbClr val="1A1A1A"/>
                          </a:solidFill>
                          <a:latin typeface="Helvetica Neue"/>
                        </a:rPr>
                        <a:t>GE Medical Systems Ultrasound and Primary Care Diagnostics,</a:t>
                      </a:r>
                    </a:p>
                  </a:txBody>
                  <a:tcPr marL="45720" marR="45720" marT="18288" marB="18288" anchor="t"/>
                </a:tc>
                <a:tc>
                  <a:txBody>
                    <a:bodyPr wrap="square"/>
                    <a:lstStyle/>
                    <a:p>
                      <a:r>
                        <a:rPr sz="832" b="0" i="0">
                          <a:solidFill>
                            <a:srgbClr val="1A1A1A"/>
                          </a:solidFill>
                          <a:latin typeface="Helvetica Neue"/>
                        </a:rPr>
                        <a:t>Vivid S60N, Vivid S70N</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181660">
                <a:tc>
                  <a:txBody>
                    <a:bodyPr wrap="square"/>
                    <a:lstStyle/>
                    <a:p>
                      <a:r>
                        <a:rPr sz="832" b="0" i="0">
                          <a:solidFill>
                            <a:srgbClr val="1A1A1A"/>
                          </a:solidFill>
                          <a:latin typeface="Helvetica Neue"/>
                        </a:rPr>
                        <a:t>K220882</a:t>
                      </a:r>
                    </a:p>
                  </a:txBody>
                  <a:tcPr marL="45720" marR="45720" marT="18288" marB="18288" anchor="t"/>
                </a:tc>
                <a:tc>
                  <a:txBody>
                    <a:bodyPr wrap="square"/>
                    <a:lstStyle/>
                    <a:p>
                      <a:r>
                        <a:rPr sz="832" b="0" i="0">
                          <a:solidFill>
                            <a:srgbClr val="1A1A1A"/>
                          </a:solidFill>
                          <a:latin typeface="Helvetica Neue"/>
                        </a:rPr>
                        <a:t>07/22/2022</a:t>
                      </a:r>
                    </a:p>
                  </a:txBody>
                  <a:tcPr marL="45720" marR="45720" marT="18288" marB="18288" anchor="t"/>
                </a:tc>
                <a:tc>
                  <a:txBody>
                    <a:bodyPr wrap="square"/>
                    <a:lstStyle/>
                    <a:p>
                      <a:r>
                        <a:rPr sz="832" b="0" i="0">
                          <a:solidFill>
                            <a:srgbClr val="1A1A1A"/>
                          </a:solidFill>
                          <a:latin typeface="Helvetica Neue"/>
                        </a:rPr>
                        <a:t>GE Medical Systems Ultrasound and</a:t>
                      </a:r>
                    </a:p>
                  </a:txBody>
                  <a:tcPr marL="45720" marR="45720" marT="18288" marB="18288" anchor="t"/>
                </a:tc>
                <a:tc>
                  <a:txBody>
                    <a:bodyPr wrap="square"/>
                    <a:lstStyle/>
                    <a:p>
                      <a:r>
                        <a:rPr sz="832" b="0" i="0">
                          <a:solidFill>
                            <a:srgbClr val="1A1A1A"/>
                          </a:solidFill>
                          <a:latin typeface="Helvetica Neue"/>
                        </a:rPr>
                        <a:t>Vivid E80, Vivid E90, Vivid E95</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308457">
                <a:tc>
                  <a:txBody>
                    <a:bodyPr wrap="square"/>
                    <a:lstStyle/>
                    <a:p>
                      <a:r>
                        <a:rPr sz="832" b="0" i="0">
                          <a:solidFill>
                            <a:srgbClr val="1A1A1A"/>
                          </a:solidFill>
                          <a:latin typeface="Helvetica Neue"/>
                        </a:rPr>
                        <a:t>K220940</a:t>
                      </a:r>
                    </a:p>
                  </a:txBody>
                  <a:tcPr marL="45720" marR="45720" marT="18288" marB="18288" anchor="t"/>
                </a:tc>
                <a:tc>
                  <a:txBody>
                    <a:bodyPr wrap="square"/>
                    <a:lstStyle/>
                    <a:p>
                      <a:r>
                        <a:rPr sz="832" b="0" i="0">
                          <a:solidFill>
                            <a:srgbClr val="1A1A1A"/>
                          </a:solidFill>
                          <a:latin typeface="Helvetica Neue"/>
                        </a:rPr>
                        <a:t>07/22/2022</a:t>
                      </a:r>
                    </a:p>
                  </a:txBody>
                  <a:tcPr marL="45720" marR="45720" marT="18288" marB="18288" anchor="t"/>
                </a:tc>
                <a:tc>
                  <a:txBody>
                    <a:bodyPr wrap="square"/>
                    <a:lstStyle/>
                    <a:p>
                      <a:r>
                        <a:rPr sz="832" b="0" i="0">
                          <a:solidFill>
                            <a:srgbClr val="1A1A1A"/>
                          </a:solidFill>
                          <a:latin typeface="Helvetica Neue"/>
                        </a:rPr>
                        <a:t>GE Medical Systems Ultrasound and Primary Care Diagnostics,</a:t>
                      </a:r>
                    </a:p>
                  </a:txBody>
                  <a:tcPr marL="45720" marR="45720" marT="18288" marB="18288" anchor="t"/>
                </a:tc>
                <a:tc>
                  <a:txBody>
                    <a:bodyPr wrap="square"/>
                    <a:lstStyle/>
                    <a:p>
                      <a:r>
                        <a:rPr sz="832" b="0" i="0">
                          <a:solidFill>
                            <a:srgbClr val="1A1A1A"/>
                          </a:solidFill>
                          <a:latin typeface="Helvetica Neue"/>
                        </a:rPr>
                        <a:t>EchoPAC Software Only, EchoPAC Plug-in</a:t>
                      </a:r>
                    </a:p>
                  </a:txBody>
                  <a:tcPr marL="45720" marR="45720" marT="18288" marB="18288" anchor="t"/>
                </a:tc>
                <a:tc>
                  <a:txBody>
                    <a:bodyPr wrap="square"/>
                    <a:lstStyle/>
                    <a:p>
                      <a:r>
                        <a:rPr sz="832" b="0" i="0">
                          <a:solidFill>
                            <a:srgbClr val="1A1A1A"/>
                          </a:solidFill>
                          <a:latin typeface="Helvetica Neue"/>
                        </a:rPr>
                        <a:t>QIH</a:t>
                      </a:r>
                    </a:p>
                  </a:txBody>
                  <a:tcPr marL="45720" marR="45720" marT="18288" marB="18288" anchor="t"/>
                </a:tc>
              </a:tr>
              <a:tr h="308457">
                <a:tc>
                  <a:txBody>
                    <a:bodyPr wrap="square"/>
                    <a:lstStyle/>
                    <a:p>
                      <a:r>
                        <a:rPr sz="832" b="0" i="0">
                          <a:solidFill>
                            <a:srgbClr val="1A1A1A"/>
                          </a:solidFill>
                          <a:latin typeface="Helvetica Neue"/>
                        </a:rPr>
                        <a:t>K221147</a:t>
                      </a:r>
                    </a:p>
                  </a:txBody>
                  <a:tcPr marL="45720" marR="45720" marT="18288" marB="18288" anchor="t"/>
                </a:tc>
                <a:tc>
                  <a:txBody>
                    <a:bodyPr wrap="square"/>
                    <a:lstStyle/>
                    <a:p>
                      <a:r>
                        <a:rPr sz="832" b="0" i="0">
                          <a:solidFill>
                            <a:srgbClr val="1A1A1A"/>
                          </a:solidFill>
                          <a:latin typeface="Helvetica Neue"/>
                        </a:rPr>
                        <a:t>07/18/2022</a:t>
                      </a:r>
                    </a:p>
                  </a:txBody>
                  <a:tcPr marL="45720" marR="45720" marT="18288" marB="18288" anchor="t"/>
                </a:tc>
                <a:tc>
                  <a:txBody>
                    <a:bodyPr wrap="square"/>
                    <a:lstStyle/>
                    <a:p>
                      <a:r>
                        <a:rPr sz="832" b="0" i="0">
                          <a:solidFill>
                            <a:srgbClr val="1A1A1A"/>
                          </a:solidFill>
                          <a:latin typeface="Helvetica Neue"/>
                        </a:rPr>
                        <a:t>GE Medical Systems Ultrasound and Primary Care Diagnostics,</a:t>
                      </a:r>
                    </a:p>
                  </a:txBody>
                  <a:tcPr marL="45720" marR="45720" marT="18288" marB="18288" anchor="t"/>
                </a:tc>
                <a:tc>
                  <a:txBody>
                    <a:bodyPr wrap="square"/>
                    <a:lstStyle/>
                    <a:p>
                      <a:r>
                        <a:rPr sz="832" b="0" i="0">
                          <a:solidFill>
                            <a:srgbClr val="1A1A1A"/>
                          </a:solidFill>
                          <a:latin typeface="Helvetica Neue"/>
                        </a:rPr>
                        <a:t>Vivid T8, Vivid T9</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308457">
                <a:tc>
                  <a:txBody>
                    <a:bodyPr wrap="square"/>
                    <a:lstStyle/>
                    <a:p>
                      <a:r>
                        <a:rPr sz="832" b="0" i="0">
                          <a:solidFill>
                            <a:srgbClr val="1A1A1A"/>
                          </a:solidFill>
                          <a:latin typeface="Helvetica Neue"/>
                        </a:rPr>
                        <a:t>K221148</a:t>
                      </a:r>
                    </a:p>
                  </a:txBody>
                  <a:tcPr marL="45720" marR="45720" marT="18288" marB="18288" anchor="t"/>
                </a:tc>
                <a:tc>
                  <a:txBody>
                    <a:bodyPr wrap="square"/>
                    <a:lstStyle/>
                    <a:p>
                      <a:r>
                        <a:rPr sz="832" b="0" i="0">
                          <a:solidFill>
                            <a:srgbClr val="1A1A1A"/>
                          </a:solidFill>
                          <a:latin typeface="Helvetica Neue"/>
                        </a:rPr>
                        <a:t>07/18/2022</a:t>
                      </a:r>
                    </a:p>
                  </a:txBody>
                  <a:tcPr marL="45720" marR="45720" marT="18288" marB="18288" anchor="t"/>
                </a:tc>
                <a:tc>
                  <a:txBody>
                    <a:bodyPr wrap="square"/>
                    <a:lstStyle/>
                    <a:p>
                      <a:r>
                        <a:rPr sz="832" b="0" i="0">
                          <a:solidFill>
                            <a:srgbClr val="1A1A1A"/>
                          </a:solidFill>
                          <a:latin typeface="Helvetica Neue"/>
                        </a:rPr>
                        <a:t>GE Medical Systems Ultrasound &amp; Primary Care Diagnostics LLC</a:t>
                      </a:r>
                    </a:p>
                  </a:txBody>
                  <a:tcPr marL="45720" marR="45720" marT="18288" marB="18288" anchor="t"/>
                </a:tc>
                <a:tc>
                  <a:txBody>
                    <a:bodyPr wrap="square"/>
                    <a:lstStyle/>
                    <a:p>
                      <a:r>
                        <a:rPr sz="832" b="0" i="0">
                          <a:solidFill>
                            <a:srgbClr val="1A1A1A"/>
                          </a:solidFill>
                          <a:latin typeface="Helvetica Neue"/>
                        </a:rPr>
                        <a:t>Vivid iq</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181660">
                <a:tc>
                  <a:txBody>
                    <a:bodyPr wrap="square"/>
                    <a:lstStyle/>
                    <a:p>
                      <a:r>
                        <a:rPr sz="832" b="0" i="0">
                          <a:solidFill>
                            <a:srgbClr val="1A1A1A"/>
                          </a:solidFill>
                          <a:latin typeface="Helvetica Neue"/>
                        </a:rPr>
                        <a:t>K230807</a:t>
                      </a:r>
                    </a:p>
                  </a:txBody>
                  <a:tcPr marL="45720" marR="45720" marT="18288" marB="18288" anchor="t"/>
                </a:tc>
                <a:tc>
                  <a:txBody>
                    <a:bodyPr wrap="square"/>
                    <a:lstStyle/>
                    <a:p>
                      <a:r>
                        <a:rPr sz="832" b="0" i="0">
                          <a:solidFill>
                            <a:srgbClr val="1A1A1A"/>
                          </a:solidFill>
                          <a:latin typeface="Helvetica Neue"/>
                        </a:rPr>
                        <a:t>04/20/2023</a:t>
                      </a:r>
                    </a:p>
                  </a:txBody>
                  <a:tcPr marL="45720" marR="45720" marT="18288" marB="18288" anchor="t"/>
                </a:tc>
                <a:tc>
                  <a:txBody>
                    <a:bodyPr wrap="square"/>
                    <a:lstStyle/>
                    <a:p>
                      <a:r>
                        <a:rPr sz="832" b="0" i="0">
                          <a:solidFill>
                            <a:srgbClr val="1A1A1A"/>
                          </a:solidFill>
                          <a:latin typeface="Helvetica Neue"/>
                        </a:rPr>
                        <a:t>GE Healthcare Japan Corporation</a:t>
                      </a:r>
                    </a:p>
                  </a:txBody>
                  <a:tcPr marL="45720" marR="45720" marT="18288" marB="18288" anchor="t"/>
                </a:tc>
                <a:tc>
                  <a:txBody>
                    <a:bodyPr wrap="square"/>
                    <a:lstStyle/>
                    <a:p>
                      <a:r>
                        <a:rPr sz="832" b="0" i="0">
                          <a:solidFill>
                            <a:srgbClr val="1A1A1A"/>
                          </a:solidFill>
                          <a:latin typeface="Helvetica Neue"/>
                        </a:rPr>
                        <a:t>Deep Learning Image Reconstruction</a:t>
                      </a:r>
                    </a:p>
                  </a:txBody>
                  <a:tcPr marL="45720" marR="45720" marT="18288" marB="18288" anchor="t"/>
                </a:tc>
                <a:tc>
                  <a:txBody>
                    <a:bodyPr wrap="square"/>
                    <a:lstStyle/>
                    <a:p>
                      <a:r>
                        <a:rPr sz="832" b="0" i="0">
                          <a:solidFill>
                            <a:srgbClr val="1A1A1A"/>
                          </a:solidFill>
                          <a:latin typeface="Helvetica Neue"/>
                        </a:rPr>
                        <a:t>JAK</a:t>
                      </a:r>
                    </a:p>
                  </a:txBody>
                  <a:tcPr marL="45720" marR="45720" marT="18288" marB="18288" anchor="t"/>
                </a:tc>
              </a:tr>
              <a:tr h="308457">
                <a:tc>
                  <a:txBody>
                    <a:bodyPr wrap="square"/>
                    <a:lstStyle/>
                    <a:p>
                      <a:r>
                        <a:rPr sz="832" b="0" i="0">
                          <a:solidFill>
                            <a:srgbClr val="1A1A1A"/>
                          </a:solidFill>
                          <a:latin typeface="Helvetica Neue"/>
                        </a:rPr>
                        <a:t>K231989</a:t>
                      </a:r>
                    </a:p>
                  </a:txBody>
                  <a:tcPr marL="45720" marR="45720" marT="18288" marB="18288" anchor="t"/>
                </a:tc>
                <a:tc>
                  <a:txBody>
                    <a:bodyPr wrap="square"/>
                    <a:lstStyle/>
                    <a:p>
                      <a:r>
                        <a:rPr sz="832" b="0" i="0">
                          <a:solidFill>
                            <a:srgbClr val="1A1A1A"/>
                          </a:solidFill>
                          <a:latin typeface="Helvetica Neue"/>
                        </a:rPr>
                        <a:t>11/07/2023</a:t>
                      </a:r>
                    </a:p>
                  </a:txBody>
                  <a:tcPr marL="45720" marR="45720" marT="18288" marB="18288" anchor="t"/>
                </a:tc>
                <a:tc>
                  <a:txBody>
                    <a:bodyPr wrap="square"/>
                    <a:lstStyle/>
                    <a:p>
                      <a:r>
                        <a:rPr sz="832" b="0" i="0">
                          <a:solidFill>
                            <a:srgbClr val="1A1A1A"/>
                          </a:solidFill>
                          <a:latin typeface="Helvetica Neue"/>
                        </a:rPr>
                        <a:t>GE Medical Systems Ultrasound and Primary Care Diagnostic,</a:t>
                      </a:r>
                    </a:p>
                  </a:txBody>
                  <a:tcPr marL="45720" marR="45720" marT="18288" marB="18288" anchor="t"/>
                </a:tc>
                <a:tc>
                  <a:txBody>
                    <a:bodyPr wrap="square"/>
                    <a:lstStyle/>
                    <a:p>
                      <a:r>
                        <a:rPr sz="832" b="0" i="0">
                          <a:solidFill>
                            <a:srgbClr val="1A1A1A"/>
                          </a:solidFill>
                          <a:latin typeface="Helvetica Neue"/>
                        </a:rPr>
                        <a:t>LOGIQ E10s, LOGIQ Fortis</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308457">
                <a:tc>
                  <a:txBody>
                    <a:bodyPr wrap="square"/>
                    <a:lstStyle/>
                    <a:p>
                      <a:r>
                        <a:rPr sz="832" b="0" i="0">
                          <a:solidFill>
                            <a:srgbClr val="1A1A1A"/>
                          </a:solidFill>
                          <a:latin typeface="Helvetica Neue"/>
                        </a:rPr>
                        <a:t>K232381</a:t>
                      </a:r>
                    </a:p>
                  </a:txBody>
                  <a:tcPr marL="45720" marR="45720" marT="18288" marB="18288" anchor="t"/>
                </a:tc>
                <a:tc>
                  <a:txBody>
                    <a:bodyPr wrap="square"/>
                    <a:lstStyle/>
                    <a:p>
                      <a:r>
                        <a:rPr sz="832" b="0" i="0">
                          <a:solidFill>
                            <a:srgbClr val="1A1A1A"/>
                          </a:solidFill>
                          <a:latin typeface="Helvetica Neue"/>
                        </a:rPr>
                        <a:t>12/07/2023</a:t>
                      </a:r>
                    </a:p>
                  </a:txBody>
                  <a:tcPr marL="45720" marR="45720" marT="18288" marB="18288" anchor="t"/>
                </a:tc>
                <a:tc>
                  <a:txBody>
                    <a:bodyPr wrap="square"/>
                    <a:lstStyle/>
                    <a:p>
                      <a:r>
                        <a:rPr sz="832" b="0" i="0">
                          <a:solidFill>
                            <a:srgbClr val="1A1A1A"/>
                          </a:solidFill>
                          <a:latin typeface="Helvetica Neue"/>
                        </a:rPr>
                        <a:t>GE Medical Systems Ultrasound and Primary care Diagnostics,</a:t>
                      </a:r>
                    </a:p>
                  </a:txBody>
                  <a:tcPr marL="45720" marR="45720" marT="18288" marB="18288" anchor="t"/>
                </a:tc>
                <a:tc>
                  <a:txBody>
                    <a:bodyPr wrap="square"/>
                    <a:lstStyle/>
                    <a:p>
                      <a:r>
                        <a:rPr sz="832" b="0" i="0">
                          <a:solidFill>
                            <a:srgbClr val="1A1A1A"/>
                          </a:solidFill>
                          <a:latin typeface="Helvetica Neue"/>
                        </a:rPr>
                        <a:t>LOGIQ Totus</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181660">
                <a:tc>
                  <a:txBody>
                    <a:bodyPr wrap="square"/>
                    <a:lstStyle/>
                    <a:p>
                      <a:r>
                        <a:rPr sz="832" b="0" i="0">
                          <a:solidFill>
                            <a:srgbClr val="1A1A1A"/>
                          </a:solidFill>
                          <a:latin typeface="Helvetica Neue"/>
                        </a:rPr>
                        <a:t>K233195</a:t>
                      </a:r>
                    </a:p>
                  </a:txBody>
                  <a:tcPr marL="45720" marR="45720" marT="18288" marB="18288" anchor="t"/>
                </a:tc>
                <a:tc>
                  <a:txBody>
                    <a:bodyPr wrap="square"/>
                    <a:lstStyle/>
                    <a:p>
                      <a:r>
                        <a:rPr sz="832" b="0" i="0">
                          <a:solidFill>
                            <a:srgbClr val="1A1A1A"/>
                          </a:solidFill>
                          <a:latin typeface="Helvetica Neue"/>
                        </a:rPr>
                        <a:t>01/24/2024</a:t>
                      </a:r>
                    </a:p>
                  </a:txBody>
                  <a:tcPr marL="45720" marR="45720" marT="18288" marB="18288" anchor="t"/>
                </a:tc>
                <a:tc>
                  <a:txBody>
                    <a:bodyPr wrap="square"/>
                    <a:lstStyle/>
                    <a:p>
                      <a:r>
                        <a:rPr sz="832" b="0" i="0">
                          <a:solidFill>
                            <a:srgbClr val="1A1A1A"/>
                          </a:solidFill>
                          <a:latin typeface="Helvetica Neue"/>
                        </a:rPr>
                        <a:t>Canon Medical Systems Corporation</a:t>
                      </a:r>
                    </a:p>
                  </a:txBody>
                  <a:tcPr marL="45720" marR="45720" marT="18288" marB="18288" anchor="t"/>
                </a:tc>
                <a:tc>
                  <a:txBody>
                    <a:bodyPr wrap="square"/>
                    <a:lstStyle/>
                    <a:p>
                      <a:r>
                        <a:rPr sz="832" b="0" i="0">
                          <a:solidFill>
                            <a:srgbClr val="1A1A1A"/>
                          </a:solidFill>
                          <a:latin typeface="Helvetica Neue"/>
                        </a:rPr>
                        <a:t>Aplio i900, Aplio i800 and Aplio i700 Software V8.1 Diagnostic Ultrasound System</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308457">
                <a:tc>
                  <a:txBody>
                    <a:bodyPr wrap="square"/>
                    <a:lstStyle/>
                    <a:p>
                      <a:r>
                        <a:rPr sz="832" b="0" i="0">
                          <a:solidFill>
                            <a:srgbClr val="1A1A1A"/>
                          </a:solidFill>
                          <a:latin typeface="Helvetica Neue"/>
                        </a:rPr>
                        <a:t>K233692</a:t>
                      </a:r>
                    </a:p>
                  </a:txBody>
                  <a:tcPr marL="45720" marR="45720" marT="18288" marB="18288" anchor="t"/>
                </a:tc>
                <a:tc>
                  <a:txBody>
                    <a:bodyPr wrap="square"/>
                    <a:lstStyle/>
                    <a:p>
                      <a:r>
                        <a:rPr sz="832" b="0" i="0">
                          <a:solidFill>
                            <a:srgbClr val="1A1A1A"/>
                          </a:solidFill>
                          <a:latin typeface="Helvetica Neue"/>
                        </a:rPr>
                        <a:t>03/07/2024</a:t>
                      </a:r>
                    </a:p>
                  </a:txBody>
                  <a:tcPr marL="45720" marR="45720" marT="18288" marB="18288" anchor="t"/>
                </a:tc>
                <a:tc>
                  <a:txBody>
                    <a:bodyPr wrap="square"/>
                    <a:lstStyle/>
                    <a:p>
                      <a:r>
                        <a:rPr sz="832" b="0" i="0">
                          <a:solidFill>
                            <a:srgbClr val="1A1A1A"/>
                          </a:solidFill>
                          <a:latin typeface="Helvetica Neue"/>
                        </a:rPr>
                        <a:t>GE Medical Systems Ultrasound and Primary care Diagnostics,</a:t>
                      </a:r>
                    </a:p>
                  </a:txBody>
                  <a:tcPr marL="45720" marR="45720" marT="18288" marB="18288" anchor="t"/>
                </a:tc>
                <a:tc>
                  <a:txBody>
                    <a:bodyPr wrap="square"/>
                    <a:lstStyle/>
                    <a:p>
                      <a:r>
                        <a:rPr sz="832" b="0" i="0">
                          <a:solidFill>
                            <a:srgbClr val="1A1A1A"/>
                          </a:solidFill>
                          <a:latin typeface="Helvetica Neue"/>
                        </a:rPr>
                        <a:t>Voluson Signature 20, Voluson Signature 18</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308457">
                <a:tc>
                  <a:txBody>
                    <a:bodyPr wrap="square"/>
                    <a:lstStyle/>
                    <a:p>
                      <a:r>
                        <a:rPr sz="832" b="0" i="0">
                          <a:solidFill>
                            <a:srgbClr val="1A1A1A"/>
                          </a:solidFill>
                          <a:latin typeface="Helvetica Neue"/>
                        </a:rPr>
                        <a:t>K241582</a:t>
                      </a:r>
                    </a:p>
                  </a:txBody>
                  <a:tcPr marL="45720" marR="45720" marT="18288" marB="18288" anchor="t"/>
                </a:tc>
                <a:tc>
                  <a:txBody>
                    <a:bodyPr wrap="square"/>
                    <a:lstStyle/>
                    <a:p>
                      <a:r>
                        <a:rPr sz="832" b="0" i="0">
                          <a:solidFill>
                            <a:srgbClr val="1A1A1A"/>
                          </a:solidFill>
                          <a:latin typeface="Helvetica Neue"/>
                        </a:rPr>
                        <a:t>09/12/2024</a:t>
                      </a:r>
                    </a:p>
                  </a:txBody>
                  <a:tcPr marL="45720" marR="45720" marT="18288" marB="18288" anchor="t"/>
                </a:tc>
                <a:tc>
                  <a:txBody>
                    <a:bodyPr wrap="square"/>
                    <a:lstStyle/>
                    <a:p>
                      <a:r>
                        <a:rPr sz="832" b="0" i="0">
                          <a:solidFill>
                            <a:srgbClr val="1A1A1A"/>
                          </a:solidFill>
                          <a:latin typeface="Helvetica Neue"/>
                        </a:rPr>
                        <a:t>Canon Medical Systems Corporation</a:t>
                      </a:r>
                    </a:p>
                  </a:txBody>
                  <a:tcPr marL="45720" marR="45720" marT="18288" marB="18288" anchor="t"/>
                </a:tc>
                <a:tc>
                  <a:txBody>
                    <a:bodyPr wrap="square"/>
                    <a:lstStyle/>
                    <a:p>
                      <a:r>
                        <a:rPr sz="832" b="0" i="0">
                          <a:solidFill>
                            <a:srgbClr val="1A1A1A"/>
                          </a:solidFill>
                          <a:latin typeface="Helvetica Neue"/>
                        </a:rPr>
                        <a:t>Aplio i900/i800/i700 Diagnostic Ultrasound System, Software V7.0 (TUS-AI900, TUS-AI800, TUS-AI700)</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181660">
                <a:tc>
                  <a:txBody>
                    <a:bodyPr wrap="square"/>
                    <a:lstStyle/>
                    <a:p>
                      <a:r>
                        <a:rPr sz="832" b="0" i="0">
                          <a:solidFill>
                            <a:srgbClr val="1A1A1A"/>
                          </a:solidFill>
                          <a:latin typeface="Helvetica Neue"/>
                        </a:rPr>
                        <a:t>K241593</a:t>
                      </a:r>
                    </a:p>
                  </a:txBody>
                  <a:tcPr marL="45720" marR="45720" marT="18288" marB="18288" anchor="t"/>
                </a:tc>
                <a:tc>
                  <a:txBody>
                    <a:bodyPr wrap="square"/>
                    <a:lstStyle/>
                    <a:p>
                      <a:r>
                        <a:rPr sz="832" b="0" i="0">
                          <a:solidFill>
                            <a:srgbClr val="1A1A1A"/>
                          </a:solidFill>
                          <a:latin typeface="Helvetica Neue"/>
                        </a:rPr>
                        <a:t>02/05/2025</a:t>
                      </a:r>
                    </a:p>
                  </a:txBody>
                  <a:tcPr marL="45720" marR="45720" marT="18288" marB="18288" anchor="t"/>
                </a:tc>
                <a:tc>
                  <a:txBody>
                    <a:bodyPr wrap="square"/>
                    <a:lstStyle/>
                    <a:p>
                      <a:r>
                        <a:rPr sz="832" b="0" i="0">
                          <a:solidFill>
                            <a:srgbClr val="1A1A1A"/>
                          </a:solidFill>
                          <a:latin typeface="Helvetica Neue"/>
                        </a:rPr>
                        <a:t>Gleamer SAS</a:t>
                      </a:r>
                    </a:p>
                  </a:txBody>
                  <a:tcPr marL="45720" marR="45720" marT="18288" marB="18288" anchor="t"/>
                </a:tc>
                <a:tc>
                  <a:txBody>
                    <a:bodyPr wrap="square"/>
                    <a:lstStyle/>
                    <a:p>
                      <a:r>
                        <a:rPr sz="832" b="0" i="0">
                          <a:solidFill>
                            <a:srgbClr val="1A1A1A"/>
                          </a:solidFill>
                          <a:latin typeface="Helvetica Neue"/>
                        </a:rPr>
                        <a:t>BoneMetrics (US)</a:t>
                      </a:r>
                    </a:p>
                  </a:txBody>
                  <a:tcPr marL="45720" marR="45720" marT="18288" marB="18288" anchor="t"/>
                </a:tc>
                <a:tc>
                  <a:txBody>
                    <a:bodyPr wrap="square"/>
                    <a:lstStyle/>
                    <a:p>
                      <a:r>
                        <a:rPr sz="832" b="0" i="0">
                          <a:solidFill>
                            <a:srgbClr val="1A1A1A"/>
                          </a:solidFill>
                          <a:latin typeface="Helvetica Neue"/>
                        </a:rPr>
                        <a:t>QIH</a:t>
                      </a:r>
                    </a:p>
                  </a:txBody>
                  <a:tcPr marL="45720" marR="45720" marT="18288" marB="18288" anchor="t"/>
                </a:tc>
              </a:tr>
              <a:tr h="181660">
                <a:tc>
                  <a:txBody>
                    <a:bodyPr wrap="square"/>
                    <a:lstStyle/>
                    <a:p>
                      <a:r>
                        <a:rPr sz="832" b="0" i="0">
                          <a:solidFill>
                            <a:srgbClr val="1A1A1A"/>
                          </a:solidFill>
                          <a:latin typeface="Helvetica Neue"/>
                        </a:rPr>
                        <a:t>K241671</a:t>
                      </a:r>
                    </a:p>
                  </a:txBody>
                  <a:tcPr marL="45720" marR="45720" marT="18288" marB="18288" anchor="t"/>
                </a:tc>
                <a:tc>
                  <a:txBody>
                    <a:bodyPr wrap="square"/>
                    <a:lstStyle/>
                    <a:p>
                      <a:r>
                        <a:rPr sz="832" b="0" i="0">
                          <a:solidFill>
                            <a:srgbClr val="1A1A1A"/>
                          </a:solidFill>
                          <a:latin typeface="Helvetica Neue"/>
                        </a:rPr>
                        <a:t>05/16/2025</a:t>
                      </a:r>
                    </a:p>
                  </a:txBody>
                  <a:tcPr marL="45720" marR="45720" marT="18288" marB="18288" anchor="t"/>
                </a:tc>
                <a:tc>
                  <a:txBody>
                    <a:bodyPr wrap="square"/>
                    <a:lstStyle/>
                    <a:p>
                      <a:r>
                        <a:rPr sz="832" b="0" i="0">
                          <a:solidFill>
                            <a:srgbClr val="1A1A1A"/>
                          </a:solidFill>
                          <a:latin typeface="Helvetica Neue"/>
                        </a:rPr>
                        <a:t>Esaote S.p.A.</a:t>
                      </a:r>
                    </a:p>
                  </a:txBody>
                  <a:tcPr marL="45720" marR="45720" marT="18288" marB="18288" anchor="t"/>
                </a:tc>
                <a:tc>
                  <a:txBody>
                    <a:bodyPr wrap="square"/>
                    <a:lstStyle/>
                    <a:p>
                      <a:r>
                        <a:rPr sz="832" b="0" i="0">
                          <a:solidFill>
                            <a:srgbClr val="1A1A1A"/>
                          </a:solidFill>
                          <a:latin typeface="Helvetica Neue"/>
                        </a:rPr>
                        <a:t>6450 Ultrasound System (MyLabE80); 6450 Ultrasound System (MyLabE85)</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308457">
                <a:tc>
                  <a:txBody>
                    <a:bodyPr wrap="square"/>
                    <a:lstStyle/>
                    <a:p>
                      <a:r>
                        <a:rPr sz="832" b="0" i="0">
                          <a:solidFill>
                            <a:srgbClr val="1A1A1A"/>
                          </a:solidFill>
                          <a:latin typeface="Helvetica Neue"/>
                        </a:rPr>
                        <a:t>K242005</a:t>
                      </a:r>
                    </a:p>
                  </a:txBody>
                  <a:tcPr marL="45720" marR="45720" marT="18288" marB="18288" anchor="t"/>
                </a:tc>
                <a:tc>
                  <a:txBody>
                    <a:bodyPr wrap="square"/>
                    <a:lstStyle/>
                    <a:p>
                      <a:r>
                        <a:rPr sz="832" b="0" i="0">
                          <a:solidFill>
                            <a:srgbClr val="1A1A1A"/>
                          </a:solidFill>
                          <a:latin typeface="Helvetica Neue"/>
                        </a:rPr>
                        <a:t>10/02/2024</a:t>
                      </a:r>
                    </a:p>
                  </a:txBody>
                  <a:tcPr marL="45720" marR="45720" marT="18288" marB="18288" anchor="t"/>
                </a:tc>
                <a:tc>
                  <a:txBody>
                    <a:bodyPr wrap="square"/>
                    <a:lstStyle/>
                    <a:p>
                      <a:r>
                        <a:rPr sz="832" b="0" i="0">
                          <a:solidFill>
                            <a:srgbClr val="1A1A1A"/>
                          </a:solidFill>
                          <a:latin typeface="Helvetica Neue"/>
                        </a:rPr>
                        <a:t>GE Medical Systems Ultrasound and Primary Care Diagnostics</a:t>
                      </a:r>
                    </a:p>
                  </a:txBody>
                  <a:tcPr marL="45720" marR="45720" marT="18288" marB="18288" anchor="t"/>
                </a:tc>
                <a:tc>
                  <a:txBody>
                    <a:bodyPr wrap="square"/>
                    <a:lstStyle/>
                    <a:p>
                      <a:r>
                        <a:rPr sz="832" b="0" i="0">
                          <a:solidFill>
                            <a:srgbClr val="1A1A1A"/>
                          </a:solidFill>
                          <a:latin typeface="Helvetica Neue"/>
                        </a:rPr>
                        <a:t>Versana Premier; Versana Premier Lotus; LOGIQ F</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308457">
                <a:tc>
                  <a:txBody>
                    <a:bodyPr wrap="square"/>
                    <a:lstStyle/>
                    <a:p>
                      <a:r>
                        <a:rPr sz="832" b="0" i="0">
                          <a:solidFill>
                            <a:srgbClr val="1A1A1A"/>
                          </a:solidFill>
                          <a:latin typeface="Helvetica Neue"/>
                        </a:rPr>
                        <a:t>K243620</a:t>
                      </a:r>
                    </a:p>
                  </a:txBody>
                  <a:tcPr marL="45720" marR="45720" marT="18288" marB="18288" anchor="t"/>
                </a:tc>
                <a:tc>
                  <a:txBody>
                    <a:bodyPr wrap="square"/>
                    <a:lstStyle/>
                    <a:p>
                      <a:r>
                        <a:rPr sz="832" b="0" i="0">
                          <a:solidFill>
                            <a:srgbClr val="1A1A1A"/>
                          </a:solidFill>
                          <a:latin typeface="Helvetica Neue"/>
                        </a:rPr>
                        <a:t>02/11/2025</a:t>
                      </a:r>
                    </a:p>
                  </a:txBody>
                  <a:tcPr marL="45720" marR="45720" marT="18288" marB="18288" anchor="t"/>
                </a:tc>
                <a:tc>
                  <a:txBody>
                    <a:bodyPr wrap="square"/>
                    <a:lstStyle/>
                    <a:p>
                      <a:r>
                        <a:rPr sz="832" b="0" i="0">
                          <a:solidFill>
                            <a:srgbClr val="1A1A1A"/>
                          </a:solidFill>
                          <a:latin typeface="Helvetica Neue"/>
                        </a:rPr>
                        <a:t>GE Medical Systems Ultrasound and Primary Care Diagnostics</a:t>
                      </a:r>
                    </a:p>
                  </a:txBody>
                  <a:tcPr marL="45720" marR="45720" marT="18288" marB="18288" anchor="t"/>
                </a:tc>
                <a:tc>
                  <a:txBody>
                    <a:bodyPr wrap="square"/>
                    <a:lstStyle/>
                    <a:p>
                      <a:r>
                        <a:rPr sz="832" b="0" i="0">
                          <a:solidFill>
                            <a:srgbClr val="1A1A1A"/>
                          </a:solidFill>
                          <a:latin typeface="Helvetica Neue"/>
                        </a:rPr>
                        <a:t>Vivid iq</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r h="308457">
                <a:tc>
                  <a:txBody>
                    <a:bodyPr wrap="square"/>
                    <a:lstStyle/>
                    <a:p>
                      <a:r>
                        <a:rPr sz="832" b="0" i="0">
                          <a:solidFill>
                            <a:srgbClr val="1A1A1A"/>
                          </a:solidFill>
                          <a:latin typeface="Helvetica Neue"/>
                        </a:rPr>
                        <a:t>K243628</a:t>
                      </a:r>
                    </a:p>
                  </a:txBody>
                  <a:tcPr marL="45720" marR="45720" marT="18288" marB="18288" anchor="t"/>
                </a:tc>
                <a:tc>
                  <a:txBody>
                    <a:bodyPr wrap="square"/>
                    <a:lstStyle/>
                    <a:p>
                      <a:r>
                        <a:rPr sz="832" b="0" i="0">
                          <a:solidFill>
                            <a:srgbClr val="1A1A1A"/>
                          </a:solidFill>
                          <a:latin typeface="Helvetica Neue"/>
                        </a:rPr>
                        <a:t>02/11/2025</a:t>
                      </a:r>
                    </a:p>
                  </a:txBody>
                  <a:tcPr marL="45720" marR="45720" marT="18288" marB="18288" anchor="t"/>
                </a:tc>
                <a:tc>
                  <a:txBody>
                    <a:bodyPr wrap="square"/>
                    <a:lstStyle/>
                    <a:p>
                      <a:r>
                        <a:rPr sz="832" b="0" i="0">
                          <a:solidFill>
                            <a:srgbClr val="1A1A1A"/>
                          </a:solidFill>
                          <a:latin typeface="Helvetica Neue"/>
                        </a:rPr>
                        <a:t>GE Medical Systems Ultrasound and Primary Care Diagnostics</a:t>
                      </a:r>
                    </a:p>
                  </a:txBody>
                  <a:tcPr marL="45720" marR="45720" marT="18288" marB="18288" anchor="t"/>
                </a:tc>
                <a:tc>
                  <a:txBody>
                    <a:bodyPr wrap="square"/>
                    <a:lstStyle/>
                    <a:p>
                      <a:r>
                        <a:rPr sz="832" b="0" i="0">
                          <a:solidFill>
                            <a:srgbClr val="1A1A1A"/>
                          </a:solidFill>
                          <a:latin typeface="Helvetica Neue"/>
                        </a:rPr>
                        <a:t>Vivid T9/Vivid T8</a:t>
                      </a:r>
                    </a:p>
                  </a:txBody>
                  <a:tcPr marL="45720" marR="45720" marT="18288" marB="18288" anchor="t"/>
                </a:tc>
                <a:tc>
                  <a:txBody>
                    <a:bodyPr wrap="square"/>
                    <a:lstStyle/>
                    <a:p>
                      <a:r>
                        <a:rPr sz="832" b="0" i="0">
                          <a:solidFill>
                            <a:srgbClr val="1A1A1A"/>
                          </a:solidFill>
                          <a:latin typeface="Helvetica Neue"/>
                        </a:rPr>
                        <a:t>IYN</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80 / 83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FDA pediatric-use inventory: needs label review (41–53 of 53)</a:t>
            </a:r>
          </a:p>
        </p:txBody>
      </p:sp>
      <p:sp>
        <p:nvSpPr>
          <p:cNvPr id="3" name="category"/>
          <p:cNvSpPr txBox="1"/>
          <p:nvPr/>
        </p:nvSpPr>
        <p:spPr>
          <a:xfrm>
            <a:off x="8259775" y="18288"/>
            <a:ext cx="3657600" cy="274320"/>
          </a:xfrm>
          <a:prstGeom prst="rect">
            <a:avLst/>
          </a:prstGeom>
          <a:noFill/>
        </p:spPr>
        <p:txBody>
          <a:bodyPr wrap="none">
            <a:spAutoFit/>
          </a:bodyPr>
          <a:lstStyle/>
          <a:p>
            <a:pPr algn="r"/>
            <a:r>
              <a:rPr sz="1100" b="1">
                <a:solidFill>
                  <a:srgbClr val="FFFFFF"/>
                </a:solidFill>
                <a:latin typeface="Helvetica Neue"/>
              </a:rPr>
              <a:t>FDA APPENDIX</a:t>
            </a:r>
          </a:p>
        </p:txBody>
      </p:sp>
      <p:graphicFrame>
        <p:nvGraphicFramePr>
          <p:cNvPr id="4" name="Table 3"/>
          <p:cNvGraphicFramePr>
            <a:graphicFrameLocks noGrp="1"/>
          </p:cNvGraphicFramePr>
          <p:nvPr/>
        </p:nvGraphicFramePr>
        <p:xfrm>
          <a:off x="411480" y="877824"/>
          <a:ext cx="11368732" cy="5449817"/>
        </p:xfrm>
        <a:graphic>
          <a:graphicData uri="http://schemas.openxmlformats.org/drawingml/2006/table">
            <a:tbl>
              <a:tblPr firstRow="1" bandRow="1">
                <a:tableStyleId>{5C22544A-7EE6-4342-B048-85BDC9FD1C3A}</a:tableStyleId>
              </a:tblPr>
              <a:tblGrid>
                <a:gridCol w="1421091"/>
                <a:gridCol w="1184243"/>
                <a:gridCol w="2368486"/>
                <a:gridCol w="5447518"/>
                <a:gridCol w="947394"/>
              </a:tblGrid>
              <a:tr h="249935">
                <a:tc>
                  <a:txBody>
                    <a:bodyPr wrap="square"/>
                    <a:lstStyle/>
                    <a:p>
                      <a:r>
                        <a:rPr sz="1280" b="1" i="0">
                          <a:solidFill>
                            <a:srgbClr val="FFFFFF"/>
                          </a:solidFill>
                          <a:latin typeface="Helvetica Neue"/>
                        </a:rPr>
                        <a:t>Submission</a:t>
                      </a:r>
                    </a:p>
                  </a:txBody>
                  <a:tcPr marL="45720" marR="45720" marT="18288" marB="18288" anchor="t"/>
                </a:tc>
                <a:tc>
                  <a:txBody>
                    <a:bodyPr wrap="square"/>
                    <a:lstStyle/>
                    <a:p>
                      <a:r>
                        <a:rPr sz="1280" b="1" i="0">
                          <a:solidFill>
                            <a:srgbClr val="FFFFFF"/>
                          </a:solidFill>
                          <a:latin typeface="Helvetica Neue"/>
                        </a:rPr>
                        <a:t>Date</a:t>
                      </a:r>
                    </a:p>
                  </a:txBody>
                  <a:tcPr marL="45720" marR="45720" marT="18288" marB="18288" anchor="t"/>
                </a:tc>
                <a:tc>
                  <a:txBody>
                    <a:bodyPr wrap="square"/>
                    <a:lstStyle/>
                    <a:p>
                      <a:r>
                        <a:rPr sz="1280" b="1" i="0">
                          <a:solidFill>
                            <a:srgbClr val="FFFFFF"/>
                          </a:solidFill>
                          <a:latin typeface="Helvetica Neue"/>
                        </a:rPr>
                        <a:t>Company</a:t>
                      </a:r>
                    </a:p>
                  </a:txBody>
                  <a:tcPr marL="45720" marR="45720" marT="18288" marB="18288" anchor="t"/>
                </a:tc>
                <a:tc>
                  <a:txBody>
                    <a:bodyPr wrap="square"/>
                    <a:lstStyle/>
                    <a:p>
                      <a:r>
                        <a:rPr sz="1280" b="1" i="0">
                          <a:solidFill>
                            <a:srgbClr val="FFFFFF"/>
                          </a:solidFill>
                          <a:latin typeface="Helvetica Neue"/>
                        </a:rPr>
                        <a:t>Device</a:t>
                      </a:r>
                    </a:p>
                  </a:txBody>
                  <a:tcPr marL="45720" marR="45720" marT="18288" marB="18288" anchor="t"/>
                </a:tc>
                <a:tc>
                  <a:txBody>
                    <a:bodyPr wrap="square"/>
                    <a:lstStyle/>
                    <a:p>
                      <a:r>
                        <a:rPr sz="1280" b="1" i="0">
                          <a:solidFill>
                            <a:srgbClr val="FFFFFF"/>
                          </a:solidFill>
                          <a:latin typeface="Helvetica Neue"/>
                        </a:rPr>
                        <a:t>Code</a:t>
                      </a:r>
                    </a:p>
                  </a:txBody>
                  <a:tcPr marL="45720" marR="45720" marT="18288" marB="18288" anchor="t"/>
                </a:tc>
              </a:tr>
              <a:tr h="249935">
                <a:tc>
                  <a:txBody>
                    <a:bodyPr wrap="square"/>
                    <a:lstStyle/>
                    <a:p>
                      <a:r>
                        <a:rPr sz="1280" b="0" i="0">
                          <a:solidFill>
                            <a:srgbClr val="1A1A1A"/>
                          </a:solidFill>
                          <a:latin typeface="Helvetica Neue"/>
                        </a:rPr>
                        <a:t>K250330</a:t>
                      </a:r>
                    </a:p>
                  </a:txBody>
                  <a:tcPr marL="45720" marR="45720" marT="18288" marB="18288" anchor="t"/>
                </a:tc>
                <a:tc>
                  <a:txBody>
                    <a:bodyPr wrap="square"/>
                    <a:lstStyle/>
                    <a:p>
                      <a:r>
                        <a:rPr sz="1280" b="0" i="0">
                          <a:solidFill>
                            <a:srgbClr val="1A1A1A"/>
                          </a:solidFill>
                          <a:latin typeface="Helvetica Neue"/>
                        </a:rPr>
                        <a:t>11/03/2025</a:t>
                      </a:r>
                    </a:p>
                  </a:txBody>
                  <a:tcPr marL="45720" marR="45720" marT="18288" marB="18288" anchor="t"/>
                </a:tc>
                <a:tc>
                  <a:txBody>
                    <a:bodyPr wrap="square"/>
                    <a:lstStyle/>
                    <a:p>
                      <a:r>
                        <a:rPr sz="1280" b="0" i="0">
                          <a:solidFill>
                            <a:srgbClr val="1A1A1A"/>
                          </a:solidFill>
                          <a:latin typeface="Helvetica Neue"/>
                        </a:rPr>
                        <a:t>Pie Medical Imaging BV</a:t>
                      </a:r>
                    </a:p>
                  </a:txBody>
                  <a:tcPr marL="45720" marR="45720" marT="18288" marB="18288" anchor="t"/>
                </a:tc>
                <a:tc>
                  <a:txBody>
                    <a:bodyPr wrap="square"/>
                    <a:lstStyle/>
                    <a:p>
                      <a:r>
                        <a:rPr sz="1280" b="0" i="0">
                          <a:solidFill>
                            <a:srgbClr val="1A1A1A"/>
                          </a:solidFill>
                          <a:latin typeface="Helvetica Neue"/>
                        </a:rPr>
                        <a:t>3mensio Workstation</a:t>
                      </a:r>
                    </a:p>
                  </a:txBody>
                  <a:tcPr marL="45720" marR="45720" marT="18288" marB="18288" anchor="t"/>
                </a:tc>
                <a:tc>
                  <a:txBody>
                    <a:bodyPr wrap="square"/>
                    <a:lstStyle/>
                    <a:p>
                      <a:r>
                        <a:rPr sz="1280" b="0" i="0">
                          <a:solidFill>
                            <a:srgbClr val="1A1A1A"/>
                          </a:solidFill>
                          <a:latin typeface="Helvetica Neue"/>
                        </a:rPr>
                        <a:t>QIH</a:t>
                      </a:r>
                    </a:p>
                  </a:txBody>
                  <a:tcPr marL="45720" marR="45720" marT="18288" marB="18288" anchor="t"/>
                </a:tc>
              </a:tr>
              <a:tr h="640080">
                <a:tc>
                  <a:txBody>
                    <a:bodyPr wrap="square"/>
                    <a:lstStyle/>
                    <a:p>
                      <a:r>
                        <a:rPr sz="1280" b="0" i="0">
                          <a:solidFill>
                            <a:srgbClr val="1A1A1A"/>
                          </a:solidFill>
                          <a:latin typeface="Helvetica Neue"/>
                        </a:rPr>
                        <a:t>K250543</a:t>
                      </a:r>
                    </a:p>
                  </a:txBody>
                  <a:tcPr marL="45720" marR="45720" marT="18288" marB="18288" anchor="t"/>
                </a:tc>
                <a:tc>
                  <a:txBody>
                    <a:bodyPr wrap="square"/>
                    <a:lstStyle/>
                    <a:p>
                      <a:r>
                        <a:rPr sz="1280" b="0" i="0">
                          <a:solidFill>
                            <a:srgbClr val="1A1A1A"/>
                          </a:solidFill>
                          <a:latin typeface="Helvetica Neue"/>
                        </a:rPr>
                        <a:t>05/29/2025</a:t>
                      </a:r>
                    </a:p>
                  </a:txBody>
                  <a:tcPr marL="45720" marR="45720" marT="18288" marB="18288" anchor="t"/>
                </a:tc>
                <a:tc>
                  <a:txBody>
                    <a:bodyPr wrap="square"/>
                    <a:lstStyle/>
                    <a:p>
                      <a:r>
                        <a:rPr sz="1280" b="0" i="0">
                          <a:solidFill>
                            <a:srgbClr val="1A1A1A"/>
                          </a:solidFill>
                          <a:latin typeface="Helvetica Neue"/>
                        </a:rPr>
                        <a:t>GE Medical Systems Ultrasound and Primary care Diagnostics</a:t>
                      </a:r>
                    </a:p>
                  </a:txBody>
                  <a:tcPr marL="45720" marR="45720" marT="18288" marB="18288" anchor="t"/>
                </a:tc>
                <a:tc>
                  <a:txBody>
                    <a:bodyPr wrap="square"/>
                    <a:lstStyle/>
                    <a:p>
                      <a:r>
                        <a:rPr sz="1280" b="0" i="0">
                          <a:solidFill>
                            <a:srgbClr val="1A1A1A"/>
                          </a:solidFill>
                          <a:latin typeface="Helvetica Neue"/>
                        </a:rPr>
                        <a:t>Voluson Performance 16; Voluson Performance 18</a:t>
                      </a:r>
                    </a:p>
                  </a:txBody>
                  <a:tcPr marL="45720" marR="45720" marT="18288" marB="18288" anchor="t"/>
                </a:tc>
                <a:tc>
                  <a:txBody>
                    <a:bodyPr wrap="square"/>
                    <a:lstStyle/>
                    <a:p>
                      <a:r>
                        <a:rPr sz="1280" b="0" i="0">
                          <a:solidFill>
                            <a:srgbClr val="1A1A1A"/>
                          </a:solidFill>
                          <a:latin typeface="Helvetica Neue"/>
                        </a:rPr>
                        <a:t>IYN</a:t>
                      </a:r>
                    </a:p>
                  </a:txBody>
                  <a:tcPr marL="45720" marR="45720" marT="18288" marB="18288" anchor="t"/>
                </a:tc>
              </a:tr>
              <a:tr h="249935">
                <a:tc>
                  <a:txBody>
                    <a:bodyPr wrap="square"/>
                    <a:lstStyle/>
                    <a:p>
                      <a:r>
                        <a:rPr sz="1280" b="0" i="0">
                          <a:solidFill>
                            <a:srgbClr val="1A1A1A"/>
                          </a:solidFill>
                          <a:latin typeface="Helvetica Neue"/>
                        </a:rPr>
                        <a:t>K251106</a:t>
                      </a:r>
                    </a:p>
                  </a:txBody>
                  <a:tcPr marL="45720" marR="45720" marT="18288" marB="18288" anchor="t"/>
                </a:tc>
                <a:tc>
                  <a:txBody>
                    <a:bodyPr wrap="square"/>
                    <a:lstStyle/>
                    <a:p>
                      <a:r>
                        <a:rPr sz="1280" b="0" i="0">
                          <a:solidFill>
                            <a:srgbClr val="1A1A1A"/>
                          </a:solidFill>
                          <a:latin typeface="Helvetica Neue"/>
                        </a:rPr>
                        <a:t>08/29/2025</a:t>
                      </a:r>
                    </a:p>
                  </a:txBody>
                  <a:tcPr marL="45720" marR="45720" marT="18288" marB="18288" anchor="t"/>
                </a:tc>
                <a:tc>
                  <a:txBody>
                    <a:bodyPr wrap="square"/>
                    <a:lstStyle/>
                    <a:p>
                      <a:r>
                        <a:rPr sz="1280" b="0" i="0">
                          <a:solidFill>
                            <a:srgbClr val="1A1A1A"/>
                          </a:solidFill>
                          <a:latin typeface="Helvetica Neue"/>
                        </a:rPr>
                        <a:t>Fujifilm Sonosite Inc</a:t>
                      </a:r>
                    </a:p>
                  </a:txBody>
                  <a:tcPr marL="45720" marR="45720" marT="18288" marB="18288" anchor="t"/>
                </a:tc>
                <a:tc>
                  <a:txBody>
                    <a:bodyPr wrap="square"/>
                    <a:lstStyle/>
                    <a:p>
                      <a:r>
                        <a:rPr sz="1280" b="0" i="0">
                          <a:solidFill>
                            <a:srgbClr val="1A1A1A"/>
                          </a:solidFill>
                          <a:latin typeface="Helvetica Neue"/>
                        </a:rPr>
                        <a:t>Sonosite LX and Sonosite PX Ultrasound Systems</a:t>
                      </a:r>
                    </a:p>
                  </a:txBody>
                  <a:tcPr marL="45720" marR="45720" marT="18288" marB="18288" anchor="t"/>
                </a:tc>
                <a:tc>
                  <a:txBody>
                    <a:bodyPr wrap="square"/>
                    <a:lstStyle/>
                    <a:p>
                      <a:r>
                        <a:rPr sz="1280" b="0" i="0">
                          <a:solidFill>
                            <a:srgbClr val="1A1A1A"/>
                          </a:solidFill>
                          <a:latin typeface="Helvetica Neue"/>
                        </a:rPr>
                        <a:t>IYN</a:t>
                      </a:r>
                    </a:p>
                  </a:txBody>
                  <a:tcPr marL="45720" marR="45720" marT="18288" marB="18288" anchor="t"/>
                </a:tc>
              </a:tr>
              <a:tr h="640080">
                <a:tc>
                  <a:txBody>
                    <a:bodyPr wrap="square"/>
                    <a:lstStyle/>
                    <a:p>
                      <a:r>
                        <a:rPr sz="1280" b="0" i="0">
                          <a:solidFill>
                            <a:srgbClr val="1A1A1A"/>
                          </a:solidFill>
                          <a:latin typeface="Helvetica Neue"/>
                        </a:rPr>
                        <a:t>K251169</a:t>
                      </a:r>
                    </a:p>
                  </a:txBody>
                  <a:tcPr marL="45720" marR="45720" marT="18288" marB="18288" anchor="t"/>
                </a:tc>
                <a:tc>
                  <a:txBody>
                    <a:bodyPr wrap="square"/>
                    <a:lstStyle/>
                    <a:p>
                      <a:r>
                        <a:rPr sz="1280" b="0" i="0">
                          <a:solidFill>
                            <a:srgbClr val="1A1A1A"/>
                          </a:solidFill>
                          <a:latin typeface="Helvetica Neue"/>
                        </a:rPr>
                        <a:t>07/10/2025</a:t>
                      </a:r>
                    </a:p>
                  </a:txBody>
                  <a:tcPr marL="45720" marR="45720" marT="18288" marB="18288" anchor="t"/>
                </a:tc>
                <a:tc>
                  <a:txBody>
                    <a:bodyPr wrap="square"/>
                    <a:lstStyle/>
                    <a:p>
                      <a:r>
                        <a:rPr sz="1280" b="0" i="0">
                          <a:solidFill>
                            <a:srgbClr val="1A1A1A"/>
                          </a:solidFill>
                          <a:latin typeface="Helvetica Neue"/>
                        </a:rPr>
                        <a:t>GE Medical Systems Ultrasound and Primary Care Diagnostics</a:t>
                      </a:r>
                    </a:p>
                  </a:txBody>
                  <a:tcPr marL="45720" marR="45720" marT="18288" marB="18288" anchor="t"/>
                </a:tc>
                <a:tc>
                  <a:txBody>
                    <a:bodyPr wrap="square"/>
                    <a:lstStyle/>
                    <a:p>
                      <a:r>
                        <a:rPr sz="1280" b="0" i="0">
                          <a:solidFill>
                            <a:srgbClr val="1A1A1A"/>
                          </a:solidFill>
                          <a:latin typeface="Helvetica Neue"/>
                        </a:rPr>
                        <a:t>Vivid Pioneer</a:t>
                      </a:r>
                    </a:p>
                  </a:txBody>
                  <a:tcPr marL="45720" marR="45720" marT="18288" marB="18288" anchor="t"/>
                </a:tc>
                <a:tc>
                  <a:txBody>
                    <a:bodyPr wrap="square"/>
                    <a:lstStyle/>
                    <a:p>
                      <a:r>
                        <a:rPr sz="1280" b="0" i="0">
                          <a:solidFill>
                            <a:srgbClr val="1A1A1A"/>
                          </a:solidFill>
                          <a:latin typeface="Helvetica Neue"/>
                        </a:rPr>
                        <a:t>IYN</a:t>
                      </a:r>
                    </a:p>
                  </a:txBody>
                  <a:tcPr marL="45720" marR="45720" marT="18288" marB="18288" anchor="t"/>
                </a:tc>
              </a:tr>
              <a:tr h="640080">
                <a:tc>
                  <a:txBody>
                    <a:bodyPr wrap="square"/>
                    <a:lstStyle/>
                    <a:p>
                      <a:r>
                        <a:rPr sz="1280" b="0" i="0">
                          <a:solidFill>
                            <a:srgbClr val="1A1A1A"/>
                          </a:solidFill>
                          <a:latin typeface="Helvetica Neue"/>
                        </a:rPr>
                        <a:t>K251342</a:t>
                      </a:r>
                    </a:p>
                  </a:txBody>
                  <a:tcPr marL="45720" marR="45720" marT="18288" marB="18288" anchor="t"/>
                </a:tc>
                <a:tc>
                  <a:txBody>
                    <a:bodyPr wrap="square"/>
                    <a:lstStyle/>
                    <a:p>
                      <a:r>
                        <a:rPr sz="1280" b="0" i="0">
                          <a:solidFill>
                            <a:srgbClr val="1A1A1A"/>
                          </a:solidFill>
                          <a:latin typeface="Helvetica Neue"/>
                        </a:rPr>
                        <a:t>07/16/2025</a:t>
                      </a:r>
                    </a:p>
                  </a:txBody>
                  <a:tcPr marL="45720" marR="45720" marT="18288" marB="18288" anchor="t"/>
                </a:tc>
                <a:tc>
                  <a:txBody>
                    <a:bodyPr wrap="square"/>
                    <a:lstStyle/>
                    <a:p>
                      <a:r>
                        <a:rPr sz="1280" b="0" i="0">
                          <a:solidFill>
                            <a:srgbClr val="1A1A1A"/>
                          </a:solidFill>
                          <a:latin typeface="Helvetica Neue"/>
                        </a:rPr>
                        <a:t>GE Medical Systems Ultrasound and Primary Care Diagnostics</a:t>
                      </a:r>
                    </a:p>
                  </a:txBody>
                  <a:tcPr marL="45720" marR="45720" marT="18288" marB="18288" anchor="t"/>
                </a:tc>
                <a:tc>
                  <a:txBody>
                    <a:bodyPr wrap="square"/>
                    <a:lstStyle/>
                    <a:p>
                      <a:r>
                        <a:rPr sz="1280" b="0" i="0">
                          <a:solidFill>
                            <a:srgbClr val="1A1A1A"/>
                          </a:solidFill>
                          <a:latin typeface="Helvetica Neue"/>
                        </a:rPr>
                        <a:t>EchoPAC Software Only / EchoPAC Plug-in</a:t>
                      </a:r>
                    </a:p>
                  </a:txBody>
                  <a:tcPr marL="45720" marR="45720" marT="18288" marB="18288" anchor="t"/>
                </a:tc>
                <a:tc>
                  <a:txBody>
                    <a:bodyPr wrap="square"/>
                    <a:lstStyle/>
                    <a:p>
                      <a:r>
                        <a:rPr sz="1280" b="0" i="0">
                          <a:solidFill>
                            <a:srgbClr val="1A1A1A"/>
                          </a:solidFill>
                          <a:latin typeface="Helvetica Neue"/>
                        </a:rPr>
                        <a:t>QIH</a:t>
                      </a:r>
                    </a:p>
                  </a:txBody>
                  <a:tcPr marL="45720" marR="45720" marT="18288" marB="18288" anchor="t"/>
                </a:tc>
              </a:tr>
              <a:tr h="445008">
                <a:tc>
                  <a:txBody>
                    <a:bodyPr wrap="square"/>
                    <a:lstStyle/>
                    <a:p>
                      <a:r>
                        <a:rPr sz="1280" b="0" i="0">
                          <a:solidFill>
                            <a:srgbClr val="1A1A1A"/>
                          </a:solidFill>
                          <a:latin typeface="Helvetica Neue"/>
                        </a:rPr>
                        <a:t>K252074</a:t>
                      </a:r>
                    </a:p>
                  </a:txBody>
                  <a:tcPr marL="45720" marR="45720" marT="18288" marB="18288" anchor="t"/>
                </a:tc>
                <a:tc>
                  <a:txBody>
                    <a:bodyPr wrap="square"/>
                    <a:lstStyle/>
                    <a:p>
                      <a:r>
                        <a:rPr sz="1280" b="0" i="0">
                          <a:solidFill>
                            <a:srgbClr val="1A1A1A"/>
                          </a:solidFill>
                          <a:latin typeface="Helvetica Neue"/>
                        </a:rPr>
                        <a:t>10/31/2025</a:t>
                      </a:r>
                    </a:p>
                  </a:txBody>
                  <a:tcPr marL="45720" marR="45720" marT="18288" marB="18288" anchor="t"/>
                </a:tc>
                <a:tc>
                  <a:txBody>
                    <a:bodyPr wrap="square"/>
                    <a:lstStyle/>
                    <a:p>
                      <a:r>
                        <a:rPr sz="1280" b="0" i="0">
                          <a:solidFill>
                            <a:srgbClr val="1A1A1A"/>
                          </a:solidFill>
                          <a:latin typeface="Helvetica Neue"/>
                        </a:rPr>
                        <a:t>Canon Medical Systems Corporation</a:t>
                      </a:r>
                    </a:p>
                  </a:txBody>
                  <a:tcPr marL="45720" marR="45720" marT="18288" marB="18288" anchor="t"/>
                </a:tc>
                <a:tc>
                  <a:txBody>
                    <a:bodyPr wrap="square"/>
                    <a:lstStyle/>
                    <a:p>
                      <a:r>
                        <a:rPr sz="1280" b="0" i="0">
                          <a:solidFill>
                            <a:srgbClr val="1A1A1A"/>
                          </a:solidFill>
                          <a:latin typeface="Helvetica Neue"/>
                        </a:rPr>
                        <a:t>Aplio i900, Aplio i800 and Aplio i700 Software V9.0 Diagnostic Ultrasound System</a:t>
                      </a:r>
                    </a:p>
                  </a:txBody>
                  <a:tcPr marL="45720" marR="45720" marT="18288" marB="18288" anchor="t"/>
                </a:tc>
                <a:tc>
                  <a:txBody>
                    <a:bodyPr wrap="square"/>
                    <a:lstStyle/>
                    <a:p>
                      <a:r>
                        <a:rPr sz="1280" b="0" i="0">
                          <a:solidFill>
                            <a:srgbClr val="1A1A1A"/>
                          </a:solidFill>
                          <a:latin typeface="Helvetica Neue"/>
                        </a:rPr>
                        <a:t>IYN</a:t>
                      </a:r>
                    </a:p>
                  </a:txBody>
                  <a:tcPr marL="45720" marR="45720" marT="18288" marB="18288" anchor="t"/>
                </a:tc>
              </a:tr>
              <a:tr h="249935">
                <a:tc>
                  <a:txBody>
                    <a:bodyPr wrap="square"/>
                    <a:lstStyle/>
                    <a:p>
                      <a:r>
                        <a:rPr sz="1280" b="0" i="0">
                          <a:solidFill>
                            <a:srgbClr val="1A1A1A"/>
                          </a:solidFill>
                          <a:latin typeface="Helvetica Neue"/>
                        </a:rPr>
                        <a:t>K253050</a:t>
                      </a:r>
                    </a:p>
                  </a:txBody>
                  <a:tcPr marL="45720" marR="45720" marT="18288" marB="18288" anchor="t"/>
                </a:tc>
                <a:tc>
                  <a:txBody>
                    <a:bodyPr wrap="square"/>
                    <a:lstStyle/>
                    <a:p>
                      <a:r>
                        <a:rPr sz="1280" b="0" i="0">
                          <a:solidFill>
                            <a:srgbClr val="1A1A1A"/>
                          </a:solidFill>
                          <a:latin typeface="Helvetica Neue"/>
                        </a:rPr>
                        <a:t>06/18/2026</a:t>
                      </a:r>
                    </a:p>
                  </a:txBody>
                  <a:tcPr marL="45720" marR="45720" marT="18288" marB="18288" anchor="t"/>
                </a:tc>
                <a:tc>
                  <a:txBody>
                    <a:bodyPr wrap="square"/>
                    <a:lstStyle/>
                    <a:p>
                      <a:r>
                        <a:rPr sz="1280" b="0" i="0">
                          <a:solidFill>
                            <a:srgbClr val="1A1A1A"/>
                          </a:solidFill>
                          <a:latin typeface="Helvetica Neue"/>
                        </a:rPr>
                        <a:t>Informai</a:t>
                      </a:r>
                    </a:p>
                  </a:txBody>
                  <a:tcPr marL="45720" marR="45720" marT="18288" marB="18288" anchor="t"/>
                </a:tc>
                <a:tc>
                  <a:txBody>
                    <a:bodyPr wrap="square"/>
                    <a:lstStyle/>
                    <a:p>
                      <a:r>
                        <a:rPr sz="1280" b="0" i="0">
                          <a:solidFill>
                            <a:srgbClr val="1A1A1A"/>
                          </a:solidFill>
                          <a:latin typeface="Helvetica Neue"/>
                        </a:rPr>
                        <a:t>RadOncAI</a:t>
                      </a:r>
                    </a:p>
                  </a:txBody>
                  <a:tcPr marL="45720" marR="45720" marT="18288" marB="18288" anchor="t"/>
                </a:tc>
                <a:tc>
                  <a:txBody>
                    <a:bodyPr wrap="square"/>
                    <a:lstStyle/>
                    <a:p>
                      <a:r>
                        <a:rPr sz="1280" b="0" i="0">
                          <a:solidFill>
                            <a:srgbClr val="1A1A1A"/>
                          </a:solidFill>
                          <a:latin typeface="Helvetica Neue"/>
                        </a:rPr>
                        <a:t>MUJ</a:t>
                      </a:r>
                    </a:p>
                  </a:txBody>
                  <a:tcPr marL="45720" marR="45720" marT="18288" marB="18288" anchor="t"/>
                </a:tc>
              </a:tr>
              <a:tr h="445008">
                <a:tc>
                  <a:txBody>
                    <a:bodyPr wrap="square"/>
                    <a:lstStyle/>
                    <a:p>
                      <a:r>
                        <a:rPr sz="1280" b="0" i="0">
                          <a:solidFill>
                            <a:srgbClr val="1A1A1A"/>
                          </a:solidFill>
                          <a:latin typeface="Helvetica Neue"/>
                        </a:rPr>
                        <a:t>K253288</a:t>
                      </a:r>
                    </a:p>
                  </a:txBody>
                  <a:tcPr marL="45720" marR="45720" marT="18288" marB="18288" anchor="t"/>
                </a:tc>
                <a:tc>
                  <a:txBody>
                    <a:bodyPr wrap="square"/>
                    <a:lstStyle/>
                    <a:p>
                      <a:r>
                        <a:rPr sz="1280" b="0" i="0">
                          <a:solidFill>
                            <a:srgbClr val="1A1A1A"/>
                          </a:solidFill>
                          <a:latin typeface="Helvetica Neue"/>
                        </a:rPr>
                        <a:t>04/06/2026</a:t>
                      </a:r>
                    </a:p>
                  </a:txBody>
                  <a:tcPr marL="45720" marR="45720" marT="18288" marB="18288" anchor="t"/>
                </a:tc>
                <a:tc>
                  <a:txBody>
                    <a:bodyPr wrap="square"/>
                    <a:lstStyle/>
                    <a:p>
                      <a:r>
                        <a:rPr sz="1280" b="0" i="0">
                          <a:solidFill>
                            <a:srgbClr val="1A1A1A"/>
                          </a:solidFill>
                          <a:latin typeface="Helvetica Neue"/>
                        </a:rPr>
                        <a:t>Esaote, S.p.A.</a:t>
                      </a:r>
                    </a:p>
                  </a:txBody>
                  <a:tcPr marL="45720" marR="45720" marT="18288" marB="18288" anchor="t"/>
                </a:tc>
                <a:tc>
                  <a:txBody>
                    <a:bodyPr wrap="square"/>
                    <a:lstStyle/>
                    <a:p>
                      <a:r>
                        <a:rPr sz="1280" b="0" i="0">
                          <a:solidFill>
                            <a:srgbClr val="1A1A1A"/>
                          </a:solidFill>
                          <a:latin typeface="Helvetica Neue"/>
                        </a:rPr>
                        <a:t>6450 Ultrasound System (MyLabE80); 6450 Ultrasound System (MyLabE85)</a:t>
                      </a:r>
                    </a:p>
                  </a:txBody>
                  <a:tcPr marL="45720" marR="45720" marT="18288" marB="18288" anchor="t"/>
                </a:tc>
                <a:tc>
                  <a:txBody>
                    <a:bodyPr wrap="square"/>
                    <a:lstStyle/>
                    <a:p>
                      <a:r>
                        <a:rPr sz="1280" b="0" i="0">
                          <a:solidFill>
                            <a:srgbClr val="1A1A1A"/>
                          </a:solidFill>
                          <a:latin typeface="Helvetica Neue"/>
                        </a:rPr>
                        <a:t>IYN</a:t>
                      </a:r>
                    </a:p>
                  </a:txBody>
                  <a:tcPr marL="45720" marR="45720" marT="18288" marB="18288" anchor="t"/>
                </a:tc>
              </a:tr>
              <a:tr h="445008">
                <a:tc>
                  <a:txBody>
                    <a:bodyPr wrap="square"/>
                    <a:lstStyle/>
                    <a:p>
                      <a:r>
                        <a:rPr sz="1280" b="0" i="0">
                          <a:solidFill>
                            <a:srgbClr val="1A1A1A"/>
                          </a:solidFill>
                          <a:latin typeface="Helvetica Neue"/>
                        </a:rPr>
                        <a:t>K253720</a:t>
                      </a:r>
                    </a:p>
                  </a:txBody>
                  <a:tcPr marL="45720" marR="45720" marT="18288" marB="18288" anchor="t"/>
                </a:tc>
                <a:tc>
                  <a:txBody>
                    <a:bodyPr wrap="square"/>
                    <a:lstStyle/>
                    <a:p>
                      <a:r>
                        <a:rPr sz="1280" b="0" i="0">
                          <a:solidFill>
                            <a:srgbClr val="1A1A1A"/>
                          </a:solidFill>
                          <a:latin typeface="Helvetica Neue"/>
                        </a:rPr>
                        <a:t>05/21/2026</a:t>
                      </a:r>
                    </a:p>
                  </a:txBody>
                  <a:tcPr marL="45720" marR="45720" marT="18288" marB="18288" anchor="t"/>
                </a:tc>
                <a:tc>
                  <a:txBody>
                    <a:bodyPr wrap="square"/>
                    <a:lstStyle/>
                    <a:p>
                      <a:r>
                        <a:rPr sz="1280" b="0" i="0">
                          <a:solidFill>
                            <a:srgbClr val="1A1A1A"/>
                          </a:solidFill>
                          <a:latin typeface="Helvetica Neue"/>
                        </a:rPr>
                        <a:t>Wuhan United Imaging Healthcare Co.,Ltd</a:t>
                      </a:r>
                    </a:p>
                  </a:txBody>
                  <a:tcPr marL="45720" marR="45720" marT="18288" marB="18288" anchor="t"/>
                </a:tc>
                <a:tc>
                  <a:txBody>
                    <a:bodyPr wrap="square"/>
                    <a:lstStyle/>
                    <a:p>
                      <a:r>
                        <a:rPr sz="1280" b="0" i="0">
                          <a:solidFill>
                            <a:srgbClr val="1A1A1A"/>
                          </a:solidFill>
                          <a:latin typeface="Helvetica Neue"/>
                        </a:rPr>
                        <a:t>uSONIQUE Nova, uSONIQUE Nova Elite, uSONIQUE Vita, uSONIQUE Vita Elite, uSONIQUE Grace, uSONIQUE Grace Elite</a:t>
                      </a:r>
                    </a:p>
                  </a:txBody>
                  <a:tcPr marL="45720" marR="45720" marT="18288" marB="18288" anchor="t"/>
                </a:tc>
                <a:tc>
                  <a:txBody>
                    <a:bodyPr wrap="square"/>
                    <a:lstStyle/>
                    <a:p>
                      <a:r>
                        <a:rPr sz="1280" b="0" i="0">
                          <a:solidFill>
                            <a:srgbClr val="1A1A1A"/>
                          </a:solidFill>
                          <a:latin typeface="Helvetica Neue"/>
                        </a:rPr>
                        <a:t>IYN</a:t>
                      </a:r>
                    </a:p>
                  </a:txBody>
                  <a:tcPr marL="45720" marR="45720" marT="18288" marB="18288" anchor="t"/>
                </a:tc>
              </a:tr>
              <a:tr h="249935">
                <a:tc>
                  <a:txBody>
                    <a:bodyPr wrap="square"/>
                    <a:lstStyle/>
                    <a:p>
                      <a:r>
                        <a:rPr sz="1280" b="0" i="0">
                          <a:solidFill>
                            <a:srgbClr val="1A1A1A"/>
                          </a:solidFill>
                          <a:latin typeface="Helvetica Neue"/>
                        </a:rPr>
                        <a:t>K254013</a:t>
                      </a:r>
                    </a:p>
                  </a:txBody>
                  <a:tcPr marL="45720" marR="45720" marT="18288" marB="18288" anchor="t"/>
                </a:tc>
                <a:tc>
                  <a:txBody>
                    <a:bodyPr wrap="square"/>
                    <a:lstStyle/>
                    <a:p>
                      <a:r>
                        <a:rPr sz="1280" b="0" i="0">
                          <a:solidFill>
                            <a:srgbClr val="1A1A1A"/>
                          </a:solidFill>
                          <a:latin typeface="Helvetica Neue"/>
                        </a:rPr>
                        <a:t>05/14/2026</a:t>
                      </a:r>
                    </a:p>
                  </a:txBody>
                  <a:tcPr marL="45720" marR="45720" marT="18288" marB="18288" anchor="t"/>
                </a:tc>
                <a:tc>
                  <a:txBody>
                    <a:bodyPr wrap="square"/>
                    <a:lstStyle/>
                    <a:p>
                      <a:r>
                        <a:rPr sz="1280" b="0" i="0">
                          <a:solidFill>
                            <a:srgbClr val="1A1A1A"/>
                          </a:solidFill>
                          <a:latin typeface="Helvetica Neue"/>
                        </a:rPr>
                        <a:t>Subtle Medical, Inc.</a:t>
                      </a:r>
                    </a:p>
                  </a:txBody>
                  <a:tcPr marL="45720" marR="45720" marT="18288" marB="18288" anchor="t"/>
                </a:tc>
                <a:tc>
                  <a:txBody>
                    <a:bodyPr wrap="square"/>
                    <a:lstStyle/>
                    <a:p>
                      <a:r>
                        <a:rPr sz="1280" b="0" i="0">
                          <a:solidFill>
                            <a:srgbClr val="1A1A1A"/>
                          </a:solidFill>
                          <a:latin typeface="Helvetica Neue"/>
                        </a:rPr>
                        <a:t>SubtleHD-PET (1.x)</a:t>
                      </a:r>
                    </a:p>
                  </a:txBody>
                  <a:tcPr marL="45720" marR="45720" marT="18288" marB="18288" anchor="t"/>
                </a:tc>
                <a:tc>
                  <a:txBody>
                    <a:bodyPr wrap="square"/>
                    <a:lstStyle/>
                    <a:p>
                      <a:r>
                        <a:rPr sz="1280" b="0" i="0">
                          <a:solidFill>
                            <a:srgbClr val="1A1A1A"/>
                          </a:solidFill>
                          <a:latin typeface="Helvetica Neue"/>
                        </a:rPr>
                        <a:t>LLZ</a:t>
                      </a:r>
                    </a:p>
                  </a:txBody>
                  <a:tcPr marL="45720" marR="45720" marT="18288" marB="18288" anchor="t"/>
                </a:tc>
              </a:tr>
              <a:tr h="249935">
                <a:tc>
                  <a:txBody>
                    <a:bodyPr wrap="square"/>
                    <a:lstStyle/>
                    <a:p>
                      <a:r>
                        <a:rPr sz="1280" b="0" i="0">
                          <a:solidFill>
                            <a:srgbClr val="1A1A1A"/>
                          </a:solidFill>
                          <a:latin typeface="Helvetica Neue"/>
                        </a:rPr>
                        <a:t>K254120</a:t>
                      </a:r>
                    </a:p>
                  </a:txBody>
                  <a:tcPr marL="45720" marR="45720" marT="18288" marB="18288" anchor="t"/>
                </a:tc>
                <a:tc>
                  <a:txBody>
                    <a:bodyPr wrap="square"/>
                    <a:lstStyle/>
                    <a:p>
                      <a:r>
                        <a:rPr sz="1280" b="0" i="0">
                          <a:solidFill>
                            <a:srgbClr val="1A1A1A"/>
                          </a:solidFill>
                          <a:latin typeface="Helvetica Neue"/>
                        </a:rPr>
                        <a:t>05/15/2026</a:t>
                      </a:r>
                    </a:p>
                  </a:txBody>
                  <a:tcPr marL="45720" marR="45720" marT="18288" marB="18288" anchor="t"/>
                </a:tc>
                <a:tc>
                  <a:txBody>
                    <a:bodyPr wrap="square"/>
                    <a:lstStyle/>
                    <a:p>
                      <a:r>
                        <a:rPr sz="1280" b="0" i="0">
                          <a:solidFill>
                            <a:srgbClr val="1A1A1A"/>
                          </a:solidFill>
                          <a:latin typeface="Helvetica Neue"/>
                        </a:rPr>
                        <a:t>Subtle Medical, Inc.</a:t>
                      </a:r>
                    </a:p>
                  </a:txBody>
                  <a:tcPr marL="45720" marR="45720" marT="18288" marB="18288" anchor="t"/>
                </a:tc>
                <a:tc>
                  <a:txBody>
                    <a:bodyPr wrap="square"/>
                    <a:lstStyle/>
                    <a:p>
                      <a:r>
                        <a:rPr sz="1280" b="0" i="0">
                          <a:solidFill>
                            <a:srgbClr val="1A1A1A"/>
                          </a:solidFill>
                          <a:latin typeface="Helvetica Neue"/>
                        </a:rPr>
                        <a:t>SubtleHD-CT (1.x)</a:t>
                      </a:r>
                    </a:p>
                  </a:txBody>
                  <a:tcPr marL="45720" marR="45720" marT="18288" marB="18288" anchor="t"/>
                </a:tc>
                <a:tc>
                  <a:txBody>
                    <a:bodyPr wrap="square"/>
                    <a:lstStyle/>
                    <a:p>
                      <a:r>
                        <a:rPr sz="1280" b="0" i="0">
                          <a:solidFill>
                            <a:srgbClr val="1A1A1A"/>
                          </a:solidFill>
                          <a:latin typeface="Helvetica Neue"/>
                        </a:rPr>
                        <a:t>QIH</a:t>
                      </a:r>
                    </a:p>
                  </a:txBody>
                  <a:tcPr marL="45720" marR="45720" marT="18288" marB="18288" anchor="t"/>
                </a:tc>
              </a:tr>
              <a:tr h="249935">
                <a:tc>
                  <a:txBody>
                    <a:bodyPr wrap="square"/>
                    <a:lstStyle/>
                    <a:p>
                      <a:r>
                        <a:rPr sz="1280" b="0" i="0">
                          <a:solidFill>
                            <a:srgbClr val="1A1A1A"/>
                          </a:solidFill>
                          <a:latin typeface="Helvetica Neue"/>
                        </a:rPr>
                        <a:t>P160009</a:t>
                      </a:r>
                    </a:p>
                  </a:txBody>
                  <a:tcPr marL="45720" marR="45720" marT="18288" marB="18288" anchor="t"/>
                </a:tc>
                <a:tc>
                  <a:txBody>
                    <a:bodyPr wrap="square"/>
                    <a:lstStyle/>
                    <a:p>
                      <a:r>
                        <a:rPr sz="1280" b="0" i="0">
                          <a:solidFill>
                            <a:srgbClr val="1A1A1A"/>
                          </a:solidFill>
                          <a:latin typeface="Helvetica Neue"/>
                        </a:rPr>
                        <a:t>03/24/2017</a:t>
                      </a:r>
                    </a:p>
                  </a:txBody>
                  <a:tcPr marL="45720" marR="45720" marT="18288" marB="18288" anchor="t"/>
                </a:tc>
                <a:tc>
                  <a:txBody>
                    <a:bodyPr wrap="square"/>
                    <a:lstStyle/>
                    <a:p>
                      <a:r>
                        <a:rPr sz="1280" b="0" i="0">
                          <a:solidFill>
                            <a:srgbClr val="1A1A1A"/>
                          </a:solidFill>
                          <a:latin typeface="Helvetica Neue"/>
                        </a:rPr>
                        <a:t>iCAD Inc</a:t>
                      </a:r>
                    </a:p>
                  </a:txBody>
                  <a:tcPr marL="45720" marR="45720" marT="18288" marB="18288" anchor="t"/>
                </a:tc>
                <a:tc>
                  <a:txBody>
                    <a:bodyPr wrap="square"/>
                    <a:lstStyle/>
                    <a:p>
                      <a:r>
                        <a:rPr sz="1280" b="0" i="0">
                          <a:solidFill>
                            <a:srgbClr val="1A1A1A"/>
                          </a:solidFill>
                          <a:latin typeface="Helvetica Neue"/>
                        </a:rPr>
                        <a:t>PowerLook® Tomo Detection Software</a:t>
                      </a:r>
                    </a:p>
                  </a:txBody>
                  <a:tcPr marL="45720" marR="45720" marT="18288" marB="18288" anchor="t"/>
                </a:tc>
                <a:tc>
                  <a:txBody>
                    <a:bodyPr wrap="square"/>
                    <a:lstStyle/>
                    <a:p>
                      <a:r>
                        <a:rPr sz="1280" b="0" i="0">
                          <a:solidFill>
                            <a:srgbClr val="1A1A1A"/>
                          </a:solidFill>
                          <a:latin typeface="Helvetica Neue"/>
                        </a:rPr>
                        <a:t>MYN</a:t>
                      </a:r>
                    </a:p>
                  </a:txBody>
                  <a:tcPr marL="45720" marR="45720" marT="18288" marB="18288" anchor="t"/>
                </a:tc>
              </a:tr>
              <a:tr h="445008">
                <a:tc>
                  <a:txBody>
                    <a:bodyPr wrap="square"/>
                    <a:lstStyle/>
                    <a:p>
                      <a:r>
                        <a:rPr sz="1280" b="0" i="0">
                          <a:solidFill>
                            <a:srgbClr val="1A1A1A"/>
                          </a:solidFill>
                          <a:latin typeface="Helvetica Neue"/>
                        </a:rPr>
                        <a:t>P200003</a:t>
                      </a:r>
                    </a:p>
                  </a:txBody>
                  <a:tcPr marL="45720" marR="45720" marT="18288" marB="18288" anchor="t"/>
                </a:tc>
                <a:tc>
                  <a:txBody>
                    <a:bodyPr wrap="square"/>
                    <a:lstStyle/>
                    <a:p>
                      <a:r>
                        <a:rPr sz="1280" b="0" i="0">
                          <a:solidFill>
                            <a:srgbClr val="1A1A1A"/>
                          </a:solidFill>
                          <a:latin typeface="Helvetica Neue"/>
                        </a:rPr>
                        <a:t>01/11/2021</a:t>
                      </a:r>
                    </a:p>
                  </a:txBody>
                  <a:tcPr marL="45720" marR="45720" marT="18288" marB="18288" anchor="t"/>
                </a:tc>
                <a:tc>
                  <a:txBody>
                    <a:bodyPr wrap="square"/>
                    <a:lstStyle/>
                    <a:p>
                      <a:r>
                        <a:rPr sz="1280" b="0" i="0">
                          <a:solidFill>
                            <a:srgbClr val="1A1A1A"/>
                          </a:solidFill>
                          <a:latin typeface="Helvetica Neue"/>
                        </a:rPr>
                        <a:t>Seno Medical Instruments, Inc.</a:t>
                      </a:r>
                    </a:p>
                  </a:txBody>
                  <a:tcPr marL="45720" marR="45720" marT="18288" marB="18288" anchor="t"/>
                </a:tc>
                <a:tc>
                  <a:txBody>
                    <a:bodyPr wrap="square"/>
                    <a:lstStyle/>
                    <a:p>
                      <a:r>
                        <a:rPr sz="1280" b="0" i="0">
                          <a:solidFill>
                            <a:srgbClr val="1A1A1A"/>
                          </a:solidFill>
                          <a:latin typeface="Helvetica Neue"/>
                        </a:rPr>
                        <a:t>Imagio Breast Imaging System</a:t>
                      </a:r>
                    </a:p>
                  </a:txBody>
                  <a:tcPr marL="45720" marR="45720" marT="18288" marB="18288" anchor="t"/>
                </a:tc>
                <a:tc>
                  <a:txBody>
                    <a:bodyPr wrap="square"/>
                    <a:lstStyle/>
                    <a:p>
                      <a:r>
                        <a:rPr sz="1280" b="0" i="0">
                          <a:solidFill>
                            <a:srgbClr val="1A1A1A"/>
                          </a:solidFill>
                          <a:latin typeface="Helvetica Neue"/>
                        </a:rPr>
                        <a:t>QNK</a:t>
                      </a:r>
                    </a:p>
                  </a:txBody>
                  <a:tcPr marL="45720" marR="45720" marT="18288" marB="18288" anchor="t"/>
                </a:tc>
              </a:tr>
            </a:tbl>
          </a:graphicData>
        </a:graphic>
      </p:graphicFrame>
      <p:sp>
        <p:nvSpPr>
          <p:cNvPr id="5"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81 / 83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Worth knowing as a radiologist — and why</a:t>
            </a:r>
          </a:p>
        </p:txBody>
      </p:sp>
      <p:sp>
        <p:nvSpPr>
          <p:cNvPr id="3" name="TextBox 2"/>
          <p:cNvSpPr txBox="1"/>
          <p:nvPr/>
        </p:nvSpPr>
        <p:spPr>
          <a:xfrm>
            <a:off x="411480" y="877824"/>
            <a:ext cx="11368735" cy="3597910"/>
          </a:xfrm>
          <a:prstGeom prst="rect">
            <a:avLst/>
          </a:prstGeom>
          <a:noFill/>
        </p:spPr>
        <p:txBody>
          <a:bodyPr wrap="square" lIns="45720" rIns="45720" tIns="27432" bIns="27432" anchor="t">
            <a:spAutoFit/>
          </a:bodyPr>
          <a:lstStyle/>
          <a:p>
            <a:pPr algn="l" marL="256032" indent="-256032">
              <a:spcAft>
                <a:spcPts val="384"/>
              </a:spcAft>
              <a:buChar char="•"/>
            </a:pPr>
            <a:r>
              <a:rPr sz="1100" b="1" i="0">
                <a:solidFill>
                  <a:srgbClr val="1A1A1A"/>
                </a:solidFill>
                <a:latin typeface="Helvetica Neue"/>
              </a:rPr>
              <a:t>Pediatric CT reconstruction (Brady et al., Radiology 2021)</a:t>
            </a:r>
            <a:r>
              <a:rPr sz="1100" b="0" i="0">
                <a:solidFill>
                  <a:srgbClr val="1A1A1A"/>
                </a:solidFill>
                <a:latin typeface="Helvetica Neue"/>
              </a:rPr>
              <a:t> (paper): a concrete dose-reduction application: lower dose with improved image quality in the studied protocols</a:t>
            </a:r>
          </a:p>
          <a:p>
            <a:pPr algn="l" marL="256032" indent="-256032">
              <a:spcAft>
                <a:spcPts val="384"/>
              </a:spcAft>
              <a:buChar char="•"/>
            </a:pPr>
            <a:r>
              <a:rPr sz="1100" b="1" i="0">
                <a:solidFill>
                  <a:srgbClr val="1A1A1A"/>
                </a:solidFill>
                <a:latin typeface="Helvetica Neue"/>
              </a:rPr>
              <a:t>RSNA Pediatric Bone Age Challenge (2017)</a:t>
            </a:r>
            <a:r>
              <a:rPr sz="1100" b="0" i="0">
                <a:solidFill>
                  <a:srgbClr val="1A1A1A"/>
                </a:solidFill>
                <a:latin typeface="Helvetica Neue"/>
              </a:rPr>
              <a:t> (benchmark / dataset): a landmark pediatric benchmark; useful for understanding automated bone-age accuracy and its limits</a:t>
            </a:r>
          </a:p>
          <a:p>
            <a:pPr algn="l" marL="256032" indent="-256032">
              <a:spcAft>
                <a:spcPts val="384"/>
              </a:spcAft>
              <a:buChar char="•"/>
            </a:pPr>
            <a:r>
              <a:rPr sz="1100" b="1" i="0">
                <a:solidFill>
                  <a:srgbClr val="1A1A1A"/>
                </a:solidFill>
                <a:latin typeface="Helvetica Neue"/>
              </a:rPr>
              <a:t>Gleamer BoneView / AZmed Rayvolve</a:t>
            </a:r>
            <a:r>
              <a:rPr sz="1100" b="0" i="0">
                <a:solidFill>
                  <a:srgbClr val="1A1A1A"/>
                </a:solidFill>
                <a:latin typeface="Helvetica Neue"/>
              </a:rPr>
              <a:t> (clinical products): examples of fracture-detection assistance with pediatric indications; eligibility depends on age, anatomy, and product version</a:t>
            </a:r>
          </a:p>
          <a:p>
            <a:pPr algn="l" marL="256032" indent="-256032">
              <a:spcAft>
                <a:spcPts val="384"/>
              </a:spcAft>
              <a:buChar char="•"/>
            </a:pPr>
            <a:r>
              <a:rPr sz="1100" b="1" i="0">
                <a:solidFill>
                  <a:srgbClr val="1A1A1A"/>
                </a:solidFill>
                <a:latin typeface="Helvetica Neue"/>
              </a:rPr>
              <a:t>FDA AI-enabled device list and linked labeling</a:t>
            </a:r>
            <a:r>
              <a:rPr sz="1100" b="0" i="0">
                <a:solidFill>
                  <a:srgbClr val="1A1A1A"/>
                </a:solidFill>
                <a:latin typeface="Helvetica Neue"/>
              </a:rPr>
              <a:t> (regulatory resource): a starting point for checking authorized use and pediatric age ranges; the list is not exhaustive</a:t>
            </a:r>
          </a:p>
          <a:p>
            <a:pPr algn="l" marL="256032" indent="-256032">
              <a:spcAft>
                <a:spcPts val="384"/>
              </a:spcAft>
              <a:buChar char="•"/>
            </a:pPr>
            <a:r>
              <a:rPr sz="1100" b="1" i="0">
                <a:solidFill>
                  <a:srgbClr val="1A1A1A"/>
                </a:solidFill>
                <a:latin typeface="Helvetica Neue"/>
              </a:rPr>
              <a:t>CLAIM checklist (2024 update)</a:t>
            </a:r>
            <a:r>
              <a:rPr sz="1100" b="0" i="0">
                <a:solidFill>
                  <a:srgbClr val="1A1A1A"/>
                </a:solidFill>
                <a:latin typeface="Helvetica Neue"/>
              </a:rPr>
              <a:t> (reporting guideline): check whether data, reference standards, and testing are adequately described; reporting completeness alone does not establish clinical benefit</a:t>
            </a:r>
          </a:p>
          <a:p>
            <a:pPr algn="l" marL="256032" indent="-256032">
              <a:spcAft>
                <a:spcPts val="384"/>
              </a:spcAft>
              <a:buChar char="•"/>
            </a:pPr>
            <a:r>
              <a:rPr sz="1100" b="1" i="0">
                <a:solidFill>
                  <a:srgbClr val="1A1A1A"/>
                </a:solidFill>
                <a:latin typeface="Helvetica Neue"/>
              </a:rPr>
              <a:t>Cross-hospital pneumonia testing (Zech et al., PLoS Med 2018)</a:t>
            </a:r>
            <a:r>
              <a:rPr sz="1100" b="0" i="0">
                <a:solidFill>
                  <a:srgbClr val="1A1A1A"/>
                </a:solidFill>
                <a:latin typeface="Helvetica Neue"/>
              </a:rPr>
              <a:t> (paper): models can exploit hospital-specific cues; ask for external testing and performance in your own patient population</a:t>
            </a:r>
          </a:p>
          <a:p>
            <a:pPr algn="l" marL="256032" indent="-256032">
              <a:spcAft>
                <a:spcPts val="384"/>
              </a:spcAft>
              <a:buChar char="•"/>
            </a:pPr>
            <a:r>
              <a:rPr sz="1100" b="1" i="0">
                <a:solidFill>
                  <a:srgbClr val="1A1A1A"/>
                </a:solidFill>
                <a:latin typeface="Helvetica Neue"/>
              </a:rPr>
              <a:t>TotalSegmentator</a:t>
            </a:r>
            <a:r>
              <a:rPr sz="1100" b="0" i="0">
                <a:solidFill>
                  <a:srgbClr val="1A1A1A"/>
                </a:solidFill>
                <a:latin typeface="Helvetica Neue"/>
              </a:rPr>
              <a:t> (research tool): automated CT / MR organ segmentation for volumes and body composition; check accuracy in children before trusting measurements</a:t>
            </a:r>
          </a:p>
          <a:p>
            <a:pPr algn="l" marL="256032" indent="-256032">
              <a:spcAft>
                <a:spcPts val="384"/>
              </a:spcAft>
              <a:buChar char="•"/>
            </a:pPr>
            <a:r>
              <a:rPr sz="1100" b="1" i="0">
                <a:solidFill>
                  <a:srgbClr val="1A1A1A"/>
                </a:solidFill>
                <a:latin typeface="Helvetica Neue"/>
              </a:rPr>
              <a:t>nnU-Net</a:t>
            </a:r>
            <a:r>
              <a:rPr sz="1100" b="0" i="0">
                <a:solidFill>
                  <a:srgbClr val="1A1A1A"/>
                </a:solidFill>
                <a:latin typeface="Helvetica Neue"/>
              </a:rPr>
              <a:t> (research framework): a strong baseline for training segmentation models; ask whether a new method improves on an appropriate comparator</a:t>
            </a:r>
          </a:p>
          <a:p>
            <a:pPr algn="l" marL="256032" indent="-256032">
              <a:spcAft>
                <a:spcPts val="384"/>
              </a:spcAft>
              <a:buChar char="•"/>
            </a:pPr>
            <a:r>
              <a:rPr sz="1100" b="1" i="0">
                <a:solidFill>
                  <a:srgbClr val="1A1A1A"/>
                </a:solidFill>
                <a:latin typeface="Helvetica Neue"/>
              </a:rPr>
              <a:t>MedSAM / segment-anything models</a:t>
            </a:r>
            <a:r>
              <a:rPr sz="1100" b="0" i="0">
                <a:solidFill>
                  <a:srgbClr val="1A1A1A"/>
                </a:solidFill>
                <a:latin typeface="Helvetica Neue"/>
              </a:rPr>
              <a:t> (research models): prompt-guided contours can assist annotation; radiologists still need to review and correct the output</a:t>
            </a:r>
          </a:p>
          <a:p>
            <a:pPr algn="l" marL="256032" indent="-256032">
              <a:spcAft>
                <a:spcPts val="384"/>
              </a:spcAft>
              <a:buChar char="•"/>
            </a:pPr>
            <a:r>
              <a:rPr sz="1100" b="1" i="0">
                <a:solidFill>
                  <a:srgbClr val="1A1A1A"/>
                </a:solidFill>
                <a:latin typeface="Helvetica Neue"/>
              </a:rPr>
              <a:t>MONAI</a:t>
            </a:r>
            <a:r>
              <a:rPr sz="1100" b="0" i="0">
                <a:solidFill>
                  <a:srgbClr val="1A1A1A"/>
                </a:solidFill>
                <a:latin typeface="Helvetica Neue"/>
              </a:rPr>
              <a:t> (research framework): infrastructure for imaging-AI development; useful when collaborating with a research team, rather than a ready-to-use diagnostic tool</a:t>
            </a:r>
          </a:p>
        </p:txBody>
      </p:sp>
      <p:sp>
        <p:nvSpPr>
          <p:cNvPr id="4"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82 / 83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713232"/>
          </a:xfrm>
          <a:prstGeom prst="rect">
            <a:avLst/>
          </a:prstGeom>
          <a:solidFill>
            <a:srgbClr val="3333B3"/>
          </a:solidFill>
          <a:ln>
            <a:noFill/>
          </a:ln>
        </p:spPr>
        <p:style>
          <a:lnRef idx="1">
            <a:schemeClr val="accent1"/>
          </a:lnRef>
          <a:fillRef idx="3">
            <a:schemeClr val="accent1"/>
          </a:fillRef>
          <a:effectRef idx="2">
            <a:schemeClr val="accent1"/>
          </a:effectRef>
          <a:fontRef idx="minor">
            <a:schemeClr val="lt1"/>
          </a:fontRef>
        </p:style>
        <p:txBody>
          <a:bodyPr rtlCol="0" anchor="b" lIns="411480" bIns="73152" wrap="square"/>
          <a:lstStyle/>
          <a:p>
            <a:pPr algn="l"/>
            <a:r>
              <a:rPr sz="2200">
                <a:solidFill>
                  <a:srgbClr val="FFFFFF"/>
                </a:solidFill>
                <a:latin typeface="Helvetica Neue"/>
              </a:rPr>
              <a:t>Recommendations for pediatric radiologists</a:t>
            </a:r>
          </a:p>
        </p:txBody>
      </p:sp>
      <p:sp>
        <p:nvSpPr>
          <p:cNvPr id="3" name="TextBox 2"/>
          <p:cNvSpPr txBox="1"/>
          <p:nvPr/>
        </p:nvSpPr>
        <p:spPr>
          <a:xfrm>
            <a:off x="411480" y="877824"/>
            <a:ext cx="11368735" cy="2326640"/>
          </a:xfrm>
          <a:prstGeom prst="rect">
            <a:avLst/>
          </a:prstGeom>
          <a:noFill/>
        </p:spPr>
        <p:txBody>
          <a:bodyPr wrap="square" lIns="45720" rIns="45720" tIns="27432" bIns="27432" anchor="t">
            <a:spAutoFit/>
          </a:bodyPr>
          <a:lstStyle/>
          <a:p>
            <a:pPr algn="l" marL="256032" indent="-256032">
              <a:spcAft>
                <a:spcPts val="560"/>
              </a:spcAft>
              <a:buChar char="•"/>
            </a:pPr>
            <a:r>
              <a:rPr sz="1600" b="0" i="0">
                <a:solidFill>
                  <a:srgbClr val="1A1A1A"/>
                </a:solidFill>
                <a:latin typeface="Helvetica Neue"/>
              </a:rPr>
              <a:t>Choose one task worth improving in your practice: bone-age measurements, fracture detection, or reducing CT dose / MRI scan time.</a:t>
            </a:r>
          </a:p>
          <a:p>
            <a:pPr algn="l" marL="256032" indent="-256032">
              <a:spcAft>
                <a:spcPts val="560"/>
              </a:spcAft>
              <a:buChar char="•"/>
            </a:pPr>
            <a:r>
              <a:rPr sz="1600" b="0" i="0">
                <a:solidFill>
                  <a:srgbClr val="1A1A1A"/>
                </a:solidFill>
                <a:latin typeface="Helvetica Neue"/>
              </a:rPr>
              <a:t>Before adopting a tool, ask which children it was tested on. Check the intended age range and test it on your own cases, including younger children and unusual anatomy.</a:t>
            </a:r>
          </a:p>
          <a:p>
            <a:pPr algn="l" marL="256032" indent="-256032">
              <a:spcAft>
                <a:spcPts val="560"/>
              </a:spcAft>
              <a:buChar char="•"/>
            </a:pPr>
            <a:r>
              <a:rPr sz="1600" b="0" i="0">
                <a:solidFill>
                  <a:srgbClr val="1A1A1A"/>
                </a:solidFill>
                <a:latin typeface="Helvetica Neue"/>
              </a:rPr>
              <a:t>In a local pilot, measure what changes with AI: reading time, missed findings, false alarms, dose, or scan time. Review errors and keep checking after rollout.</a:t>
            </a:r>
          </a:p>
          <a:p>
            <a:pPr algn="l" marL="256032" indent="-256032">
              <a:spcAft>
                <a:spcPts val="560"/>
              </a:spcAft>
              <a:buChar char="•"/>
            </a:pPr>
            <a:r>
              <a:rPr sz="1600" b="0" i="0">
                <a:solidFill>
                  <a:srgbClr val="1A1A1A"/>
                </a:solidFill>
                <a:latin typeface="Helvetica Neue"/>
              </a:rPr>
              <a:t>Help build the evidence we need: choose a pediatric problem you see often, label cases carefully, and work with other hospitals to test whether a model works beyond the site that built it.</a:t>
            </a:r>
          </a:p>
        </p:txBody>
      </p:sp>
      <p:sp>
        <p:nvSpPr>
          <p:cNvPr id="4" name="page number"/>
          <p:cNvSpPr txBox="1"/>
          <p:nvPr/>
        </p:nvSpPr>
        <p:spPr>
          <a:xfrm>
            <a:off x="10728655" y="6510528"/>
            <a:ext cx="1188720" cy="274320"/>
          </a:xfrm>
          <a:prstGeom prst="rect">
            <a:avLst/>
          </a:prstGeom>
          <a:noFill/>
        </p:spPr>
        <p:txBody>
          <a:bodyPr wrap="none">
            <a:spAutoFit/>
          </a:bodyPr>
          <a:lstStyle/>
          <a:p>
            <a:pPr algn="r"/>
            <a:r>
              <a:rPr sz="1000">
                <a:solidFill>
                  <a:srgbClr val="6B6B6B"/>
                </a:solidFill>
                <a:latin typeface="Helvetica Neue"/>
              </a:rPr>
              <a:t>83 / 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